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 Uvod" id="{0D8A773A-04BD-515C-AFFE-B731D161D570}">
          <p14:sldIdLst>
            <p14:sldId id="256"/>
            <p14:sldId id="257"/>
            <p14:sldId id="258"/>
          </p14:sldIdLst>
        </p14:section>
        <p14:section name="1. Jezikovna odločitev" id="{7A4AE68A-929A-5E11-9372-4EA482F65ECD}">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2. Pomen in poimenovanje" id="{769C2E2E-495B-5AD3-AAC9-4B2E7237F65E}">
          <p14:sldIdLst>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Lst>
        </p14:section>
        <p14:section name="3. Beseda in besedna zveza" id="{33B149E2-DDB4-5FFC-B0BC-136EEFA420E3}">
          <p14:sldIdLst>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Lst>
        </p14:section>
        <p14:section name="4. Oblike v sobesedilu" id="{327A15A7-C7DB-537C-AA9E-3417030A9CD3}">
          <p14:sldIdLst>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Lst>
        </p14:section>
        <p14:section name="5. Lastna imena" id="{4450B69E-4079-5D46-A852-E5260EEFE1EE}">
          <p14:sldIdLst>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Lst>
        </p14:section>
        <p14:section name="6. Zgradba povedi in vejica" id="{075AEE02-DFAD-5313-B34B-3FFC3B327AAE}">
          <p14:sldIdLst>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Lst>
        </p14:section>
        <p14:section name="7. Vrinjeno, pristavljeno, citirano" id="{CA69F1BA-5D1A-583B-A844-C2036A924F0E}">
          <p14:sldIdLst>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Lst>
        </p14:section>
        <p14:section name="8. Jezikovni nasvet" id="{BD17ED21-A5E2-5B5D-A750-D12F443C3C8C}">
          <p14:sldIdLst>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4"/>
            <p14:sldId id="535"/>
            <p14:sldId id="536"/>
            <p14:sldId id="537"/>
            <p14:sldId id="538"/>
            <p14:sldId id="539"/>
            <p14:sldId id="540"/>
            <p14:sldId id="541"/>
            <p14:sldId id="542"/>
            <p14:sldId id="543"/>
            <p14:sldId id="544"/>
            <p14:sldId id="545"/>
            <p14:sldId id="546"/>
            <p14:sldId id="547"/>
            <p14:sldId id="548"/>
            <p14:sldId id="549"/>
            <p14:sldId id="550"/>
            <p14:sldId id="551"/>
            <p14:sldId id="552"/>
          </p14:sldIdLst>
        </p14:section>
        <p14:section name="9. Dodatki" id="{FDD96848-1640-51C4-856D-1328B79FEE60}">
          <p14:sldIdLst>
            <p14:sldId id="553"/>
          </p14:sldIdLst>
        </p14:section>
        <p14:section name="9. Dodatek A — Pojmi" id="{0A569050-F622-5B50-AA8B-CED7A562F13A}">
          <p14:sldIdLst>
            <p14:sldId id="554"/>
            <p14:sldId id="555"/>
            <p14:sldId id="556"/>
            <p14:sldId id="557"/>
            <p14:sldId id="558"/>
            <p14:sldId id="559"/>
            <p14:sldId id="560"/>
            <p14:sldId id="561"/>
            <p14:sldId id="562"/>
            <p14:sldId id="563"/>
            <p14:sldId id="564"/>
            <p14:sldId id="565"/>
            <p14:sldId id="566"/>
            <p14:sldId id="567"/>
            <p14:sldId id="568"/>
            <p14:sldId id="569"/>
            <p14:sldId id="570"/>
            <p14:sldId id="571"/>
            <p14:sldId id="572"/>
            <p14:sldId id="573"/>
            <p14:sldId id="574"/>
            <p14:sldId id="575"/>
            <p14:sldId id="576"/>
            <p14:sldId id="577"/>
            <p14:sldId id="578"/>
            <p14:sldId id="579"/>
            <p14:sldId id="580"/>
            <p14:sldId id="581"/>
            <p14:sldId id="582"/>
            <p14:sldId id="583"/>
            <p14:sldId id="584"/>
            <p14:sldId id="585"/>
          </p14:sldIdLst>
        </p14:section>
        <p14:section name="10. Dodatek B — Postopki" id="{D3881553-BC74-50A8-AE35-5C62C29187C9}">
          <p14:sldIdLst>
            <p14:sldId id="586"/>
            <p14:sldId id="587"/>
            <p14:sldId id="588"/>
            <p14:sldId id="589"/>
            <p14:sldId id="590"/>
            <p14:sldId id="591"/>
            <p14:sldId id="592"/>
            <p14:sldId id="593"/>
          </p14:sldIdLst>
        </p14:section>
        <p14:section name="11. Dodatek C — Izpitni problemi" id="{1AE7B527-822F-528E-80C7-483BCA7F436F}">
          <p14:sldIdLst>
            <p14:sldId id="594"/>
            <p14:sldId id="595"/>
          </p14:sldIdLst>
        </p14:section>
        <p14:section name="12. Dodatek D — Branje" id="{CA9B0C05-EDD0-5673-8E6B-8E8457774E26}">
          <p14:sldIdLst>
            <p14:sldId id="596"/>
            <p14:sldId id="597"/>
            <p14:sldId id="598"/>
            <p14:sldId id="599"/>
            <p14:sldId id="600"/>
            <p14:sldId id="601"/>
            <p14:sldId id="602"/>
            <p14:sldId id="603"/>
            <p14:sldId id="604"/>
          </p14:sldIdLst>
        </p14:section>
        <p14:section name="13. Viri in literatura" id="{0E54C20D-B990-57FF-8BFC-616F884507B9}">
          <p14:sldIdLst>
            <p14:sldId id="605"/>
            <p14:sldId id="606"/>
            <p14:sldId id="607"/>
            <p14:sldId id="608"/>
            <p14:sldId id="609"/>
            <p14:sldId id="610"/>
            <p14:sldId id="611"/>
            <p14:sldId id="612"/>
            <p14:sldId id="613"/>
            <p14:sldId id="614"/>
            <p14:sldId id="615"/>
            <p14:sldId id="616"/>
            <p14:sldId id="61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Leksika in slovnica slovenskega jezika</a:t>
            </a:r>
          </a:p>
          <a:p/>
          <a:p>
            <a:r>
              <a:t>ZA IZVEDBO</a:t>
            </a:r>
          </a:p>
          <a:p>
            <a:r>
              <a:t>Predavanja po teoretično poglobljeni skripti 3.0. Vsebine so razporejene v osem poglavij. Vajam sledijo ločene rešitve. Razlage iz skripte in natančni sklici so vključeni v opombe ustreznih prosojnic.</a:t>
            </a:r>
          </a:p>
          <a:p/>
          <a:p>
            <a:r>
              <a:t>BESEDILO IZ SKRIPTE</a:t>
            </a:r>
          </a:p>
          <a:p>
            <a:r>
              <a:t> Leksika in slovnica slovenskega jezika</a:t>
            </a:r>
          </a:p>
          <a:p/>
          <a:p>
            <a:r>
              <a:t> Skripta: od poimenovanja in zgradbe do utemeljenega jezikovnega nasveta</a:t>
            </a:r>
          </a:p>
          <a:p/>
          <a:p>
            <a:r>
              <a:t>Študijsko gradivo · teoretično poglobljena različica 3.0 · 6. oktober 2026</a:t>
            </a:r>
          </a:p>
          <a:p/>
          <a:p>
            <a:r>
              <a:t>Ko popravljamo v novemu poročilu v v novem poročilu, spremenimo eno črko. Ko izberemo med sodoben in sodobni ples, je razlika prav tako kratka. Ko v dolgi povedi izbrišemo vejico pred in, izgine eno samo znamenje. Toda te tri odločitve temeljijo na različnih ugotovitvah: prvič določimo sklon, drugič pomen pridevniške zveze, tretjič razmerje med deli povedi. Majhen popravek je lahko rezultat precej natančne analize.</a:t>
            </a:r>
          </a:p>
          <a:p/>
          <a:p>
            <a:r>
              <a:t>To je izhodišče predmeta. Jezikovne oblike razumemo tako, da ugotovimo, kaj poimenujejo, kako so zgrajene, s čim se povezujejo in kaj v besedilu opravljajo. Šele nato lahko pojasnimo, zakaj je neki zapis ustrezen, zakaj ga je treba spremeniti ali zakaj sta ob različnih pomenih mogoči dve rešitvi.</a:t>
            </a:r>
          </a:p>
          <a:p/>
          <a:p>
            <a:r>
              <a:t>Predstavljajmo si uredniško delo pri besedilu o prevajanju. Izbrati moramo strokovno poimenovanje, oblikovati pridevnik iz večbesedne zveze, vključiti francosko ime, urediti dolgo poved in natančno prenesti izjavo sogovorca. Pri nobeni od teh nalog ne zadošča samo pogled na zadnjo črko ali iskanje besede, pred katero naj bi stala vejica. Vedno se vračamo k razmerjem. Pri tvorjenki iščemo podstavo in obrazilo, pri besedni zvezi jedro in določila, pri povedi odvisnost ali prirednost, pri navedku pa odnos med prevzetimi besedami in avtorjevim besedilom.</a:t>
            </a:r>
          </a:p>
          <a:p/>
          <a:p>
            <a:r>
              <a:t> Rdeča nit osmih poglavij</a:t>
            </a:r>
          </a:p>
          <a:p/>
          <a:p>
            <a:r>
              <a:t>Prvo poglavje vzpostavi način dela: jezikovno vprašanje razstavimo na preverljive trditve in izberemo ustrezne vire. Nato začnemo pri pomenu. Preden presodimo zapis, moramo vedeti, ali poimenujemo lastnost, vrsto, posameznika ali skupino. Drugo poglavje zato vodi v tretje: pomen se izrazi tudi v zgradbi tvorjenke in v pisanju skupaj, narazen ali z vezajem.</a:t>
            </a:r>
          </a:p>
          <a:p/>
          <a:p>
            <a:r>
              <a:t>Beseda, ki smo jo izbrali ali tvorili, mora dobiti ustrezno obliko v povedi. To je vprašanje četrtega poglavja. Pri lastnih imenih se mu pridruži razlika med izvirnim zapisom in slovenskim izgovorom; peto poglavje zato poveže pomensko, glasovno, oblikoslovno in besedotvorno znanje na istem gradivu.</a:t>
            </a:r>
          </a:p>
          <a:p/>
          <a:p>
            <a:r>
              <a:t>Šesto poglavje razširi pogled na celotno poved. Ugotavljamo, kako so njene sestavine povezane in kako te odnose razmejujejo vejice. Sedmo obravnava položaje, ko se osnovnemu sporočilu pridružijo pojasnilo, komentar, nagovor ali tuje besede. Osmo vse postopke poveže v jezikovni nasvet: bralcu jasno povemo, kaj naj napiše, in pokažemo, iz česa naš odgovor sledi.</a:t>
            </a:r>
          </a:p>
          <a:p/>
          <a:p>
            <a:r>
              <a:t>Tako lahko tudi neznan primer povežemo z znanim postopkom. Poznavanje rešitve za eno ime še ni znanje tvorjenja svojilnih pridevnikov. Poznavanje vejic v eni povedi še ni razumevanje podredja. Pri učenju zato vedno vprašamo, kateri del razlage bi lahko uporabili še v drugem primeru.</a:t>
            </a:r>
          </a:p>
          <a:p/>
          <a:p>
            <a:r>
              <a:t> Kako uporabljati skripto</a:t>
            </a:r>
          </a:p>
          <a:p/>
          <a:p>
            <a:r>
              <a:t>Pri rešenem primeru najprej oblikujte svoj odgovor. Nato primerjajte postopek, ne samo končne oblike. Pri vajah zapišite rešitev in odločilni razlog zanjo. Če naloga dopušča več pomenov, jih razločite. Če je primer že ustrezen, pojasnite, zakaj poseg ni potreben.</a:t>
            </a:r>
          </a:p>
          <a:p/>
          <a:p>
            <a:r>
              <a:t>Poglavja vključujejo razlage, preglednice, rešene primere, vaje in razložene rešitve. Pojmovni pregled na koncu pomaga pri ponavljanju, vendar kratka definicija ne nadomesti razčlenitve konkretnega zgleda. Prav tako seznam dopustnih oblik ni dovolj, kadar naloga zahteva utemeljitev.</a:t>
            </a:r>
          </a:p>
          <a:p/>
          <a:p>
            <a:r>
              <a:t>Oglati oklepaji prikazujejo izgovor. Zapisi so poenostavljeni glede na obravnavani pojav; ne gre za dosledno mednarodno fonetično transkripcijo. Vezaje pri morfemski členitvi, denimo hiš-ic-a, razlikujemo od vezajev, ki so del običajnega zapisa. Besedila z napakami so označena kot naloge ali izhodišča za popravljanje.</a:t>
            </a:r>
          </a:p>
          <a:p/>
          <a:p>
            <a:r>
              <a:t> Teoretična opora in zahtevnost</a:t>
            </a:r>
          </a:p>
          <a:p/>
          <a:p>
            <a:r>
              <a:t>Razlaga se opira na tri temeljna dela: Toporišičevo Slovensko slovnico v četrti, prenovljeni in razširjeni izdaji, drugem natisu iz leta 2004; Slovensko skladenjsko besedotvorje Ade Vidovič Muha v drugi, razširjeni in dopolnjeni izdaji iz leta 2011; ter njeno Slovensko leksikalno pomenoslovje v drugi, dopolnjeni izdaji iz leta 2013. Letnice v sklicih ustrezajo navedenim izdajam in natisu. Pri Toporišiču torej letnica 2004 označuje uporabljeni natis četrte izdaje iz leta 2000.</a:t>
            </a:r>
          </a:p>
          <a:p/>
          <a:p>
            <a:r>
              <a:t>Toporišič omogoča sistematično povezovanje besednih vrst, oblikoslovnih kategorij, skladenjskih funkcij in upovedovanja. Vidovič Muha pokaže, kako je poimenovalna zmožnost jezika povezana s slovnično: pomen vključuje kategorialne in povezovalne lastnosti, tvorjenka pa je razložljiva s pretvorbenim razmerjem do svoje skladenjske podstave. Na tej podlagi pot od pomena do jezikovnega nasveta dobi skupno razlagalno oporo. (Toporišič 2004: 255–261, 488–492; Vidovič Muha 2011: 23–36; 2013: 17–23, 35–44.)</a:t>
            </a:r>
          </a:p>
          <a:p/>
          <a:p>
            <a:r>
              <a:t>Knjige obravnavamo kot argumentirana jezikoslovna dela. Pri branju vprašamo, s katerim merilom je avtor oblikoval kategorijo, kateri podatki jo podpirajo in do kod velja. Kadar se opisa razlikujeta, navedemo model in razliko razložimo. Pri slovnični in pravopisni presoji je treba upoštevati tudi čas nastanka vira ter ločiti teoretično razlago od konkretne normativne odločitve.</a:t>
            </a:r>
          </a:p>
          <a:p/>
          <a:p>
            <a:r>
              <a:t>Zahtevnost se stopnjuje od prepoznavanja pojava prek vodene razčlenitve do samostojne argumentacije. Zahtevnejše naloge so sestavni del študijskega gradiva. Pri njih pravilna oblika ali oznaka še ne zadošča: potrebujemo pretvorbo, primerjavo pomenov, protiprimer ali pojasnilo meje uporabljenega preizkusa. Rešitve pokažejo tudi, kdaj je mogoče sprejeti več analiz in pod katerimi pogoji. Izbira nalog za konkretni izpit ter njihovo točkovanje ostajata predmet predavateljevih navodil.</a:t>
            </a:r>
          </a:p>
          <a:p/>
          <a:p>
            <a:r>
              <a:t>Vsi knjižni sklici navajajo natisnjene strani navedenih izdaj, ne zaporednih strani posamezne digitalne kopije. Bibliografija in usmerjeno branje na koncu pojasnita izdaje, izbrane odlomke ter vprašanja za delo z njimi.</a:t>
            </a:r>
          </a:p>
          <a:p/>
          <a:p>
            <a:r>
              <a:t> Gradivo in normativni okvir</a:t>
            </a:r>
          </a:p>
          <a:p/>
          <a:p>
            <a:r>
              <a:t>Skripta povezuje predavateljeve prosojnice, testno gradivo iz arhiva za študijska leta 2010/11–2017/18 in izpitne pole iz leta 2026. Arhiv vsebuje tudi rešitve, komentarje in različice pol. Uporabljen je za prepoznavanje ponavljajočih se problemov; starih rešitev ne prenašamo avtomatično v današnji normativni okvir.</a:t>
            </a:r>
          </a:p>
          <a:p/>
          <a:p>
            <a:r>
              <a:t>SP 2001 uporabljamo kot osnovno pravopisno izhodišče. Pri pravilih SP 2001 navajamo člen; sestavke njegovega slovarskega dela označujemo posebej. eP 2025 pomeni ePravopis 2025, slovarski zvezek, ki ga je Založba ZRC izdala leta 2026. Ta vsebuje konkretne predlagane slovarske sestavke in njihov uvod, ne celotnega besedila novih pravil. Njegov odnos do predloga Pravopis 8.0 pojasnjujejo uvod in opozorilo na str. 10. Konkretne nove rešitve zato označujemo z virom, letnico in po potrebi stranjo. Kadar uporabimo sam predlog pravil Pravopisa 8.0, je to posebej navedeno.</a:t>
            </a:r>
          </a:p>
          <a:p/>
          <a:p>
            <a:r>
              <a:t>Razlika med pravilom, predlaganim sestavkom in strokovnim svetovalnim odgovorom je del razlage. V prvem poglavju se naučimo brati te vire, v petem pa na konkretnih imenih primerjamo, kaj ostaja enako, kaj je natančneje opisano in kaj je predlagano drugače.</a:t>
            </a:r>
          </a:p>
          <a:p/>
          <a:p>
            <a:r>
              <a:t> Kazalo</a:t>
            </a:r>
          </a:p>
          <a:p/>
          <a:p>
            <a:r>
              <a:t>1. Kako utemeljimo jezikovno odločitev?</a:t>
            </a:r>
          </a:p>
          <a:p>
            <a:r>
              <a:t>2. Pomen in poimenovanje: kaj v sobesedilu pomeni izraz?</a:t>
            </a:r>
          </a:p>
          <a:p>
            <a:r>
              <a:t>3. Beseda ali besedna zveza: kako zgradba vpliva na zapis?</a:t>
            </a:r>
          </a:p>
          <a:p>
            <a:r>
              <a:t>4. Oblike v sobesedilu: zakaj ima beseda prav to obliko?</a:t>
            </a:r>
          </a:p>
          <a:p>
            <a:r>
              <a:t>5. Lastna imena v slovenskem besedilu</a:t>
            </a:r>
          </a:p>
          <a:p>
            <a:r>
              <a:t>6. Zgradba povedi in vejica</a:t>
            </a:r>
          </a:p>
          <a:p>
            <a:r>
              <a:t>7. Vrinjeno, pristavljeno, citirano</a:t>
            </a:r>
          </a:p>
          <a:p>
            <a:r>
              <a:t>8. Od analize do jezikovnega nasveta</a:t>
            </a:r>
          </a:p>
          <a:p/>
          <a:p>
            <a:r>
              <a:t>- Dodatek A: pojmovni pregled</a:t>
            </a:r>
          </a:p>
          <a:p>
            <a:r>
              <a:t>- Dodatek B: postopki za ponavljanje</a:t>
            </a:r>
          </a:p>
          <a:p>
            <a:r>
              <a:t>- Dodatek C: povezave med izpitnimi problemi</a:t>
            </a:r>
          </a:p>
          <a:p>
            <a:r>
              <a:t>- Dodatek D: usmerjeno branje temeljne literature</a:t>
            </a:r>
          </a:p>
          <a:p>
            <a:r>
              <a:t>- Viri in literatura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Vsebina</a:t>
            </a:r>
          </a:p>
          <a:p/>
          <a:p>
            <a:r>
              <a:t>ZA IZVEDBO</a:t>
            </a:r>
          </a:p>
          <a:p>
            <a:r>
              <a:t>Vsebine izvajamo po zaporedju. Vsako poglavje vsebuje razlage in primere, vaje z rešitvami ter povzetek.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Kako bomo delali?</a:t>
            </a:r>
          </a:p>
          <a:p/>
          <a:p>
            <a:r>
              <a:t>ZA IZVEDBO</a:t>
            </a:r>
          </a:p>
          <a:p>
            <a:r>
              <a:t>Pojasnite način dela: najprej vprašanje, nato poskus in razlaga. Zahtevnejše naloge so del gradiva in so označene. Po razkritju rešitve naj študent pove, kateri dokaz je bil odločilen. Ocenjevanje konkretnega izpita sledi predavateljevim navodilom.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Jezikovna odločitev</a:t>
            </a:r>
          </a:p>
          <a:p/>
          <a:p>
            <a:r>
              <a:t>ZA IZVEDBO</a:t>
            </a:r>
          </a:p>
          <a:p>
            <a:r>
              <a:t>Osrednje vprašanje te enote: Kateri podatek odloča o rešitvi jezikovnega problema?</a:t>
            </a:r>
          </a:p>
          <a:p>
            <a:r>
              <a:t>Cilji: Natančno poimenujemo problem in raven analize.; Razločimo pomen, zgradbo, kodifikacijo in ustreznost.; Izberemo vir ter omejimo doseg svojega sklepa.</a:t>
            </a:r>
          </a:p>
          <a:p/>
          <a:p>
            <a:r>
              <a:t>UVOD V ENOTO</a:t>
            </a:r>
          </a:p>
          <a:p>
            <a:r>
              <a:t> 1. Kako utemeljimo jezikovno odločitev?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Tisto, kar nas zmoti, še ni diagnoza</a:t>
            </a:r>
          </a:p>
          <a:p/>
          <a:p>
            <a:r>
              <a:t>Povezava s skripto: 1.1</a:t>
            </a:r>
          </a:p>
          <a:p/>
          <a:p>
            <a:r>
              <a:t>ZA IZVEDBO</a:t>
            </a:r>
          </a:p>
          <a:p>
            <a:r>
              <a:t>Začnemo s tremi vprašanji iz skripte. Študenti naj najprej povedo, kateri podatek bi potrebovali, ne takoj izberejo odgovora. Pri prvem primeru poiščemo sklon in ujemanje, pri drugem pomen pridevnika in sobesedilo, pri tretjem mejo odvisnika. Skupna oznaka pravilno ali nepravilno prikrije različne naloge. V nadaljevanju bomo gradili besedišče, s katerim problem poimenujemo dovolj natančno, da lahko izberemo tudi ustrezen vir.</a:t>
            </a:r>
          </a:p>
          <a:p/>
          <a:p>
            <a:r>
              <a:t>RAZLAGA IZ SKRIPTE · 1.1 Kaj od nas zahteva jezikovni problem?</a:t>
            </a:r>
          </a:p>
          <a:p>
            <a:r>
              <a:t>Pri presojanju jezika navadno najprej opazimo obliko, ki nas zmoti ali pri kateri oklevamo. Morda bi sami uporabili drug predlog, pridevnik ali zaimek. Morda bi v dolgi povedi dodali vejico. Tak odziv je dobro izhodišče za vprašanje, vendar ga moramo dopolniti z analizo. Ugotoviti moramo, katera lastnost primera sploh odloča o rešitvi.</a:t>
            </a:r>
          </a:p>
          <a:p/>
          <a:p>
            <a:r>
              <a:t>Oglejmo si tri vprašanja:</a:t>
            </a:r>
          </a:p>
          <a:p/>
          <a:p>
            <a:r>
              <a:t>1. Ali pišemo v novem poročilu ali v novemu poročilu?</a:t>
            </a:r>
          </a:p>
          <a:p>
            <a:r>
              <a:t>2. Ali nov slovar in novi slovar v vsakem sobesedilu pomenita isto?</a:t>
            </a:r>
          </a:p>
          <a:p>
            <a:r>
              <a:t>3. Ali v povedi Poročilo, ki ga je pripravila skupina, bomo objavili jutri potrebujemo obe vejici?</a:t>
            </a:r>
          </a:p>
          <a:p/>
          <a:p>
            <a:r>
              <a:t>V prvem primeru povezujemo sklon in ujemanje. V drugem razmerje med lastnostjo, določnostjo in sobesedilom. V tretjem ugotavljamo obseg odvisnika, umeščenega med dele nadrednega stavka. V vseh treh je odločitev povezana s slovnico, vendar vsak primer zahteva drug podatek.</a:t>
            </a:r>
          </a:p>
          <a:p/>
          <a:p>
            <a:r>
              <a:t>Najprej zato poimenujemo problem čim bolj natančno. Vprašanje »Ali je to pravilno?« preoblikujemo v vprašanje »Kateri sklon zahteva ta zveza?«, »Na kaj se nanaša zaimek?« ali »Katera dva dela sta povezana z veznikom?«. Z natančnejšim vprašanjem lažje izberemo tudi ustrezen priročnik.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Štiri razsežnosti jezikovne presoje</a:t>
            </a:r>
          </a:p>
          <a:p/>
          <a:p>
            <a:r>
              <a:t>Povezava s skripto: 1.2</a:t>
            </a:r>
          </a:p>
          <a:p/>
          <a:p>
            <a:r>
              <a:t>ZA IZVEDBO</a:t>
            </a:r>
          </a:p>
          <a:p>
            <a:r>
              <a:t>Vsako presojo umestimo v ustrezno razsežnost. Pogost zapis je podatek o rabi, ne neposredna potrditev kodifikacije. Slovnično mogoča poved je lahko v določenem uradnem besedilu slogovno neprimerna. Dve dopustni obliki lahko izrazita različna pomena. Pri razlagi študenti poimenujejo tudi doseg sklepa: popravljajo ujemanje, razrešujejo dvoumnost ali predlagajo slogovno izboljšavo. Razsežnosti se povezujejo, vendar ene ne dokazujemo samo z drugo.</a:t>
            </a:r>
          </a:p>
          <a:p/>
          <a:p>
            <a:r>
              <a:t>RAZLAGA IZ SKRIPTE · 1.2 Štiri razsežnosti jezikovne presoje</a:t>
            </a:r>
          </a:p>
          <a:p>
            <a:r>
              <a:t>Pri presoji se pogosto prepletajo pomen, zgradba, norma in ustreznost okoliščinam. Ločimo jih, da v odgovoru ne zamenjamo enega argumenta z drugim.</a:t>
            </a:r>
          </a:p>
          <a:p/>
          <a:p>
            <a:r>
              <a:t>| Razsežnost | Kaj ugotavljamo? | Zgled vprašanja |</a:t>
            </a:r>
          </a:p>
          <a:p>
            <a:r>
              <a:t>| --- | --- | --- |</a:t>
            </a:r>
          </a:p>
          <a:p>
            <a:r>
              <a:t>| Pomen | Kaj izraz v danem primeru sporoča in na kaj se nanaša? | Ali pridevnik opisuje lastnost ali poimenuje vrsto? |</a:t>
            </a:r>
          </a:p>
          <a:p>
            <a:r>
              <a:t>| Slovnična zgradba | Kakšni odnosi povezujejo sestavine? | Ali se pridevnik ujema s samostalnikom; ali sta stavka priredna? |</a:t>
            </a:r>
          </a:p>
          <a:p>
            <a:r>
              <a:t>| Kodifikacija | Kako pojav obravnava določen normativni priročnik? | Kako zapisujemo določeno skupino lastnih imen? |</a:t>
            </a:r>
          </a:p>
          <a:p>
            <a:r>
              <a:t>| Sporazumevalna ustreznost | Kako izbira deluje v tej vrsti besedila in pri teh naslovnikih? | Ali je pogovorni izraz primeren v strokovnem navodilu? |</a:t>
            </a:r>
          </a:p>
          <a:p/>
          <a:p>
            <a:r>
              <a:t>Izraz je lahko slovnično mogoč in hkrati slogovno zaznamovan. Dve slovnično mogoči formulaciji lahko izražata različna pomena. Velika začetnica lahko zahteva presojo, ali je pred nami ime, vendar samo sklicevanje na pomembnost ustanove take odločitve ne utemelji. Tudi dejstvo, da je neka oblika pogosta, samo po sebi ne pove, kako jo vrednoti izbrani normativni vir.</a:t>
            </a:r>
          </a:p>
          <a:p/>
          <a:p>
            <a:r>
              <a:t>Pri strokovni razlagi zato pazimo na doseg trditve. Če menimo, da je poved dvoumna, to napišemo in pokažemo obe razlagi. Če predlagamo slogovno izboljšavo, pojasnimo, kaj z njo pridobimo. Če ugotavljamo napako v ujemanju, navedemo sestavini, ki bi se morali ujemati.</a:t>
            </a:r>
          </a:p>
          <a:p/>
          <a:p>
            <a:r>
              <a:t> Kaj pojasnimo s teorijo in kaj preverimo v pravopisu?</a:t>
            </a:r>
          </a:p>
          <a:p/>
          <a:p>
            <a:r>
              <a:t>Trditev ta beseda je tvorjena iz predložne zveze je rezultat besedotvorne analize. Trditev to obliko v izbranem priročniku pišemo z vezajem je podatek o kodifikaciji. Med njima moramo pokazati povezavo; ena ne nadomesti druge. Prav tako teoretična kategorija ne velja zato, ker jo zahteva izpit, temveč zato, ker po določenem merilu poveže podatke, ki jih želimo pojasniti.</a:t>
            </a:r>
          </a:p>
          <a:p/>
          <a:p>
            <a:r>
              <a:t>Takšno razločevanje ne pomeni, da je slovnica brez normativnih sodb. Toporišič med priročnike, prek katerih poteka kodifikacija, izrecno uvršča pravopis, slovnico in slovar (2004: 833–834). Tudi njegova slovnica zato vsebuje tako opisne in razlagalne trditve kot priporočila. Ob posameznem sklicu ugotovimo, katero vrsto trditve prevzemamo. Za aktualno pravopisno odločitev nato navedemo prav tisti normativni okvir, ki smo ga izbrali.</a:t>
            </a:r>
          </a:p>
          <a:p/>
          <a:p>
            <a:r>
              <a:t>Primer: poimenovalna enota je lahko večbesedna. Vidovič Muha to zajame s pojmom leksem, širšim od izrazne besede (2013: 17–18). Iz tega sledi, da presledek ne razmejuje nujno dveh samostojnih poimenovanj. Ne sledi pa, da smemo vsako ustaljeno zvezo poljubno pisati skupaj. Slovarska enota, besedotvorna zgradba in pravopisna enota so povezana, vendar različna vprašanja.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Teoretična analiza in pravopisna odločitev</a:t>
            </a:r>
          </a:p>
          <a:p/>
          <a:p>
            <a:r>
              <a:t>Povezava s skripto: 1.2</a:t>
            </a:r>
          </a:p>
          <a:p/>
          <a:p>
            <a:r>
              <a:t>ZA IZVEDBO</a:t>
            </a:r>
          </a:p>
          <a:p>
            <a:r>
              <a:t>Primerjava loči vrsti trditev, ne knjig na povsem opisne in povsem normativne. Toporišič tudi slovnico uvršča med kodifikacijske priročnike. Zato ob sklicevanju prepoznamo, katero vrsto trditve prevzemamo. Leksem je lahko večbeseden, toda iz tega ne dobimo dovoljenja za poljubno združevanje besed. Pri vsaki odločitvi povežemo razlagalno merilo s pravilom za obravnavano skupino. Ime avtorja ali izpita samo ne nadomesti dokaza.</a:t>
            </a:r>
          </a:p>
          <a:p/>
          <a:p>
            <a:r>
              <a:t>VIRI</a:t>
            </a:r>
          </a:p>
          <a:p>
            <a:r>
              <a:t>Toporišič 2004: 833–834</a:t>
            </a:r>
          </a:p>
          <a:p>
            <a:r>
              <a:t>Vidovič Muha 2013: 17–18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Dve obliki ali dva leksema?</a:t>
            </a:r>
          </a:p>
          <a:p/>
          <a:p>
            <a:r>
              <a:t>Povezava s skripto: 1.3</a:t>
            </a:r>
          </a:p>
          <a:p/>
          <a:p>
            <a:r>
              <a:t>ZA IZVEDBO</a:t>
            </a:r>
          </a:p>
          <a:p>
            <a:r>
              <a:t>V povedi poiščemo obe pojavitvi leksema študent. Obliki sta različni, ker sta vključeni v različni skladenjski razmerji. Nato preidemo na nasprotno vprašanje: ali dva presledkom ločena zapisa nujno pomenita dve samostojni poimenovanji? Sončna očala pokažejo, da ne. Pri štetju moramo razlikovati pojavitve, oblike in lekseme. Toporišičev opis besede in avtoričin pojem leksema odgovarjata na povezani, vendar ne povsem isti vprašanji.</a:t>
            </a:r>
          </a:p>
          <a:p/>
          <a:p>
            <a:r>
              <a:t>VIRI</a:t>
            </a:r>
          </a:p>
          <a:p>
            <a:r>
              <a:t>Vidovič Muha 2013: 17–19, 25–29</a:t>
            </a:r>
          </a:p>
          <a:p>
            <a:r>
              <a:t>Toporišič 2004: 103–106</a:t>
            </a:r>
          </a:p>
          <a:p/>
          <a:p>
            <a:r>
              <a:t>RAZLAGA IZ SKRIPTE · 1.3 Beseda, oblika in leksem</a:t>
            </a:r>
          </a:p>
          <a:p>
            <a:r>
              <a:t>V povedi Študent je študentu posodil knjigo se pojavita obliki študent in študentu. Pri opisu besedišča ju povezujemo z istim leksemom, ki ga v slovarju praviloma iščemo pod iztočnico študent. V konkretnem besedilu pa sta to različni besedni obliki, ki opravljata različni nalogi.</a:t>
            </a:r>
          </a:p>
          <a:p/>
          <a:p>
            <a:r>
              <a:t>Leksem razumemo kot enoto besedišča z ustaljeno izrazno in pomensko identiteto. Pri pregibnem leksemu so njegove oblike povezane v sklanjatveni ali spregatveni vzorec. Oblika v besedilu izraža slovnične lastnosti, ki so potrebne v konkretnem stavku. Besedilo lahko vsebuje več pojavitev iste oblike, zato pri štetju in analizi vedno povemo, ali štejemo pojavitve, različne oblike ali lekseme.</a:t>
            </a:r>
          </a:p>
          <a:p/>
          <a:p>
            <a:r>
              <a:t>Prav tako leksem ni nujno ena sama zapisana beseda. Zveza sončna očala ima dve besedi, vendar jo lahko obravnavamo kot ustaljeno poimenovalno enoto. Nasprotno je nova očala lahko prosta zveza samostalnika in pridevnika. To razliko podrobneje obravnava drugo poglavje.</a:t>
            </a:r>
          </a:p>
          <a:p/>
          <a:p>
            <a:r>
              <a:t>Pri zgradbi oblike razlikujemo tudi osnovo in končnico. V paru knjig-a – knjig-e ostaja osnova knjig-, spreminja pa se končnica. V tvorjenki gozdar pripona -ar sodeluje pri nastanku nove besede iz besedne družine leksema gozd. Končnica pri pregibanju in besedotvorno obrazilo imata različni nalogi; več o tem je v tretjem poglavju.</a:t>
            </a:r>
          </a:p>
          <a:p/>
          <a:p>
            <a:r>
              <a:t>Zakaj je razlika več kot terminološka? Toporišič pri opredelitvi besede upošteva pomensko samostojnost, povezanost sestavin in možnosti njihovega razvrščanja; takoj nato obravnava tudi primere, pri katerih se zgradba in pisanje ne prekrivata preprosto (2004: 103–106). Vidovič Muha izpostavi poimenovalno identiteto leksema, ki je lahko enobeseden ali večbeseden (2013: 17–19, 25–29). Opisa zato beremo ob vprašanju, katero enoto raziskujemo. Pri zvezi sončna očala lahko hkrati govorimo o dveh zapisanih besedah in o enem ustaljenem poimenovanju; to nista nasprotujoči si ugotovitvi.</a:t>
            </a:r>
          </a:p>
          <a:p/>
          <a:p>
            <a:r>
              <a:t>Ločimo še pomen in pomenje. V modelu Ade Vidovič Muha je pomen oziroma semem posamezni pomen, pomenje oziroma semantem pa celota povezanih pomenov istega leksema (2013: 18–19). Različni sklonski obliki miška in miški zato nista že dva pomena; živalski in računalniški pomen izraza miška pa nista samo dve sklonski obliki. Drugo poglavje to razmerje razvije v natančnejšo pomensko analizo.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Oblika, tvorjenka in pomen so različne ravni</a:t>
            </a:r>
          </a:p>
          <a:p/>
          <a:p>
            <a:r>
              <a:t>Povezava s skripto: 1.3</a:t>
            </a:r>
          </a:p>
          <a:p/>
          <a:p>
            <a:r>
              <a:t>ZA IZVEDBO</a:t>
            </a:r>
          </a:p>
          <a:p>
            <a:r>
              <a:t>Primerjave vodimo zaporedno. Knjig-a in knjig-e pokažeta osnovo in končnico. Pri gozdarju pripona sodeluje pri tvorjenju druge besede; podrobno analizo prepustimo tretjemu poglavju. Pri miški pa moramo ločiti oblikovno razliko od razlike med živaljo in napravo. V modelu Ade Vidovič Muha posamezni pomen imenujemo semem, celoto povezanih pomenov pa pomenje oziroma semantem. Ti dve oznaki bomo v drugem poglavju še razvili.</a:t>
            </a:r>
          </a:p>
          <a:p/>
          <a:p>
            <a:r>
              <a:t>VIRI</a:t>
            </a:r>
          </a:p>
          <a:p>
            <a:r>
              <a:t>Vidovič Muha 2013: 18–19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Besedna vrsta še ne določi stavčnega člena</a:t>
            </a:r>
          </a:p>
          <a:p/>
          <a:p>
            <a:r>
              <a:t>Povezava s skripto: 1.4</a:t>
            </a:r>
          </a:p>
          <a:p/>
          <a:p>
            <a:r>
              <a:t>ZA IZVEDBO</a:t>
            </a:r>
          </a:p>
          <a:p>
            <a:r>
              <a:t>V prvih treh zgledih prepoznamo isti samostalniški leksem in različni stavčni funkciji. Pri predložni zvezi označimo celoto o knjigi. Enako pri osebku nova knjiga o prevajanju ne označimo zgolj njegovega jedra. Četrti zgled pripravi terminološko razlikovanje: zanimiva je povedkovo določilo, skupaj z je pa tvori povedek. Podrobnejša besednovrstna analiza lahko v Toporišičevem modelu obravnava prehod v povedkovnik. To ni drugo ime za povedek.</a:t>
            </a:r>
          </a:p>
          <a:p/>
          <a:p>
            <a:r>
              <a:t>VIRI</a:t>
            </a:r>
          </a:p>
          <a:p>
            <a:r>
              <a:t>Toporišič 2004: 317, 344, 412</a:t>
            </a:r>
          </a:p>
          <a:p/>
          <a:p>
            <a:r>
              <a:t>RAZLAGA IZ SKRIPTE · 1.4 Besedna vrsta in stavčni člen</a:t>
            </a:r>
          </a:p>
          <a:p>
            <a:r>
              <a:t>Besedne vrste povezujemo z lastnostmi besed: njihovim pomenom, oblikovanjem in značilnim skladenjskim vedenjem. Stavčni členi pa poimenujejo funkcije v stavku. Ista beseda zato v različnih povedih lahko nastopa v različnih stavčnih vlogah.</a:t>
            </a:r>
          </a:p>
          <a:p/>
          <a:p>
            <a:r>
              <a:t>| Poved | Kaj je poudarjena sestavina po besedni vrsti? | Kakšna je njena vloga? |</a:t>
            </a:r>
          </a:p>
          <a:p>
            <a:r>
              <a:t>| --- | --- | --- |</a:t>
            </a:r>
          </a:p>
          <a:p>
            <a:r>
              <a:t>| Knjiga je izšla. | Samostalnik. | Osebek. |</a:t>
            </a:r>
          </a:p>
          <a:p>
            <a:r>
              <a:t>| Urednica bere knjigo. | Samostalnik. | Predmet. |</a:t>
            </a:r>
          </a:p>
          <a:p>
            <a:r>
              <a:t>| Pogovarjali smo se o knjigi. | Samostalnik je del predložne zveze. | Celotna predložna zveza nastopa kot predmet. |</a:t>
            </a:r>
          </a:p>
          <a:p/>
          <a:p>
            <a:r>
              <a:t>Stavčni člen je lahko tudi večbeseden. V povedi Nova knjiga o prevajanju je izšla včeraj je osebek celotna zveza nova knjiga o prevajanju. Njeno jedro je knjiga, preostali sestavini pa jo natančneje določata. Če kot osebek označimo samo besedo knjiga, smo izbrali jedro, nismo pa zajeli celotnega stavčnega člena.</a:t>
            </a:r>
          </a:p>
          <a:p/>
          <a:p>
            <a:r>
              <a:t>V Knjiga je zanimiva pridevniški del zanimiva pomensko dopolnjuje vez je; skupaj tvorita povedek. Njegova funkcija je povedkovo določilo. Pri natančnejši besednovrstni razvrstitvi upoštevamo tudi model: Toporišič poleg izhodiščne besedne vrste obravnava prehod v povedkovnik (2004: 317, 344, 412). Povedkovnik je besednovrstni pojem, povedek in povedkovo določilo pa označujeta skladenjski vlogi. To razmerje podrobneje razčlenimo v 6.1.</a:t>
            </a:r>
          </a:p>
          <a:p/>
          <a:p>
            <a:r>
              <a:t>Ta razlika postane odločilna pri vejici. Vejice ne postavimo zato, ker je besedna zveza dolga. Najprej razberemo, katere besede pripadajo isti sestavini in kakšen odnos imajo do drugih delov povedi.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Tri načine povezovanja preverimo z zgledi</a:t>
            </a:r>
          </a:p>
          <a:p/>
          <a:p>
            <a:r>
              <a:t>Povezava s skripto: 1.5</a:t>
            </a:r>
          </a:p>
          <a:p/>
          <a:p>
            <a:r>
              <a:t>ZA IZVEDBO</a:t>
            </a:r>
          </a:p>
          <a:p>
            <a:r>
              <a:t>Najprej spreminjamo zvezo zanimiva razprava: zanimive razprave, zanimivi razpravi. Odvisna sestavina se po ustreznih kategorijah ravna po jedru. Pri razmišljati o razpravi je pomembna zahtevana oblika dopolnila; vezavo povezujemo s širšim vprašanjem vezljivosti. Pri pozorno brati ni takšnega oblikovnega prilagajanja. Ti preizkusi omogočijo, da odnose poimenujemo na podlagi vedenja sestavin in ne zgolj po občutku, katere besede sodijo skupaj.</a:t>
            </a:r>
          </a:p>
          <a:p/>
          <a:p>
            <a:r>
              <a:t>RAZLAGA IZ SKRIPTE · 1.5 Jedro, odvisni del, prirednost in podrednost</a:t>
            </a:r>
          </a:p>
          <a:p>
            <a:r>
              <a:t>V zvezi zanimiva razprava je jedro samostalnik razprava, pridevnik pa ga določa. Po spolu, številu in sklonu se ravna po njem: zanimiva razprava – zanimive razprave – zanimivi razpravi. Takšno prilagajanje imenujemo ujemanje.</a:t>
            </a:r>
          </a:p>
          <a:p/>
          <a:p>
            <a:r>
              <a:t>V zvezi razmišljati o razpravi izbrana glagolska konstrukcija predvideva dopolnilo v določeni obliki. Govorimo o vezavi, širše pa o vezljivosti besede in njenih skladenjskih vzorcih. Pri zvezi pozorno brati prislov natančneje opredeljuje način dejanja, pri tem pa se ne pregiba po glagolu. Takšno povezovanje tradicionalno opisujemo s primikom.</a:t>
            </a:r>
          </a:p>
          <a:p/>
          <a:p>
            <a:r>
              <a:t>Pri podrednosti je ena sestavina odvisna od druge: strokovni članek, pisati članek, rekel je, da pride. Pri prirednosti so povezane sestavine na isti ravni: članek in knjiga, bere in piše. Ista poved lahko vsebuje oboje: v Bere članek in knjigo, ki jo je priporočila mentorica sta predmeta priredno povezana, odvisnik pa dodatno določa knjigo.</a:t>
            </a:r>
          </a:p>
          <a:p/>
          <a:p>
            <a:r>
              <a:t>Vprašanje, kaj je jedro in kaj je od česa odvisno, uporabimo tudi pri besedotvorju. Če zvezo razložimo kot zgodovina književnosti, smo vzpostavili drugačno razmerje, kot če govorimo o književnosti in zgodovini. Iz takšne pomenske razlike lahko sledijo različne tvorjenke in različni zapisi.</a:t>
            </a:r>
          </a:p>
          <a:p/>
          <a:p>
            <a:r>
              <a:t>Ob tem vedno navedemo raven analize. Priredno razmerje med pomenoma v podstavi tvorjenke ni isto kot priredno razmerje med stavkoma. Beseda priredno zato sama še ne pove, ali bomo zapisali vezaj, presledek ali vejico. Najprej ugotovimo, katere enote povezujemo, nato uporabimo pravilo za to vrsto zgradbe. To razliko bomo v tretjem poglavju preverili ob kupoprodajni pogodbi, v šestem pa ob različnih rabah veznika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Ista poved vsebuje prirednost in podrednost</a:t>
            </a:r>
          </a:p>
          <a:p/>
          <a:p>
            <a:r>
              <a:t>Povezava s skripto: 1.5</a:t>
            </a:r>
          </a:p>
          <a:p/>
          <a:p>
            <a:r>
              <a:t>ZA IZVEDBO</a:t>
            </a:r>
          </a:p>
          <a:p>
            <a:r>
              <a:t>Študenti naj zamejijo oba predmeta in povedo, kaj povezuje in. Nato poiščejo odnosnico zaimka jo. Odvisnik določa knjigo, ne obeh samostalnikov avtomatično. Povezavo prenesemo na besedotvorje: zgodovina književnosti vzpostavi drugačno razmerje kot književnost in zgodovina. Toda prirednost v podstavi tvorjenke in prirednost med stavkoma nista isto vprašanje o zapisu. Vedno določimo raven analize, šele potem odločamo o vezaju, presledku ali vejici.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Poved in stavek ne merita istega</a:t>
            </a:r>
          </a:p>
          <a:p/>
          <a:p>
            <a:r>
              <a:t>Povezava s skripto: 1.6</a:t>
            </a:r>
          </a:p>
          <a:p/>
          <a:p>
            <a:r>
              <a:t>ZA IZVEDBO</a:t>
            </a:r>
          </a:p>
          <a:p>
            <a:r>
              <a:t>Poved je sporočilna enota, stavek pa skladenjska zgradba. Primer z nedoločnikom je lahko samostojen vzklik, čeprav nima osebne glagolske oblike. Toporišič obravnava tudi ustreznike stavkov in pastavčne tvorbe, denimo nagovor ali medmetni odziv. Za uvodno raven je bistveno, da štetje osebnih oblik ni popolna definicija povedi. Pri zahtevnejši razčlenitvi poimenujemo konkretni tip zgradbe; vseh takih zgledov ne združimo v eno nedoločeno izjemo.</a:t>
            </a:r>
          </a:p>
          <a:p/>
          <a:p>
            <a:r>
              <a:t>VIRI</a:t>
            </a:r>
          </a:p>
          <a:p>
            <a:r>
              <a:t>Toporišič 2004: 488–490</a:t>
            </a:r>
          </a:p>
          <a:p/>
          <a:p>
            <a:r>
              <a:t>RAZLAGA IZ SKRIPTE · 1.6 Poved, stavek, propozicija in predikacija</a:t>
            </a:r>
          </a:p>
          <a:p>
            <a:r>
              <a:t>Poved je samostojna sporočilna enota; stavek je skladenjska zgradba. V povedi se lahko uresniči en stavek ali več povezanih stavkov. Toporišičev opis vključuje tudi ustreznike stavkov z neosebno glagolsko obliko ali imenskim jedrom ter pastavčne tvorbe, denimo nagovor in medmetni odziv. Povedi zato ne razvrstimo zgolj tako, da preštejemo osebne glagolske oblike. Zgled Hoditi domov ob taki uri! ima drugačno zgradbo kot Ana hodi domov, vendar je lahko samostojno sporočilo. (Toporišič 2004: 488–490.)</a:t>
            </a:r>
          </a:p>
          <a:p/>
          <a:p>
            <a:r>
              <a:t>Propozicija je pomenska podstava: povedje in udeleženci, ki jih v določenem razmerju predvidimo. Upovedovanje pomeni, da dobi taka podstava konkretno skladenjsko obliko ter časovne, naklonske in druge določitve. Pri izhodišču poslati – urednica – avtor – pripombe lahko oblikujemo trditev, vprašanje ali poziv: Urednica je avtorju poslala pripombe. Ali je urednica avtorju poslala pripombe? Naj urednica avtorju pošlje pripombe. Udeležence povežemo podobno, vendar se spremeni način, kako vsebino postavimo v sporazumevanje. (Toporišič 2004: 491–492.)</a:t>
            </a:r>
          </a:p>
          <a:p/>
          <a:p>
            <a:r>
              <a:t>V pomenski razčlenitvi uporabljamo izraz povedje oziroma predikat, povedek pa označuje skladenjsko funkcijo v konkretnem stavku. Izraz predikat se v literaturi uporablja tudi za stavčni člen, tudi pri Toporišiču (2004: 555); njegovo vrednost zato razberemo iz konteksta. V tej skripti pomensko in skladenjsko raven dosledno razlikujemo z izrazoma povedje in povedek. Povedje se lahko izrazi tudi z vezjo in imenskim ali pridevniškim delom, npr. je urednica, je utrujena. Pri preoblikovanju v samostalniško zvezo uredničino pošiljanje pripomb avtorju se dogodkovna vsebina ne izgubi, čeprav zveza sama nima osebnega povedka. (Toporišič 2004: 491–492.)</a:t>
            </a:r>
          </a:p>
          <a:p/>
          <a:p>
            <a:r>
              <a:t>Pri predikaciji ugotavljamo, kaj se komu ali čemu pripisuje. Osnovnemu prisojanju se lahko pridruži dodatno: Maja se je vrnila utrujena pove nekaj o vrnitvi in o Majinem stanju ob njej. Dodatne vsebine ne smemo samodejno šteti kot novega osebnega stavka. Takšna vprašanja rešujemo z razločevanjem glavne povedkove zgradbe, njenih dopolnil in dodatnih predikacij; podrobneje v 4., 6. in 7. poglavju.</a:t>
            </a:r>
          </a:p>
          <a:p/>
          <a:p>
            <a:r>
              <a:t>| Zgled | Kaj opazimo v zgradbi? | Česa iz štetja oblik ne moremo sklepati? |</a:t>
            </a:r>
          </a:p>
          <a:p>
            <a:r>
              <a:t>|---|---|---|</a:t>
            </a:r>
          </a:p>
          <a:p>
            <a:r>
              <a:t>| Maja je oddala nalogo. | Je oddala je sestavljena osebna oblika. | Dve glagolski besedi ne pomenita dveh stavkov. |</a:t>
            </a:r>
          </a:p>
          <a:p>
            <a:r>
              <a:t>| Maja želi oddati nalogo. | Nedoločnik dopolnjuje hotenjsko vsebino osebnega glagola. | Oddaja ni s tem že zatrjena kot izvršeno dejanje. |</a:t>
            </a:r>
          </a:p>
          <a:p>
            <a:r>
              <a:t>| Maja je povedala, da bo oddala nalogo. | Nadredni stavek vključuje vsebinski odvisnik. | Vezniški in povedkovni sestav razčlenimo, preden postavimo vejico. |</a:t>
            </a:r>
          </a:p>
          <a:p>
            <a:r>
              <a:t>| Maja se je vrnila utrujena. | Ob polnopomenskem povedku je dodatno prisojeno stanje osebka. | Ena osebna povedkova zgradba ne izčrpa vseh predikacijskih vsebin. |</a:t>
            </a:r>
          </a:p>
          <a:p/>
          <a:p>
            <a:r>
              <a:t>Razločevanje osebnega in neosebnega izraza je torej uporabno, vendar ga dopolnimo z vprašanji: Kdo je nosilec posameznega dejanja ali stanja? Kaj je zatrjeno, kaj zaželeno in kaj samo omenjeno? Katera sestavina dopolnjuje glagol, katera pa se vključuje drugače? Pri nedoločniku in dodatni predikaciji sledimo Toporišičevim obravnavam hotenjskih zgradb in stavčnih členov (2004: 494–495, 611–618).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Isto pomensko izhodišče različno upovedimo</a:t>
            </a:r>
          </a:p>
          <a:p/>
          <a:p>
            <a:r>
              <a:t>Povezava s skripto: 1.6</a:t>
            </a:r>
          </a:p>
          <a:p/>
          <a:p>
            <a:r>
              <a:t>ZA IZVEDBO</a:t>
            </a:r>
          </a:p>
          <a:p>
            <a:r>
              <a:t>Izhodišče tvorijo poslati, urednica, avtor in pripombe. Pri treh povedih preverimo ohranitev udeleženskih razmerij ter spremembo sporočilne vloge. Urednica ostane predvidena vršilka, avtor prejemnik, pripombe poslano. Zatrjevanje dogodka ni isto kot spraševanje ali poziv. Propozicijo v tej razlagi uporabljamo za pomensko podstavo, upovedovanje pa za njeno konkretno skladenjsko in sporazumevalno uresničitev. Zato besedni seznam sam še ne izraža časa ali govorčeve namere.</a:t>
            </a:r>
          </a:p>
          <a:p/>
          <a:p>
            <a:r>
              <a:t>VIRI</a:t>
            </a:r>
          </a:p>
          <a:p>
            <a:r>
              <a:t>Toporišič 2004: 491–492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Povedek ne izčrpa vseh predikacijskih vsebin</a:t>
            </a:r>
          </a:p>
          <a:p/>
          <a:p>
            <a:r>
              <a:t>Povezava s skripto: 1.6</a:t>
            </a:r>
          </a:p>
          <a:p/>
          <a:p>
            <a:r>
              <a:t>ZA IZVEDBO</a:t>
            </a:r>
          </a:p>
          <a:p>
            <a:r>
              <a:t>Povedje in povedek v skripti razlikujeta pomensko in skladenjsko raven. Predikat je v literaturi večpomenski termin, tudi pri Toporišiču, zato ga ne razglašamo za univerzalno pomensko oznako. V prikazanih povedih štejemo zgradbe in razlagamo njihov pomen. Je oddala vsebuje dve besedi, toda eno sestavljeno osebno obliko. Želi oddati ne zatrjuje opravljene oddaje. Vrnila se je utrujena poleg vrnitve pripiše Maji stanje. Nominalizacija uredničino pošiljanje pripomb avtorju ohrani dogodkovno vsebino, ne osebnega povedka.</a:t>
            </a:r>
          </a:p>
          <a:p/>
          <a:p>
            <a:r>
              <a:t>VIRI</a:t>
            </a:r>
          </a:p>
          <a:p>
            <a:r>
              <a:t>Toporišič 2004: 491–492, 494–495, 555, 611–618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Zakaj stojita dve vejici?</a:t>
            </a:r>
          </a:p>
          <a:p/>
          <a:p>
            <a:r>
              <a:t>Povezava s skripto: 1.7</a:t>
            </a:r>
          </a:p>
          <a:p/>
          <a:p>
            <a:r>
              <a:t>ZA IZVEDBO</a:t>
            </a:r>
          </a:p>
          <a:p>
            <a:r>
              <a:t>Najprej preberemo poved brez odvisnika: Poročilo bomo objavili jutri. Nato znova vključimo prilastkov odvisnik in označimo njegov začetek ter konec. Vejica pred bomo zapira odvisnik; ni posledica besede bomo. Odstranitev pomaga razkriti osnovno zgradbo, vendar ni splošno ločilno pravilo. Tudi novo v zvezi novo poročilo lahko izpustimo, pa zato ne potrebuje dveh vejic. Od študentov zahtevamo navedbo konkretne odnosnice in obeh meja.</a:t>
            </a:r>
          </a:p>
          <a:p/>
          <a:p>
            <a:r>
              <a:t>RAZLAGA IZ SKRIPTE · 1.7 Razčlenjeni primer: dve vejici in ena skladenjska zveza</a:t>
            </a:r>
          </a:p>
          <a:p>
            <a:r>
              <a:t>Vprašanje: Zakaj pišemo Poročilo, ki ga je pripravila skupina, bomo objavili jutri z dvema vejicama?</a:t>
            </a:r>
          </a:p>
          <a:p/>
          <a:p>
            <a:r>
              <a:t>Najprej določimo osnovno sporočilo: Poročilo bomo objavili jutri. Nato prepoznamo del ki ga je pripravila skupina. Ta določa samostalnik poročilo in ima svojo stavčno zgradbo. Gre za prilastkov odvisnik, ki je postavljen za svojo odnosnico in se nahaja med deli nadrednega stavka.</a:t>
            </a:r>
          </a:p>
          <a:p/>
          <a:p>
            <a:r>
              <a:t>Prva vejica označuje začetek odvisnika, druga njegov konec. Vejice pred bomo zato ne pojasnjujemo s to besedo; stoji tam, ker se je pred njo končal odvisnik. Ko odvisnik odstranimo, dobimo osnovno poved brez vejice med predmetom in povedkom.</a:t>
            </a:r>
          </a:p>
          <a:p/>
          <a:p>
            <a:r>
              <a:t>Kratek vzorčni odgovor:</a:t>
            </a:r>
          </a:p>
          <a:p/>
          <a:p>
            <a:r>
              <a:t>&gt; Obe vejici sta potrebni, ker zamejujeta prilastkov odvisnik ki ga je pripravila skupina. Ta se nanaša na poročilo in je umeščen med predmet ter povedek nadrednega stavka. Vejica pred bomo zapira odvisnik; osnovna zgradba je Poročilo bomo objavili jutri.</a:t>
            </a:r>
          </a:p>
          <a:p/>
          <a:p>
            <a:r>
              <a:t>Pri tem razlikujemo opazovanje in dokaz. Možnost, da neki del izpustimo, pomaga pokazati zgradbo, vendar ni splošno pravilo, po katerem bi vse izpustljive sestavine ločevali z vejicami. Tudi pridevnik v zvezi novo poročilo lahko izpustimo, pa ga zato ne obdamo z vejicama.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Izberemo vir, ki odgovarja na naše vprašanje</a:t>
            </a:r>
          </a:p>
          <a:p/>
          <a:p>
            <a:r>
              <a:t>Povezava s skripto: 1.8</a:t>
            </a:r>
          </a:p>
          <a:p/>
          <a:p>
            <a:r>
              <a:t>ZA IZVEDBO</a:t>
            </a:r>
          </a:p>
          <a:p>
            <a:r>
              <a:t>Fran je dostop do različnih virov, ne ime enega slovarja z enotnim namenom. Ob zadetku preberemo naslov slovarja, pomen in oznake. Teorijo preverjamo v slovnici ali monografiji, ustaljeni strokovni pojem v terminološkem viru, zapleteno praktično zadrego pa lahko v Jezikovni svetovalnici. Korpus prispeva podatke o besedilni rabi. Noben od teh virov ni samodejna zamenjava za druge: izbira sledi natančno opredeljenemu predmetu presoje.</a:t>
            </a:r>
          </a:p>
          <a:p/>
          <a:p>
            <a:r>
              <a:t>RAZLAGA IZ SKRIPTE · 1.8 Kateri vir odgovarja na katero vprašanje?</a:t>
            </a:r>
          </a:p>
          <a:p>
            <a:r>
              <a:t>Pri iskanju po portalu Fran preberemo, iz katerega slovarja je zadetek, kakšen pomen je naveden in kakšne oznake ga spremljajo. Sklic na portal še ne pove, ali uporabljamo razlagalni slovar, pravopisni slovar, terminološki vir ali zgodovinski opis.</a:t>
            </a:r>
          </a:p>
          <a:p/>
          <a:p>
            <a:r>
              <a:t>| Kaj preverjamo? | Ustrezna začetna izbira | Kaj preberemo? |</a:t>
            </a:r>
          </a:p>
          <a:p>
            <a:r>
              <a:t>| --- | --- | --- |</a:t>
            </a:r>
          </a:p>
          <a:p>
            <a:r>
              <a:t>| Razlagalni model in merila za kategorijo | Slovnica oziroma ustrezna jezikoslovna monografija. | Opredelitev pojma, uporabljeno merilo, dokazne zglede in meje analize. |</a:t>
            </a:r>
          </a:p>
          <a:p>
            <a:r>
              <a:t>| Pomen in zaznamovanost besede | Razlagalni slovar, npr. SSKJ². | Pomensko razčlenitev, zglede, kvalifikatorje. |</a:t>
            </a:r>
          </a:p>
          <a:p>
            <a:r>
              <a:t>| Pravopisno pravilo ali obliko | Pravila in slovar SP 2001; po potrebi novejša obravnava. | Obseg pravila, izjeme, status vira. |</a:t>
            </a:r>
          </a:p>
          <a:p>
            <a:r>
              <a:t>| Kompleksno jezikovno zadrego | Strokovni odgovor v Jezikovni svetovalnici. | Vprašanje, razlago, pogoje in datum odgovora. |</a:t>
            </a:r>
          </a:p>
          <a:p>
            <a:r>
              <a:t>| Ustaljen strokovni pojem | Terminološki slovar oziroma terminološko svetovanje. | Področje in razmerje med pojmom ter poimenovanjem. |</a:t>
            </a:r>
          </a:p>
          <a:p>
            <a:r>
              <a:t>| Rabo v besedilih | Ustrezen besedilni korpus. | Celotne zadetke, žanr, pomen, ponovitve in primerljivost. |</a:t>
            </a:r>
          </a:p>
          <a:p/>
          <a:p>
            <a:r>
              <a:t> Pravilo in slovarski sestavek se dopolnjujeta</a:t>
            </a:r>
          </a:p>
          <a:p/>
          <a:p>
            <a:r>
              <a:t>Pravilo opisuje skupino primerov, slovarski sestavek pa pokaže, kako je posamezna beseda uvrščena v to skupino. Pri tujem imenu denimo potrebujemo oboje: splošni postopek daljšanja osnove in podatek, kako se to ime izgovarja. Napačno prebrani slovarski podatek lahko povzroči napačno uporabo povsem ustreznega pravila.</a:t>
            </a:r>
          </a:p>
          <a:p/>
          <a:p>
            <a:r>
              <a:t>Slovarskega sestavka zato ne beremo kot nerazčlenjenega seznama oblik. Najprej prepoznamo iztočnico in morebitno številko, ki razlikuje enakopisne enote. Nato pregledamo izgovor, pregibanje, slovnično in pomensko uvrstitev ter zgledne zveze. Šele zatem iščemo svojilni pridevnik, pridevnik na -ski, prebivalsko ime ali napotilo k drugi iztočnici. Izpis oblike v konkretnem zgledu je lahko odvisen od sklona ali pomena in ni nujno še ena iztočnična različica.</a:t>
            </a:r>
          </a:p>
          <a:p/>
          <a:p>
            <a:r>
              <a:t>Uvod v eP 2025 takšno branje podrobno omogoča: pojasnjuje podatke o izgovoru in pregibanju, prikaz celotnih paradigem, pomen kvalifikatorjev, povezane tvorjenke in normativna pojasnila (str. 7–9). Če sta obliki povezani z in ali tudi, njuno razmerje preberemo v okviru slovarskih navodil. Druga zapisana oblika ni zaradi svojega mesta samodejno napaka. Hkrati ne smemo poljubno kombinirati delov več prikazanih vzorcev in tako ustvarjati novih »dvojnic«.</a:t>
            </a:r>
          </a:p>
          <a:p/>
          <a:p>
            <a:r>
              <a:t> Zakaj obstajajo različne rešitve?</a:t>
            </a:r>
          </a:p>
          <a:p/>
          <a:p>
            <a:r>
              <a:t>Pri primerjavi virov razlikujemo vsaj štiri položaje. Lahko se je spremenil predlog zapisa. Lahko novi vir natančneje razloči prej združene primere, denimo enako zapisani imeni z različnima izgovoroma. Lahko je bila že prej mogoča dvojnica, ki je nismo opazili. Lahko pa primerjamo različna pomena ali različna predmeta poimenovanja. Samo prvi položaj je neposredno sprememba predlagane kodifikacije.</a:t>
            </a:r>
          </a:p>
          <a:p/>
          <a:p>
            <a:r>
              <a:t>eP 2025 v uvodu pojasnjuje, da pri normativnem odločanju sodelujejo izročilo, raba, sistem in gospodarnost ter potrebe jezikovne skupnosti. Opozarja tudi na različne stopnje formalnosti knjižnega izražanja (str. 5–6). Iz tega ne sledi, da je vsak razširjen zapis že normativno potrjen. Sledi pa, da strokovna razlaga ne more obstati pri argumentu »vedno smo pisali tako« ali pri nasprotnem »danes to vsi uporabljajo«.</a:t>
            </a:r>
          </a:p>
          <a:p/>
          <a:p>
            <a:r>
              <a:t>Za našo primerjavo uporabljamo tri jasno razločene ravni:</a:t>
            </a:r>
          </a:p>
          <a:p/>
          <a:p>
            <a:r>
              <a:t>| Vir | Kaj z njim utemeljujemo? | Kako ga navedemo? |</a:t>
            </a:r>
          </a:p>
          <a:p>
            <a:r>
              <a:t>|---|---|---|</a:t>
            </a:r>
          </a:p>
          <a:p>
            <a:r>
              <a:t>| Pravila SP 2001 | Pravilo v izbranem osnovnem normativnem okviru. | SP 2001, člen in po potrebi stran. |</a:t>
            </a:r>
          </a:p>
          <a:p>
            <a:r>
              <a:t>| ePravopis 2025 | Konkretni slovarski predlog, njegovo paradigmo in morebitno pojasnilo razlike. | eP 2025, iztočnica in stran. |</a:t>
            </a:r>
          </a:p>
          <a:p>
            <a:r>
              <a:t>| Predlog pravil Pravopisa 8.0 | Predlagano splošno ureditev, kadar je razlika pomembna za obravnavani primer. | P8, poglavje, člen v zavitih oklepajih in uporabljena različica. |</a:t>
            </a:r>
          </a:p>
          <a:p/>
          <a:p>
            <a:r>
              <a:t>Oznaki Predlog in Potrjeno v postopku redakcije nista razlog, da bi prezrli splošno opozorilo o veljavnosti. eP 2025 izrecno povezuje normativno veljavnost slovarja s potrditvijo pripadajočih pravil (str. 6 in 10). Zato v tej skripti ni ene pomešane zbirke »vseh novih pravil«. Kadar vir obravnava nekaj drugače, to povemo ob konkretnem zgledu.</a:t>
            </a:r>
          </a:p>
          <a:p/>
          <a:p>
            <a:r>
              <a:t>Tudi staro izpitno rešitev beremo v njenem okviru. Je dokaz, kako je bil primer obravnavan v določenem gradivu, in dober zgled zahtevane argumentacije. Pri sedanji presoji poleg nje preverimo izgovor, pomen in uporabljeni normativni vir. S tem zgodovinsko rešitev razumemo natančneje in ne spregledamo morebitne poznejše spremembe.</a:t>
            </a:r>
          </a:p>
          <a:p/>
          <a:p>
            <a:r>
              <a:t> Kaj k razlagi prispeva korpus?</a:t>
            </a:r>
          </a:p>
          <a:p/>
          <a:p>
            <a:r>
              <a:t>Za opazovanje pisne rabe je med drugim na voljo Gigafida — https://viri.cjvt.si/gigafida/about/corpus, referenčni korpus pisne slovenščine. Iz njegovega opisa razberemo, katere vrste besedil vsebuje. Korpusni zadetek uporabimo kot dokaz izpričane rabe v določenem kontekstu; sklep o pravilnosti dodatno povežemo s slovnično analizo in ustreznim normativnim virom.</a:t>
            </a:r>
          </a:p>
          <a:p/>
          <a:p>
            <a:r>
              <a:t>Če nas zanima, ali sta dve zvezi sopomenski, potrebujemo sobesedilo. Če nas zanima, ali se uporabljata v istem registru, primerjamo tudi vrste besedil. Če nas zanima pogostnost, moramo opredeliti poizvedbo in enoto štetja. Dvajset vrstic rezultatov lahko vsebuje ponovitve istega besedila ali več različnih pomenov iskane besede.</a:t>
            </a:r>
          </a:p>
          <a:p/>
          <a:p>
            <a:r>
              <a:t>Zapis preverjanja naj zato vsebuje vprašanje, ime in različico vira, uporabljeno poizvedbo ali geslo, ugotovitev ter datum dostopa. Pri nalogi, ki zahteva samostojno argumentacijo, navedba vira podpira razlago; sama še ne pojasni, zakaj pravilo velja za naš primer.</a:t>
            </a:r>
          </a:p>
          <a:p/>
          <a:p>
            <a:r>
              <a:t>S tem imamo način dela, še nimamo pa vseh odgovorov. Naslednji korak je pomenski: če ne vemo, kaj izraz poimenuje, tudi najbolj natančno oblikovno ali pravopisno pravilo lahko uporabimo za napačen primer.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Slovarski sestavek beremo po plasteh</a:t>
            </a:r>
          </a:p>
          <a:p/>
          <a:p>
            <a:r>
              <a:t>Povezava s skripto: 1.8</a:t>
            </a:r>
          </a:p>
          <a:p/>
          <a:p>
            <a:r>
              <a:t>ZA IZVEDBO</a:t>
            </a:r>
          </a:p>
          <a:p>
            <a:r>
              <a:t>Pravilo opredeli skupino primerov, slovarski sestavek pa pokaže uvrstitev konkretne enote. Pri tujem imenu potrebujemo splošni postopek in njegov izgovor. Oštevilčena enakopisna sestavka lahko obravnavata različni enoti, ne dveh prostih različic. Povezavi in ter tudi razložimo po navodilih slovarja. Drugo mesto ne pomeni napačnosti. Prav tako ne smemo iz različnih paradigem vzeti posameznih delov in sestaviti nove dvojnice, ki je vir ne navaja.</a:t>
            </a:r>
          </a:p>
          <a:p/>
          <a:p>
            <a:r>
              <a:t>VIRI</a:t>
            </a:r>
          </a:p>
          <a:p>
            <a:r>
              <a:t>eP 2025: 7–9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 2001, eP 2025 in P8 imajo različne vloge</a:t>
            </a:r>
          </a:p>
          <a:p/>
          <a:p>
            <a:r>
              <a:t>Povezava s skripto: 1.8</a:t>
            </a:r>
          </a:p>
          <a:p/>
          <a:p>
            <a:r>
              <a:t>ZA IZVEDBO</a:t>
            </a:r>
          </a:p>
          <a:p>
            <a:r>
              <a:t>V skripti ostaja SP 2001 osnovni normativni okvir. ePravopis 2025 je letni prirastek slovarja, ne celotno besedilo novih pravil. Predlog Pravopisa 8.0 uporabljamo posebej označeno za splošno predlagano ureditev. Oznaki Predlog in Potrjeno v redakcijskem postopku ne odpravita splošnega opozorila o normativni veljavnosti slovarja, povezani s potrditvijo pravil. Staro izpitno rešitev zato najprej pojasnimo v njenem takratnem okviru.</a:t>
            </a:r>
          </a:p>
          <a:p/>
          <a:p>
            <a:r>
              <a:t>VIRI</a:t>
            </a:r>
          </a:p>
          <a:p>
            <a:r>
              <a:t>eP 2025: 6, 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Razlika med odgovoroma ni vedno sprememba pravila</a:t>
            </a:r>
          </a:p>
          <a:p/>
          <a:p>
            <a:r>
              <a:t>Povezava s skripto: 1.8</a:t>
            </a:r>
          </a:p>
          <a:p/>
          <a:p>
            <a:r>
              <a:t>ZA IZVEDBO</a:t>
            </a:r>
          </a:p>
          <a:p>
            <a:r>
              <a:t>Primerjava se začne s preverjanjem, ali oba vira obravnavata isto enoto in isti pomen. Različen izgovor enako zapisanega imena lahko spremeni pregibanje brez novega pravila. Dvojnica je lahko obstajala že prej, pa je nismo opazili. Šele po teh preverjanjih opredelimo morebitno spremembo predlagane kodifikacije. Pri normativnem odločanju eP obravnava izročilo, sistem, rabo, gospodarnost in potrebe skupnosti. Pogostnost in tradicija sta podatka, ne samostojna končna dokaza.</a:t>
            </a:r>
          </a:p>
          <a:p/>
          <a:p>
            <a:r>
              <a:t>VIRI</a:t>
            </a:r>
          </a:p>
          <a:p>
            <a:r>
              <a:t>eP 2025: 5–6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Od korpusnega zadetka do preverljive utemeljitve</a:t>
            </a:r>
          </a:p>
          <a:p/>
          <a:p>
            <a:r>
              <a:t>Povezava s skripto: 1.8</a:t>
            </a:r>
          </a:p>
          <a:p/>
          <a:p>
            <a:r>
              <a:t>ZA IZVEDBO</a:t>
            </a:r>
          </a:p>
          <a:p>
            <a:r>
              <a:t>Gigafida je referenčni korpus pisne slovenščine, zato moramo vedeti, katere vrste besedil vsebuje. Za sopomenskost potrebujemo sobesedilo, za register primerljive vrste besedil, za pogostnost jasno poizvedbo in enoto štetja. Dvajset vrstic lahko vsebuje ponovitve iste objave ali različne pomene. Študenti naj oblikujejo kratek zapis preverjanja. Sklep o izpričani rabi nato povežemo s slovnično analizo in normativnim virom, če naloga sploh zahteva presojo pravilnosti.</a:t>
            </a:r>
          </a:p>
          <a:p/>
          <a:p>
            <a:r>
              <a:t>VIRI</a:t>
            </a:r>
          </a:p>
          <a:p>
            <a:r>
              <a:t>Gigafida: opis korpusa; skripta 1.8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1.9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1.9; nalogi 1 in 2</a:t>
            </a:r>
          </a:p>
          <a:p/>
          <a:p>
            <a:r>
              <a:t>NALOGE</a:t>
            </a:r>
          </a:p>
          <a:p/>
          <a:p>
            <a:r>
              <a:t>1. V povedi Knjiga je ležala ob knjigi primerjajte obliki knjiga in knjigi: ali pripadata istemu leksemu in ali imata isto stavčno funkcijo?</a:t>
            </a:r>
          </a:p>
          <a:p/>
          <a:p>
            <a:r>
              <a:t>2. V zvezi nova knjiga o prevajanju določite jedro in odvisna dela. Nato celotno zvezo uporabite kot osebek in kot predmet.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1.10</a:t>
            </a:r>
          </a:p>
          <a:p/>
          <a:p>
            <a:r>
              <a:t>ZA IZVEDBO</a:t>
            </a:r>
          </a:p>
          <a:p>
            <a:r>
              <a:t>Primerjajte razlago s postopkom študentov. Naj označijo, kaj so dokazali in katera predpostavka je odločilna. Alternative sprejmite v mejah, navedenih v skripti.</a:t>
            </a:r>
          </a:p>
          <a:p/>
          <a:p>
            <a:r>
              <a:t>VIRI</a:t>
            </a:r>
          </a:p>
          <a:p>
            <a:r>
              <a:t>Skripta 3.0, 1.10; rešitvi 1 in 2</a:t>
            </a:r>
          </a:p>
          <a:p/>
          <a:p>
            <a:r>
              <a:t>REŠITVE Z RAZLAGO</a:t>
            </a:r>
          </a:p>
          <a:p/>
          <a:p>
            <a:r>
              <a:t>1. Knjiga in knjigi sta obliki istega leksema knjiga. Prva je imenovalniška in nastopa kot osebek. Druga je v mestniku znotraj predložne zveze ob knjigi, ki v danem zgledu izraža kraj. Stavčno funkcijo tu določamo celotni predložni zvezi.</a:t>
            </a:r>
          </a:p>
          <a:p/>
          <a:p>
            <a:r>
              <a:t>2. Jedro je knjiga, odvisna dela pa nova in o prevajanju. Kot osebek: Nova knjiga o prevajanju je izšla včeraj. Kot predmet: Urednica je prebrala novo knjigo o prevajanju. Ob spremembi vloge se ustrezno spremenita obliki samostalnika in pridevnika.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1.9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1.9; nalogi 3 in 4</a:t>
            </a:r>
          </a:p>
          <a:p/>
          <a:p>
            <a:r>
              <a:t>NALOGE</a:t>
            </a:r>
          </a:p>
          <a:p/>
          <a:p>
            <a:r>
              <a:t>3. Pojasnite razliko med trditvama to je pridevnik in to je prilastek.</a:t>
            </a:r>
          </a:p>
          <a:p/>
          <a:p>
            <a:r>
              <a:t>4. Razčlenite poved Študentka je povedala, da potrebuje slovar in priročnik. Kaj povezuje in? Kaj uvaja da?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1.10</a:t>
            </a:r>
          </a:p>
          <a:p/>
          <a:p>
            <a:r>
              <a:t>ZA IZVEDBO</a:t>
            </a:r>
          </a:p>
          <a:p>
            <a:r>
              <a:t>Primerjajte razlago s postopkom študentov. Naj označijo, kaj so dokazali in katera predpostavka je odločilna. Alternative sprejmite v mejah, navedenih v skripti.</a:t>
            </a:r>
          </a:p>
          <a:p/>
          <a:p>
            <a:r>
              <a:t>VIRI</a:t>
            </a:r>
          </a:p>
          <a:p>
            <a:r>
              <a:t>Skripta 3.0, 1.10; rešitvi 3 in 4</a:t>
            </a:r>
          </a:p>
          <a:p/>
          <a:p>
            <a:r>
              <a:t>REŠITVE Z RAZLAGO</a:t>
            </a:r>
          </a:p>
          <a:p/>
          <a:p>
            <a:r>
              <a:t>3. S prvo trditvijo določimo izhodiščno besedno vrsto, z drugo skladenjsko funkcijo. Pridevnik je lahko prilastek, npr. zanimiva knjiga, v povedi Knjiga je zanimiva pa sodeluje v povedku kot povedkovo določilo. Pri modelu, ki to rabo razloži kot prehod v povedkovnik, dodamo še to besednovrstno opredelitev; funkcija in teoretična razvrstitev ostajata ločena podatka (1.4 in 6.1).</a:t>
            </a:r>
          </a:p>
          <a:p/>
          <a:p>
            <a:r>
              <a:t>4. In povezuje samostalniška predmeta slovar in priročnik. Da uvaja vsebinski odvisnik, ki dopolnjuje glagol je povedala. Veznik in v tem primeru ne povezuje dveh samostojnih stavkov.</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5 in 6</a:t>
            </a:r>
          </a:p>
          <a:p/>
          <a:p>
            <a:r>
              <a:t>Povezava s skripto: 1.9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1.9; nalogi 5 in 6</a:t>
            </a:r>
          </a:p>
          <a:p/>
          <a:p>
            <a:r>
              <a:t>NALOGE</a:t>
            </a:r>
          </a:p>
          <a:p/>
          <a:p>
            <a:r>
              <a:t>5. Presodite utemeljitev: »Vejica je potrebna, ker pri branju naredim premor.« Kateri podatki v njej manjkajo?</a:t>
            </a:r>
          </a:p>
          <a:p/>
          <a:p>
            <a:r>
              <a:t>6. Izberite začetni vir za preverjanje pomena izraza, zapisa večbesednega imena in pogostnosti kolokacije. Utemeljite izbor.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5 in 6</a:t>
            </a:r>
          </a:p>
          <a:p/>
          <a:p>
            <a:r>
              <a:t>Povezava s skripto: 1.10</a:t>
            </a:r>
          </a:p>
          <a:p/>
          <a:p>
            <a:r>
              <a:t>ZA IZVEDBO</a:t>
            </a:r>
          </a:p>
          <a:p>
            <a:r>
              <a:t>Primerjajte razlago s postopkom študentov. Naj označijo, kaj so dokazali in katera predpostavka je odločilna. Alternative sprejmite v mejah, navedenih v skripti.</a:t>
            </a:r>
          </a:p>
          <a:p/>
          <a:p>
            <a:r>
              <a:t>VIRI</a:t>
            </a:r>
          </a:p>
          <a:p>
            <a:r>
              <a:t>Skripta 3.0, 1.10; rešitvi 5 in 6</a:t>
            </a:r>
          </a:p>
          <a:p/>
          <a:p>
            <a:r>
              <a:t>REŠITVE Z RAZLAGO</a:t>
            </a:r>
          </a:p>
          <a:p/>
          <a:p>
            <a:r>
              <a:t>5. Govorni premor je odvisen tudi od tempa, poudarka in načina branja. Za utemeljitev potrebujemo podatek o zgradbi: med katerima enotama je meja, kakšno razmerje ju povezuje in katero pravopisno pravilo je s tem povezano.</a:t>
            </a:r>
          </a:p>
          <a:p/>
          <a:p>
            <a:r>
              <a:t>6. Za pomen začnemo z ustreznim razlagalnim ali terminološkim slovarjem. Za zapis imena s pravopisnim virom in po potrebi strokovno obravnavo vrste imena. Za pogostnost kolokacije s korpusom, v katerem preverimo posamezne zadetke in njihove pomene. Odgovori se lahko dopolnjujejo z drugimi viri.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7 in 8</a:t>
            </a:r>
          </a:p>
          <a:p/>
          <a:p>
            <a:r>
              <a:t>Povezava s skripto: 1.9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1.9; nalogi 7 in 8</a:t>
            </a:r>
          </a:p>
          <a:p/>
          <a:p>
            <a:r>
              <a:t>NALOGE</a:t>
            </a:r>
          </a:p>
          <a:p/>
          <a:p>
            <a:r>
              <a:t>7. Napišite kratek odgovor na vprašanje, zakaj je v povedi Članek, ki ga beremo, obravnava prevajanje vejica pred obravnava.</a:t>
            </a:r>
          </a:p>
          <a:p/>
          <a:p>
            <a:r>
              <a:t>8. V dveh virih najdete različni obliki pridevnika. Katere podatke morate preveriti, preden razliko razglasite za spremembo pravila? Pojasnite tudi, zakaj eP 2025 in predlog pravil Pravopisa 8.0 nista isti dokument.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7 in 8</a:t>
            </a:r>
          </a:p>
          <a:p/>
          <a:p>
            <a:r>
              <a:t>Povezava s skripto: 1.10</a:t>
            </a:r>
          </a:p>
          <a:p/>
          <a:p>
            <a:r>
              <a:t>ZA IZVEDBO</a:t>
            </a:r>
          </a:p>
          <a:p>
            <a:r>
              <a:t>Primerjajte razlago s postopkom študentov. Naj označijo, kaj so dokazali in katera predpostavka je odločilna. Alternative sprejmite v mejah, navedenih v skripti.</a:t>
            </a:r>
          </a:p>
          <a:p/>
          <a:p>
            <a:r>
              <a:t>VIRI</a:t>
            </a:r>
          </a:p>
          <a:p>
            <a:r>
              <a:t>Skripta 3.0, 1.10; rešitvi 7 in 8</a:t>
            </a:r>
          </a:p>
          <a:p/>
          <a:p>
            <a:r>
              <a:t>REŠITVE Z RAZLAGO</a:t>
            </a:r>
          </a:p>
          <a:p/>
          <a:p>
            <a:r>
              <a:t>7. Vejica pred obravnava zapira prilastkov odvisnik ki ga beremo. Ta določa članek in je umeščen med osebek in povedek osnovne povedi Članek obravnava prevajanje. Meje torej ne določa beseda obravnava, ampak konec odvisnika.</a:t>
            </a:r>
          </a:p>
          <a:p/>
          <a:p>
            <a:r>
              <a:t>8. Preverimo, ali primerjamo isto ime, izgovor, pomen, slovnično obliko in časovni oziroma normativni okvir. Razlika je lahko nova rešitev, natančnejša razčlenitev, že obstoječa dvojnica ali posledica drugega izhodišča. eP 2025 je slovarski zvezek s konkretnimi sestavki; Pravopis 8.0 je predlog splošnih pravil, ki se z njimi povezuje. Podatek iz enega zato ne sme dobiti napačne navedbe drugega.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9</a:t>
            </a:r>
          </a:p>
          <a:p/>
          <a:p>
            <a:r>
              <a:t>Povezava s skripto: 1.9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1.9; naloga 9</a:t>
            </a:r>
          </a:p>
          <a:p/>
          <a:p>
            <a:r>
              <a:t>NALOGE</a:t>
            </a:r>
          </a:p>
          <a:p/>
          <a:p>
            <a:r>
              <a:t>9. Zahtevnejša naloga: ravni opisa. Razvrstite naslednje trditve in za vsako določite potreben dokaz: (a) sončna očala so ustaljena poimenovalna enota; (b) očala so v povedi Očala so se zlomila osebek; (c) pridevnik v o Markovem prevodu vsebuje besedotvorni in oblikoslovni del; (č) neko izdajo zavezuje zapis Novo mesto po SP 2001. Ali ena vrsta vira zadostuje za vse štiri?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9</a:t>
            </a:r>
          </a:p>
          <a:p/>
          <a:p>
            <a:r>
              <a:t>Povezava s skripto: 1.10</a:t>
            </a:r>
          </a:p>
          <a:p/>
          <a:p>
            <a:r>
              <a:t>ZA IZVEDBO</a:t>
            </a:r>
          </a:p>
          <a:p>
            <a:r>
              <a:t>Primerjajte razlago s postopkom študentov. Naj označijo, kaj so dokazali in katera predpostavka je odločilna. Alternative sprejmite v mejah, navedenih v skripti.</a:t>
            </a:r>
          </a:p>
          <a:p/>
          <a:p>
            <a:r>
              <a:t>VIRI</a:t>
            </a:r>
          </a:p>
          <a:p>
            <a:r>
              <a:t>Skripta 3.0, 1.10; rešitev 9</a:t>
            </a:r>
          </a:p>
          <a:p/>
          <a:p>
            <a:r>
              <a:t>REŠITVE Z RAZLAGO</a:t>
            </a:r>
          </a:p>
          <a:p/>
          <a:p>
            <a:r>
              <a:t>9. (a) Zahteva leksikalno presojo: ali zveza ohranja poimenovalno identiteto kot del leksike; izhodišče daje Vidovič Muha (2013: 17, 29–32), konkretno rabo pa preverjamo tudi v slovarju. (b) Zahteva skladenjsko analizo dane povedi, ne definicije predmeta iz stvarnosti. (c) Zahteva razlikovanje tvorjenke Markov od njene mestniške oblike Markovem: -ov- sodeluje pri tvorbi pridevnika, -em pri pregibanju. (č) Je normativna odločitev v izrecno določenem okviru. Teoretična knjiga pomaga pojasniti kategorijo imena, zapis sestavin pa utemeljimo s pravopisnim členom. Prepričljiva rešitev navede raven in dokaz za vsako trditev.</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10</a:t>
            </a:r>
          </a:p>
          <a:p/>
          <a:p>
            <a:r>
              <a:t>Povezava s skripto: 1.9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1.9; naloga 10</a:t>
            </a:r>
          </a:p>
          <a:p/>
          <a:p>
            <a:r>
              <a:t>NALOGE</a:t>
            </a:r>
          </a:p>
          <a:p/>
          <a:p>
            <a:r>
              <a:t>10. Zahtevnejša naloga: pomen in upovedovanje. Primerjajte Urednica je poslala pripombe avtorju, Ali je urednica poslala pripombe avtorju? in uredničino pošiljanje pripomb avtorju. Pokažite skupno dogodkovno vsebino, udeležence in razliko med trditvijo, vprašanjem ter imenskim poimenovanjem. Ali iz zadnje zveze izvemo, da je bilo dejanje končano?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10</a:t>
            </a:r>
          </a:p>
          <a:p/>
          <a:p>
            <a:r>
              <a:t>Povezava s skripto: 1.10</a:t>
            </a:r>
          </a:p>
          <a:p/>
          <a:p>
            <a:r>
              <a:t>ZA IZVEDBO</a:t>
            </a:r>
          </a:p>
          <a:p>
            <a:r>
              <a:t>Primerjajte razlago s postopkom študentov. Naj označijo, kaj so dokazali in katera predpostavka je odločilna. Alternative sprejmite v mejah, navedenih v skripti.</a:t>
            </a:r>
          </a:p>
          <a:p/>
          <a:p>
            <a:r>
              <a:t>VIRI</a:t>
            </a:r>
          </a:p>
          <a:p>
            <a:r>
              <a:t>Skripta 3.0, 1.10; rešitev 10</a:t>
            </a:r>
          </a:p>
          <a:p/>
          <a:p>
            <a:r>
              <a:t>REŠITVE Z RAZLAGO</a:t>
            </a:r>
          </a:p>
          <a:p/>
          <a:p>
            <a:r>
              <a:t>10. Skupna vsebina povezuje pošiljanje, urednico kot vršilko, pripombe kot poslano ter avtorja kot prejemnika. Prva poved zatrjuje dogodek v preteklosti, druga po njem sprašuje. Imenska zveza poimenuje pošiljanje ter udeleženska razmerja izrazi drugače: uredničino kot levi prilastek, pripomb v rodilniku, avtorju v dajalniku. Sama ne poda osebne časovne in naklonske določitve, zato iz nje ne moremo sklepati, kdaj se dogajanje odvija ali ali je končano. Prehod od poslala k pošiljanju poleg skladenjske zgradbe spremeni tudi vidsko predstavitev; pretvorbe zato ne razglasimo za popolnoma pomensko enakovredno. (Toporišič 2004: 275–276, 491–492.)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Pomen in poimenovanje</a:t>
            </a:r>
          </a:p>
          <a:p/>
          <a:p>
            <a:r>
              <a:t>ZA IZVEDBO</a:t>
            </a:r>
          </a:p>
          <a:p>
            <a:r>
              <a:t>Osrednje vprašanje te enote: Kako dokažemo, kaj izraz poimenuje in kako je povezan z drugimi?</a:t>
            </a:r>
          </a:p>
          <a:p>
            <a:r>
              <a:t>Cilji: Razločimo leksem, pomen, pomensko sestavino in nanosnik.; Utemeljimo pomensko razmerje z analizo in preizkusom.; Povežemo poimenovanje z obliko, vezljivostjo in okoliščinami.</a:t>
            </a:r>
          </a:p>
          <a:p/>
          <a:p>
            <a:r>
              <a:t>UVOD V ENOTO</a:t>
            </a:r>
          </a:p>
          <a:p>
            <a:r>
              <a:t> 2. Pomen in poimenovanje: kaj v sobesedilu pomeni izraz?</a:t>
            </a:r>
          </a:p>
          <a:p/>
          <a:p>
            <a:r>
              <a:t>Jezikovno vprašanje se pogosto začne z dvema zapisoma: sodoben ali sodobni, delaven ali deloven, ena beseda ali dve. Pred izbiro moramo ugotoviti, kaj želi pisec poimenovati. Dve slovnično mogoči obliki lahko izražata različna pomena; dve podobni besedi pa nista nujno zamenljivi. Pri jezikovnem svetovanju zato najprej razčistimo vsebino in šele nato presojamo obliko, zapis in primernost.</a:t>
            </a:r>
          </a:p>
          <a:p/>
          <a:p/>
          <a:p>
            <a:r>
              <a:t>Razlago poglobimo s strukturalnim leksikalnim pomenoslovjem, kot ga razvija Ada Vidovič Muha v drugi, dopolnjeni izdaji Slovenskega leksikalnega pomenoslovja (2013). Pojme povezujemo z analizo zgledov; niso le dodatne oznake za učenje na pamet. Kjer gre za posebno teoretično opredelitev, jo poimenujemo. Ta okvir pojasnjuje pomen in poimenovalna razmerja, pravopisne odločitve pa še naprej preverjamo v navedenih normativnih virih.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Izraz, pomen in konkretni termometer</a:t>
            </a:r>
          </a:p>
          <a:p/>
          <a:p>
            <a:r>
              <a:t>Povezava s skripto: 2.1</a:t>
            </a:r>
          </a:p>
          <a:p/>
          <a:p>
            <a:r>
              <a:t>ZA IZVEDBO</a:t>
            </a:r>
          </a:p>
          <a:p>
            <a:r>
              <a:t>Poglavje sledi strukturalnemu leksikalnemu pomenoslovju Ade Vidovič Muha v drugi, dopolnjeni izdaji iz leta 2013. Leksem je jezikovni znak: povezuje izrazno in vsebinsko stran. Izraz termometer ni naprava, pomen pa ni seznam vseh naših izkušenj z napravami. Denotat pri občnem poimenovanju razlagamo na sistemski ravni posplošene predmetnosti; nanosnik je konkretni primerek v besedilu. Avtorica opozarja na različno rabo teh terminov v literaturi, zato to razmejitev izrecno vežemo na naš okvir.</a:t>
            </a:r>
          </a:p>
          <a:p/>
          <a:p>
            <a:r>
              <a:t>VIRI</a:t>
            </a:r>
          </a:p>
          <a:p>
            <a:r>
              <a:t>Vidovič Muha 2013: 17–21, 51–52</a:t>
            </a:r>
          </a:p>
          <a:p/>
          <a:p>
            <a:r>
              <a:t>RAZLAGA IZ SKRIPTE · 2.1 Besedna oblika, leksem in posamezni pomen</a:t>
            </a:r>
          </a:p>
          <a:p>
            <a:r>
              <a:t>V povedi Članek smo poslali urednici nastopajo konkretne besedne oblike. Oblike članek, članka, članku, članki povezuje isti leksem: poimenovalna enota jezikovnega sistema. Ko samostalnik sklanjamo, praviloma ne ustvarjamo novega leksema, temveč ga vključujemo v različna slovnična razmerja. Slovarsko iztočnico članek uporabljamo kot njegovo predstavnico.</a:t>
            </a:r>
          </a:p>
          <a:p/>
          <a:p>
            <a:r>
              <a:t>V strukturalnem leksikalnem pomenoslovju Ade Vidovič Muha je leksem jezikovni znak, ki povezuje izrazno podobo z vsebinsko stranjo. Izraz ni predmet sam: glasovi oziroma črke besede termometer niso merilna naprava. Prav tako pomen ni seznam vseh naših izkušenj s termometri. Jezik iz predstave o predmetnosti izbere in uredi lastnosti, s katerimi poimenovanje prepoznavamo in razločujemo od drugih (Vidovič Muha 2013: 17–21).</a:t>
            </a:r>
          </a:p>
          <a:p/>
          <a:p>
            <a:r>
              <a:t>Ločimo še denotat na ravni sistema od konkretnega nanašanja v besedilu. Pri občnem poimenovanju obravnavani model izhaja iz posplošene predmetnosti, razreda istovrstnih pojavov. V povedi Ta termometer se je pokvaril pa se izraz nanaša na določen primerek. Ta primerek je naš besedilni nanosnik; njegova barva ali mesto nakupa nista zato že sestavini slovarskega pomena. Avtorica opozarja, da terminologija denotata in reference v pomenoslovju ni povsem enotna, zato vedno povemo, na kateri ravni izraz uporabljamo (Vidovič Muha 2013: 51–52).</a:t>
            </a:r>
          </a:p>
          <a:p/>
          <a:p>
            <a:r>
              <a:t>En izraz lahko povezuje več pomenov: miška poimenuje žival in računalniško napravo. Posamezni pomen imenujemo semem, urejeni skupek pomenov istega leksema pa pomenje oziroma semantem. Najmanjša pomenska sestavina je sem. To niso tri sopomenke: sestavina sodeluje v pomenu, več povezanih pomenov pa sestavlja pomenje (Vidovič Muha 2013: 18–19, 59). Razlika miško – miške je oblikovna; razlika žival – naprava je pomenska.</a:t>
            </a:r>
          </a:p>
          <a:p/>
          <a:p>
            <a:r>
              <a:t>Leksem tudi ni nujno ena zapisana beseda. Sončna očala so ustaljeno večbesedno poimenovanje, opraskana očala pa lahko zgolj opisujejo trenutno stanje predmeta. Število presledkov zato ni merilo števila leksemov (Vidovič Muha 2013: 25–27).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Sem, semem in pomenje niso sopomenke</a:t>
            </a:r>
          </a:p>
          <a:p/>
          <a:p>
            <a:r>
              <a:t>Povezava s skripto: 2.1</a:t>
            </a:r>
          </a:p>
          <a:p/>
          <a:p>
            <a:r>
              <a:t>ZA IZVEDBO</a:t>
            </a:r>
          </a:p>
          <a:p>
            <a:r>
              <a:t>Najprej ponovimo razliko med sklonsko obliko in pomenom. Miško in miške sta lahko oblikovni različici, žival in računalniška naprava pa pomena. Sem je pomenska sestavina, semem posamezni pomen, semantem oziroma pomenje pa urejena celota povezanih pomenov leksema. Izrazna enota je lahko tudi večbesedna: sončna očala so ustaljeno poimenovanje, opraskana očala lahko zgolj sproten opis. Hierarhija pojmov omogoči analizo, ki ne ostane pri ugotovitvi, da ima beseda več razlag.</a:t>
            </a:r>
          </a:p>
          <a:p/>
          <a:p>
            <a:r>
              <a:t>VIRI</a:t>
            </a:r>
          </a:p>
          <a:p>
            <a:r>
              <a:t>Vidovič Muha 2013: 18–19, 25–27, 59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Štiri razsežnosti slovarskega pomena</a:t>
            </a:r>
          </a:p>
          <a:p/>
          <a:p>
            <a:r>
              <a:t>Povezava s skripto: 2.2</a:t>
            </a:r>
          </a:p>
          <a:p/>
          <a:p>
            <a:r>
              <a:t>ZA IZVEDBO</a:t>
            </a:r>
          </a:p>
          <a:p>
            <a:r>
              <a:t>Avtorica razlikuje obvezni kategorialni in širši denotativni pomen ter obvezno izbirni konotativni in pragmatični pomen. Izbirnost pomeni, da sestavina ni lastna vsakemu leksemu, ne da lahko zaznamovanost poljubno prezremo. Pri knjigi je ženski spol slovarska lastnost; mestnik v govoriti o knjigi izhaja iz konkretne zgradbe. Pri glagolu ločimo vid in intenčnost od stavčno uresničenih časovnih ter naklonskih določitev. Konotativnost je lahko inherentna ali adherentna, vezana na neprvi pomen; ne pripišemo je samodejno vsem pomenom.</a:t>
            </a:r>
          </a:p>
          <a:p/>
          <a:p>
            <a:r>
              <a:t>VIRI</a:t>
            </a:r>
          </a:p>
          <a:p>
            <a:r>
              <a:t>Vidovič Muha 2013: 33–40, 108–110</a:t>
            </a:r>
          </a:p>
          <a:p/>
          <a:p>
            <a:r>
              <a:t>RAZLAGA IZ SKRIPTE · 2.2 Slovarski pomen in pomen v konkretnem položaju</a:t>
            </a:r>
          </a:p>
          <a:p>
            <a:r>
              <a:t>Pri razlagi ne smemo izenačiti slovničnega podatka, poimenovanega pojma, vrednotenja in učinka izjave. Vidovič Muha razlikuje obvezni kategorialni in širši denotativni pomen ter obvezno izbirni konotativni in pragmatični pomen. »Izbirni« tu ne pomeni, da lahko že navzočo zaznamovanost poljubno odmislimo; pomeni, da ti sestavini nista lastni vsakemu leksemu. Tudi denotata ne omejuje na predmete: lahko je govorno dejanje ali slovnično razmerje (Vidovič Muha 2013: 33–36).</a:t>
            </a:r>
          </a:p>
          <a:p/>
          <a:p>
            <a:r>
              <a:t>| Razsežnost | Kaj pojasnjujemo? | Kaj nas varuje pred napačnim sklepom? |</a:t>
            </a:r>
          </a:p>
          <a:p>
            <a:r>
              <a:t>|---|---|---|</a:t>
            </a:r>
          </a:p>
          <a:p>
            <a:r>
              <a:t>| Kategorialni pomen | Lastnosti, ki leksem usposabljajo za določeno skladenjsko vedenje. | Samostalniški spol ni opis videza poimenovanega predmeta. |</a:t>
            </a:r>
          </a:p>
          <a:p>
            <a:r>
              <a:t>| Denotativni pomen | Kaj izraz poimenuje oziroma kakšen tip denotata ima. | Razlaga predmeta in razlaga pozdravljanja nimata enake zgradbe. |</a:t>
            </a:r>
          </a:p>
          <a:p>
            <a:r>
              <a:t>| Konotativni pomen | Dodatno vrednotenje ali zaznamovanost ob poimenovanju. | Poimenovanje iste predmetnosti še ne zagotavlja enakega tona. |</a:t>
            </a:r>
          </a:p>
          <a:p>
            <a:r>
              <a:t>| Sporočanjsko-pragmatični pomen | Leksikalizirano govorno dejanje in zanj značilne okoliščine. | Ustaljeni pozdrav ni samo sprotno sklepanje iz poljubne izjave. |</a:t>
            </a:r>
          </a:p>
          <a:p/>
          <a:p>
            <a:r>
              <a:t>Kategorialne pomenske sestavine (KPS) povezujejo slovar in slovnico. Pri samostalniku sta med slovarskimi lastnostmi spol in števnost, pri glagolu vid in usmerjenost dejanja, povezana z vezljivostjo. Konkretni sklon in število oziroma glagolski čas, naklon in način pa se uresničujejo v stavčni zgradbi. Pri knjigi je ženski spol lastnost leksema; da je v zvezi govoriti o knjigi uporabljen mestnik, ugotovimo iz konkretnega razmerja. KPS zato ne enačimo niti z vsemi končnicami niti z razločevalnimi lastnostmi predmeta v slovarski razlagi (Vidovič Muha 2013: 35–40).</a:t>
            </a:r>
          </a:p>
          <a:p/>
          <a:p>
            <a:r>
              <a:t>Denotativna in konotativna sestavina lahko nastopata skupaj. Pes in kuža lahko poimenujeta isto žival, izbira druge besede pa lahko izraža naklonjenost. V avtoričinem modelu konotativnost zajema tudi časovno in zvrstno zaznamovanost; njen slogovni učinek presojamo v besedilu. Razlikuje prvotno, inherentno konotativnost in drugotno, adherentno, vezano na neprvi pomen večpomenskega leksema. Vrednotenja zato ne iščemo samo v obrazilih in ga ne pripišemo avtomatično vsem pomenom iste besede (Vidovič Muha 2013: 108–110).</a:t>
            </a:r>
          </a:p>
          <a:p/>
          <a:p>
            <a:r>
              <a:t>Posebej pomembna je meja med leksikaliziranim pragmatičnim pomenom in sklepanjem v konkretnem položaju. Dober dan kot pozdrav ni zgolj trditev, da je dan dober. Razlaga mora povedati, kaj govorec s tem izrazom običajno stori. Podobno z au izraža bolečino; ne poimenuje vrste predmeta. Vidovič Muha zato ob pomenskosestavinskih razlagah obravnava tudi stavčna pojasnila govornih dejanj in njihovih okoliščin (2013: 97–102, 107–108).</a:t>
            </a:r>
          </a:p>
          <a:p/>
          <a:p>
            <a:r>
              <a:t>Če pa nekdo v zatohli sobi reče Tukaj je slab zrak, lahko pričakuje, da bomo odprli okno. Tak sklep nastane iz položaja; ni treba dodati novega slovarskega pomena besedi zrak. Tudi ironični Odlično! ob pokvarjenem tiskalniku razložimo iz konkretne rabe. Slovarski pomen in besedilni učinek sodelujeta, vendar njuna razlika ostane analitično pomembna.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Pozdrav in namig zahtevata različni razlagi</a:t>
            </a:r>
          </a:p>
          <a:p/>
          <a:p>
            <a:r>
              <a:t>Povezava s skripto: 2.2</a:t>
            </a:r>
          </a:p>
          <a:p/>
          <a:p>
            <a:r>
              <a:t>ZA IZVEDBO</a:t>
            </a:r>
          </a:p>
          <a:p>
            <a:r>
              <a:t>Dober dan v pozdravni rabi ni navadna ocena kakovosti dneva. Pojasnimo ustaljeno govorno dejanje in njegove okoliščine. Podobno au izraža bolečino, ne vrste predmeta. Pri izjavi o slabem zraku lahko naslovnik iz situacije sklepa na željo po odprtem oknu; zato še ne potrebujemo novega slovarskega pomena zrak. Tudi ironični Odlično! ob pokvarjenem tiskalniku zahteva razlago konkretne rabe. Slovarski pomen in besedilni učinek sodelujeta, vendar nista ista raven.</a:t>
            </a:r>
          </a:p>
          <a:p/>
          <a:p>
            <a:r>
              <a:t>VIRI</a:t>
            </a:r>
          </a:p>
          <a:p>
            <a:r>
              <a:t>Vidovič Muha 2013: 97–102, 107–108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Pomenska razlaga izbere razločevalne podatke</a:t>
            </a:r>
          </a:p>
          <a:p/>
          <a:p>
            <a:r>
              <a:t>Povezava s skripto: 2.3</a:t>
            </a:r>
          </a:p>
          <a:p/>
          <a:p>
            <a:r>
              <a:t>ZA IZVEDBO</a:t>
            </a:r>
          </a:p>
          <a:p>
            <a:r>
              <a:t>Razlaga je učni zgled uporabe sestavinskega modela, ne citat slovarske definicije. UPS je ena, čeprav jo ubesedimo z zvezo merilna naprava. RPS razloči termometer od drugih merilnih naprav. Rdeče ohišje ali učiteljev nakup opišeta primerek. Podrobnejši tehnični opis ni samodejno boljša pomenska razlaga. Splošni slovar upošteva naslovnika in ni nujno najpodrobnejša znanstvena taksonomija. Oznak navadno in zlasti ne smemo prebrati kot brezizjemni vedno.</a:t>
            </a:r>
          </a:p>
          <a:p/>
          <a:p>
            <a:r>
              <a:t>VIRI</a:t>
            </a:r>
          </a:p>
          <a:p>
            <a:r>
              <a:t>Vidovič Muha 2013: 58–66</a:t>
            </a:r>
          </a:p>
          <a:p/>
          <a:p>
            <a:r>
              <a:t>RAZLAGA IZ SKRIPTE · 2.3 Kako razložimo pomen in pomenski prenos</a:t>
            </a:r>
          </a:p>
          <a:p>
            <a:r>
              <a:t>Pri sestavinski analizi pomena izhajamo iz vprašanja, katere lastnosti so razločevalne v določenem pomenskem polju. Uvrščevalna pomenska sestavina (UPS) pomen umesti v praviloma neposredno širši razred. Razločevalne pomenske sestavine (RPS) ga znotraj tega razreda prepoznavno določijo. UPS je ena, vendar jo lahko ubesedimo z več besedami; število RPS ni vnaprej določeno in ni enako številu besed v razlagi (Vidovič Muha 2013: 59–66).</a:t>
            </a:r>
          </a:p>
          <a:p/>
          <a:p>
            <a:r>
              <a:t>Razčlenjeni primer: termometer. Za učno razlago izberemo merilna naprava za merjenje temperature. UPS je merilna naprava, RPS pa namen merjenja temperature, ki ga razloči od tehtnice ali merilnika tlaka. Razlaga nekaj, kar uporabljamo je presplošna. Razlaga rdeča naprava, ki jo je učitelj kupil včeraj opisuje primerek, ne leksema. Prav tako podroben opis izdelave posameznega modela še ni boljša pomenska razlaga: podatki morajo prispevati k razlikovanju obravnavanega pomena, ne zgolj k našemu poznavanju predmetnosti.</a:t>
            </a:r>
          </a:p>
          <a:p/>
          <a:p>
            <a:r>
              <a:t>Meja med pomenom in vedenjem o svetu ni vedno mehanska. Slovarska razlaga je namenjena določenemu naslovniku in njegovemu pojmovnemu svetu. Splošni slovar zato ne povzema nujno najpodrobnejše znanstvene taksonomije. Omejitve, kot sta navadno in zlasti, opozarjajo, da značilna lastnost ni brezizjemni pogoj; ob njih ne smemo samovoljno prebrati vedno (Vidovič Muha 2013: 58, 62, 64–66). Pri učbeniku bi tako opredelili vrsto učnega gradiva in njegovo namenjenost sistematičnemu učenju, ne pa barve platnic svojega izvoda.</a:t>
            </a:r>
          </a:p>
          <a:p/>
          <a:p>
            <a:r>
              <a:t>Ta model ni enako neposredno uporaben za vse besedne vrste. Vidovič Muha imenuje endogene lekseme z notranjo hierarhijo UPS in RPS, zlasti samostalnike in glagole; eksogeni leksemi, zlasti pridevniki in modifikacijski prislovi, pa pomensko razvijajo ustrezno zunanjo jedrno besedo. Globok nima enake notranje razlage kot vodnjak: njegova pomenljivost se pokaže ob vodnjaku, misli ali glasu. Samostalnik ob pridevniku zato ni njegova nadpomenka. Razlikovanje bo pomembno pri pridevniških zvezah v 2.8 in 4.5 (Vidovič Muha 2013: 60–61, 76–79).</a:t>
            </a:r>
          </a:p>
          <a:p/>
          <a:p>
            <a:r>
              <a:t>Večpomenskost oziroma polisemija je razmerje med povezanimi pomeni istega leksema. Homonimija pa povezuje različne lekseme z enako izrazno podobo. Pri boksu kot športu in boksu kot ograjenem prostoru nimamo motivacijske povezave, kakršno prepoznamo pri živalski in računalniški miški. SSKJ² ju obravnava v ločenih, oštevilčenih sestavkih: iztočnice boks — https://fran.si/iskanje?Query=boks&amp;View=1. Številčenje je podatek o slovarski obravnavi, utemeljitev razlike pa potrebuje presojo pomenske povezanosti, izrazne podobe in slovničnih lastnosti. Tudi pojem homonimije ima širše in ožje teoretične opredelitve (Vidovič Muha 2013: 130–132, 193–195).</a:t>
            </a:r>
          </a:p>
          <a:p/>
          <a:p>
            <a:r>
              <a:t>Večpomenskosti ne razložimo samo z oznako »preneseno«. V obravnavanem modelu najprej ločimo pomensko vsebovanost od pomenskega prenosa. Pri vsebovanosti ožji pomen ohrani izhodiščne lastnosti in jih dopolni: mož v pomenu zakonskega moža zoži pomen odraslega moškega z razmerjem do zakonke. Pri prenosu se pomen organizira drugače; računalniška miška ni vrsta živali (Vidovič Muha 2013: 132–133, 138–139, 144–145).</a:t>
            </a:r>
          </a:p>
          <a:p/>
          <a:p>
            <a:r>
              <a:t>| Postopek | Kaj moramo pokazati? | Razčlenjeni zgled |</a:t>
            </a:r>
          </a:p>
          <a:p>
            <a:r>
              <a:t>|---|---|---|</a:t>
            </a:r>
          </a:p>
          <a:p>
            <a:r>
              <a:t>| Metafora | Katera lastnost povezuje različni predstavi in kako nastane novi pomen. | Živalsko in računalniško miško povezujemo z zaznano podobnostjo oblike; v drugem pomenu se spremeni razred poimenovanega. |</a:t>
            </a:r>
          </a:p>
          <a:p>
            <a:r>
              <a:t>| Metonimija | Katero stvarno oziroma funkcijsko razmerje poveže izhodiščno predmetnost z novo. | V Popil je skodelico čaja se poimenovanje posode nanaša na njeno vsebino; posoda in pijača si nista podobni po obliki. |</a:t>
            </a:r>
          </a:p>
          <a:p>
            <a:r>
              <a:t>| Sinekdoha | Kako se vloga konstitutivnega dela in celote preuredi. | Hruška poimenuje drevo ali njegov sadež: v drugem pomenu je sadež uvrščevalen, drevo pa določa, čigav sadež je mišljen. |</a:t>
            </a:r>
          </a:p>
          <a:p/>
          <a:p>
            <a:r>
              <a:t>Vidovič Muha sinekdoho obravnava kot poseben tip znotraj metonimičnih prenosov. Razliko utemeljuje s hierarhijo pomenskih sestavin: pri sinekdohi se del in celota pomensko preuredita, pri metonimiji pa novi pomen dobi novo UPS ob povezavi z motivirajočim pomenom. Pri metafori povezuje predstavi vezna lastnost, denimo oblika ali funkcija; ni nujno že definicijska sestavina prvega pomena (Vidovič Muha 2013: 145–156). Pri odgovoru zato navedemo izhodiščni pomen, novi pomen in razmerje med njima.</a:t>
            </a:r>
          </a:p>
          <a:p/>
          <a:p>
            <a:r>
              <a:t>Prenos ni nujno slogovno opazen. Leksikalizirana metafora lahko navadno poimenuje napravo ali del stroja. Nasprotno je pokopališče zavrnjenih naslovov lahko sveža besedilna podoba raziskovalčeve mape. Njena razumljivost še ne dokazuje, da je nastal ustaljen slovarski pomen. Ločiti moramo tudi pomensko motivacijo od besedotvorne: nova poimenovalna raba istega izraza ni isto kot tvorjenje nove besede z obrazilom (Vidovič Muha 2013: 145, 155–156).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Zakaj globok ne razlagamo kakor vodnjak?</a:t>
            </a:r>
          </a:p>
          <a:p/>
          <a:p>
            <a:r>
              <a:t>Povezava s skripto: 2.3</a:t>
            </a:r>
          </a:p>
          <a:p/>
          <a:p>
            <a:r>
              <a:t>ZA IZVEDBO</a:t>
            </a:r>
          </a:p>
          <a:p>
            <a:r>
              <a:t>Endogenost in eksogenost sta termina obravnavanega modela. Pri endogenih leksemih avtorica opisuje notranjo hierarhijo UPS in RPS, zlasti pri samostalnikih in glagolih. Pridevniki in modifikacijski prislovi pa pomensko razvijajo ustrezno zunanje jedro. Vodnjak ni nadpomenka pridevnika globok. Prav tako jedro pridevniku ne podeli poljubnega pomena: med sestavinama mora biti razložljiva pomenska družljivost. To razliko bomo pozneje povezali z lastnostnimi in vrstnimi pridevniki ter njihovimi oblikami.</a:t>
            </a:r>
          </a:p>
          <a:p/>
          <a:p>
            <a:r>
              <a:t>VIRI</a:t>
            </a:r>
          </a:p>
          <a:p>
            <a:r>
              <a:t>Vidovič Muha 2013: 60–61, 76–79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Več pomenov: povezanost še potrebuje razlago</a:t>
            </a:r>
          </a:p>
          <a:p/>
          <a:p>
            <a:r>
              <a:t>Povezava s skripto: 2.3</a:t>
            </a:r>
          </a:p>
          <a:p/>
          <a:p>
            <a:r>
              <a:t>ZA IZVEDBO</a:t>
            </a:r>
          </a:p>
          <a:p>
            <a:r>
              <a:t>Miška povezuje motivirana pomena istega leksema. Pri možu avtorica opiše pomensko vsebovanost: zakonski mož zoži pomen odraslega moškega z dodatnim razmerjem do zakonke. Pri računalniški miški se spremeni razred poimenovanega; naprava ni vrsta živali. Boks kot šport in boks kot ograjeni prostor sta v SSKJ² ločeni iztočnici. Številčenje pove nekaj o slovarski obravnavi, vendar analiza še vedno zahteva presojo pomenske povezanosti, izrazne podobe in slovničnih lastnosti. Homonimija ima tudi širše in ožje teoretične opredelitve.</a:t>
            </a:r>
          </a:p>
          <a:p/>
          <a:p>
            <a:r>
              <a:t>VIRI</a:t>
            </a:r>
          </a:p>
          <a:p>
            <a:r>
              <a:t>Vidovič Muha 2013: 130–133, 138–139, 193–195</a:t>
            </a:r>
          </a:p>
          <a:p>
            <a:r>
              <a:t>SSKJ²: boks¹, boks²</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prenosu pokažemo, kaj povezuje pomena</a:t>
            </a:r>
          </a:p>
          <a:p/>
          <a:p>
            <a:r>
              <a:t>Povezava s skripto: 2.3</a:t>
            </a:r>
          </a:p>
          <a:p/>
          <a:p>
            <a:r>
              <a:t>ZA IZVEDBO</a:t>
            </a:r>
          </a:p>
          <a:p>
            <a:r>
              <a:t>Pri vsakem zgledu študenti najprej določijo izhodiščni in novi pomen, šele nato ime prenosa. V avtoričinem modelu je sinekdoha poseben tip znotraj metonimičnih prenosov: konstitutivni del in celota pomensko zamenjata hierarhični vlogi. Metaforo povezuje vezna lastnost, ki ni nujno definicijska sestavina prvega pomena. Leksikalizirana metafora je lahko povsem nevtralno poimenovanje. Sveža podoba pokopališče zavrnjenih naslovov pa sama še ne dokazuje novega slovarskega pomena ali besedotvorne tvorjenke.</a:t>
            </a:r>
          </a:p>
          <a:p/>
          <a:p>
            <a:r>
              <a:t>VIRI</a:t>
            </a:r>
          </a:p>
          <a:p>
            <a:r>
              <a:t>Vidovič Muha 2013: 145–156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Ime identificira; opis in vrsta uvrščata drugače</a:t>
            </a:r>
          </a:p>
          <a:p/>
          <a:p>
            <a:r>
              <a:t>Povezava s skripto: 2.4</a:t>
            </a:r>
          </a:p>
          <a:p/>
          <a:p>
            <a:r>
              <a:t>ZA IZVEDBO</a:t>
            </a:r>
          </a:p>
          <a:p>
            <a:r>
              <a:t>V obravnavanem modelu lastna imena nimajo enake strukturirane denotativne vrednosti z UPS in RPS kot občna poimenovanja. To ne pomeni odsotnosti spola, pregibanja ali kulturnih asociacij. Dve osebi se lahko imenujeta Ana. Pri Rembrandtu razločimo osebo, avtorstvo in poimenovanje umetnine. Pri Toyoti podjetje, znamko in izdelek. Majhna dvorana je lahko opis, Mala dvorana ime. Pomenska analiza pripravi pravopisno odločitev; ustaljenost poimenovanja, pomembnost predmeta ali logotip same velike začetnice ne dokazujejo.</a:t>
            </a:r>
          </a:p>
          <a:p/>
          <a:p>
            <a:r>
              <a:t>VIRI</a:t>
            </a:r>
          </a:p>
          <a:p>
            <a:r>
              <a:t>Vidovič Muha 2013: 92–93</a:t>
            </a:r>
          </a:p>
          <a:p>
            <a:r>
              <a:t>SP 2001: § 39, 147</a:t>
            </a:r>
          </a:p>
          <a:p/>
          <a:p>
            <a:r>
              <a:t>RAZLAGA IZ SKRIPTE · 2.4 Ime, vrsta in opis niso ista poimenovalna naloga</a:t>
            </a:r>
          </a:p>
          <a:p>
            <a:r>
              <a:t>V obravnavanem pomenoslovnem modelu lastna imena nimajo enake slovarske vrednosti kot občna poimenovanja, strukturirana z UPS in RPS. Njihova temeljna vloga je identificiranje posameznega, ne nujno enega: dve osebi se lahko imenujeta Ana, ne da bi ime zato postalo občno. S tem avtorica ne zanika njihovega spola, pregibanja ali kulturne obvestilnosti; ločuje vrsto poimenovalne funkcije (Vidovič Muha 2013: 92–93).</a:t>
            </a:r>
          </a:p>
          <a:p/>
          <a:p>
            <a:r>
              <a:t>Pomenski prenos vpliva tudi na prehajanje med lastno in občno rabo; prehajanje obravnava že SP 2001, § 39 in 147 — https://www.fran.si/134/slovenski-pravopis/datoteke/Pravopis_Pravila.pdf. Rembrandt lahko označuje slikarja, njegovo ime pa uporabimo tudi pri poimenovanju umetnine. Razjasnimo, ali identificiramo osebo, pripisujemo avtorstvo ali poimenujemo predmet. Izjava »Beseda izhaja iz osebnega imena« še ni popolna utemeljitev začetnice. Pomenoslovno razvrstitev in pravopisno pravilo povežemo, vendar ju ne enačimo; pravila obravnava 5. poglavje.</a:t>
            </a:r>
          </a:p>
          <a:p/>
          <a:p>
            <a:r>
              <a:t>Podobno razločujemo podjetje, znamko in izdelek. V Toyota je predstavila nov model ime identificira podjetje oziroma proizvajalca; v avtomobil znamke Toyota občno poimenovanje pove vrsto predmeta, ime pa njegovo znamko. Logotip s samimi velikimi črkami ni slovnično pravilo za tekoče besedilo.</a:t>
            </a:r>
          </a:p>
          <a:p/>
          <a:p>
            <a:r>
              <a:t>Majhna dvorana je lahko trenutni opis, Mala dvorana pa ime določene dvorane. Pomembnost predmeta in njegova velikost ne odločata o lastnoimenskosti. Pri priznanjih preverimo tudi posebno pravopisno obravnavo: ustaljenost poimenovanja sama še ni zadosten dokaz za veliko začetnico. Pomenska analiza pove, kaj poimenujemo, kodifikacija pa, kako takšno poimenovanje zapisujemo.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Isti nanosnik še ne pomeni sopomenskosti</a:t>
            </a:r>
          </a:p>
          <a:p/>
          <a:p>
            <a:r>
              <a:t>Povezava s skripto: 2.5</a:t>
            </a:r>
          </a:p>
          <a:p/>
          <a:p>
            <a:r>
              <a:t>ZA IZVEDBO</a:t>
            </a:r>
          </a:p>
          <a:p>
            <a:r>
              <a:t>Sopomenskost zadeva ustrezna pomena različnih leksemov, ne nujno celotnega pomenja obeh. V strožji avtoričini opredelitvi se prekrivajo denotativne sestavine, izrazni podobi pa se razlikujeta. Pes in kuža lahko dopuščata denotativno zamenjavo, ne da bi ohranila ton. Profesor in sosed lahko označujeta istega človeka, vendar to ni dokaz slovarske sopomenskosti. Tudi lep zgled in dober zgled ne omogočita vseh zamenjav lep z dober. Oblikovni dvojnici govorijo in govoré pa pripadata istemu leksemu.</a:t>
            </a:r>
          </a:p>
          <a:p/>
          <a:p>
            <a:r>
              <a:t>VIRI</a:t>
            </a:r>
          </a:p>
          <a:p>
            <a:r>
              <a:t>Vidovič Muha 2013: 121–124, 172–176</a:t>
            </a:r>
          </a:p>
          <a:p/>
          <a:p>
            <a:r>
              <a:t>RAZLAGA IZ SKRIPTE · 2.5 Razmerja med izrazi pomagajo pri izbiri</a:t>
            </a:r>
          </a:p>
          <a:p>
            <a:r>
              <a:t>Razmerja med pomeni istega leksema smo ločili od razmerij med različnimi leksemi. Slednja razkrijejo, s katerimi izrazi lahko pomen nadomestimo, ga posplošimo ali mu nasprotujemo. To so paradigmatska razmerja; preverjamo jih v povezavi z možnostmi druženja besed v zvezah, torej s sintagmatiko (Vidovič Muha 2013: 121–124).</a:t>
            </a:r>
          </a:p>
          <a:p/>
          <a:p>
            <a:r>
              <a:t>Sopomenskost se nanaša na ustrezna pomena različnih leksemov, ne nujno na celotni pomenji. V avtoričini strožji opredelitvi se prekrivajo denotativne pomenske sestavine, izrazni podobi pa sta različni. Pes in kuža lahko omogočata takšno poimenovanje ob drugačni zaznamovanosti. Nasprotno profesor in sosed nista slovarski sopomenki samo zato, ker v našem odstavku označujeta istega človeka. Isto nanašanje v besedilu in ista slovarska vsebina sta različna pojava (Vidovič Muha 2013: 172–176).</a:t>
            </a:r>
          </a:p>
          <a:p/>
          <a:p>
            <a:r>
              <a:t>Preizkus je obojestransko ohranjanje denotativnega sporočila v izbranem pomenu; dodatno preverimo konotacijo, okoliščine in družljivost. Lep zgled lahko pomeni dober zgled, vendar lep razgled zato še ni zamenljiv z vsakim pomenom pridevnika dober. Zamenjavnost omejimo na konkretni pomen. Tudi oblikovni dvojnici istega leksema nista zato že dve sopomenki: razlika med oblikama govorijo in govoré ni enake vrste kot razlika med različnima poimenovanjema (Vidovič Muha 2013: 172–175).</a:t>
            </a:r>
          </a:p>
          <a:p/>
          <a:p>
            <a:r>
              <a:t>Pri protipomenskosti navedemo, katero nasprotje dokazujemo. Avtorica razločuje več tipov, ki omogočajo različne sklepe (Vidovič Muha 2013: 183–188):</a:t>
            </a:r>
          </a:p>
          <a:p/>
          <a:p>
            <a:r>
              <a:t>| Tip razmerja | Preizkus in zgled |</a:t>
            </a:r>
          </a:p>
          <a:p>
            <a:r>
              <a:t>|---|---|</a:t>
            </a:r>
          </a:p>
          <a:p>
            <a:r>
              <a:t>| Dopolnjevalno oziroma komplementarno | V ustrezno omejenem dvodelnem polju izključitev ene možnosti potrdi drugo: pri evidenci navzočnosti prisoten – odsoten. Najprej določimo, koga, kdaj in po katerem merilu evidentiramo. |</a:t>
            </a:r>
          </a:p>
          <a:p>
            <a:r>
              <a:t>| Skrajnostno oziroma polarno | Med poloma je mogoča srednja vrednost: velik – majhen. Zato ni velik še ne pomeni je majhen. |</a:t>
            </a:r>
          </a:p>
          <a:p>
            <a:r>
              <a:t>| Stopnjevalno oziroma gradualno | Leksikalizirane stopnje na isti razsežnosti: vroč – topel – hladen – mrzel. Zanikanje posamezne stopnje ne izbere samo ene preostale. |</a:t>
            </a:r>
          </a:p>
          <a:p>
            <a:r>
              <a:t>| Zamenjavno oziroma konverzivno | Isti odnos predstavimo z zamenjanim izhodiščem: Ana je Boru prodala kolo – Bor je od Ane kupil kolo. Potrebna je preureditev udeležencev. |</a:t>
            </a:r>
          </a:p>
          <a:p>
            <a:r>
              <a:t>| Usmerjeno oziroma vektorsko | Dejanji sta nasprotno usmerjeni in povezani s stanjem: odpreti – zapreti. Ne gre za dva pogleda na isto prodajo. |</a:t>
            </a:r>
          </a:p>
          <a:p/>
          <a:p>
            <a:r>
              <a:t>Stopnjevalno razmerje je v tej razvrstitvi podtip skrajnostnega; preglednica loči preizkuse, ne uvaja petih povsem nepovezanih skupin.</a:t>
            </a:r>
          </a:p>
          <a:p/>
          <a:p>
            <a:r>
              <a:t>Nadpomenskost in podpomenskost temeljita na enosmernem vključevanju. Iz To je breza sledi To je drevo; obratno dobimo samo možnost. Pri posploševanju nekaj podrobnosti izgubimo, pri oženju jih dodamo. Breza in bukev sta vzporedni podpomenki, če ju v izbranem polju povezuje ista neposredna nadpomenka, denimo listnato drevo. Polje zato vedno opredelimo, ne samo naštejemo poljubno sorodnih besed (Vidovič Muha 2013: 189–193).</a:t>
            </a:r>
          </a:p>
          <a:p/>
          <a:p>
            <a:r>
              <a:t>Paronimija je izrazna podobnost, ki lahko povzroči zamenjavo, ne dokaz pomenske enakosti (Vidovič Muha 2013: 199): delaven človek je prizadeven, delovni prostor pa povezan z delom. Pri terminologiji se sopomenski raznolikosti pogosto odpovemo zaradi pojmovne doslednosti. Če isti pojem brez pojasnila ves čas preimenujemo, lahko bralec upravičeno pričakuje, da uvajamo različne pojme.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Različna nasprotja omogočajo različne sklepe</a:t>
            </a:r>
          </a:p>
          <a:p/>
          <a:p>
            <a:r>
              <a:t>Povezava s skripto: 2.5</a:t>
            </a:r>
          </a:p>
          <a:p/>
          <a:p>
            <a:r>
              <a:t>ZA IZVEDBO</a:t>
            </a:r>
          </a:p>
          <a:p>
            <a:r>
              <a:t>Pri navzočnosti določimo osebe, čas in merilo evidence, šele nato uporabimo komplementarno nasprotje. Polarno nasprotje dopušča sredino; gradualno razmerje je v tej razvrstitvi njegov podtip, ne povsem ločena peta skupina. Prodaja in nakup sta različna pogleda na isti odnos, vendar zahtevata preureditev udeležencev: Ana je Boru prodala kolo; Bor je od Ane kupil kolo. Odpreti in zapreti pomenita nasprotno usmerjeni dejanji, ne zgolj zamenjavo perspektive na eno dejanje.</a:t>
            </a:r>
          </a:p>
          <a:p/>
          <a:p>
            <a:r>
              <a:t>VIRI</a:t>
            </a:r>
          </a:p>
          <a:p>
            <a:r>
              <a:t>Vidovič Muha 2013: 183–188</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Razmerje dokažemo s smerjo sklepa</a:t>
            </a:r>
          </a:p>
          <a:p/>
          <a:p>
            <a:r>
              <a:t>Povezava s skripto: 2.5</a:t>
            </a:r>
          </a:p>
          <a:p/>
          <a:p>
            <a:r>
              <a:t>ZA IZVEDBO</a:t>
            </a:r>
          </a:p>
          <a:p>
            <a:r>
              <a:t>Pri nadpomenskosti je vključevanje enosmerno. Iz breze lahko preidemo v drevo, obratno pa ne dobimo določene vrste. Breza in bukev sta vzporedni podpomenki v izbranem polju, kjer ju povezuje ista neposredna nadpomenka, denimo listnato drevo. Zgolj sorodnost še ne zadošča za natančno hierarhijo. Paronimija pa je drugačne vrste: izrazna podobnost delaven in deloven ne zagotavlja enakega pomena. V terminologiji lahko poimenovalna doslednost zahteva, da istega pojma ne preimenujemo brez pojasnila.</a:t>
            </a:r>
          </a:p>
          <a:p/>
          <a:p>
            <a:r>
              <a:t>VIRI</a:t>
            </a:r>
          </a:p>
          <a:p>
            <a:r>
              <a:t>Vidovič Muha 2013: 189–193, 199</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Pomen odpira mesta za druge sestavine</a:t>
            </a:r>
          </a:p>
          <a:p/>
          <a:p>
            <a:r>
              <a:t>Povezava s skripto: 2.6</a:t>
            </a:r>
          </a:p>
          <a:p/>
          <a:p>
            <a:r>
              <a:t>ZA IZVEDBO</a:t>
            </a:r>
          </a:p>
          <a:p>
            <a:r>
              <a:t>Kolokacija je značilna sopojavitev, denimo sprejeti odločitev; vezljivost pa zadeva odpiranje mest za določila. Pri pogajanju razločimo udeleženca, sogovornika in temo. Tema je lahko neizrečena, če je znana. Avtoričina intenčnost poudari pomenski potencial glagola. Otrok že bere lahko izraža pridobljeno sposobnost, Otrok bere knjigo dejavnost; toda vsak izpust predmeta ne ustvari novega pomena. Pri študentki v Mentorica je študentki poslala pripombe razločimo prejemnico, predmet in dajalnik. Pridevniki so prav tako vezljivi in pomensko družljivi.</a:t>
            </a:r>
          </a:p>
          <a:p/>
          <a:p>
            <a:r>
              <a:t>VIRI</a:t>
            </a:r>
          </a:p>
          <a:p>
            <a:r>
              <a:t>Vidovič Muha 2013: 39–40, 76–79, 121</a:t>
            </a:r>
          </a:p>
          <a:p/>
          <a:p>
            <a:r>
              <a:t>RAZLAGA IZ SKRIPTE · 2.6 Kolokacije in vezljivost: pomen potrebuje sobesedilo</a:t>
            </a:r>
          </a:p>
          <a:p>
            <a:r>
              <a:t>Kolokacija je značilna, ustaljena sopojavitev besed. Sprejeti odločitev je značilna zveza; drugega glagola ne izberemo zgolj zato, ker je v nekem drugem pomenu sopomenka glagola sprejeti. Korpusne zglede zato beremo v celoti. Kolokacijsko pričakovanje tudi ni neprebojna prepoved: pesniško ali oglasno besedilo ga lahko krši z razumljivim učinkom.</a:t>
            </a:r>
          </a:p>
          <a:p/>
          <a:p>
            <a:r>
              <a:t>Vezljivost zadeva odpiranje mest za določila. Pri pogajati se prepoznamo udeleženca, sogovornika in temo: Predstavniki se pogajajo z upravo o delovnem času. Tema je lahko v besedilu že znana in zato neizražena; sama možnost izpusta še ne izključi vezljivostnega razmerja. Vezljivi so tudi pridevniki: podoben nekomu, prepričan o nečem.</a:t>
            </a:r>
          </a:p>
          <a:p/>
          <a:p>
            <a:r>
              <a:t>Vidovič Muha z izrazom intenčnost glagolskega dejanja poudari potencial, ki ga glagol s svojim pomenom prinaša v stavčno zgradbo. Na pomenski in skladenjski ravni zato ne zadostuje seznam pripadajočih predlogov. Primerja tudi rabi tipa Otrok že bere v pomenu pridobljene sposobnosti in Otrok bere knjigo kot konkretno dejavnost: povedkova okolica sodeluje pri razločevanju pomena (Vidovič Muha 2013: 39–40, 121). Iz tega ne sledi, da vsak neizraženi predmet nujno ustvari nov pomen; v Otrok bere, ne moti ga lahko razumemo isto dejavnost z neimenovanim predmetom.</a:t>
            </a:r>
          </a:p>
          <a:p/>
          <a:p>
            <a:r>
              <a:t>Pri zvezi Mentorica je študentki poslala pripombe zato vodimo tri vzporedne podatke: študentki izraža prejemnico, skladenjsko je predmet, oblikovno pa dajalnik. Pomenska vloga, stavčna funkcija in sklon se povezujejo, niso pa tri imena za isto stvar. To razmerje bomo natančneje razvili v 4. in 6. poglavju.</a:t>
            </a:r>
          </a:p>
          <a:p/>
          <a:p>
            <a:r>
              <a:t>Podobno pri pridevniku preverimo pomensko družljivost: globok vodnjak in globoka misel nista isti pomen globine. Eksogenost pridevnika pomeni, da njegove pomenske sestavine razbiramo ob ustreznem jedru, ne da mu samostalnik poljubno podeli katerikoli pomen (Vidovič Muha 2013: 76–79). Oblikovna pravilnost zveze še ne zagotavlja pomenske ustreznosti.</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Večbesedni leksem je lahko pomensko razviden</a:t>
            </a:r>
          </a:p>
          <a:p/>
          <a:p>
            <a:r>
              <a:t>Povezava s skripto: 2.7</a:t>
            </a:r>
          </a:p>
          <a:p/>
          <a:p>
            <a:r>
              <a:t>ZA IZVEDBO</a:t>
            </a:r>
          </a:p>
          <a:p>
            <a:r>
              <a:t>Sončna očala so avtomatizirano poimenovanje: govorec ga ne sestavi vsakič znova. Zlomljena očala lahko sproti opišejo stanje. Pregibanje s sončnimi očali ne odpravi poimenovalne identitete. Tabela prikazuje stopnje pomenske sestavljenosti iz avtoričine obravnave terminoloških zvez. Samostalniški prilastek in portugalska ladja kot poimenovanje ožigalkarja nista enako razvidna, vendar je oboje lahko termin. Pojmov sestava, skup, sklop in zraslek v tem okviru ne pomešamo avtomatično z istozvočnimi besedotvornimi oznakami.</a:t>
            </a:r>
          </a:p>
          <a:p/>
          <a:p>
            <a:r>
              <a:t>VIRI</a:t>
            </a:r>
          </a:p>
          <a:p>
            <a:r>
              <a:t>Vidovič Muha 2013: 25–32, 154</a:t>
            </a:r>
          </a:p>
          <a:p/>
          <a:p>
            <a:r>
              <a:t>RAZLAGA IZ SKRIPTE · 2.7 Večbesedni leksemi, frazemi, termini in register</a:t>
            </a:r>
          </a:p>
          <a:p>
            <a:r>
              <a:t>Vidovič Muha stalnost večbesednega leksema pojasni z avtomatiziranostjo: govorec ob vsaki rabi ne ustvari poimenovanja znova, ampak uporabi že ustaljeno enoto. Prosta zveza pa se sestavi za konkretno sporočilo. Pri sončnih očalih poimenujemo vrsto predmeta, pri zlomljenih očalih njegovo trenutno stanje. To ne pomeni, da stalne zveze ne smemo pregibati: s sončnimi očali še vedno vsebuje isto poimenovalno enoto (Vidovič Muha 2013: 25–32).</a:t>
            </a:r>
          </a:p>
          <a:p/>
          <a:p>
            <a:r>
              <a:t>Pomenska sestavljenost ni test vse ali nič. Večbesedni leksem je lahko pomensko precej razviden; ni nujno frazem s povsem nepredvidljivim pomenom. Avtorica pri terminoloških zvezah uporablja razločevanje sestav, skupov, sklopov in zraslekov glede na ohranjenost oziroma preoblikovanje pomenov sestavin. Sestava ohranja pomene sestavin, pri skupu se pomensko preoblikuje ena sestavina, pri sklopu oba dela zveze, pri zrasleku pa pomena celote iz sestavin ne moremo več razbrati. Pri samostalniškem prilastku sta sestavini drugače pomensko razvidni kot pri poimenovanju portugalska ladja za morskega ožigalkarja. To sta zgleda različnih razmerij med izrazom in pomenom, ne razlika med »pravim« in »nepravim« terminom (Vidovič Muha 2013: 30–32, 154).</a:t>
            </a:r>
          </a:p>
          <a:p/>
          <a:p>
            <a:r>
              <a:t>Frazem v ožjem smislu je ustaljena, praviloma večbesedna enota s posebnimi pomenskimi in oblikovnimi lastnostmi. Metati polena pod noge pomeni oviranje; pomena ne dobimo samo z razlago glagola in samostalnikov. Različna širina pojma frazeologije je terminološko vprašanje: avtorica opozori na razliko med širšim zajemanjem stalnih zvez in ožjim pojmom frazema (Vidovič Muha 2013: 107, op. 113). V tej skripti zato vseh terminoloških besednih zvez avtomatično ne imenujemo frazemi.</a:t>
            </a:r>
          </a:p>
          <a:p/>
          <a:p>
            <a:r>
              <a:t>Izraz fraza v vsakdanjem vprašanju ni natančna slovnična oznaka. Pri kar se tiče kakovosti moramo poleg ustaljenosti ugotoviti skladenjsko zgradbo in odnos do okolice. Ustaljenost sama ne odpravi pravila o vejici.</a:t>
            </a:r>
          </a:p>
          <a:p/>
          <a:p>
            <a:r>
              <a:t>Termin poimenuje pojem znotraj strokovnega sistema. Enopomenskost je terminološko načelo, vezano na izbrano stroko; ista izrazna podoba koren ima drug pomen v jezikoslovju in matematiki. Avtorica posebej obravnava terminologizacijo, pri kateri izraz dobi strokovno poimenovalno nalogo, ter determinologizacijo, pri kateri strokovni pojem in izraz prehajata v splošno rabo. Ne gre nujno za popolnoma zrcalna postopka (Vidovič Muha 2013: 126–130). Termin ni nujno tujka, dolga beseda ali nerazumljiv izraz.</a:t>
            </a:r>
          </a:p>
          <a:p/>
          <a:p>
            <a:r>
              <a:t>Register povezuje jezikovno izbiro z dejavnostjo, udeleženci in okoliščinami. Slovnično pravilna pogovorna beseda je lahko za strokovno navodilo neustrezna. Priporočilo zato omejimo na okoliščine: V tem uradnem obvestilu priporočamo nevtralni izraz. S tem ne razglasimo drugačnega poimenovanja za neobstoječe ali slovnično nemogoče.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Frazem, termin in register odgovarjajo različno</a:t>
            </a:r>
          </a:p>
          <a:p/>
          <a:p>
            <a:r>
              <a:t>Povezava s skripto: 2.7</a:t>
            </a:r>
          </a:p>
          <a:p/>
          <a:p>
            <a:r>
              <a:t>ZA IZVEDBO</a:t>
            </a:r>
          </a:p>
          <a:p>
            <a:r>
              <a:t>Avtorica opozarja na širši pojem frazeologije in ožji pojem frazema. Zato vseh terminoloških zvez ne imenujemo frazemi. Pri ustaljenem kar se tiče kakovosti moramo dodatno analizirati skladnjo in ločila. Terminološka enopomenskost je načelo znotraj izbranega pojmovnega sistema, ne trditev, da isti izraz nikjer nima drugega pomena. Terminologizacija in determinologizacija povezujeta splošno ter strokovno rabo, vendar nista nujno zrcalna postopka. Register omeji priporočilo na okoliščine; pogovorni izraz ni zato sam po sebi slovnično nemogoč.</a:t>
            </a:r>
          </a:p>
          <a:p/>
          <a:p>
            <a:r>
              <a:t>VIRI</a:t>
            </a:r>
          </a:p>
          <a:p>
            <a:r>
              <a:t>Vidovič Muha 2013: 107, op. 113; 126–130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Sodobni ples poimenuje zvrst</a:t>
            </a:r>
          </a:p>
          <a:p/>
          <a:p>
            <a:r>
              <a:t>Povezava s skripto: 2.8</a:t>
            </a:r>
          </a:p>
          <a:p/>
          <a:p>
            <a:r>
              <a:t>ZA IZVEDBO</a:t>
            </a:r>
          </a:p>
          <a:p>
            <a:r>
              <a:t>Konkretno priporočilo za plesno zvrst opira skripta na odgovor Helene Dobrovoljc iz novembra 2025. Pomenoslovni model pomaga razložiti, zakaj lahko lastnostni pridevnik v ustaljenem poimenovanju preide v vrstnega. Črni bor zato ne pomeni samo bora, ki je trenutno bolj črn. Najprej določimo, ali poimenujemo vrsto ali opisujemo primerek, nato vlogo pridevnika in obliko. Končni i sam terminološkosti ne dokazuje: novi vir lahko označuje že znani primerek.</a:t>
            </a:r>
          </a:p>
          <a:p/>
          <a:p>
            <a:r>
              <a:t>VIRI</a:t>
            </a:r>
          </a:p>
          <a:p>
            <a:r>
              <a:t>Dobrovoljc 2025: »Sodoben« ali »sodobni ples«</a:t>
            </a:r>
          </a:p>
          <a:p>
            <a:r>
              <a:t>Vidovič Muha 2013: 30–31</a:t>
            </a:r>
          </a:p>
          <a:p/>
          <a:p>
            <a:r>
              <a:t>RAZLAGA IZ SKRIPTE · 2.8 Rešen primer: »sodoben« ali »sodobni ples«?</a:t>
            </a:r>
          </a:p>
          <a:p>
            <a:r>
              <a:t>Za strokovno poimenovanje plesne zvrsti uporabljamo sodobni ples: pridevnik opredeli vrsto. Z obliko sodoben lahko ocenjujemo sodobnost določenega plesa. Predstava vključuje sodobni ples zato utemeljimo s terminološkim pomenom zveze. Konkretno razlikovanje pojasnjuje Helena Dobrovoljc v Jezikovni svetovalnici (november 2025) — https://svetovalnica.zrc-sazu.si/topic/7570/sodoben-ali-sodobni-ples/1.</a:t>
            </a:r>
          </a:p>
          <a:p/>
          <a:p>
            <a:r>
              <a:t>Pomenoslovni model ponudi širšo razlago. Pridevnik, ki je v eni zvezi lastnosten, lahko v ustaljenem poimenovanju sodeluje pri opredelitvi vrste. Vidovič Muha tak prehod obravnava kot konverzijo v vrstni pridevnik; pri vrsti ne stopnjujemo več iste lastnosti kot pri prostem opisu. Črni bor zato ni samo bor, ki je trenutno bolj črn od sosednjega (Vidovič Muha 2013: 30–31).</a:t>
            </a:r>
          </a:p>
          <a:p/>
          <a:p>
            <a:r>
              <a:t>Postopek ima tri korake: najprej ugotovimo, ali poimenujemo zvrst ali opisujemo primerek; nato pojasnimo vlogo pridevnika v celotni zvezi; šele nato izberemo obliko. Določni -i sam ne dokazuje terminološkosti, saj tudi novi vir lahko zgolj označuje že znani vir. Razliko med oblikovno določnostjo, vrstnim pomenom in skladenjsko funkcijo razvija 4. poglavje. Teoretična razlaga pomenskega prehoda torej pomaga razumeti konkretno priporočilo, ne nadomesti njegovega preverjanja.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Nov predlog preverimo na treh različnih ravneh</a:t>
            </a:r>
          </a:p>
          <a:p/>
          <a:p>
            <a:r>
              <a:t>Povezava s skripto: 2.9</a:t>
            </a:r>
          </a:p>
          <a:p/>
          <a:p>
            <a:r>
              <a:t>ZA IZVEDBO</a:t>
            </a:r>
          </a:p>
          <a:p>
            <a:r>
              <a:t>Natečajni predlog za prostovoljsko dejavnost je lahko razumljiv in tvorbeno mogoč, ne da bi bil že ustaljen. Ponatisi iste novice niso neodvisne rabe. Onomaziološko izhajamo iz pojma in iščemo izraz; semaziološko iz izraza raziskujemo njegove pomene. Slovarji imajo različne namene in merila vključevanja. Odsotnost besede zato tudi ne dokazuje njene nemožnosti. Pri prehodu v naslednje poglavje primerjamo pisatelja: besedotvorna povezava s pisanjem še ne izčrpa njegove ožje slovarske uvrstitve.</a:t>
            </a:r>
          </a:p>
          <a:p/>
          <a:p>
            <a:r>
              <a:t>VIRI</a:t>
            </a:r>
          </a:p>
          <a:p>
            <a:r>
              <a:t>Vidovič Muha 2013: 22, 190–191</a:t>
            </a:r>
          </a:p>
          <a:p/>
          <a:p>
            <a:r>
              <a:t>RAZLAGA IZ SKRIPTE · 2.9 Nova beseda še ni slovarsko dejstvo</a:t>
            </a:r>
          </a:p>
          <a:p>
            <a:r>
              <a:t>Zamislimo si natečaj, na katerem izbirajo nov glagol za prostovoljsko dejavnost. Udeleženec predlaga besedo, ki jo razumemo in jo lahko povežemo z znanim besedotvornim vzorcem. S tem smo ugotovili njeno tvorbeno možnost in razložljivost. Nismo še ugotovili, da jo uporablja širša skupnost, v katerih pomenih jo uporablja ali da izpolnjuje merila določenega slovarja.</a:t>
            </a:r>
          </a:p>
          <a:p/>
          <a:p>
            <a:r>
              <a:t>To razliko lahko povežemo z dvema smerema raziskovanja. Onomaziološko izhajamo iz pojma in iščemo poimenovanje; semaziološko izhajamo iz izraza in ugotavljamo, kaj pomeni. Smeri se pri jezikovnem svetovanju dopolnjujeta, vendar imata različni začetni vprašanji (Vidovič Muha 2013: 22).</a:t>
            </a:r>
          </a:p>
          <a:p/>
          <a:p>
            <a:r>
              <a:t>Ustvarjanje poimenovanja in opis besedišča imata različni nalogi. Pri opisu preverjamo samostojno izpričano rabo, pomene, razširjenost in vrsto besedil. Več spletnih zadetkov lahko samo ponavlja objavo o natečaju; to še ni enako več neodvisnim uporabam nove besede. Merila za splošni razlagalni slovar, terminološko zbirko in zbirko priložnostnih novotvorb so lahko različna.</a:t>
            </a:r>
          </a:p>
          <a:p/>
          <a:p>
            <a:r>
              <a:t>Utemeljen odgovor zato ne zavrne ustvarjalnosti, ampak omeji sklep: »Predlog je razumljiv; za trditev o njegovi ustaljenosti potrebujemo drugačne podatke.« Enako ni upravičen obratni sklep, da je beseda nemogoča, ker je izbrani slovar nima. V naslednjem poglavju bomo ločili, kaj o novem poimenovanju pove njegova notranja zgradba in kaj moramo izvedeti iz rabe.</a:t>
            </a:r>
          </a:p>
          <a:p/>
          <a:p>
            <a:r>
              <a:t>RAZLAGA IZ SKRIPTE · 2.12 Usmerjeno branje in povezava z naslednjim poglavjem</a:t>
            </a:r>
          </a:p>
          <a:p>
            <a:r>
              <a:t>Za ponovni prehod od pojma do samostojne analize izberite naslednje odlomke iz Vidovič Muha (2013):</a:t>
            </a:r>
          </a:p>
          <a:p/>
          <a:p>
            <a:r>
              <a:t>- Str. 17–22 in 33–40: z lastnim zgledom ločite izraz, pomen in nanosnik; nato pokažite, kateri kategorialni podatek leksem prinese v poved in kateri se v njej šele uresniči.</a:t>
            </a:r>
          </a:p>
          <a:p>
            <a:r>
              <a:t>- Str. 59–67 ter 76–79: preoblikujte preširoko slovarsko razlago in utemeljite UPS ter RPS. Pojasnite, zakaj pridevnika ne razložimo po povsem istem vzorcu kot samostalnik.</a:t>
            </a:r>
          </a:p>
          <a:p>
            <a:r>
              <a:t>- Str. 132–133 in 144–156: pri dveh rabah istega izraza preverite, ali gre za vsebovanost ali prenos; utemeljite pomensko razmerje, preden ga poimenujete.</a:t>
            </a:r>
          </a:p>
          <a:p>
            <a:r>
              <a:t>- Str. 172–175, 184–193: razmerje med leksemoma dokažite z dovoljenim sklepom ali s preureditvijo povedi. Ne ostanite pri naštevanju sopomenk in protipomenk.</a:t>
            </a:r>
          </a:p>
          <a:p/>
          <a:p>
            <a:r>
              <a:t>V tretjem poglavju bomo vprašali, kako se poimenovalno razmerje izrazi v zgradbi nove besede. Pri tem bomo ohranili razliko med besedotvornim in slovarskim pomenom: pisatelj je besedotvorno povezan z vršenjem pisanja, njegova slovarska uvrstitev pa je ožja in ne zajema vsakogar, ki karkoli napiše. Razlikovanje teh dveh nadpomenskih ravni izrecno pojasnjuje tudi Vidovič Muha (2013: 190–191).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nalogi 1 in 2</a:t>
            </a:r>
          </a:p>
          <a:p/>
          <a:p>
            <a:r>
              <a:t>NALOGE</a:t>
            </a:r>
          </a:p>
          <a:p/>
          <a:p>
            <a:r>
              <a:t>1. Pri izrazih knjiga, knjigi, knjigarna razločite spreminjanje oblike in nastanek drugega leksema.</a:t>
            </a:r>
          </a:p>
          <a:p/>
          <a:p>
            <a:r>
              <a:t>2. Primerjajte Miška je stekla pod omaro in Miška je priključena na računalnik. Ali razlika nastane samo zaradi drugačnega sklona? Kako se ta primer razlikuje od homonimije pri boksu?</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2.11</a:t>
            </a:r>
          </a:p>
          <a:p/>
          <a:p>
            <a:r>
              <a:t>ZA IZVEDBO</a:t>
            </a:r>
          </a:p>
          <a:p>
            <a:r>
              <a:t>Primerjajte razlago s postopkom študentov. Naj označijo, kaj so dokazali in katera predpostavka je odločilna. Alternative sprejmite v mejah, navedenih v skripti.</a:t>
            </a:r>
          </a:p>
          <a:p/>
          <a:p>
            <a:r>
              <a:t>VIRI</a:t>
            </a:r>
          </a:p>
          <a:p>
            <a:r>
              <a:t>Skripta 3.0, 2.11; rešitvi 1 in 2</a:t>
            </a:r>
          </a:p>
          <a:p/>
          <a:p>
            <a:r>
              <a:t>REŠITVE Z RAZLAGO</a:t>
            </a:r>
          </a:p>
          <a:p/>
          <a:p>
            <a:r>
              <a:t>1. Knjiga in knjigi sta obliki istega leksema; brez sobesedila lahko ima druga oblika več slovničnih razlag. Knjigarna je drug leksem z drugim poimenovalnim pomenom. Sorodna osnova ne odpravlja te razlike.</a:t>
            </a:r>
          </a:p>
          <a:p/>
          <a:p>
            <a:r>
              <a:t>2. V obeh povedih je miška v imenovalniku ednine. Razlika je pomenska: prvič gre za žival, drugič za napravo. Sobesedilo izbere ustaljeni pomen; sklon ga v tem paru ne razločuje. Pri miški prepoznamo povezavo med pomenoma, pri obravnavanih boksih pa razločujemo različna leksema z enako izrazno podobo.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nalogi 3 in 4</a:t>
            </a:r>
          </a:p>
          <a:p/>
          <a:p>
            <a:r>
              <a:t>NALOGE</a:t>
            </a:r>
          </a:p>
          <a:p/>
          <a:p>
            <a:r>
              <a:t>3. Razložite poved Oddelek je zavrnil predlog. Ali jo nujno razumemo kot dejanje fizičnega prostora?</a:t>
            </a:r>
          </a:p>
          <a:p/>
          <a:p>
            <a:r>
              <a:t>4. Zakaj delaven urnik ni ustrezna zamenjava za delovni urnik? Kaj bi poimenovali z zvezo delaven sodelavec?</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2.11</a:t>
            </a:r>
          </a:p>
          <a:p/>
          <a:p>
            <a:r>
              <a:t>ZA IZVEDBO</a:t>
            </a:r>
          </a:p>
          <a:p>
            <a:r>
              <a:t>Primerjajte razlago s postopkom študentov. Naj označijo, kaj so dokazali in katera predpostavka je odločilna. Alternative sprejmite v mejah, navedenih v skripti.</a:t>
            </a:r>
          </a:p>
          <a:p/>
          <a:p>
            <a:r>
              <a:t>VIRI</a:t>
            </a:r>
          </a:p>
          <a:p>
            <a:r>
              <a:t>Skripta 3.0, 2.11; rešitvi 3 in 4</a:t>
            </a:r>
          </a:p>
          <a:p/>
          <a:p>
            <a:r>
              <a:t>REŠITVE Z RAZLAGO</a:t>
            </a:r>
          </a:p>
          <a:p/>
          <a:p>
            <a:r>
              <a:t>3. Oddelek razumemo kot ljudi oziroma pristojni organ v organizacijski enoti. Gre za metonimično razmerje med ustanovo ali njenim delom in njenimi člani. V konkretnem poročilu lahko zaradi odgovornosti natančneje navedemo, kdo je odločil.</a:t>
            </a:r>
          </a:p>
          <a:p/>
          <a:p>
            <a:r>
              <a:t>4. Deloven se nanaša na delo; urnik lahko določa delovni čas. Delaven pripisuje pripravljenost za delo oziroma prizadevnost. Zato lahko opisuje sodelavca, ne poimenuje pa vrste urnika.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5 in 6</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nalogi 5 in 6</a:t>
            </a:r>
          </a:p>
          <a:p/>
          <a:p>
            <a:r>
              <a:t>NALOGE</a:t>
            </a:r>
          </a:p>
          <a:p/>
          <a:p>
            <a:r>
              <a:t>5. Ali iz Ta napitek ni vroč sledi Ta napitek je hladen? Utemeljite.</a:t>
            </a:r>
          </a:p>
          <a:p/>
          <a:p>
            <a:r>
              <a:t>6. V povedi Odbor se je z izvajalcem pogajal o roku določite sogovornika in temo. Zapišite osnovni vezljivostni vzorec.</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5 in 6</a:t>
            </a:r>
          </a:p>
          <a:p/>
          <a:p>
            <a:r>
              <a:t>Povezava s skripto: 2.11</a:t>
            </a:r>
          </a:p>
          <a:p/>
          <a:p>
            <a:r>
              <a:t>ZA IZVEDBO</a:t>
            </a:r>
          </a:p>
          <a:p>
            <a:r>
              <a:t>Primerjajte razlago s postopkom študentov. Naj označijo, kaj so dokazali in katera predpostavka je odločilna. Alternative sprejmite v mejah, navedenih v skripti.</a:t>
            </a:r>
          </a:p>
          <a:p/>
          <a:p>
            <a:r>
              <a:t>VIRI</a:t>
            </a:r>
          </a:p>
          <a:p>
            <a:r>
              <a:t>Skripta 3.0, 2.11; rešitvi 5 in 6</a:t>
            </a:r>
          </a:p>
          <a:p/>
          <a:p>
            <a:r>
              <a:t>REŠITVE Z RAZLAGO</a:t>
            </a:r>
          </a:p>
          <a:p/>
          <a:p>
            <a:r>
              <a:t>5. Ne. Med vročim in hladnim so vmesne stopnje, denimo mlačno. Zanikanje ene lastnosti ne potrdi samodejno njene skrajne nasprotnosti.</a:t>
            </a:r>
          </a:p>
          <a:p/>
          <a:p>
            <a:r>
              <a:t>6. Sogovornik je izvajalec, tema je rok. Vzorec je nekdo se pogaja z nekom o nečem. Predloga nista zamenljiva brez spremembe razmerja med udeleženci.</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7 in 8</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nalogi 7 in 8</a:t>
            </a:r>
          </a:p>
          <a:p/>
          <a:p>
            <a:r>
              <a:t>NALOGE</a:t>
            </a:r>
          </a:p>
          <a:p/>
          <a:p>
            <a:r>
              <a:t>7. Primerjajte računalniška miška, poškodovana miška in metati polena pod noge. Kaj je pri vsakem primeru treba vedeti poleg pomena posameznih besed?</a:t>
            </a:r>
          </a:p>
          <a:p/>
          <a:p>
            <a:r>
              <a:t>8. Primerjajte Toyota je odprla nov obrat in avtomobil znamke Toyota. Kaj ime identificira? Ali napis z velikimi črkami na oglasu sam določa zapis vseh izrazov v tekočem besedilu?</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7 in 8</a:t>
            </a:r>
          </a:p>
          <a:p/>
          <a:p>
            <a:r>
              <a:t>Povezava s skripto: 2.11</a:t>
            </a:r>
          </a:p>
          <a:p/>
          <a:p>
            <a:r>
              <a:t>ZA IZVEDBO</a:t>
            </a:r>
          </a:p>
          <a:p>
            <a:r>
              <a:t>Primerjajte razlago s postopkom študentov. Naj označijo, kaj so dokazali in katera predpostavka je odločilna. Alternative sprejmite v mejah, navedenih v skripti.</a:t>
            </a:r>
          </a:p>
          <a:p/>
          <a:p>
            <a:r>
              <a:t>VIRI</a:t>
            </a:r>
          </a:p>
          <a:p>
            <a:r>
              <a:t>Skripta 3.0, 2.11; rešitvi 7 in 8</a:t>
            </a:r>
          </a:p>
          <a:p/>
          <a:p>
            <a:r>
              <a:t>REŠITVE Z RAZLAGO</a:t>
            </a:r>
          </a:p>
          <a:p/>
          <a:p>
            <a:r>
              <a:t>7. Računalniška miška je ustaljeno poimenovanje naprave. Poškodovana miška opisuje njeno stanje; ali gre za napravo ali žival, presodimo iz sobesedila. Pri frazemu metati polena pod noge potrebujemo njegov ustaljeni preneseni pomen, saj zgolj razlaga samostalnikov in glagola ne pojasni pomena oviranja.</a:t>
            </a:r>
          </a:p>
          <a:p/>
          <a:p>
            <a:r>
              <a:t>8. Prvič ime identificira podjetje, drugič znamko vozila, ki jo izrecno uvaja občno poimenovanje znamka. Oglasna grafika ne nadomesti pomenske in slovnične analize. Pri prenosu v tekoče besedilo določimo poimenovalno vlogo in uporabimo ustrezno pravopisno pravilo.</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Vaja 9</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naloga 9</a:t>
            </a:r>
          </a:p>
          <a:p/>
          <a:p>
            <a:r>
              <a:t>NALOGE</a:t>
            </a:r>
          </a:p>
          <a:p/>
          <a:p>
            <a:r>
              <a:t>9. Nov glagol zmaga na natečaju in se pojavi v petdesetih ponatisih iste novice. Kaj lahko iz tega sklepamo o njegovi tvorljivosti, ustaljenosti in primernosti za vključitev v splošni slovar?</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9</a:t>
            </a:r>
          </a:p>
          <a:p/>
          <a:p>
            <a:r>
              <a:t>Povezava s skripto: 2.11</a:t>
            </a:r>
          </a:p>
          <a:p/>
          <a:p>
            <a:r>
              <a:t>ZA IZVEDBO</a:t>
            </a:r>
          </a:p>
          <a:p>
            <a:r>
              <a:t>Primerjajte razlago s postopkom študentov. Naj označijo, kaj so dokazali in katera predpostavka je odločilna. Alternative sprejmite v mejah, navedenih v skripti.</a:t>
            </a:r>
          </a:p>
          <a:p/>
          <a:p>
            <a:r>
              <a:t>VIRI</a:t>
            </a:r>
          </a:p>
          <a:p>
            <a:r>
              <a:t>Skripta 3.0, 2.11; rešitev 9</a:t>
            </a:r>
          </a:p>
          <a:p/>
          <a:p>
            <a:r>
              <a:t>REŠITVE Z RAZLAGO</a:t>
            </a:r>
          </a:p>
          <a:p/>
          <a:p>
            <a:r>
              <a:t>9. Natečaj potrjuje, da je bil predlog izbran, ponatisi pa razširjanje novice. Tvorbeno ustreznost preverimo z analizo besede, ustaljenost z neodvisnimi rabami, slovarsko vključitev pa glede na namen in merila slovarja. Število zadetkov samo ne odgovori na vsa tri vprašanja.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10</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naloga 10</a:t>
            </a:r>
          </a:p>
          <a:p/>
          <a:p>
            <a:r>
              <a:t>NALOGE</a:t>
            </a:r>
          </a:p>
          <a:p/>
          <a:p>
            <a:r>
              <a:t>10. Zahtevnejša naloga: štiri ravni podatkov. Ob besedi termometer imamo podatke: moški spol; merilna naprava; merjenje temperature; tožilnik množine v kupili smo termometre; rdeče ohišje učiteljevega primerka; nakup tega primerka lani. Razvrstite jih med kategorialne slovarske lastnosti, sestavine denotativnega pomena, stavčno uresničene kategorije in podatke o nanosniku. Določite UPS in RPS. Nato pojasnite, zakaj Dober dan kot pozdrav in Tukaj je slab zrak kot namig za odpiranje okna ne zahtevata povsem enake razlage pragmatičnega pomena.</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10</a:t>
            </a:r>
          </a:p>
          <a:p/>
          <a:p>
            <a:r>
              <a:t>Povezava s skripto: 2.11</a:t>
            </a:r>
          </a:p>
          <a:p/>
          <a:p>
            <a:r>
              <a:t>ZA IZVEDBO</a:t>
            </a:r>
          </a:p>
          <a:p>
            <a:r>
              <a:t>Primerjajte razlago s postopkom študentov. Naj označijo, kaj so dokazali in katera predpostavka je odločilna. Alternative sprejmite v mejah, navedenih v skripti. Daljša razlaga je razdeljena na dva dela; to je del 1.</a:t>
            </a:r>
          </a:p>
          <a:p/>
          <a:p>
            <a:r>
              <a:t>VIRI</a:t>
            </a:r>
          </a:p>
          <a:p>
            <a:r>
              <a:t>Skripta 3.0, 2.11; rešitev 10</a:t>
            </a:r>
          </a:p>
          <a:p/>
          <a:p>
            <a:r>
              <a:t>REŠITVE Z RAZLAGO</a:t>
            </a:r>
          </a:p>
          <a:p/>
          <a:p>
            <a:r>
              <a:t>10. Moški spol je slovarska kategorialna lastnost samostalnika; merilna naprava je UPS, merjenje temperature pa razločevalna vsebina glede na druge merilne naprave. UPS ostaja ena, čeprav je ubesedena z dvema besedama. Tožilnik množine razložimo iz konkretne povedi in oblikovne uresničitve. Barva in čas nakupa sta v nalogi podatka o posameznem nanosniku, ne definicijska podatka o termometru. Ta razvrstitev pokaže razliko med KPS in RPS: obe sta pomensko pomembni, vendar opravljata različni nalogi. Dober dan je ustaljeni jezikovnovedenjski obrazec, zato njegovo razlago oblikujemo kot pojasnilo pozdravljanja in okoliščin rabe. Pri slabem zraku pa željo po odprtem oknu sklepamo iz konkretnega položaja; leksikaliziranost takega pomena besede zrak s tem ni dokazana. Uporabljeni razlikovanji izhajata iz Vidovič Muha (2013: 33–40, 59–66, 97–102).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10 (nadaljevanje)</a:t>
            </a:r>
          </a:p>
          <a:p/>
          <a:p>
            <a:r>
              <a:t>Povezava s skripto: 2.11</a:t>
            </a:r>
          </a:p>
          <a:p/>
          <a:p>
            <a:r>
              <a:t>ZA IZVEDBO</a:t>
            </a:r>
          </a:p>
          <a:p>
            <a:r>
              <a:t>Primerjajte razlago s postopkom študentov. Naj označijo, kaj so dokazali in katera predpostavka je odločilna. Alternative sprejmite v mejah, navedenih v skripti. Daljša razlaga je razdeljena na dva dela; to je del 2.</a:t>
            </a:r>
          </a:p>
          <a:p/>
          <a:p>
            <a:r>
              <a:t>VIRI</a:t>
            </a:r>
          </a:p>
          <a:p>
            <a:r>
              <a:t>Skripta 3.0, 2.11; rešitev 10</a:t>
            </a:r>
          </a:p>
          <a:p/>
          <a:p>
            <a:r>
              <a:t>REŠITVE Z RAZLAGO</a:t>
            </a:r>
          </a:p>
          <a:p/>
          <a:p>
            <a:r>
              <a:t>10. Moški spol je slovarska kategorialna lastnost samostalnika; merilna naprava je UPS, merjenje temperature pa razločevalna vsebina glede na druge merilne naprave. UPS ostaja ena, čeprav je ubesedena z dvema besedama. Tožilnik množine razložimo iz konkretne povedi in oblikovne uresničitve. Barva in čas nakupa sta v nalogi podatka o posameznem nanosniku, ne definicijska podatka o termometru. Ta razvrstitev pokaže razliko med KPS in RPS: obe sta pomensko pomembni, vendar opravljata različni nalogi. Dober dan je ustaljeni jezikovnovedenjski obrazec, zato njegovo razlago oblikujemo kot pojasnilo pozdravljanja in okoliščin rabe. Pri slabem zraku pa željo po odprtem oknu sklepamo iz konkretnega položaja; leksikaliziranost takega pomena besede zrak s tem ni dokazana. Uporabljeni razlikovanji izhajata iz Vidovič Muha (2013: 33–40, 59–66, 97–102).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11</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naloga 11</a:t>
            </a:r>
          </a:p>
          <a:p/>
          <a:p>
            <a:r>
              <a:t>NALOGE</a:t>
            </a:r>
          </a:p>
          <a:p/>
          <a:p>
            <a:r>
              <a:t>11. Zahtevnejša naloga: trije pomeni hrasta. Primerjajte Na robu vrta raste hrast; Mizar suši hrast; Sobo so opremili s hrastom. Pri zadnji povedi predpostavite, da je mišljeno pohištvo. Za vsako rabo opredelite razred poimenovanega; nato po avtoričinem modelu razlikujte prenos drevo – les od prenosa les – pohištvo. Zakaj nobenega ne razložimo samo z oznako »metafora«? Dodajte povezovalno lastnost, ki utemelji metaforo pri računalniški miški.</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11</a:t>
            </a:r>
          </a:p>
          <a:p/>
          <a:p>
            <a:r>
              <a:t>Povezava s skripto: 2.11</a:t>
            </a:r>
          </a:p>
          <a:p/>
          <a:p>
            <a:r>
              <a:t>ZA IZVEDBO</a:t>
            </a:r>
          </a:p>
          <a:p>
            <a:r>
              <a:t>Primerjajte razlago s postopkom študentov. Naj označijo, kaj so dokazali in katera predpostavka je odločilna. Alternative sprejmite v mejah, navedenih v skripti.</a:t>
            </a:r>
          </a:p>
          <a:p/>
          <a:p>
            <a:r>
              <a:t>VIRI</a:t>
            </a:r>
          </a:p>
          <a:p>
            <a:r>
              <a:t>Skripta 3.0, 2.11; rešitev 11</a:t>
            </a:r>
          </a:p>
          <a:p/>
          <a:p>
            <a:r>
              <a:t>REŠITVE Z RAZLAGO</a:t>
            </a:r>
          </a:p>
          <a:p/>
          <a:p>
            <a:r>
              <a:t>11. Prvič poimenujemo drevo, drugič njegov les, tretjič pohištvo iz tega lesa. V avtoričini analizi je drevo – les sinekdoha: konstitutivni del drevesa postane razred, v katerega uvrstimo drugi pomen; drevo se ohrani kot razločevalna povezava. Pri lesu – pohištvu gre za metonimijo snov – izdelek: pohištvo kot nova UPS ni samo del rastočega drevesa, ampak rezultat izdelave iz lesa. Celotna veriga zato ni en sam nerazčlenjeni prenos (Vidovič Muha 2013: 146, 150). Metaforična miška pa ni niti del živali niti izdelek iz nje. Povezuje ju predstavna podobnost, zlasti oblike; novi denotat spada med naprave. Odgovor, ki samo našteje tri trope, ne pokaže razloga za razvrstitev.</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12</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naloga 12</a:t>
            </a:r>
          </a:p>
          <a:p/>
          <a:p>
            <a:r>
              <a:t>NALOGE</a:t>
            </a:r>
          </a:p>
          <a:p/>
          <a:p>
            <a:r>
              <a:t>12. Zahtevnejša naloga: razmerje dokažite s sklepom. Za pare oče – ata, breza – drevo, breza – bukev, vroč – hladen določite razmerje v ustreznem pomenu in navedite dovoljen oziroma nedovoljen sklep. Nato poved Ana je Boru prodala kolo preoblikujte z glagolom kupiti. Označite kupca, prodajalca in predmet menjave v obeh povedih. Ali je kupiti zato sopomenka prodati na istem skladenjskem mestu?</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a:t>
            </a:r>
          </a:p>
          <a:p/>
          <a:p>
            <a:r>
              <a:t>Povezava s skripto: 2.11</a:t>
            </a:r>
          </a:p>
          <a:p/>
          <a:p>
            <a:r>
              <a:t>ZA IZVEDBO</a:t>
            </a:r>
          </a:p>
          <a:p>
            <a:r>
              <a:t>Primerjajte razlago s postopkom študentov. Naj označijo, kaj so dokazali in katera predpostavka je odločilna. Alternative sprejmite v mejah, navedenih v skripti. Daljša razlaga je razdeljena na dva dela; to je del 1.</a:t>
            </a:r>
          </a:p>
          <a:p/>
          <a:p>
            <a:r>
              <a:t>VIRI</a:t>
            </a:r>
          </a:p>
          <a:p>
            <a:r>
              <a:t>Skripta 3.0, 2.11; rešitev 12</a:t>
            </a:r>
          </a:p>
          <a:p/>
          <a:p>
            <a:r>
              <a:t>REŠITVE Z RAZLAGO</a:t>
            </a:r>
          </a:p>
          <a:p/>
          <a:p>
            <a:r>
              <a:t>12. Oče – ata sta v obravnavanem družinskem pomenu sopomenki z različno zaznamovanostjo; denotativni sklep deluje obojestransko, ton pa ni nujno ohranjen. Breza – drevo je podpomensko–nadpomensko razmerje: vsaka breza je drevo, vsako drevo pa ni breza. Breza – bukev sta vzporedni podpomenki skupne neposredne nadpomenke, če za polje izberemo listnata drevesa; nista protipomenki samo zato, ker sta različni vrsti. Pri vroč – hladen nasprotje dopušča vmesne vrednosti, zato negacija prvega člena ne potrdi drugega. Preoblikovana poved je Bor je od Ane kupil kolo. Ana ostane prodajalka, Bor kupec in kolo predmet menjave; spremeni se njihova skladenjska razporeditev, zlasti osebek in predložna zveza. Če v prvotni povedi zgolj zamenjamo glagol in pustimo udeležence v istih vlogah, ne ohranimo istega odnosa. Zato gre za konverzivno protipomenskost, ne za navadno sopomensko zamenjavo (Vidovič Muha 2013: 173–175, 184–188, 189–193).</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 (nadaljevanje)</a:t>
            </a:r>
          </a:p>
          <a:p/>
          <a:p>
            <a:r>
              <a:t>Povezava s skripto: 2.11</a:t>
            </a:r>
          </a:p>
          <a:p/>
          <a:p>
            <a:r>
              <a:t>ZA IZVEDBO</a:t>
            </a:r>
          </a:p>
          <a:p>
            <a:r>
              <a:t>Primerjajte razlago s postopkom študentov. Naj označijo, kaj so dokazali in katera predpostavka je odločilna. Alternative sprejmite v mejah, navedenih v skripti. Daljša razlaga je razdeljena na dva dela; to je del 2.</a:t>
            </a:r>
          </a:p>
          <a:p/>
          <a:p>
            <a:r>
              <a:t>VIRI</a:t>
            </a:r>
          </a:p>
          <a:p>
            <a:r>
              <a:t>Skripta 3.0, 2.11; rešitev 12</a:t>
            </a:r>
          </a:p>
          <a:p/>
          <a:p>
            <a:r>
              <a:t>REŠITVE Z RAZLAGO</a:t>
            </a:r>
          </a:p>
          <a:p/>
          <a:p>
            <a:r>
              <a:t>12. Oče – ata sta v obravnavanem družinskem pomenu sopomenki z različno zaznamovanostjo; denotativni sklep deluje obojestransko, ton pa ni nujno ohranjen. Breza – drevo je podpomensko–nadpomensko razmerje: vsaka breza je drevo, vsako drevo pa ni breza. Breza – bukev sta vzporedni podpomenki skupne neposredne nadpomenke, če za polje izberemo listnata drevesa; nista protipomenki samo zato, ker sta različni vrsti. Pri vroč – hladen nasprotje dopušča vmesne vrednosti, zato negacija prvega člena ne potrdi drugega. Preoblikovana poved je Bor je od Ane kupil kolo. Ana ostane prodajalka, Bor kupec in kolo predmet menjave; spremeni se njihova skladenjska razporeditev, zlasti osebek in predložna zveza. Če v prvotni povedi zgolj zamenjamo glagol in pustimo udeležence v istih vlogah, ne ohranimo istega odnosa. Zato gre za konverzivno protipomenskost, ne za navadno sopomensko zamenjavo (Vidovič Muha 2013: 173–175, 184–188, 189–193).</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13</a:t>
            </a:r>
          </a:p>
          <a:p/>
          <a:p>
            <a:r>
              <a:t>Povezava s skripto: 2.10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2.10; naloga 13</a:t>
            </a:r>
          </a:p>
          <a:p/>
          <a:p>
            <a:r>
              <a:t>NALOGE</a:t>
            </a:r>
          </a:p>
          <a:p/>
          <a:p>
            <a:r>
              <a:t>13. Zahtevnejša naloga: poimenovanje v širši zvezi. Primerjajte mlad črni bor in zelo črn plašč. Določite ustaljeno poimenovalno jedro in sprotno dodani opis; pojasnite različno vlogo pridevnika črn. Ali zveza novi učbenik samo zaradi -i že poimenuje strokovno vrsto učbenika? Na koncu razložite, zakaj dejstvo, da je koren termin tako v matematiki kot v jezikoslovju, ne ovrže terminološkega načela enopomenskosti v izbranem pojmovnem sistemu.</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13</a:t>
            </a:r>
          </a:p>
          <a:p/>
          <a:p>
            <a:r>
              <a:t>Povezava s skripto: 2.11</a:t>
            </a:r>
          </a:p>
          <a:p/>
          <a:p>
            <a:r>
              <a:t>ZA IZVEDBO</a:t>
            </a:r>
          </a:p>
          <a:p>
            <a:r>
              <a:t>Primerjajte razlago s postopkom študentov. Naj označijo, kaj so dokazali in katera predpostavka je odločilna. Alternative sprejmite v mejah, navedenih v skripti.</a:t>
            </a:r>
          </a:p>
          <a:p/>
          <a:p>
            <a:r>
              <a:t>VIRI</a:t>
            </a:r>
          </a:p>
          <a:p>
            <a:r>
              <a:t>Skripta 3.0, 2.11; rešitev 13</a:t>
            </a:r>
          </a:p>
          <a:p/>
          <a:p>
            <a:r>
              <a:t>REŠITVE Z RAZLAGO</a:t>
            </a:r>
          </a:p>
          <a:p/>
          <a:p>
            <a:r>
              <a:t>13. Črni bor je ustaljeno poimenovanje vrste, mlad pa v nalogi dodatno opisuje primerek te vrste. Celotna razširjena zveza zato ne postane nov leksem samo zaradi dodanega pridevnika. V zelo črn plašč pridevnik pripisuje barvno lastnost, zelo pa jo stopnjuje. Stopnjevanje črnosti bora bi moralo biti posebej razumljeno kot opis videza, ne kot stopnja pripadnosti poimenovani vrsti. Novi učbenik je lahko zveza, v kateri določna oblika označuje že omenjeni novi primerek; sam -i ne dokazuje terminološkosti. Pri korenu ločimo dva strokovna pojmovna sistema: enopomenskost preverjamo v vsakem posebej. Avtorica načelo tudi sicer obravnava z omejitvami in izjemami, zato ga ne smemo spremeniti v trditev, da isti izraz nikoli nikjer nima več pomenov (Vidovič Muha 2013: 27, 30–31, 126–127).</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poglavje2</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Beseda in besedna zveza</a:t>
            </a:r>
          </a:p>
          <a:p/>
          <a:p>
            <a:r>
              <a:t>ZA IZVEDBO</a:t>
            </a:r>
          </a:p>
          <a:p>
            <a:r>
              <a:t>Osrednje vprašanje te enote: Kako iz pomena in tvorbene zgradbe utemeljimo zapis?</a:t>
            </a:r>
          </a:p>
          <a:p>
            <a:r>
              <a:t>Cilji: Ločim morfemsko sestavo, tvorbeno razmerje in pregibanje.; Razložim SPo, BPo in celotno obrazilo izbrane stopnje.; Utemeljim zapis ter navedem teoretični in normativni okvir.</a:t>
            </a:r>
          </a:p>
          <a:p/>
          <a:p>
            <a:r>
              <a:t>UVOD V ENOTO</a:t>
            </a:r>
          </a:p>
          <a:p>
            <a:r>
              <a:t> 3. Beseda ali besedna zveza: kako zgradba vpliva na zapis?</a:t>
            </a:r>
          </a:p>
          <a:p/>
          <a:p>
            <a:r>
              <a:t>Poimenovanje pove, kaj želimo izraziti; besedotvorna analiza pojasni, kako je ta pomen zgrajen v besedi. Pri zobozdravniku prepoznamo zdravnika za zobe, pri vrvohodcu pa človeka, ki hodi po vrvi. V obeh besedah je -o-, vendar njuna celotna tvorbena zgradba ni enaka. Če razumemo to razliko, lažje presojamo tudi zapise, kakršni so nacionalnovarnostni svet, vojaška zdravstvena enota in mini golf.</a:t>
            </a:r>
          </a:p>
          <a:p/>
          <a:p>
            <a:r>
              <a:t>V nadaljevanju uporabljamo predvsem model skladenjskega besedotvorja Ade Vidovič Muha. Ta povezuje skladenjsko zgradbo podstave z morfemsko zgradbo tvorjenke. Njegov namen je razložiti jezikovno zgradbo; za končno pravopisno odločitev moramo preveriti še pravilo in ustaljeno rabo. Kjer Toporišič isti pojav razvrsti ali poimenuje drugače, razliko posebej označimo.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Nova oblika ali novo poimenovanje?</a:t>
            </a:r>
          </a:p>
          <a:p/>
          <a:p>
            <a:r>
              <a:t>Povezava s skripto: 3.1</a:t>
            </a:r>
          </a:p>
          <a:p/>
          <a:p>
            <a:r>
              <a:t>ZA IZVEDBO</a:t>
            </a:r>
          </a:p>
          <a:p>
            <a:r>
              <a:t>Najprej primerjamo namen obeh sprememb. Pri hiše je leksem isti, oblika pa se lahko vključi v drugačno skladenjsko okolje. Pri hišici dobimo nov leksem z možnostjo izražanja majhnosti ali naklonjenosti. Poudarimo, da dolžina ni merilo: učiteljevima je pregibna oblika pridevnika učiteljev. Besedotvorje tudi ni edina pot do poimenovanja; prejšnje poglavje je obravnavalo pomenske prenose in večbesedne lekseme. Tvorjenost bomo ugotavljali iz dokazljivega razmerja, ne iz podobnosti zapisa.</a:t>
            </a:r>
          </a:p>
          <a:p/>
          <a:p>
            <a:r>
              <a:t>VIRI</a:t>
            </a:r>
          </a:p>
          <a:p>
            <a:r>
              <a:t>Vidovič Muha 2011: 20, 23–25, 106</a:t>
            </a:r>
          </a:p>
          <a:p/>
          <a:p>
            <a:r>
              <a:t>RAZLAGA IZ SKRIPTE · 3.1 Tvorjenje besed in spreminjanje njihovih oblik</a:t>
            </a:r>
          </a:p>
          <a:p>
            <a:r>
              <a:t>Primerjajmo hiša – hiše in hiša – hišica. Prvi par kaže pregibanje: isti leksem nastopa v različnih slovničnih oblikah. Drugi par kaže tvorjenje novega leksema. Hišica lahko izraža majhnost ali naklonjen odnos, česar sama sklonska sprememba ne izraža. Pregibanje povezuje besedo s stavčno zgradbo, besedotvorje pa razširja poimenovalne možnosti jezika.</a:t>
            </a:r>
          </a:p>
          <a:p/>
          <a:p>
            <a:r>
              <a:t>Ta razlika ni enaka razliki med kratko in dolgo besedo. Daljša oblika učiteljevima je pregibna oblika pridevnika učiteljev, medtem ko učiteljica poimenuje drug člen poimenovalnega para. Razvrščamo postopek in njegovo funkcijo, ne videza rezultata. Besedotvorje tudi ni edini način pridobivanja poimenovanj: beseda lahko razvije nov pomen brez dodanega obrazila, prevzamemo jo lahko iz drugega jezika ali pa se ustali večbesedni leksem. Te možnosti smo srečali v poglavju o pomenu.</a:t>
            </a:r>
          </a:p>
          <a:p/>
          <a:p>
            <a:r>
              <a:t>Tvorjenost je razmerje med besedami in njihovimi sestavinami, ne lastnost, ki jo ugotovimo samo s štetjem glasov. Pri sinhroni analizi raziskujemo razmerja, ki jih lahko utemeljimo v obravnavanem jezikovnem sistemu. Zgodovinski izvor je drugo vprašanje: današnja povezava ni dokazana že s podobnim zapisom, prav tako poznavanje izvora še ne zagotavlja, da govorec besedo danes razume kot tvorjenko (Vidovič Muha 2011: 20, 23–25, 106).</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Ista beseda, dve ravni členitve</a:t>
            </a:r>
          </a:p>
          <a:p/>
          <a:p>
            <a:r>
              <a:t>Povezava s skripto: 3.2</a:t>
            </a:r>
          </a:p>
          <a:p/>
          <a:p>
            <a:r>
              <a:t>ZA IZVEDBO</a:t>
            </a:r>
          </a:p>
          <a:p>
            <a:r>
              <a:t>Morfem opredelimo kot najmanjšo enoto s pomensko ali slovnično vlogo, morf kot njegovo konkretno izrazno uresničitev. Ob roka in ročica pokažemo alomorfijo rok-/roč-. Nato razložimo prikazani členitvi: priponsko obrazilo v slovarski obliki vključuje tudi končnico, zato hiš-ica ne zanika členitve hiš-ic-a. Dodamo razliko med ničto končnico v korak-∅ : korak-a in ničtim obrazilom samostalnika lov glede na loviti. Analitični vezaji označujejo meje v razlagi; v običajni povedi ostane hišica brez vezajev.</a:t>
            </a:r>
          </a:p>
          <a:p/>
          <a:p>
            <a:r>
              <a:t>VIRI</a:t>
            </a:r>
          </a:p>
          <a:p>
            <a:r>
              <a:t>Vidovič Muha 2011: 24–27, 98–99, 108–110, 331–332</a:t>
            </a:r>
          </a:p>
          <a:p/>
          <a:p>
            <a:r>
              <a:t>RAZLAGA IZ SKRIPTE · 3.2 Morfemska členitev in besedotvorna členitev</a:t>
            </a:r>
          </a:p>
          <a:p>
            <a:r>
              <a:t>Morfem je najmanjša jezikovna enota s pomensko ali slovnično vlogo. Njegovo konkretno izrazno uresničitev imenujemo morf. Isti morfem se lahko uresniči z različnimi oblikami oziroma alomorfi: povezavo med rok- in roč- prepoznamo v besedah roka in ročica. Oblikovna različnost zato še ne pomeni, da med sestavinama ni sistemskega razmerja.</a:t>
            </a:r>
          </a:p>
          <a:p/>
          <a:p>
            <a:r>
              <a:t>Koren nosi osrednji del leksikalnega pomena. Pri pregibanju ločimo osnovo, na katero se razvrščajo končnice, in končnico, ki izraža slovnične informacije. Osnova ni nujno koren: v paru hišica – hišice je osnova hišic-, v njej pa sta že koren in besedotvorna sestavina.</a:t>
            </a:r>
          </a:p>
          <a:p/>
          <a:p>
            <a:r>
              <a:t>Pri morfemski členitvi hiš-ic-a ločimo koren, besedotvorni morfem in končnico. Pri besedotvorni členitvi hiš-ica poudarimo razmerje med besedotvorno podstavo in obrazilom. Prva analiza razčlenjuje sestavo oblike, druga pojasnjuje tvorbeno razmerje. Pri zapisu priponskega obrazila v slovarski obliki je vključena tudi končnica: zapis -ica zato ni trditev, da v obliki hišica končnice ne moremo ločiti. Razliko med celotnim obrazilom, njegovimi morfemi in končniško sestavino obravnava Vidovič Muha (2011: 24–27, 99, 108–110, 331–332).</a:t>
            </a:r>
          </a:p>
          <a:p/>
          <a:p>
            <a:r>
              <a:t>Tudi odsotnost glasov je lahko del vzorca: korak-∅ – korak-a. Znak ∅ tu označuje ničto končnico; imenovalnik zato ni brez slovničnih lastnosti. Ob primerjavi veter – vetra pa ugotovimo spremembo osnove: e ni končnica, temveč neobstojni samoglasnik. Primerjava več oblik je zanesljivejša od razrezovanja po zadnjih črkah.</a:t>
            </a:r>
          </a:p>
          <a:p/>
          <a:p>
            <a:r>
              <a:t>Ničta končnica in ničto besedotvorno obrazilo nista isti pojem. Pri lov-∅ v razmerju do loviti lahko ničto obrazilo označuje tvorbo samostalnika s pomenom dejanja; pri pregibanju lov-∅ – lov-a pa govorimo o končnicah tega samostalnika. Isti površinski zapis zahteva dve različni utemeljitvi. Znak ∅ sam ne pove, katero raven analiziramo (Vidovič Muha 2011: 98).</a:t>
            </a:r>
          </a:p>
          <a:p/>
          <a:p>
            <a:r>
              <a:t>Znamenja za členitev niso navodilo za običajni zapis. Zapis hiš-ic-a prikazuje morfemske meje; v besedilu pišemo hišica. Analitične vezaje ločimo od pravopisnega vezaja, ki je dejanski del zapisa, denimo v slovensko-italijanski.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Kako iz podstave razložimo besedo lovec?</a:t>
            </a:r>
          </a:p>
          <a:p/>
          <a:p>
            <a:r>
              <a:t>Povezava s skripto: 3.3</a:t>
            </a:r>
          </a:p>
          <a:p/>
          <a:p>
            <a:r>
              <a:t>ZA IZVEDBO</a:t>
            </a:r>
          </a:p>
          <a:p>
            <a:r>
              <a:t>Uporabljamo model Ade Vidovič Muha. Skladenjska podstava je opredeljena zveza s pretvorljivimi sestavinami in razmerji; besedotvorna podstava je ohranjeni del tvorjenke. Pri lovcu se jedro tisti in njegovo slovnično razmerje do določila izrazita s priponskim obrazilom. Zveza tisti, ki lovi je kot celota samostalniška zveza, čeprav vsebuje odvisnik. Zato oznaka nestavčna podstava ne prepoveduje odvisnika v njenem določilu. Poudarimo, da ne odstranjujemo naključnih odvečnih besed, temveč pojasnimo njihov pretvorjeni pomen.</a:t>
            </a:r>
          </a:p>
          <a:p/>
          <a:p>
            <a:r>
              <a:t>VIRI</a:t>
            </a:r>
          </a:p>
          <a:p>
            <a:r>
              <a:t>Vidovič Muha 2011: 23–29, 31, 331–332</a:t>
            </a:r>
          </a:p>
          <a:p/>
          <a:p>
            <a:r>
              <a:t>RAZLAGA IZ SKRIPTE · 3.3 Od skladenjske podstave do tvorjenke</a:t>
            </a:r>
          </a:p>
          <a:p>
            <a:r>
              <a:t>V modelu Vidovič Muha je skladenjska podstava (SPo) besedna zveza z določljivo zgradbo, katere sestavine in razmerja lahko pretvorimo v tvorjenko. Besedotvorna podstava (BPo) je del tvorjenke, ki nastane iz sestavin te zveze, ki se ne pretvorijo v obrazilo. Obrazilo (O) pa je celota obrazilnih morfemov obravnavane tvorbene stopnje. Temeljno razmerje je zato tvorjenka = BPo + O (Vidovič Muha 2011: 23–29, 331–332).</a:t>
            </a:r>
          </a:p>
          <a:p/>
          <a:p>
            <a:r>
              <a:t>| Raven analize | Primer lovec | Vprašanje |</a:t>
            </a:r>
          </a:p>
          <a:p>
            <a:r>
              <a:t>|---|---|---|</a:t>
            </a:r>
          </a:p>
          <a:p>
            <a:r>
              <a:t>| SPo | tisti, ki lovi | Katero skladenjsko razmerje se pretvarja? |</a:t>
            </a:r>
          </a:p>
          <a:p>
            <a:r>
              <a:t>| BPo | lov- | Kateri del ohranja konkretni pomen podstavne besede? |</a:t>
            </a:r>
          </a:p>
          <a:p>
            <a:r>
              <a:t>| O | -ec | Katera sestavina izraža posplošeni pomen nosilca dejanja in razmerje do podstavnega glagola? |</a:t>
            </a:r>
          </a:p>
          <a:p>
            <a:r>
              <a:t>| Tvorjenka | lovec | Katera nova beseda je rezultat pretvorbe? |</a:t>
            </a:r>
          </a:p>
          <a:p/>
          <a:p>
            <a:r>
              <a:t>Pri lovcu se zaimensko jedro tisti skupaj s slovničnim razmerjem do določila pretvori v priponsko obrazilo -ec. Glagol loviti prispeva podstavo lov-. Besedotvorna analiza zato ne pravi, da smo iz poljubne razlage odstranili odvečne besede. Pokaže, kam so se pretvorili njen leksikalni in slovnični pomen (Vidovič Muha 2011: 31).</a:t>
            </a:r>
          </a:p>
          <a:p/>
          <a:p>
            <a:r>
              <a:t>Skladenjska podstava je praviloma podredna nestavčna zveza; posebej obravnavamo priredne zloženke. Beseda nestavčna ne pomeni, da v njej ne sme biti odvisnika. Zveza tisti, ki lovi je kot celota samostalniška zveza: njeno jedro je tisti, odvisnik ki lovi pa ga določa. Samostojna poved Lovec lovi živali zato ni enakovreden zapis podstave: vsebuje že tvorjenko in dodatno besedo živali.</a:t>
            </a:r>
          </a:p>
          <a:p/>
          <a:p>
            <a:r>
              <a:t>Tudi vsaka smiselna slovarska razlaga še ni SPo. Zobar in zobozdravnik lahko poimenujeta istega strokovnjaka, vendar razlaga zdravnik za zobe neposredno podpira zgradbo zob-o-zdravnik: obe polnopomenski besedi se ohranita v BPo. Pri zob-ar pa ni korenskega dela za zdravnik. Njegova SPo mora imeti splošnejše zaimensko jedro, na primer tisti, ki je za zobe; konkretnejši poklicni pomen pripada leksikalizirani besedi. Podobno pri pečarju tvorbenega opisa ne dopolnimo kar z glagolom izdelovati, saj zanj v zgradbi ni ustrezne sestavine (Vidovič Muha 2011: 32, 436).</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Sopomenski besedi nimata nujno iste podstave</a:t>
            </a:r>
          </a:p>
          <a:p/>
          <a:p>
            <a:r>
              <a:t>Povezava s skripto: 3.3</a:t>
            </a:r>
          </a:p>
          <a:p/>
          <a:p>
            <a:r>
              <a:t>ZA IZVEDBO</a:t>
            </a:r>
          </a:p>
          <a:p>
            <a:r>
              <a:t>Obe poimenovanji lahko uporabimo za istega strokovnjaka, vendar njuna tvorbena razčlenitev ni enaka. Razlaga zdravnik za zobe pri zobozdravniku preslika obe polnopomenski sestavini. Pri zobarju korenskega dela za zdravnik ni, zato mora biti jedro tvorbenega opisa splošnejše. Podobno pri pečarju ne dodamo glagola izdelovati samo zato, ker je razlaga izdelovalec peči smiselna. Z njo bi v opis vnesli leksikalni pomen brez ustrezne sestavine v tvorjenki. Ločitev pripravlja razlikovanje besedotvornega in slovarskega pomena.</a:t>
            </a:r>
          </a:p>
          <a:p/>
          <a:p>
            <a:r>
              <a:t>VIRI</a:t>
            </a:r>
          </a:p>
          <a:p>
            <a:r>
              <a:t>Vidovič Muha 2011: 32, 436</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Enak konec -ec, različna tvorbena vloga</a:t>
            </a:r>
          </a:p>
          <a:p/>
          <a:p>
            <a:r>
              <a:t>Povezava s skripto: 3.4</a:t>
            </a:r>
          </a:p>
          <a:p/>
          <a:p>
            <a:r>
              <a:t>ZA IZVEDBO</a:t>
            </a:r>
          </a:p>
          <a:p>
            <a:r>
              <a:t>Razliko utemeljimo z mestom sestavine, ki se pretvori v obrazilo. Pri lovcu je to jedro, pri bratcu pa odvisni del z vrednotenjskim ali velikostnim pomenom. V drugem zgledu je glede na sobesedilo možna tudi razlaga majhen brat. Navadne izpeljave ne enačimo z zamenjavo besedne vrste: peč in pečar sta oba samostalnika, pa je pečar navadna izpeljanka. Oznaki a1 in c1 sta del prikazanega modela, njuno merilo pa je skladenjska funkcija obraziljene sestavine.</a:t>
            </a:r>
          </a:p>
          <a:p/>
          <a:p>
            <a:r>
              <a:t>VIRI</a:t>
            </a:r>
          </a:p>
          <a:p>
            <a:r>
              <a:t>Vidovič Muha 2011: 27–38</a:t>
            </a:r>
          </a:p>
          <a:p/>
          <a:p>
            <a:r>
              <a:t>RAZLAGA IZ SKRIPTE · 3.4 Katere sestavine se pretvorijo v obrazilo?</a:t>
            </a:r>
          </a:p>
          <a:p>
            <a:r>
              <a:t>Razvrstitev izhaja iz treh sestavin podstave: njenega jedra, odvisnega dela in slovničnega razmerja med njima. Oznake a, b, c, č poimenujejo vzorce v modelu Vidovič Muha. Uporabne so zato, ker podobne konce besed povežejo z različnimi skladenjskimi vlogami (Vidovič Muha 2011: 27–36).</a:t>
            </a:r>
          </a:p>
          <a:p/>
          <a:p>
            <a:r>
              <a:t>| Tip in vrsta | Kaj se pretvori v obrazilo? | SPo in tvorjenka |</a:t>
            </a:r>
          </a:p>
          <a:p>
            <a:r>
              <a:t>|---|---|---|</a:t>
            </a:r>
          </a:p>
          <a:p>
            <a:r>
              <a:t>| a1: navadna izpeljava | Jedro s pripadajočim slovničnim razmerjem. | tisti, ki lovi → lov-ec |</a:t>
            </a:r>
          </a:p>
          <a:p>
            <a:r>
              <a:t>| a2: tvorjenje iz predložne zveze | Jedro v pripono, predlog s sklonskim razmerjem v predpono. | tisti, ki je brez doma → brez-dom-ec |</a:t>
            </a:r>
          </a:p>
          <a:p>
            <a:r>
              <a:t>| a3: medponsko-priponsko zlaganje | Jedro v pripono, razmerje med dvema polnopomenskima besedama v medpono. | tisti, ki hodi po vrvi → vrv-o-hod-ec |</a:t>
            </a:r>
          </a:p>
          <a:p>
            <a:r>
              <a:t>| b: medponskoobrazilno zlaganje | Samo slovnično razmerje med ohranjenima polnopomenskima sestavinama. | zdravnik za zobe → zob-o-zdravnik |</a:t>
            </a:r>
          </a:p>
          <a:p>
            <a:r>
              <a:t>| c1: modifikacijska izpeljava | Odvisni del, ki izraža velikost, količino ali vrednotenje. | majhna hiša → hiš-ica |</a:t>
            </a:r>
          </a:p>
          <a:p>
            <a:r>
              <a:t>| c2: sestavljanje | Odvisni del v predponsko obrazilo. | nekdanja domovina → pra-domovina |</a:t>
            </a:r>
          </a:p>
          <a:p>
            <a:r>
              <a:t>| č: priredno zlaganje | Priredno razmerje med enakovrednimi sestavinami. | slovenski in nemški → slovensk-o-nemški |</a:t>
            </a:r>
          </a:p>
          <a:p/>
          <a:p>
            <a:r>
              <a:t>Pri navadni izpeljavi se torej obrazili jedro, pri modifikacijski izpeljavi odvisni del. Lovec ne označuje posebne velikosti glagola loviti, temveč njegovega vršilca. Bratec pa še vedno poimenuje brata in dodaja pomen majhnosti ali naklonjenosti. Obrazili sta lahko glasovno enaki, njuna vloga pa različna. Tudi vsaka pripona ne zamenja besedne vrste: peč → pečar povezuje dva samostalnika, vendar je pečar navadna izpeljanka, ne manjšalnica. Odločilna je zgradba podstave (Vidovič Muha 2011: 30–38).</a:t>
            </a:r>
          </a:p>
          <a:p/>
          <a:p>
            <a:r>
              <a:t>Podrobneje razčlenimo tri tvorjenke, pri katerih nas samo prepoznavanje predpone ali pripone lahko zavede.</a:t>
            </a:r>
          </a:p>
          <a:p/>
          <a:p>
            <a:r>
              <a:t>Brezdomec. SPo je tisti, ki je brez doma. BPo je -dom-. Celotno obrazilo ima dva dela: predpono brez- in pripono -ec. Pripona izraža zaimensko jedro, predpona pa predložno in sklonsko razmerje. Besede zato v tem modelu ne obravnavamo kot navadne sestavljenke, ki bi ji samo spredaj dodali brez-. Analiza zadnje stopnje mora zajeti oba obrazilna dela. Po istem vzorcu obravnavamo podstrešje, povezano s predložno zvezo pod streho: v podstavi -streš- prepoznamo premeno h/š, obrazilo pa je predponsko-priponsko, pod- … -je (Vidovič Muha 2011: 33, 100).</a:t>
            </a:r>
          </a:p>
          <a:p/>
          <a:p>
            <a:r>
              <a:t>Vrvohodec. SPo je tisti, ki hodi po vrvi. Dvodelna BPo vsebuje vrv- in -hod-. Pripona -ec poimenuje vršilca, medpona -o- pa izraža razmerje, ki je v podstavi izraženo s predlogom po in ustrezno sklonsko obliko. Obrazilo je celota -o- … -ec, zato je tvorjenka medponsko-priponska zloženka. Na tej stopnji je ne razložimo zgolj kot »beseda vrv in beseda hodec«: tako bi zabrisali razliko med jedrom podstave in njegovim določilom. Podoben vzorec ima roman-o-pis-ec: tisti, ki piše romane (Vidovič Muha 2011: 85, 87, 105–110).</a:t>
            </a:r>
          </a:p>
          <a:p/>
          <a:p>
            <a:r>
              <a:t>Zobozdravnik. SPo je zdravnik za zobe. Jedro je že polnopomenski samostalnik zdravnik, zato dodatne pripone za vršilca ne potrebujemo. BPo je zob- … -zdravnik, celotno obrazilo te stopnje pa -o-. Tvorjenka je medponskoobrazilna zloženka. Beseda zdravnik je sama tvorjena, toda njeno obrazilo -nik pripada prejšnji tvorbeni stopnji; pri tvorbi zobozdravnika je že del podstave. Medpona tako ni zgolj glas za lažjo izgovarjavo. V tem modelu nosi pretvorjeni slovnični pomen razmerja za zobe (Vidovič Muha 2011: 19, 34, 105–107, 442).</a:t>
            </a:r>
          </a:p>
          <a:p/>
          <a:p>
            <a:r>
              <a:t>Sestavljanje in zlaganje sta različna postopka. Pri pradomovini je obrazilo predponsko, podstava pa iz ene izhodiščne besede; pri zobozdravniku vsebuje BPo najmanj dva korenska dela, med njima pa je medpona. Položaj pred prvim vidnim korenom sam zase še ne zadošča za odločitev: pri brezdomcu moramo upoštevati celotno predponsko-priponsko obrazilo. Pri samostalniških sestavljenkah, kakršna je podpredsednik, predpona praviloma izraža vrstno oziroma hierarhično določitev; pri modifikacijskih izpeljankah gre za drugačen, lastnostni ali količinski tip določanja (Vidovič Muha 2011: 30–31, 37–38, 98).</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Kateri deli tvorijo obrazilo zadnje stopnje?</a:t>
            </a:r>
          </a:p>
          <a:p/>
          <a:p>
            <a:r>
              <a:t>Povezava s skripto: 3.4</a:t>
            </a:r>
          </a:p>
          <a:p/>
          <a:p>
            <a:r>
              <a:t>ZA IZVEDBO</a:t>
            </a:r>
          </a:p>
          <a:p>
            <a:r>
              <a:t>Preglednico beremo po vrsticah in obnovimo podstave: tisti, ki je brez doma; tisti, ki hodi po vrvi; zdravnik za zobe. Pri brezdomcu se obrazili tudi predložno in sklonsko razmerje, pri vrvohodcu razmerje po vrvi postane medpona. Pri zobozdravniku polnopomensko jedro zdravnik ostane v podstavi, zato zadnja stopnja nima dodatne pripone za vršilca. Njegov -nik pripada predhodni tvorbi. Vprašamo, zakaj razrez vrv + hodec zabriše del predstavljene pretvorbe. Ne sprašujemo samo, kateri glas je med korenoma.</a:t>
            </a:r>
          </a:p>
          <a:p/>
          <a:p>
            <a:r>
              <a:t>VIRI</a:t>
            </a:r>
          </a:p>
          <a:p>
            <a:r>
              <a:t>Vidovič Muha 2011: 19, 33–34, 85, 105–110, 442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Sestavljanje in zlaganje loči zgradba podstave</a:t>
            </a:r>
          </a:p>
          <a:p/>
          <a:p>
            <a:r>
              <a:t>Povezava s skripto: 3.4</a:t>
            </a:r>
          </a:p>
          <a:p/>
          <a:p>
            <a:r>
              <a:t>ZA IZVEDBO</a:t>
            </a:r>
          </a:p>
          <a:p>
            <a:r>
              <a:t>Pri pradomovini se odvisni del nekdanja pretvori v predponsko obrazilo, ohranjena podstava pa izhaja iz ene besede. Pri zobozdravniku sta v podstavi dva korenska dela. Priredni tip č ponovno izpostavi drugačno razmerje: sestavini sta enakovredni, medpona pa izraža priredno povezavo. Opozorimo, da podpredsednik izraža vrstno oziroma hierarhično določitev, ne istega tipa modifikacije kot hišica. Pri brezdomcu položaj predpone ne zadošča za oznako sestavljenka, ker je celotno obrazilo predponsko-priponsko. Zapis slovensk-o-nemški je analitičen; običajno pišemo slovensko-nemški.</a:t>
            </a:r>
          </a:p>
          <a:p/>
          <a:p>
            <a:r>
              <a:t>VIRI</a:t>
            </a:r>
          </a:p>
          <a:p>
            <a:r>
              <a:t>Vidovič Muha 2011: 30–31, 34–38, 98, 105–107</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Kaj poimenujemo: dejanje, nosilca ali okoliščino?</a:t>
            </a:r>
          </a:p>
          <a:p/>
          <a:p>
            <a:r>
              <a:t>Povezava s skripto: 3.5</a:t>
            </a:r>
          </a:p>
          <a:p/>
          <a:p>
            <a:r>
              <a:t>ZA IZVEDBO</a:t>
            </a:r>
          </a:p>
          <a:p>
            <a:r>
              <a:t>Ta pregled ni splošna razvrstitev vseh tvorjenk. Nanaša se na propozicijske besedotvorne pomene ustreznih samostalniških tvorjenk tipa a. V drugi vrstici razločimo živega vršilca oziroma nosilca od neživega predmeta, ki opravlja dejanje. Tretja vrstica združi rezultat in sredstvo le zaradi preglednosti projekcije; to sta ločena pomena. Enako velja za mesto in čas v zadnji vrstici. Pri hišici obrazilo izraža modifikacijo, pri zobozdravniku medpona slovnično razmerje. Zato ju ne silimo v prikazanih sedem kategorij.</a:t>
            </a:r>
          </a:p>
          <a:p/>
          <a:p>
            <a:r>
              <a:t>VIRI</a:t>
            </a:r>
          </a:p>
          <a:p>
            <a:r>
              <a:t>Vidovič Muha 2011: 82–89, 97–100</a:t>
            </a:r>
          </a:p>
          <a:p/>
          <a:p>
            <a:r>
              <a:t>RAZLAGA IZ SKRIPTE · 3.5 Besedotvorni pomen in slovarski pomen</a:t>
            </a:r>
          </a:p>
          <a:p>
            <a:r>
              <a:t>Zakaj v podstavah pogosto nastopajo zveze tisti, ki, to, da ali tam, kjer? Omogočajo nam opis zelo splošnih kategorij: nosilca, dejanja, prostora. Besedotvorni pomen je pomen, ki ga beseda dobi v tvorbenem postopku. Pri samostalniških tvorjenkah tipa a ga Vidovič Muha povezuje s propozicijo, torej s pomensko podstavo povedi: s povedjem, udeleženci in okoliščinami. Celotna poved in tvorjenka lahko tako različno izrazita del istega pomenskega razmerja (Vidovič Muha 2011: 82–89).</a:t>
            </a:r>
          </a:p>
          <a:p/>
          <a:p>
            <a:r>
              <a:t>| Posplošena sestavina podstave | Besedotvorni pomen | Zgled |</a:t>
            </a:r>
          </a:p>
          <a:p>
            <a:r>
              <a:t>|---|---|---|</a:t>
            </a:r>
          </a:p>
          <a:p>
            <a:r>
              <a:t>| to, da … | Dejanje, lastnost ali stanje. | pisanje, belina |</a:t>
            </a:r>
          </a:p>
          <a:p>
            <a:r>
              <a:t>| tisti, ki …, živo | Vršilec dejanja oziroma nosilec lastnosti ali povezave. | lovec, belec, pečar |</a:t>
            </a:r>
          </a:p>
          <a:p>
            <a:r>
              <a:t>| tisti, ki …, neživo | Predmet, ki opravlja dejanje oziroma je nosilec lastnosti ali povezave. | nosilec v pomenu predmeta, ki kaj nosi |</a:t>
            </a:r>
          </a:p>
          <a:p>
            <a:r>
              <a:t>| to, kar … | Rezultat dejanja. | odredba kot to, kar odredimo |</a:t>
            </a:r>
          </a:p>
          <a:p>
            <a:r>
              <a:t>| to, s čimer … | Sredstvo dejanja. | cedilo |</a:t>
            </a:r>
          </a:p>
          <a:p>
            <a:r>
              <a:t>| tam, kjer … | Mesto dejanja ali nahajanja. | gostilna |</a:t>
            </a:r>
          </a:p>
          <a:p>
            <a:r>
              <a:t>| tedaj, ko … | Čas dejanja ali obstajanja. | mladost v časovnem pomenu |</a:t>
            </a:r>
          </a:p>
          <a:p/>
          <a:p>
            <a:r>
              <a:t>To ni seznam sedmih pomenov, ki bi jih morali na silo najti pri vsaki tvorjenki. Pregled velja za določeni tip skladenjskih podstav. Pri hišici je obrazilo modifikacijsko, pri zobozdravniku pa medpona izraža razmerje med polnopomenskima sestavinama. Prav tako besedotvorni vršilec ni isto kot osebek konkretne povedi: v povedi Opazoval sem vrvohodca je vrvohodca predmet, čeprav je beseda tvorjena s pomenom vršilca hoje po vrvi (Vidovič Muha 2011: 97–100, 437–438).</a:t>
            </a:r>
          </a:p>
          <a:p/>
          <a:p>
            <a:r>
              <a:t>Besedotvorna predvidljivost še ne pomeni, da iz obrazil izvemo vse o poimenovani stvari. Pri listavcu je tvorbena razlaga tisti, ki je listav, slovarska pa ga uvršča med drevesa. V slovarski razlagi je zato uvrščevalna pomenska sestavina drevo, v skladenjski podstavi tvorjenke pa zaimek tisti. Razlikovanje nadaljuje razlago UPS in RPS iz prejšnjega poglavja: slovarski pomen izbere dovolj določeno nadpomenko in razločevalne lastnosti, besedotvorna analiza pa mora pojasniti sestavine tvorjenke. Pri pisanju v pomenu dejanja sta si oba opisa lahko zelo blizu (Vidovič Muha 2011: 100–102).</a:t>
            </a:r>
          </a:p>
          <a:p/>
          <a:p>
            <a:r>
              <a:t>Tudi pri knjigarni sestava napoveduje povezavo s knjigami in prostorom, ustaljeni pomen pa določa prodajalno. Zato se pri novem strokovnem izrazu vprašamo dvoje: ali je tvorbeno razložljiv in ali bo v izbranem področju poimenoval dovolj natančno določen pojem. Prvo vprašanje ne nadomesti drugega.</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Listavec: tvorbena razlaga in slovarski pomen</a:t>
            </a:r>
          </a:p>
          <a:p/>
          <a:p>
            <a:r>
              <a:t>Povezava s skripto: 3.5</a:t>
            </a:r>
          </a:p>
          <a:p/>
          <a:p>
            <a:r>
              <a:t>ZA IZVEDBO</a:t>
            </a:r>
          </a:p>
          <a:p>
            <a:r>
              <a:t>Navežemo se na UPS in RPS iz drugega poglavja. Pri tvorbeni razlagi iščemo preslikavo v sestavine listav- in -ec; slovarska razlaga pa mora dovolj natančno opredeliti poimenovano vrsto. Tudi knjigarna ni poljuben prostor s knjigami: ustaljeni pomen določa prodajalno. Pri pisanju v pomenu dejanja sta si opisa lahko zelo blizu. Nato razločimo še besedotvorni pomen od trenutne stavčne funkcije: v Opazoval sem vrvohodca je vrvohodca predmet, vendar njegova tvorba še vedno poimenuje vršilca hoje po vrvi.</a:t>
            </a:r>
          </a:p>
          <a:p/>
          <a:p>
            <a:r>
              <a:t>VIRI</a:t>
            </a:r>
          </a:p>
          <a:p>
            <a:r>
              <a:t>Vidovič Muha 2011: 100–102, 437–438</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Vsaka tvorbena stopnja ima svojo neposredno podstavo</a:t>
            </a:r>
          </a:p>
          <a:p/>
          <a:p>
            <a:r>
              <a:t>Povezava s skripto: 3.6</a:t>
            </a:r>
          </a:p>
          <a:p/>
          <a:p>
            <a:r>
              <a:t>ZA IZVEDBO</a:t>
            </a:r>
          </a:p>
          <a:p>
            <a:r>
              <a:t>V prikazanem nizu sta dva tvorbena koraka. Pri drugem -ar ni novo obrazilo, ampak že del podstave gozdar-. Primerjamo avtoričin niz peč, pečar, pečarski, pečarskost. Štetje morfemov ni štetje tvorbenih stopenj, sklanjanje pa ne doda naslednje besedotvorne stopnje. Splošno tvorbeno možnost ločimo od ustaljenosti in primernosti novega izraza. Pri demokracija, birokracija ali biologija ponavljajoče se sestavine še ne dokazujejo slovenske SPo. Niza tudi ne razglašamo za dokaz dejanskega zgodovinskega zaporedja nastanka besed.</a:t>
            </a:r>
          </a:p>
          <a:p/>
          <a:p>
            <a:r>
              <a:t>VIRI</a:t>
            </a:r>
          </a:p>
          <a:p>
            <a:r>
              <a:t>Vidovič Muha 2011: 20, 103–106</a:t>
            </a:r>
          </a:p>
          <a:p/>
          <a:p>
            <a:r>
              <a:t>RAZLAGA IZ SKRIPTE · 3.6 Tvorbene stopnje in meje analize</a:t>
            </a:r>
          </a:p>
          <a:p>
            <a:r>
              <a:t>Tvorjenje lahko poteka stopenjsko: gozd → gozdar → gozdarski. V prvem koraku dobimo poimenovanje človeka, povezanega z gozdom; v drugem pridevnik, povezan z gozdarjem oziroma njegovo dejavnostjo. Neposredna podstava drugega koraka zato ni več samo gozd-, temveč gozdar-. Obrazilo prejšnje stopnje se vključi v podstavo naslednje. Enako razmerje Vidovič Muha ponazarja s stopnjami peč → pečar → pečarski → pečarskost (2011: 103–104).</a:t>
            </a:r>
          </a:p>
          <a:p/>
          <a:p>
            <a:r>
              <a:t>| Tvorbeno razmerje | BPo zadnjega koraka | O zadnjega koraka | Kaj ostane v podstavi? |</a:t>
            </a:r>
          </a:p>
          <a:p>
            <a:r>
              <a:t>|---|---|---|---|</a:t>
            </a:r>
          </a:p>
          <a:p>
            <a:r>
              <a:t>| gozd → gozdar | gozd- | -ar | Koren. |</a:t>
            </a:r>
          </a:p>
          <a:p>
            <a:r>
              <a:t>| gozdar → gozdarski | gozdar- | -ski | Koren in obrazilo prejšnje stopnje. |</a:t>
            </a:r>
          </a:p>
          <a:p/>
          <a:p>
            <a:r>
              <a:t>Število tvorbenih stopenj zato ni isto kot število vseh morfemov v besedi. V analizi gozdarski lahko razčlenimo tudi gozd- in -ar-, vendar s tem ne dobimo dveh obrazil zadnjega koraka. Vedno povejmo, ali iščemo vso morfemsko sestavo ali neposredno tvorbeno razmerje.</a:t>
            </a:r>
          </a:p>
          <a:p/>
          <a:p>
            <a:r>
              <a:t>Iz možnosti neke tvorbe še ne sledi, da je rezultat ustaljen, pomenljiv v vsakem kontekstu ali primeren za izbrano zvrst. Tudi ne smemo z izmišljenimi vmesnimi besedami zapolniti vsake vrzeli v analizi. Pri prevzetih izrazih, kakršni so demokracija, birokracija, biologija, s primerjanjem prepoznamo ponavljajoče se sestavine. To samo po sebi še ne dokazuje, da je celotna beseda nastala iz slovenske SPo. Ločimo prepoznavnost morfemskih sestavin, sinhrono tvorbeno motiviranost in zgodovinski izvor (Vidovič Muha 2011: 20, 106).</a:t>
            </a:r>
          </a:p>
          <a:p/>
          <a:p>
            <a:r>
              <a:t>Tvorbene stopnje povezujejo to poglavje s poglavjema o oblikah in imenih. Najprej nastane pridevnik učiteljev, nato ga pregibamo: učiteljeva, učiteljevemu. Podobno je pri izimenskih svojilnih pridevnikih tvorba nove besede drug postopek kot sklanjanje imena. Izbira obrazila je povezana z lastnostmi podstavnega samostalnika, vendar pri imenih potrebujemo še podatke o izgovoru, glasovnih premenah in pravopisni obravnavi. Splošni vzorec -ov/-ev, -in ali -ski zato ni dovoljenje, da preskočimo preverjanje konkretne podstave (Vidovič Muha 2011: 103).</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Isti termin v dveh modelih</a:t>
            </a:r>
          </a:p>
          <a:p/>
          <a:p>
            <a:r>
              <a:t>Povezava s skripto: 3.7</a:t>
            </a:r>
          </a:p>
          <a:p/>
          <a:p>
            <a:r>
              <a:t>ZA IZVEDBO</a:t>
            </a:r>
          </a:p>
          <a:p>
            <a:r>
              <a:t>Toporišičev algoritem gre od izhodiščne zveze prek izbire obrazila in podstave do ureditve ter glasovne in naglasne prilagoditve. Tudi pri njem najdemo navadno/modifikacijsko izpeljavo in oba glavna podtipa zlaganja; razlik ne napihujemo v trditev, da zgradbe ne opisuje. Ob nebodigatreba pojasnimo drugačno podstavo sklopa. Dodamo kratičnost Evropska unija → EU, ki jo Toporišič uvršča med posebne zloženke. Poenobesedenje prenosni računalnik → prenosnik pa poimenuje odnos med poimenovanjema in ni samodejno še en enakovreden obrazilni postopek.</a:t>
            </a:r>
          </a:p>
          <a:p/>
          <a:p>
            <a:r>
              <a:t>VIRI</a:t>
            </a:r>
          </a:p>
          <a:p>
            <a:r>
              <a:t>Toporišič 2004: 149–150, 156–160</a:t>
            </a:r>
          </a:p>
          <a:p>
            <a:r>
              <a:t>Vidovič Muha 2011: 18–21, 25, 28, 33, 97, 111, 331</a:t>
            </a:r>
          </a:p>
          <a:p/>
          <a:p>
            <a:r>
              <a:t>RAZLAGA IZ SKRIPTE · 3.7 Različni modeli in drugi načini poimenovanja</a:t>
            </a:r>
          </a:p>
          <a:p>
            <a:r>
              <a:t>Pri branju priročnikov pazimo, da istega izraza ne prenesemo samodejno iz enega modela v drugega. Toporišič v Slovenski slovnici izhodiščno besedno zvezo v algoritmu imenuje besedotvorna podstava in jo izrecno loči od podstave tvorjenke. V modelu Vidovič Muha izhodiščno zvezo imenujemo skladenjska podstava, izraz besedotvorna podstava pa označuje ohranjeni del tvorjenke. Pri lovcu torej prvo poimenovanje lahko označuje zvezo tisti, ki lovi ali sestavino lov-, odvisno od izbranega vira. V svoji analizi zato najprej določimo terminološki okvir (Toporišič 2004: 149–150, 156; Vidovič Muha 2011: 18–21, 331).</a:t>
            </a:r>
          </a:p>
          <a:p/>
          <a:p>
            <a:r>
              <a:t>Toporišič razlikuje izpeljavo, zlaganje, sestavljanje in sklapljanje ter tvorbo pojasnjuje s šestimi koraki: od izhodiščne zveze prek izbire obrazila in podstavnih delov do njihove ureditve ter glasovne in naglasne prilagoditve. Tudi pri njem najdemo navadno in modifikacijsko izpeljavo ter medponsko-priponsko in samo medponsko zlaganje. Razlika torej ni v tem, da bi eden opisoval zgradbo, drugi pa je ne bi; razlikujeta se v opredelitvi podstav, merilih razvrstitve in obsegu posameznih skupin. Toporišič na primer Obsotelje obravnava v okviru izpeljave iz predložne podstave, model Vidovič Muha pa tvorjenke iz predložne zveze izloči kot poseben tip a2 (Toporišič 2004: 156–160; Vidovič Muha 2011: 25, 28, 33).</a:t>
            </a:r>
          </a:p>
          <a:p/>
          <a:p>
            <a:r>
              <a:t>Sklapljanje ni isto kot zlaganje. Pri nebodigatreba je ohranjeno zaporedje ne bodi ga treba, katerega sestavine imajo drugačno, tudi stavčno razmerje. Vidovič Muha sklope obravnava ob robu sistemskih pretvorbenih vzorcev: njihove podstave niso omejene z istimi predvidljivimi razmerji kot podstave tipov a–č. Toporišič sklapljanje uvršča med štiri osnovne vrste (Vidovič Muha 2011: 111; Toporišič 2004: 160).</a:t>
            </a:r>
          </a:p>
          <a:p/>
          <a:p>
            <a:r>
              <a:t>Kratičnost, denimo Evropska unija → EU, poimenovanje oblikuje z izbiro in združitvijo delov njegovih sestavin. Toporišič jo obravnava kot posebno vrsto zlaganja; v preglednici modela Vidovič Muha je ne dodajamo kot še en tip z enakim merilom kot a–č. Poenobesedenje, denimo prenosni računalnik → prenosnik, pa poimenuje razmerje med večbesednim poimenovanjem in njegovo enobesedno ustreznico. Ne pomeni nujno dodatnega, vsem drugim enakovrednega obrazilnega postopka. Tako ločimo cilj poimenovanja, tvorbeni postopek in zapis rezultata (Toporišič 2004: 159; Vidovič Muha 2011: 97, op. 85).</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Nespremenljiva sestavina še ne določi zapisa</a:t>
            </a:r>
          </a:p>
          <a:p/>
          <a:p>
            <a:r>
              <a:t>Povezava s skripto: 3.8</a:t>
            </a:r>
          </a:p>
          <a:p/>
          <a:p>
            <a:r>
              <a:t>ZA IZVEDBO</a:t>
            </a:r>
          </a:p>
          <a:p>
            <a:r>
              <a:t>Lila v lila krilo ostane nespremenjen pridevniški prilastek. Žal v žal beseda nima iste rabe kot členek v Žal ne morem priti. Preglednica pokaže tri različne pravopisne položaje; dvojnosti ene skupine ne prenesemo na vse podobne začetke. Z ujemanjem preverimo še avtomobil bomba je eksplodiral in avtobomba je eksplodirala. V prvem primeru je jedro avtomobil, v drugem spol zloženke določa drugi del. Jezikoslovna besednost in število pisnih enot se zato ne prekrivata avtomatično.</a:t>
            </a:r>
          </a:p>
          <a:p/>
          <a:p>
            <a:r>
              <a:t>VIRI</a:t>
            </a:r>
          </a:p>
          <a:p>
            <a:r>
              <a:t>SP 2001, § 495–500</a:t>
            </a:r>
          </a:p>
          <a:p>
            <a:r>
              <a:t>Dobrovoljc 2013, dopolnjeno 2026</a:t>
            </a:r>
          </a:p>
          <a:p/>
          <a:p>
            <a:r>
              <a:t>RAZLAGA IZ SKRIPTE · 3.8 Nespremenljiva sestavina: prilastek ali del zloženke?</a:t>
            </a:r>
          </a:p>
          <a:p>
            <a:r>
              <a:t>Iz tega, da se prva sestavina pri sklanjanju ne spremeni, še ne sledi, da jo moramo združiti z drugo. Pridevnik je lahko tudi brez glasovno različnih končnic. V zvezi lila krilo – lila krila lila določa samostalnik, čeprav njegova oblika ostane enaka. V žal beseda ima žal pridevniško rabo s pomenom neprijetne oziroma žaljive besede; to ni ista raba kot členek v Žal ne morem priti.</a:t>
            </a:r>
          </a:p>
          <a:p/>
          <a:p>
            <a:r>
              <a:t>SP 2001 v členih 495–500 razlikuje skupaj pisane zloženke, dovoljene dvojnice in samostojne zveze. Odločitev zato povežemo z vrsto sestavine, pomenom celote in kodifikacijo konkretnega izraza.</a:t>
            </a:r>
          </a:p>
          <a:p/>
          <a:p>
            <a:r>
              <a:t>| Primer po SP 2001 | Razlaga zapisa |</a:t>
            </a:r>
          </a:p>
          <a:p>
            <a:r>
              <a:t>|---|---|</a:t>
            </a:r>
          </a:p>
          <a:p>
            <a:r>
              <a:t>| pešpot, pedenjčlovek, teleobjektiv | Ustaljene samostalniške zloženke; členitev za analizo ne postane presledek v besedilu. |</a:t>
            </a:r>
          </a:p>
          <a:p>
            <a:r>
              <a:t>| minigolf/mini golf | Pri tej skupini je izrecno dopuščena dvojnost zapisa. |</a:t>
            </a:r>
          </a:p>
          <a:p>
            <a:r>
              <a:t>| alfažarki/alfa žarki | Dopustni dvojnici; pravila priporočajo zvezo žarki alfa. |</a:t>
            </a:r>
          </a:p>
          <a:p>
            <a:r>
              <a:t>| lila krilo, poceni blago, žal beseda | Pridevniški prilastek in samostalniško jedro ostaneta dve besedi. |</a:t>
            </a:r>
          </a:p>
          <a:p/>
          <a:p>
            <a:r>
              <a:t>Pravilo za posamezno skupino ni pravilo za vse izraze s podobnim začetkom. Iz pešpot zato ne izpeljemo zahteve, da moramo zlepiti vsako zvezo s peš, iz dvojnosti mini golf pa ne, da je presledek povsod poljuben. SP 2001, § 495–500 — https://www.fran.si/134/slovenski-pravopis/datoteke/Pravopis_Pravila.pdf.</a:t>
            </a:r>
          </a:p>
          <a:p/>
          <a:p>
            <a:r>
              <a:t>Razčlenjeni primer: avtomobil bomba ima jedro avtomobil in desni prilastek bomba: z avtomobilom bombo; avtomobil bomba je eksplodiral. Pri zloženki avtobomba je spol določen po njenem drugem delu: avtobomba je eksplodirala. Pri avto bomba so mogoče različne razčlenitve; preveriti moramo tudi spol povedka. Razlikovanje pojasnjuje Dobrovoljc (2013, dopolnjeno 2026) — https://svetovalnica.zrc-sazu.si/topic/194/ali-je-prav-pisati-avto-bomba-ali-avtobomba. Tako z ujemanjem preverimo, katero besedo smo dejansko postavili za jedro.</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Razvezava mora ohraniti predvideni pomen</a:t>
            </a:r>
          </a:p>
          <a:p/>
          <a:p>
            <a:r>
              <a:t>Povezava s skripto: 3.9</a:t>
            </a:r>
          </a:p>
          <a:p/>
          <a:p>
            <a:r>
              <a:t>ZA IZVEDBO</a:t>
            </a:r>
          </a:p>
          <a:p>
            <a:r>
              <a:t>Pri vsaki vrstici najprej obnovimo pomen in poiščemo jedro. Prirednost ni dokazana že s tem, da lahko med besedi vstavimo in: literarna in zgodovinska razprava lahko pomeni nekaj drugega kot razprava o literarni zgodovini. Razliko dodatno pokažemo s športno-turističnim društvom, ki združuje dejavnosti, in športnoturističnim programom, povezanim s športnim turizmom. Vezaj v priredni pridevniški zloženki je stičen. Pri strojno prevedenem ostane prislov samostojen. Preglednica je pomenska opora za zapis, ne nadomestilo celotne formalne SPo.</a:t>
            </a:r>
          </a:p>
          <a:p/>
          <a:p>
            <a:r>
              <a:t>VIRI</a:t>
            </a:r>
          </a:p>
          <a:p>
            <a:r>
              <a:t>Lengar Verovnik 2016</a:t>
            </a:r>
          </a:p>
          <a:p/>
          <a:p>
            <a:r>
              <a:t>RAZLAGA IZ SKRIPTE · 3.9 Od pomenske razvezave do zapisa pridevnika</a:t>
            </a:r>
          </a:p>
          <a:p>
            <a:r>
              <a:t>Pri sestavljenem poimenovanju najprej poiščemo jedro: kaj sploh poimenujemo? Nato ugotovimo, kako ga drugi deli določajo. Sestavine so lahko priredne, lahko tvorijo podredno zvezo ali pa ostajajo samostojni deli besedne zveze.</a:t>
            </a:r>
          </a:p>
          <a:p/>
          <a:p>
            <a:r>
              <a:t>| Pomenska in skladenjska razlaga | Zgradba | Običajni zapis izbranega zgleda |</a:t>
            </a:r>
          </a:p>
          <a:p>
            <a:r>
              <a:t>|---|---|---|</a:t>
            </a:r>
          </a:p>
          <a:p>
            <a:r>
              <a:t>| Pregled literarne zgodovine | Pridevnik je tvorjen iz podredne zveze. | literarnozgodovinski pregled |</a:t>
            </a:r>
          </a:p>
          <a:p>
            <a:r>
              <a:t>| Projekt povezuje slovensko in italijansko stran. | Pridevniški sestavini sta priredni. | slovensko-italijanski projekt |</a:t>
            </a:r>
          </a:p>
          <a:p>
            <a:r>
              <a:t>| Besedilo je prevedeno strojno. | Prislov določa deležnik oziroma pridevnik. | strojno prevedeno besedilo |</a:t>
            </a:r>
          </a:p>
          <a:p>
            <a:r>
              <a:t>| Učbenik je nov, namenjen osnovnošolskemu pouku. | Dva pridevnika vsak po svoje določata samostalniško zvezo. | nov osnovnošolski učbenik |</a:t>
            </a:r>
          </a:p>
          <a:p/>
          <a:p>
            <a:r>
              <a:t>Pri prirednih pridevniških zloženkah je vezaj stičen: ob njem ni presledkov. Pri prosti zvezi prislova in pridevnika obe sestavini ohranita samostojnost. Razlikovanje med temi razmerji prikazuje tudi odgovor Tine Lengar Verovnik o obveščevalno-varnostni službi (2016) — https://svetovalnica.zrc-sazu.si/topic/1377/kako-zapisati-varnostno-obve%C5%A1%C4%8Devalna-slu%C5%BEba.</a:t>
            </a:r>
          </a:p>
          <a:p/>
          <a:p>
            <a:r>
              <a:t>Razvezava mora biti smiselna, ne samo formalno izvedljiva. V skoraj vsako zvezo lahko na silo vstavimo in, vendar s tem lahko spremenimo pomen. Literarna in zgodovinska razprava ni nujno razprava o literarni zgodovini. Vprašanje torej ni, ali veznik lahko dodamo, ampak ali tako zvesto razložimo prvotno poimenovanje.</a:t>
            </a:r>
          </a:p>
          <a:p/>
          <a:p>
            <a:r>
              <a:t>Pri športno-turističnem društvu lahko prirednost razložimo kot povezovanje športne in turistične dejavnosti. Športnoturistični program pa lahko izhaja iz zveze športni turizem. Razvezavi zato ne opisujeta nujno istega področja.</a:t>
            </a:r>
          </a:p>
          <a:p/>
          <a:p>
            <a:r>
              <a:t>Kjer se viri razlikujejo: v SP 2001 najdemo kupo-prodajen, v novejši pravopisni obravnavi pa kupoprodajen/kupoprodajni. Dobrovoljc (2016) — https://svetovalnica.zrc-sazu.si/topic/1310/kako-prevesti-barents-euro-arctic-council spremembo pojasnjuje z okrnjeno prvo sestavino: kupo- ni samostojen pridevnik, kakršen je vzgojni. Prirednost v pomenski podstavi zato ni vedno dovolj za napoved vezaja. Odgovor izrecno predstavlja prenovo pravila; razliko ohranimo, kadar razlagamo staro izpitno vprašanje po SP 2001. Novejše priporočilo kupoprodajna pogodba ne pomeni, da je bila ista rešitev že tako kodificirana v SP 2001.</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Priredni pomen ne napove vedno istega vezaja</a:t>
            </a:r>
          </a:p>
          <a:p/>
          <a:p>
            <a:r>
              <a:t>Povezava s skripto: 3.9</a:t>
            </a:r>
          </a:p>
          <a:p/>
          <a:p>
            <a:r>
              <a:t>ZA IZVEDBO</a:t>
            </a:r>
          </a:p>
          <a:p>
            <a:r>
              <a:t>Primer je namenjen primerjavi normativnih virov. Svetovalnični odgovor izrecno predstavlja prenovo pravila in opozarja na okrnjeno prvo sestavino kupo-, ki ni samostojen pridevnik kot vzgojni. Študent zato ne sme zapisati samo nakup in prodaja, torej nujno vezaj v vseh priročnikih. Novejše priporočilo kupoprodajna pogodba ne pomeni, da je enak zapis že prvotna kodifikacija SP 2001. Pri starem izpitnem navodilu, ki zahteva SP 2001, ohranimo navedeno razliko. Ne ustvarimo dvojnice brez poimenovanega vira.</a:t>
            </a:r>
          </a:p>
          <a:p/>
          <a:p>
            <a:r>
              <a:t>VIRI</a:t>
            </a:r>
          </a:p>
          <a:p>
            <a:r>
              <a:t>SP 2001: kupo-prodajen</a:t>
            </a:r>
          </a:p>
          <a:p>
            <a:r>
              <a:t>Dobrovoljc 2016</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Kaj svet obravnava in kakšen svet je?</a:t>
            </a:r>
          </a:p>
          <a:p/>
          <a:p>
            <a:r>
              <a:t>Povezava s skripto: 3.10</a:t>
            </a:r>
          </a:p>
          <a:p/>
          <a:p>
            <a:r>
              <a:t>ZA IZVEDBO</a:t>
            </a:r>
          </a:p>
          <a:p>
            <a:r>
              <a:t>Najprej vprašamo, kaj točno poimenujemo. Levo je pridevnik povezan s področjem nacionalne varnosti. Desno sta dva pridevnika in drugačna razlaga: nacionalni svet, namenjen varnosti. Nato zvezi sklanjamo: nacionalnovarnostnega sveta in nacionalnega varnostnega sveta. Tako preverimo, ali je zapisana oblika skladna z razlago. Zapis nacionalno varnostni za prvo razlago ni ustrezen, ker razdruži tvorjenko. Razliki ne pripisujemo samo dolžine, sloga ali poljubnega izbora presledka; izhajamo iz poimenovane ustanove in njenega področja.</a:t>
            </a:r>
          </a:p>
          <a:p/>
          <a:p>
            <a:r>
              <a:t>VIRI</a:t>
            </a:r>
          </a:p>
          <a:p>
            <a:r>
              <a:t>Krvina 2025, december</a:t>
            </a:r>
          </a:p>
          <a:p/>
          <a:p>
            <a:r>
              <a:t>RAZLAGA IZ SKRIPTE · 3.10 Rešena primera: nacionalna varnost in zdravstvo v vojski</a:t>
            </a:r>
          </a:p>
          <a:p>
            <a:r>
              <a:t>Če svet obravnava nacionalno varnost, dobimo nacionalnovarnostni svet; rodilnik je nacionalnovarnostnega sveta. Če poimenujemo nacionalni svet za varnost, je mogoč zapis nacionalni varnostni svet, pri katerem pregibamo oba pridevnika: nacionalnega varnostnega sveta. Izbira je odvisna od pomenske razlage. Zapis nacionalno varnostni prve razlage ne izrazi ustrezno, saj razdruži tvorjenko. Obe smiselni analizi razlikuje tudi Domen Krvina v Jezikovni svetovalnici (december 2025) — https://svetovalnica.zrc-sazu.si/topic/7618/nacionalnovarnostni-ali-nacionalno-varnostni-ali-nacionalni-varnostni-svet.</a:t>
            </a:r>
          </a:p>
          <a:p/>
          <a:p>
            <a:r>
              <a:t>Za zdravstveno enoto, ki pripada vojski, je ustrezno vojaška zdravstvena enota. Oba pridevnika se ujemata z jedrom. Vojaškozdravstvena je drugače zgrajena možnost: nanaša se na področje vojaškega zdravstva. Zapis z vezajem, vojaško-zdravstvena, bi poudaril prirednost vojaške in zdravstvene sestavine. Te razlage niso samodejno zamenljive. Zveza vojaško zdravstvena brez vezaja ne izraža jasno nobene od navedenih zgradb in za izhodiščni pomen ni ustrezna. Podrobnejše razlikovanje in vprašanje začetnice prinaša Krvina (november 2025) — https://svetovalnica.zrc-sazu.si/topic/7526/ali-je-pravilno-voja%C5%A1ko-zdravstvena-ali-voja%C5%A1ka-zdravstvena-enota-vze.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Tri zgradbe zdravstvenega poimenovanja</a:t>
            </a:r>
          </a:p>
          <a:p/>
          <a:p>
            <a:r>
              <a:t>Povezava s skripto: 3.10</a:t>
            </a:r>
          </a:p>
          <a:p/>
          <a:p>
            <a:r>
              <a:t>ZA IZVEDBO</a:t>
            </a:r>
          </a:p>
          <a:p>
            <a:r>
              <a:t>Izhodiščni primer zahteva poimenovanje zdravstvene enote znotraj vojske. To izraža prva vrstica. Druga vrstica pridevnik poveže s področjem vojaškega zdravstva, tretja pa bi izpostavila prirednost vojaške in zdravstvene sestavine. Teh razlik ne ponujamo kot prosto zamenljive pisne variante. Zapis vojaško zdravstvena brez vezaja za izhodiščni pomen ni ustrezen. Če gre za uradno ime, moramo dodatno preveriti dejansko poimenovanje in začetnico; sama besedotvorna analiza ne pove, katero ustanovo ima pisec v mislih.</a:t>
            </a:r>
          </a:p>
          <a:p/>
          <a:p>
            <a:r>
              <a:t>VIRI</a:t>
            </a:r>
          </a:p>
          <a:p>
            <a:r>
              <a:t>Krvina 2025, november</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Vezaj opravlja več različnih nalog</a:t>
            </a:r>
          </a:p>
          <a:p/>
          <a:p>
            <a:r>
              <a:t>Povezava s skripto: 3.11</a:t>
            </a:r>
          </a:p>
          <a:p/>
          <a:p>
            <a:r>
              <a:t>ZA IZVEDBO</a:t>
            </a:r>
          </a:p>
          <a:p>
            <a:r>
              <a:t>Pri prvi vrstici simbol stoji na začetku zloženke, v obrnjenem redu dobimo zvezo brez vezaja: vitamin C, program TV. Zapis format A 4 namerno sledi SP 2001; ne posodobimo ga tiho. Pri številu preberemo celoten izraz: devetdeseta obletnica proti devetdesetletnica. Zapis 90-obletnica napačno združi dve zgradbi. Pri dvo- obnovimo izpuščeni del: dvozložne in večzložne besede. Enako preverimo pred- in pošolska dejavnost. Pri nov in uporaben priročnik skupnega dela nismo izpustili, zato vezaja ne dodamo.</a:t>
            </a:r>
          </a:p>
          <a:p/>
          <a:p>
            <a:r>
              <a:t>VIRI</a:t>
            </a:r>
          </a:p>
          <a:p>
            <a:r>
              <a:t>SP 2001, § 419, 496, 521–522, 526</a:t>
            </a:r>
          </a:p>
          <a:p>
            <a:r>
              <a:t>Dobrovoljc 2015</a:t>
            </a:r>
          </a:p>
          <a:p/>
          <a:p>
            <a:r>
              <a:t>RAZLAGA IZ SKRIPTE · 3.11 Črke, številke in izpuščeni deli</a:t>
            </a:r>
          </a:p>
          <a:p>
            <a:r>
              <a:t>Vezaj ima tudi druge naloge, zato ne pomeni vedno prirednosti. Pri zloženkah s črko, kratico ali števko na prvem mestu povezuje drugače zapisani sestavini: C-vitamin, TV-program, A4-format. V obrnjenem zaporedju dobimo zvezo brez vezaja: vitamin C, program TV, format A 4 (SP 2001, § 496). Če je prva sestavina izpisana z besedo, velja ustrezen besedotvorni vzorec, ne avtomatično pravilo za simbol.</a:t>
            </a:r>
          </a:p>
          <a:p/>
          <a:p>
            <a:r>
              <a:t>Pri številkah preberemo celotni izraz: 90. obletnica je devetdeseta obletnica, 90-letnica pa devetdesetletnica. Zapis 90-obletnica bi neupravičeno združil različni zgradbi. Takšno razlago potrjuje Dobrovoljc (2015) — https://svetovalnica.zrc-sazu.si/topic/1112/obletnica-ustanovitve-in-n-letnica-delovanja/1. Podobno razlikujemo petlitrski in 5-litrski: način zapisa prve sestavine vpliva na pravopisno povezavo (SP 2001, § 521).</a:t>
            </a:r>
          </a:p>
          <a:p/>
          <a:p>
            <a:r>
              <a:t>V zvezi dvo- in večzložne besede vezaj označi, da smo pri prvi tvorjenki izpustili ponovljeni del -zložne. Razvezava je dvozložne in večzložne besede. Tudi pred- in pošolska dejavnost mora omogočati obnovitev obeh celih besed. Vezaja zato ne dodajamo zgolj zaradi dveh zaporednih pridevnikov: nov in uporaben priročnik ne vsebuje takega izpusta. SP 2001, § 419, 521–522, 526 — https://www.fran.si/134/slovenski-pravopis/datoteke/Pravopis_Pravila.pdf.</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Pregibanje preveri doslednost naše razlage</a:t>
            </a:r>
          </a:p>
          <a:p/>
          <a:p>
            <a:r>
              <a:t>Povezava s skripto: 3.12</a:t>
            </a:r>
          </a:p>
          <a:p/>
          <a:p>
            <a:r>
              <a:t>ZA IZVEDBO</a:t>
            </a:r>
          </a:p>
          <a:p>
            <a:r>
              <a:t>Postopek poveže celotno poglavje. V strojno prevedenega besedila prislov ostane nespremenjen, pri novega osnovnošolskega učbenika pa pregibamo oba pridevnika. Pri literarnozgodovinski imamo eno pridevniško tvorjenko. Tak preizkus ne določi sam pomena, odkrije pa neskladje med razlago in oblikami. Vrne nas tudi k opozorilu o minigolf/mini golf: dovoljena pisna dvojnica še ne pomeni drugačne pomenske zgradbe. Pri novih strokovnih in lastnih poimenovanjih poleg sistemske analize preverimo ustaljeno rabo ter dejansko ime. Naslednje poglavje podrobneje razloži izbiro oblik v povedi.</a:t>
            </a:r>
          </a:p>
          <a:p/>
          <a:p>
            <a:r>
              <a:t>RAZLAGA IZ SKRIPTE · 3.12 Pregibanje kot preizkus naše analize</a:t>
            </a:r>
          </a:p>
          <a:p>
            <a:r>
              <a:t>Sklanjanje lahko pokaže, ali smo zapis razumeli dosledno. V zvezi strojno prevedenega besedila ostane prislov strojno nespremenjen, pridevniška oblika pa se prilagodi samostalniku. V zvezi novega osnovnošolskega učbenika se spremenita oba pridevnika. Pri eni pridevniški tvorjenki spreminjamo njeno končnico: literarnozgodovinski – literarnozgodovinskega.</a:t>
            </a:r>
          </a:p>
          <a:p/>
          <a:p>
            <a:r>
              <a:t>Ta preizkus sam ne razreši pomena. Lahko pa odkrije neskladje med pojasnilom in zapisom. Če trdimo, da sta v zvezi dva samostojna pridevnika, prvega ne smemo brez razloga obravnavati kot nespremenljivi prislov. Pri tvorjenki preverimo pravilo za njeno skupino: kot smo videli v razdelku 3.8, dopuščena pisna dvojnica še ne pomeni druge pomenske zgradbe.</a:t>
            </a:r>
          </a:p>
          <a:p/>
          <a:p>
            <a:r>
              <a:t>Pri novih poimenovanjih sledimo celotnemu sklepanju: razložimo predmet poimenovanja, določimo razmerje med sestavinami, predlagamo zgradbo in preverimo rabo. Pri ustaljenem strokovnem ali lastnem imenu preverimo tudi dejansko poimenovalno prakso. Pravopisno pravilo ne more nadomestiti podatka o tem, katera ustanova, dejavnost ali vrsta je sploh mišljena.</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nalogi 1 in 2</a:t>
            </a:r>
          </a:p>
          <a:p/>
          <a:p>
            <a:r>
              <a:t>NALOGE</a:t>
            </a:r>
          </a:p>
          <a:p/>
          <a:p>
            <a:r>
              <a:t>1. Ločite pregibanje od besedotvorja: miza – mize; miza – mizica; lep – lepega; lep – lepota.</a:t>
            </a:r>
          </a:p>
          <a:p/>
          <a:p>
            <a:r>
              <a:t>2. V členitvi hiš-ic-a določite koren, besedotvorno sestavino in končnico. Kako bi besedo zapisali v običajni povedi?</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rešitvi 1 in 2</a:t>
            </a:r>
          </a:p>
          <a:p/>
          <a:p>
            <a:r>
              <a:t>REŠITVE Z RAZLAGO</a:t>
            </a:r>
          </a:p>
          <a:p/>
          <a:p>
            <a:r>
              <a:t>1. Miza – mize in lep – lepega sta primera pregibanja. Miza – mizica in lep – lepota kažeta tvorjenje novega leksema. Pri zadnjem paru pridevnik poimenuje lastnost, tvorjeni samostalnik pa omogoči njeno samostalniško poimenovanje.</a:t>
            </a:r>
          </a:p>
          <a:p/>
          <a:p>
            <a:r>
              <a:t>2. Koren je hiš-, besedotvorna sestavina -ic-, končnica -a. V besedilu pišemo hišica. Vezaji prikazujejo meje med sestavinami analize in niso del pravopisnega zapisa.</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nalogi 3 in 4</a:t>
            </a:r>
          </a:p>
          <a:p/>
          <a:p>
            <a:r>
              <a:t>NALOGE</a:t>
            </a:r>
          </a:p>
          <a:p/>
          <a:p>
            <a:r>
              <a:t>3. Razložite zgradbo literarnozgodovinski priročnik. Zakaj razvezava z in ni enakovredna izhodiščni?</a:t>
            </a:r>
          </a:p>
          <a:p/>
          <a:p>
            <a:r>
              <a:t>4. Oblikujte pridevniško poimenovanje projekta, ki povezuje slovensko in italijansko stran. Nato zvezo postavite v rodilnik.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rešitvi 3 in 4</a:t>
            </a:r>
          </a:p>
          <a:p/>
          <a:p>
            <a:r>
              <a:t>REŠITVE Z RAZLAGO</a:t>
            </a:r>
          </a:p>
          <a:p/>
          <a:p>
            <a:r>
              <a:t>3. Priročnik obravnava literarno zgodovino, zato pridevnik izhaja iz podredne zveze. Razvezava literarni in zgodovinski bi pripisovala dve priredni opredelitvi, kar samo po sebi še ne poimenuje istega strokovnega področja.</a:t>
            </a:r>
          </a:p>
          <a:p/>
          <a:p>
            <a:r>
              <a:t>4. Slovensko-italijanski projekt; slovensko-italijanskega projekta. Vezaj izraža priredno razmerje. Rodilniško končnico dobi pridevnik kot celota; na mestu prve sestavine ne ustvarimo samostojnega rodilnika.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5 in 6</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nalogi 5 in 6</a:t>
            </a:r>
          </a:p>
          <a:p/>
          <a:p>
            <a:r>
              <a:t>NALOGE</a:t>
            </a:r>
          </a:p>
          <a:p/>
          <a:p>
            <a:r>
              <a:t>5. Popravite zapis strojno-prevedeno besedilo in pojasnite razmerje med prvima sestavinama.</a:t>
            </a:r>
          </a:p>
          <a:p/>
          <a:p>
            <a:r>
              <a:t>6. Zapišite poimenovanje sveta za nacionalno varnost in njegov rodilnik. Navedite še drugo pomensko analizo, ki dopušča dva pridevnika.</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5 in 6</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rešitvi 5 in 6</a:t>
            </a:r>
          </a:p>
          <a:p/>
          <a:p>
            <a:r>
              <a:t>REŠITVE Z RAZLAGO</a:t>
            </a:r>
          </a:p>
          <a:p/>
          <a:p>
            <a:r>
              <a:t>5. Strojno prevedeno besedilo. Strojno pojasnjuje način prevoda in je prislov, ki določa deležnik. Zato med sestavinama potrebujemo presledek, ne vezaja.</a:t>
            </a:r>
          </a:p>
          <a:p/>
          <a:p>
            <a:r>
              <a:t>6. Nacionalnovarnostni svet; nacionalnovarnostnega sveta. Druga razlaga je nacionalni svet za varnost, iz katere dobimo nacionalni varnostni svet. Razlika v zapisu sledi različni skladenjski podstavi.</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7 in 8</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nalogi 7 in 8</a:t>
            </a:r>
          </a:p>
          <a:p/>
          <a:p>
            <a:r>
              <a:t>NALOGE</a:t>
            </a:r>
          </a:p>
          <a:p/>
          <a:p>
            <a:r>
              <a:t>7. Izberite zapis za zdravstveno enoto znotraj vojske: vojaška zdravstvena, vojaško zdravstvena. Pojasnite tudi, katera zveza bi bila podstava zapisa vojaškozdravstvena.</a:t>
            </a:r>
          </a:p>
          <a:p/>
          <a:p>
            <a:r>
              <a:t>8. Po SP 2001 presodite peš pot, žal beseda, mini golf. Nato primerjajte ujemanje v avtomobil bomba je eksplodiral in avtobomba je eksplodirala.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7 in 8</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rešitvi 7 in 8</a:t>
            </a:r>
          </a:p>
          <a:p/>
          <a:p>
            <a:r>
              <a:t>REŠITVE Z RAZLAGO</a:t>
            </a:r>
          </a:p>
          <a:p/>
          <a:p>
            <a:r>
              <a:t>7. Vojaška zdravstvena enota: pridevnika se ujemata s samostalnikom. Podstava skupaj pisanega pridevnika je vojaško zdravstvo. Odločitev zato utemeljimo s pomenom poimenovanja, ne zgolj z dolžino zapisa.</a:t>
            </a:r>
          </a:p>
          <a:p/>
          <a:p>
            <a:r>
              <a:t>8. Pešpot je skupaj pisana zloženka, žal beseda zveza s pridevniškim prilastkom; pri minigolf/mini golf sta dovoljeni obe pisavi. V prvem zgledu z avtomobilom je jedro moškega spola, v drugem je celotna zloženka ženskega spola. Povedek preverja našo analizo jedra.</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9 in 10</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nalogi 9 in 10</a:t>
            </a:r>
          </a:p>
          <a:p/>
          <a:p>
            <a:r>
              <a:t>NALOGE</a:t>
            </a:r>
          </a:p>
          <a:p/>
          <a:p>
            <a:r>
              <a:t>9. Zakaj razlaga »nakup in prodaja, torej nujno vezaj v vseh virih« ni zadostna? Razločite zapis v SP 2001 od novejšega priporočila.</a:t>
            </a:r>
          </a:p>
          <a:p/>
          <a:p>
            <a:r>
              <a:t>10. Pojasnite razlike: C-vitamin – vitamin C; 90. obletnica – 90-letnica – 90-obletnica; dvo- in večzložne besede. Pri vsakem vezaju poimenujte njegovo nalogo.</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9 in 10</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rešitvi 9 in 10</a:t>
            </a:r>
          </a:p>
          <a:p/>
          <a:p>
            <a:r>
              <a:t>REŠITVE Z RAZLAGO</a:t>
            </a:r>
          </a:p>
          <a:p/>
          <a:p>
            <a:r>
              <a:t>9. Poleg pomenske prirednosti moramo upoštevati obliko prve sestavine in normativni vir. SP 2001 ima kupo-prodajen, novejša obravnava z okrnjeno prvo sestavino utemeljuje kupoprodajen/kupoprodajni. Razlike med viroma ne smemo skriti.</a:t>
            </a:r>
          </a:p>
          <a:p/>
          <a:p>
            <a:r>
              <a:t>10. C-vitamin vsebuje začetno črkovno sestavino, vitamin C pa je zveza brez vezaja. 90. obletnica vsebuje vrstilni števnik, 90-letnica je tvorjenka s številčno prvo sestavino; 90-obletnica je neustrezna. Pri dvo- vezaj označuje izpuščeni skupni del -zložne. Ti vezaji torej ne izražajo istega razmerja.</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11</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naloga 11</a:t>
            </a:r>
          </a:p>
          <a:p/>
          <a:p>
            <a:r>
              <a:t>NALOGE</a:t>
            </a:r>
          </a:p>
          <a:p/>
          <a:p>
            <a:r>
              <a:t>11. Zahtevnejša naloga: enako obrazilo, različna vloga. Za lovec in bratec napišite SPo, določite BPo in obrazilo ter pojasnite razliko med navadno in modifikacijsko izpeljavo. Ali lahko iz konca -ec vedno sklepamo na vršilca dejanja?</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11</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rešitev 11</a:t>
            </a:r>
          </a:p>
          <a:p/>
          <a:p>
            <a:r>
              <a:t>REŠITVE Z RAZLAGO</a:t>
            </a:r>
          </a:p>
          <a:p/>
          <a:p>
            <a:r>
              <a:t>11. Lovec: SPo tisti, ki lovi, BPo lov-, obrazilo -ec; v obrazilo se pretvori jedro s slovničnim razmerjem, zato gre za navadno izpeljavo. Bratec: SPo na primer ljubek brat, BPo brat-, obrazilo -ec; obrazili se odvisni del s pomenom naklonjenosti, zato gre za modifikacijsko izpeljavo. Glede na sobesedilo je mogoča tudi razlaga z majhnostjo. Enak glasovni konec ne zagotavlja enakega besedotvornega pomena; funkcijo ugotovimo s pretvorbo podstave.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12</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naloga 12</a:t>
            </a:r>
          </a:p>
          <a:p/>
          <a:p>
            <a:r>
              <a:t>NALOGE</a:t>
            </a:r>
          </a:p>
          <a:p/>
          <a:p>
            <a:r>
              <a:t>12. Zahtevnejša naloga: dve zloženki in tvorjenka iz predložne zveze. Primerjajte brezdomec, vrvohodec, zobozdravnik. Pri vsaki besedi navedite SPo, BPo, vse dele obrazila zadnje stopnje in besedotvorno vrsto v modelu Ade Vidovič Muha. Pojasnite, zakaj -nik pri zobozdravniku ni del obrazila zadnje stopnje.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rešitev 12</a:t>
            </a:r>
          </a:p>
          <a:p/>
          <a:p>
            <a:r>
              <a:t>REŠITVE Z RAZLAGO</a:t>
            </a:r>
          </a:p>
          <a:p/>
          <a:p>
            <a:r>
              <a:t>12. Brezdomec: tisti, ki je brez doma; BPo -dom-; O brez- … -ec; tvorjenka iz predložne zveze, tip a2. Vrvohodec: tisti, ki hodi po vrvi; BPo vrv- … -hod-; O -o- … -ec; medponsko-priponska zloženka, tip a3. Zobozdravnik: zdravnik za zobe; BPo zob- … -zdravnik; O -o-; medponskoobrazilna zloženka, tip b. Pri prvih dveh se obrazili tudi zaimensko jedro, pri tretji pa je polnopomensko jedro zdravnik ohranjeno v BPo. Njegov -nik je del že tvorjene izhodiščne besede. Členitev zadnje stopnje zato ni seznam vseh besedotvornih morfemov, ki jih lahko prepoznamo v celotni besedi.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13</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naloga 13</a:t>
            </a:r>
          </a:p>
          <a:p/>
          <a:p>
            <a:r>
              <a:t>NALOGE</a:t>
            </a:r>
          </a:p>
          <a:p/>
          <a:p>
            <a:r>
              <a:t>13. Zahtevnejša naloga: tvorbene stopnje. Razčlenite niz gozd → gozdar → gozdarski. Koliko tvorbenih korakov vsebuje prikazani niz? Kaj je neposredna BPo pridevnika? Pojasnite razliko med morfemsko členitvijo besede in določitvijo njenega zadnjega tvorbenega koraka.</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13</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rešitev 13</a:t>
            </a:r>
          </a:p>
          <a:p/>
          <a:p>
            <a:r>
              <a:t>REŠITVE Z RAZLAGO</a:t>
            </a:r>
          </a:p>
          <a:p/>
          <a:p>
            <a:r>
              <a:t>13. V prikazanem nizu sta dva tvorbena koraka. Pri gozdarju sta BPo gozd- in O -ar, pri gozdarskem pa BPo gozdar- in O -ski. Pridevnik je glede na ta niz drugostopenjska tvorjenka. Podstava druge stopnje vsebuje obrazilo prve stopnje. Morfemska členitev lahko razpre tudi notranjo zgradbo gozdar-, toda neposredna tvorbena analiza pridevnika mora ohraniti podatek, da motivirajoča beseda že vsebuje -ar. Sklanjanje gozdarski – gozdarskega ni tretja tvorbena stopnja.</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14</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naloga 14</a:t>
            </a:r>
          </a:p>
          <a:p/>
          <a:p>
            <a:r>
              <a:t>NALOGE</a:t>
            </a:r>
          </a:p>
          <a:p/>
          <a:p>
            <a:r>
              <a:t>14. Zahtevnejša naloga: dobra razlaga še ni skladenjska podstava. Presodite trditev: »Zobar je zdravnik za zobe, zato sta zobar in zobozdravnik tvorjena iz iste SPo in z istim postopkom.« Nato pri listavcu primerjajte SPo in slovarsko UPS. Kaj smemo napovedati iz besedotvorne zgradbe in za kaj potrebujemo slovarski pomen?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14</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rešitev 14</a:t>
            </a:r>
          </a:p>
          <a:p/>
          <a:p>
            <a:r>
              <a:t>REŠITVE Z RAZLAGO</a:t>
            </a:r>
          </a:p>
          <a:p/>
          <a:p>
            <a:r>
              <a:t>14. Trditev zamenjuje slovarski pomen s tvorbenim razmerjem. Zdravnik za zobe ustreza zgradbi zob-o-zdravnik, saj ima vsaka polnopomenska sestavina svoj del v BPo. Pri zob-ar ni dela za zdravnik: SPo s splošnim zaimenskim jedrom, denimo tisti, ki je za zobe, podpira navadno izpeljavo. Pri listavcu je SPo tisti, ki je listav, slovarska UPS pa drevo. Besedotvorje pojasni motivacijo in posplošeno kategorijo; leksikalizirani pomen določi konkretnejšo poimenovano vrsto. Iz pripone same zato ne izvemo celotne strokovne ali slovarske razlage.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15</a:t>
            </a:r>
          </a:p>
          <a:p/>
          <a:p>
            <a:r>
              <a:t>Povezava s skripto: 3.13</a:t>
            </a:r>
          </a:p>
          <a:p/>
          <a:p>
            <a:r>
              <a:t>ZA IZVEDBO</a:t>
            </a:r>
          </a:p>
          <a:p>
            <a:r>
              <a:t>Najprej omogočite samostojen poskus. Zahtevajte rešitev in odločilni razlog. Pri več mogočih analizah naj študent izrecno navede predpostavko. Razlaga je na naslednji prosojnici.</a:t>
            </a:r>
          </a:p>
          <a:p/>
          <a:p>
            <a:r>
              <a:t>VIRI</a:t>
            </a:r>
          </a:p>
          <a:p>
            <a:r>
              <a:t>Skripta 3.0, 3.13; naloga 15</a:t>
            </a:r>
          </a:p>
          <a:p/>
          <a:p>
            <a:r>
              <a:t>NALOGE</a:t>
            </a:r>
          </a:p>
          <a:p/>
          <a:p>
            <a:r>
              <a:t>15. Zahtevnejša naloga: teorija, terminologija in norma. Študent napiše: »Če izraz razčlenim kot zloženko, je presledek vedno napačen; če lahko pomen razvežem z in, je vezaj obvezen.« Preverite sklep na primerih minigolf/mini golf in kupo-prodajen/kupoprodajen. Nato pojasnite, zakaj izraz besedotvorna podstava brez navedbe teoretičnega okvira ni povsem nedvoumen.</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15</a:t>
            </a:r>
          </a:p>
          <a:p/>
          <a:p>
            <a:r>
              <a:t>Povezava s skripto: 3.14</a:t>
            </a:r>
          </a:p>
          <a:p/>
          <a:p>
            <a:r>
              <a:t>ZA IZVEDBO</a:t>
            </a:r>
          </a:p>
          <a:p>
            <a:r>
              <a:t>Primerjajte razlago s postopkom študentov. Naj označijo, kaj so dokazali in katera predpostavka je odločilna. Alternative sprejmite v mejah, navedenih v skripti.</a:t>
            </a:r>
          </a:p>
          <a:p/>
          <a:p>
            <a:r>
              <a:t>VIRI</a:t>
            </a:r>
          </a:p>
          <a:p>
            <a:r>
              <a:t>Skripta 3.0, 3.14; rešitev 15</a:t>
            </a:r>
          </a:p>
          <a:p/>
          <a:p>
            <a:r>
              <a:t>REŠITVE Z RAZLAGO</a:t>
            </a:r>
          </a:p>
          <a:p/>
          <a:p>
            <a:r>
              <a:t>15. Oba sklepa sta preširoka. SP 2001 pri minigolf/mini golf dovoljuje dva zapisa; jezikoslovna razčlenitev in meja med pisnimi enotami nista avtomatično ista stvar. Pri kupo-prodajen/kupoprodajen moramo poleg pomenskega razmerja upoštevati obliko sestavin in normativni vir: SP 2001 ima prvo možnost, novejša obravnava utemeljuje drugo. Novejšega predloga ne predstavimo kot že prvotno pravilo SP 2001. Terminološko pa Toporišič v algoritmu z besedotvorno podstavo poimenuje izhodiščno besedno zvezo; Vidovič Muha z istim izrazom poimenuje ohranjeni del tvorjenke, izhodiščno zvezo pa imenuje skladenjska podstava. Utemeljen odgovor zato navede, katero zgradbo, teoretični model in normativni vir uporablja.</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poglavje3</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Oblike v sobesedilu</a:t>
            </a:r>
          </a:p>
          <a:p/>
          <a:p>
            <a:r>
              <a:t>ZA IZVEDBO</a:t>
            </a:r>
          </a:p>
          <a:p>
            <a:r>
              <a:t>Osrednje vprašanje te enote: Katero razmerje v povedi zahteva izbrano slovnično obliko?</a:t>
            </a:r>
          </a:p>
          <a:p>
            <a:r>
              <a:t>Cilji: Določim sklon, osnovo in končnico iz primerjave oblik.; Ločim pridevniški pomen, določnost in skladenjsko funkcijo.; Utemeljim izbiro zaimka in glagolske oblike v sobesedilu.</a:t>
            </a:r>
          </a:p>
          <a:p/>
          <a:p>
            <a:r>
              <a:t>UVOD V ENOTO</a:t>
            </a:r>
          </a:p>
          <a:p>
            <a:r>
              <a:t> 4. Oblike v sobesedilu: zakaj ima beseda prav to obliko?</a:t>
            </a:r>
          </a:p>
          <a:p/>
          <a:p>
            <a:r>
              <a:t>Slovnične oblike izražajo razmerja. Pri presoji oblike novem ali novemu zato ni dovolj ugotoviti, da obe obstajata. Vedeti moramo, kam je beseda vključena, katera beseda jo oblikovno usmerja in kateri pomen ima zveza. Podobno velja za izbiro zaimka, glagolske oblike in določne oblike pridevnika: ustreznost ugotavljamo v povedi.</a:t>
            </a:r>
          </a:p>
          <a:p/>
          <a:p>
            <a:r>
              <a:t>Pri tem razlikujemo tri ravni: kateremu leksemu pripada oblika, katere slovnične kategorije izraža in katero vlogo opravlja v zgradbi. Mlado je oblika pridevnika mlad, toda v mlado drevo je prilastek, v Drevo je mlado pa povedkovo določilo. Kadar uporabljamo Toporišičevo razvrstitev, upoštevamo tudi širši pojem pridevniška beseda: vanj poleg pridevnikov sodijo števniške in zaimenske pridevniške besede, denimo tri in tiste v tiste tri mlade lipe. Njegova samostalniška beseda pa vključuje tudi samostalniške zaimke in posamostaljene pridevniške besede. Zato seznama devetih besednih vrst v tej slovnici ne smemo brez pojasnila zamenjati s šolsko razvrstitvijo, ki števnik in zaimek navaja kot samostojni besedni vrsti (Toporišič 2004: 255–256, 317–320). V analizi najprej navedemo uporabljeno merilo; poimenovanje skupine samo še ne pojasni oblike.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Oblika, besedna vrsta in funkcija so tri ravni</a:t>
            </a:r>
          </a:p>
          <a:p/>
          <a:p>
            <a:r>
              <a:t>Povezava s skripto: 4.1</a:t>
            </a:r>
          </a:p>
          <a:p/>
          <a:p>
            <a:r>
              <a:t>ZA IZVEDBO</a:t>
            </a:r>
          </a:p>
          <a:p>
            <a:r>
              <a:t>Začnemo s tremi vprašanji: kateremu leksemu pripada oblika, katere kategorije izraža in katero nalogo opravlja v zgradbi. Pridevnik mlad ne preneha biti isti izhodiščni leksem samo zaradi spremembe funkcije. Pri branju Toporišiča uporabimo njegov širši pojem pridevniška beseda, ki vključuje tudi pridevniške števnike in zaimke. Podobno samostalniška beseda zajame samostalniške zaimke in posamostaljene pridevniške besede. Njegovega seznama devetih besednih vrst zato ne prepišemo brez pojasnila v drugačen šolski sistem. Nato se usmerimo k razmerjem, ki zahtevajo posamezno obliko.</a:t>
            </a:r>
          </a:p>
          <a:p/>
          <a:p>
            <a:r>
              <a:t>VIRI</a:t>
            </a:r>
          </a:p>
          <a:p>
            <a:r>
              <a:t>Toporišič 2004: 255–256, 317–320</a:t>
            </a:r>
          </a:p>
          <a:p/>
          <a:p>
            <a:r>
              <a:t>RAZLAGA IZ SKRIPTE · 4.1 Sklon, vezava in ujemanje</a:t>
            </a:r>
          </a:p>
          <a:p>
            <a:r>
              <a:t>Sklon je slovnična kategorija, s katero samostalniške in z njimi povezane besede izražajo razmerja v povedi. Isti sklon ima lahko več funkcij, isto funkcijo pa lahko izražajo različne zgradbe. Vprašalnice so uporaben pripomoček, vendar razlage ne morejo nadomestiti: oblike ne izberemo zato, ker smo si zastavili določeno vprašanje, temveč zaradi zgradbe in pomena zveze.</a:t>
            </a:r>
          </a:p>
          <a:p/>
          <a:p>
            <a:r>
              <a:t>| Sklon | Zgled | Kaj usmerja obliko? |</a:t>
            </a:r>
          </a:p>
          <a:p>
            <a:r>
              <a:t>|---|---|---|</a:t>
            </a:r>
          </a:p>
          <a:p>
            <a:r>
              <a:t>| Imenovalnik | Nov načrt je pripravljen. | Samostalniška zveza je osebek. |</a:t>
            </a:r>
          </a:p>
          <a:p>
            <a:r>
              <a:t>| Rodilnik | Ostali smo brez novega načrta. | Predlog brez. |</a:t>
            </a:r>
          </a:p>
          <a:p>
            <a:r>
              <a:t>| Dajalnik | Nasprotujemo novemu načrtu. | Vezljivost glagola nasprotovati. |</a:t>
            </a:r>
          </a:p>
          <a:p>
            <a:r>
              <a:t>| Tožilnik | Pripravljamo nov načrt. | Predmet ob glagolu pripravljati. |</a:t>
            </a:r>
          </a:p>
          <a:p>
            <a:r>
              <a:t>| Mestnik | Govorimo o novem načrtu. | Predložna zveza o s pomenom teme. |</a:t>
            </a:r>
          </a:p>
          <a:p>
            <a:r>
              <a:t>| Orodnik | Zadovoljni smo z novim načrtom. | Pridevniško določilo zadovoljen z nečim. |</a:t>
            </a:r>
          </a:p>
          <a:p/>
          <a:p>
            <a:r>
              <a:t>Vezava pomeni, da nadrejena beseda zahteva določilo v določeni obliki: zaupati sodelavcu, spomniti se dogodka, ponosen na dosežek. Pri ujemanju odvisna beseda prevzame ustrezne slovnične kategorije jedra. V zvezi z novim sodelavcem sta pridevnik in samostalnik moškega spola, v ednini in orodniku. Njuni končnici nista enaki. Ujemanje torej ni ponavljanje istih končnih črk.</a:t>
            </a:r>
          </a:p>
          <a:p/>
          <a:p>
            <a:r>
              <a:t>Sklona tudi ne moremo vedno prepoznati samo iz ene oblike. Načrtu je lahko dajalnik ali mestnik; razloči ju zgradba. Predloga v in na lahko nastopata z različnima sklonoma: vstopiti v predavalnico in sedeti v predavalnici. Razlika povezuje obliko s pomenom smeri oziroma mesta. Pri zanikanem prehodnem glagolu se v običajni predmetni rabi tožilnik spremeni v rodilnik: Prebral sem članek – Članka nisem prebral. Tudi tu obliko pojasnimo iz širše povedi.</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Vezava določi obliko; ujemanje poveže kategorije</a:t>
            </a:r>
          </a:p>
          <a:p/>
          <a:p>
            <a:r>
              <a:t>Povezava s skripto: 4.1</a:t>
            </a:r>
          </a:p>
          <a:p/>
          <a:p>
            <a:r>
              <a:t>ZA IZVEDBO</a:t>
            </a:r>
          </a:p>
          <a:p>
            <a:r>
              <a:t>Pri vezavi nadrejena beseda zahteva določilo v določeni obliki. Dodamo spomniti se dogodka in ponosen na dosežek, da primerov ne omejimo na isti glagolski vzorec. Pri ujemanju pa končnice niso nujno enake. Samostalniška oblika načrtu je lahko dajalnik ali mestnik; to ugotovimo iz zgradbe. Smer in mesto primerjamo v vstopiti v predavalnico : sedeti v predavalnici. Pri običajnem predmetu zanikanega prehodnega glagola pokažemo še Prebral sem članek : Članka nisem prebral. Vprašalnice pomagajo, vendar ne nadomestijo razmerja, ki ga želimo pojasniti.</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Virtualnem in virtualnemu sta različna sklona</a:t>
            </a:r>
          </a:p>
          <a:p/>
          <a:p>
            <a:r>
              <a:t>Povezava s skripto: 4.2</a:t>
            </a:r>
          </a:p>
          <a:p/>
          <a:p>
            <a:r>
              <a:t>ZA IZVEDBO</a:t>
            </a:r>
          </a:p>
          <a:p>
            <a:r>
              <a:t>Obe pridevniški obliki sta knjižni, vendar nista poljubno zamenljivi. Levo samostalniška zveza izraža mesto v okviru predložne zveze, desno glagol prilagajati se zahteva dajalnik. Popravek utemeljimo v treh korakih: določimo sklon zveze, povežemo pridevnik z jedrom in izberemo ustrezno končnico. Splošna izjava, da je -emu napačno ali manj formalno, bi bila zavajajoča. Če študent opozori na podobno rabo v narečju, jo ločimo od vprašanja knjižne oblike v konkretnem besedilu.</a:t>
            </a:r>
          </a:p>
          <a:p/>
          <a:p>
            <a:r>
              <a:t>VIRI</a:t>
            </a:r>
          </a:p>
          <a:p>
            <a:r>
              <a:t>Jelovšek 2026, junij</a:t>
            </a:r>
          </a:p>
          <a:p/>
          <a:p>
            <a:r>
              <a:t>RAZLAGA IZ SKRIPTE · 4.2 Rešen primer: »v virtualnem svetu«</a:t>
            </a:r>
          </a:p>
          <a:p>
            <a:r>
              <a:t>V zvezi v virtualnem svetu je samostalniška zveza v mestniku. Pridevnik moškega spola ednine ima zato končnico -em. V povedi Prilagaja se virtualnemu svetu pa glagol zahteva dajalnik in pridevnik dobi -emu. Različni končnici ne označujeta stopnje formalnosti, ampak različna sklona. Podrobnejše pojasnilo, tudi o vplivu narečnih oblik in izenačevanja končnic, je pripravila Alenka Jelovšek (junij 2026) — https://svetovalnica.zrc-sazu.si/topic/7776/napake-pri-sklanjanju-pridevnika-v-dajalniku-in-mestniku-v-virtualnem-in-ne-v-virtualnemu-svetu.</a:t>
            </a:r>
          </a:p>
          <a:p/>
          <a:p>
            <a:r>
              <a:t>Pri popravku torej zadostuje preverljivo sklepanje: v tej povedi potrebujemo mestnik; pridevnik se ujema s samostalnikom; knjižna mestniška oblika je virtualnem. Splošna izjava, da končnica -emu ni pravilna, bi bila napačna.</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Osnovo ugotovimo s primerjavo oblik</a:t>
            </a:r>
          </a:p>
          <a:p/>
          <a:p>
            <a:r>
              <a:t>Povezava s skripto: 4.3</a:t>
            </a:r>
          </a:p>
          <a:p/>
          <a:p>
            <a:r>
              <a:t>ZA IZVEDBO</a:t>
            </a:r>
          </a:p>
          <a:p>
            <a:r>
              <a:t>Ločimo končaj, ki je končni niz glasov ali črk, od končnice, ki ima slovnično vlogo. Pri vetru se e izgubi znotraj osnove, zato ga ne označimo za imenovalniško končnico. Taksija in čaja se končata podobno, toda j ima različno mesto v postopku. Pri stricem nastopi preglas v končnici, vezan na govorjeni konec osnove. Pri tujih imenih bomo zato potrebovali izgovor in pregibni vzorec. Sama zadnja črka ne dokazuje niti osnove niti spola ali sklanjatve.</a:t>
            </a:r>
          </a:p>
          <a:p/>
          <a:p>
            <a:r>
              <a:t>VIRI</a:t>
            </a:r>
          </a:p>
          <a:p>
            <a:r>
              <a:t>SP 2001, § 772–784, 791</a:t>
            </a:r>
          </a:p>
          <a:p>
            <a:r>
              <a:t>Toporišič 2004: 261–262</a:t>
            </a:r>
          </a:p>
          <a:p/>
          <a:p>
            <a:r>
              <a:t>RAZLAGA IZ SKRIPTE · 4.3 Primerjava oblik pokaže, kaj je osnova</a:t>
            </a:r>
          </a:p>
          <a:p>
            <a:r>
              <a:t>Pri pregibanju ne menjamo poljubnih zadnjih črk. Ločimo končaj, torej končni niz glasov ali črk, od slovnične končnice. V tretjem poglavju smo to pokazali z besedama korak in veter. Za ugotavljanje osnove primerjamo več oblik istega leksema.</a:t>
            </a:r>
          </a:p>
          <a:p/>
          <a:p>
            <a:r>
              <a:t>| Primerjava | Kaj se spremeni? | Kaj pojasni analizo? |</a:t>
            </a:r>
          </a:p>
          <a:p>
            <a:r>
              <a:t>|---|---|---|</a:t>
            </a:r>
          </a:p>
          <a:p>
            <a:r>
              <a:t>| miza – mize | Končnica -a se zamenja z -e. | Osnova ostaja miz-. |</a:t>
            </a:r>
          </a:p>
          <a:p>
            <a:r>
              <a:t>| veter – vetra | Iz osnove izgine neobstojni samoglasnik. | e zato ni imenovalniška končnica. |</a:t>
            </a:r>
          </a:p>
          <a:p>
            <a:r>
              <a:t>| taksi – taksija | Osnova se podaljša z j. | V imenovalniku tega j še ni. |</a:t>
            </a:r>
          </a:p>
          <a:p>
            <a:r>
              <a:t>| čaj – čaja | Dodamo rodilniško končnico -a. | j je že del osnove; tu je ne podaljšujemo. |</a:t>
            </a:r>
          </a:p>
          <a:p>
            <a:r>
              <a:t>| stric – s stricem | V orodniški končnici nastopi e. | Preglas povezujemo z govorjenim koncem osnove. |</a:t>
            </a:r>
          </a:p>
          <a:p/>
          <a:p>
            <a:r>
              <a:t>Tak postopek potrebujemo tudi pri tujih imenih. Najprej ugotovimo izgovor in pregibni vzorec, nato rešujemo zapis oblik. Ista končna črka ne zagotavlja iste osnove, istega spola ali istega pregibanja. SP 2001, § 772–784, 791 — https://www.fran.si/134/slovenski-pravopis/datoteke/Pravopis_Pravila.pdf.</a:t>
            </a:r>
          </a:p>
          <a:p/>
          <a:p>
            <a:r>
              <a:t>Osnova ni nujno en sam morfem. V obliki mizicami je pri sklanjanju osnova mizic-, končnica pa -ami. Znotraj osnove lahko prepoznamo korenski del miz- in priponski del -ic-. To sta različni analizi iste oblike: prva razloži njeno mesto v sklanjatvi, druga notranjo morfemsko sestavo. Besedotvorna primerjava miza – mizica pa pojasni razmerje med leksemoma. Če vse tri postopke poimenujemo »odrezati končnico«, izgubimo prav razlike, ki jih moramo dokazati. Toporišič morfeme ugotavlja s primerjanjem oblik in sorodnih besed ter zahteva, da ima izločeni del dokazljivo pomensko ali slovnično vlogo (Toporišič 2004: 261–262).</a:t>
            </a:r>
          </a:p>
          <a:p/>
          <a:p>
            <a:r>
              <a:t>Končnica lahko hkrati izraža več kategorij. -ami v z mizicami označuje orodnik množine; spol samostalnika poznamo iz njegovega pregibnega vzorca in ujemanja. Tudi ničta končnica je slovnični podatek: korak-Ø primerjamo s korak-a, ne razglasimo pa imenovalnika za obliko »brez sklona«. Nasprotno lahko isti zapis ustreza več slovničnim položajem: mize razberemo kot rodilnik ednine v brez mize in kot imenovalnik množine v mize so pripravljene. Oblikoslovna analiza je zato zaključena šele, ko obliko umestimo v zvezo.</a:t>
            </a:r>
          </a:p>
          <a:p/>
          <a:p>
            <a:r>
              <a:t>Toporišič znotraj pregibanja razlikuje oblikospreminjanje, kamor sodita sklanjanje in spreganje, ter oblikotvorje, kamor uvršča med drugim stopnjevanje pridevnika, tvorbo spolskih in določnih oblik ter tvorbo glagolskih oblik (Toporišič 2004: 257). To je njegova razdelitev oblikoslovja, ne drugo ime za besedotvorje iz 3. poglavja. Primerjajmo lep – lepega kot sklonski razmerji, lep – lepši kot stopnjevanje in lep – lepota kot nastanek samostalniškega poimenovanja. Pri nalogi moramo povedati, kateri od teh odnosov nas zanima.</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Oblikotvorje ni drugo ime za besedotvorje</a:t>
            </a:r>
          </a:p>
          <a:p/>
          <a:p>
            <a:r>
              <a:t>Povezava s skripto: 4.3</a:t>
            </a:r>
          </a:p>
          <a:p/>
          <a:p>
            <a:r>
              <a:t>ZA IZVEDBO</a:t>
            </a:r>
          </a:p>
          <a:p>
            <a:r>
              <a:t>Predstavljena delitev pregibanja je Toporišičeva. Sklanjanje in spreganje uvršča v oblikospreminjanje, stopnjevanje in tvorbo drugih slovničnih oblik pa v oblikotvorje. Besedotvorje iz tretjega poglavja obravnava drugo razmerje. Ponovimo mizic-ami pri sklanjatveni členitvi in miz-ic-ami pri morfemski. Končnica -ami v z mizicami označuje orodnik množine, osnova pa vsebuje več morfemov. Dodamo ničto končnico korak-Ø ter večpomenskost istega zapisa mize: brez mize je rodilnik ednine, mize so pripravljene imenovalnik množine. Zapis dokončno razložimo v zvezi.</a:t>
            </a:r>
          </a:p>
          <a:p/>
          <a:p>
            <a:r>
              <a:t>VIRI</a:t>
            </a:r>
          </a:p>
          <a:p>
            <a:r>
              <a:t>Toporišič 2004: 257, 261–262</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Japonska in Japonsko: dva pregibna vzorca</a:t>
            </a:r>
          </a:p>
          <a:p/>
          <a:p>
            <a:r>
              <a:t>Povezava s skripto: 4.4</a:t>
            </a:r>
          </a:p>
          <a:p/>
          <a:p>
            <a:r>
              <a:t>ZA IZVEDBO</a:t>
            </a:r>
          </a:p>
          <a:p>
            <a:r>
              <a:t>Mestnik Japonskem izhaja iz srednjespolskega poimenovanja Japonsko s pridevniškim pregibanjem. Japonska pa ima ženski samostalniški vzorec. V ustaljeni rabi se vzorca prepletata, zato iz ene oblike ne izpeljemo nujno vseh drugih po isti shemi. Ločimo še izbiro predloga od izbire pregibnega vzorca. Splošni par na–z/s ne zadošča za zavrnitev iz Japonske. Novejši ePravopis izrecno navaja iz/z Japonske, vendar ima ta slovar status predloga. Tako ne prekrivamo ustaljene rabe, starejšega pravila in novejšega slovarskega podatka.</a:t>
            </a:r>
          </a:p>
          <a:p/>
          <a:p>
            <a:r>
              <a:t>VIRI</a:t>
            </a:r>
          </a:p>
          <a:p>
            <a:r>
              <a:t>SP 2001, § 841</a:t>
            </a:r>
          </a:p>
          <a:p>
            <a:r>
              <a:t>Mirtič 2016</a:t>
            </a:r>
          </a:p>
          <a:p>
            <a:r>
              <a:t>ePravopis, geslo Japonska: predlog</a:t>
            </a:r>
          </a:p>
          <a:p/>
          <a:p>
            <a:r>
              <a:t>RAZLAGA IZ SKRIPTE · 4.4 Rešen primer: Japonska, Japonsko in predlogi</a:t>
            </a:r>
          </a:p>
          <a:p>
            <a:r>
              <a:t>Oblika na Japonskem ni mestnik po vzorcu miza – pri mizi. Povezuje se s srednjespolskim poimenovanjem Japonsko, ki se pregiba po pridevniškem vzorcu; Japonska ima ženski samostalniški vzorec.</a:t>
            </a:r>
          </a:p>
          <a:p/>
          <a:p>
            <a:r>
              <a:t>| Izhodišče | Rodilnik | Mestnik |</a:t>
            </a:r>
          </a:p>
          <a:p>
            <a:r>
              <a:t>|---|---|---|</a:t>
            </a:r>
          </a:p>
          <a:p>
            <a:r>
              <a:t>| Japonska | Japonske | Japonski |</a:t>
            </a:r>
          </a:p>
          <a:p>
            <a:r>
              <a:t>| Japonsko | Japonskega | Japonskem |</a:t>
            </a:r>
          </a:p>
          <a:p/>
          <a:p>
            <a:r>
              <a:t>V rabi se vzorca prepletata: na Japonsko, na Japonskem, vendar tudi iz Japonske. Takšno mešanje pri zemljepisnih imenih razlaga SP 2001, § 841 — https://www.fran.si/134/slovenski-pravopis/datoteke/Pravopis_Pravila.pdf; primer Japonske podrobneje obravnava Mirtič (2016) — https://svetovalnica.zrc-sazu.si/topic/1734/na-v-japonsko-in-iz-z-japonske/1.</a:t>
            </a:r>
          </a:p>
          <a:p/>
          <a:p>
            <a:r>
              <a:t>Ob tem ločimo izbiro predloga od izbire sklonskega vzorca. Pri običajnih prostorskih zvezah povezujemo v – iz in na – z/s, vendar prepletanja ustaljenih zemljepisnih zvez ne odpravimo samo s takšno shemo. Iz Japonske zato ni avtomatično napačno zaradi zveze na Japonsko. Novejši ePravopis, geslo Japonska — https://www.fran.si/ext/SPT/006236, izrecno navaja iz/z Japonske; ta slovar ima status predloga. V odgovoru povemo, katero obliko razlagamo in iz katerega vira jemljemo podatke.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Pridevniški pomen razberemo v zvezi</a:t>
            </a:r>
          </a:p>
          <a:p/>
          <a:p>
            <a:r>
              <a:t>Povezava s skripto: 4.5</a:t>
            </a:r>
          </a:p>
          <a:p/>
          <a:p>
            <a:r>
              <a:t>ZA IZVEDBO</a:t>
            </a:r>
          </a:p>
          <a:p>
            <a:r>
              <a:t>Uporabljamo Toporišičevo razlikovanje lastnostnih, vrstnih in svojilnih pridevnikov. Pri lastnostnih loči kakovostne in merne: prijazen proti visok. Zgled zid, visok dva metra pokaže mersko dopolnilo; višina je določena tudi, če zid za neki namen ni posebno visok. Pri slovničnem priročniku taka mera ni smiselna, ker opredeljujemo področje. Tudi stopnjevanje ni samostojen razvrščevalni avtomat: najlepši izmed treh primerov ni nujno zelo lep po zunanjem merilu. Razločimo relativno primerjanje in absolutno vrednotenje, nato preidemo k oblikovni določnosti.</a:t>
            </a:r>
          </a:p>
          <a:p/>
          <a:p>
            <a:r>
              <a:t>VIRI</a:t>
            </a:r>
          </a:p>
          <a:p>
            <a:r>
              <a:t>Toporišič 2004: 318–320, 325, 329</a:t>
            </a:r>
          </a:p>
          <a:p>
            <a:r>
              <a:t>Vidovič Muha 2013: 368–369</a:t>
            </a:r>
          </a:p>
          <a:p/>
          <a:p>
            <a:r>
              <a:t>RAZLAGA IZ SKRIPTE · 4.5 Pridevnik: lastnost, vrsta, svojina in določnost</a:t>
            </a:r>
          </a:p>
          <a:p>
            <a:r>
              <a:t>Lastnostni pridevnik pripisuje lastnost, na primer zanimiv članek. Toporišič znotraj lastnostnih razlikuje kakovostne in merne pridevnike: prijazen označuje kakovost, visok pa razsežnost. Vrstni pridevnik opredeli vrsto oziroma področje, na primer slovnični priročnik. Svojilni pridevnik izraža svojilno razmerje, na primer avtoričin rokopis. Razliko razbiramo iz pomena v zvezi; priponsko obrazilo je lahko namig, ne vedno zadosten dokaz (Toporišič 2004: 318–320).</a:t>
            </a:r>
          </a:p>
          <a:p/>
          <a:p>
            <a:r>
              <a:t>Pomensko razliko podpremo s slovničnim obnašanjem. Pri visokem zidu lahko navedemo mero: zid, visok dva metra. Zveza z merskim dopolnilom pove višino, tudi če zid za določeni namen ni posebno visok. Pri slovničnem priročniku takšno dopolnilo ni mogoče, ker slovničen v tej zvezi opredeljuje področje. Tudi stopnjevanje ni samostojen razvrščevalni avtomat. Najlepši izmed treh primerov pomeni najvišjo stopnjo v primerjani skupini, ne nujno visoke kakovosti po katerem koli zunanjem merilu. Relativno in absolutno vrednotenje torej ločimo (Toporišič 2004: 325, 329; Vidovič Muha 2013: 368–369).</a:t>
            </a:r>
          </a:p>
          <a:p/>
          <a:p>
            <a:r>
              <a:t>Del pridevnikov razlikuje nedoločno in določno obliko, najopazneje v imenovalniku ednine moškega spola: nov – novi. V povedi Našli smo nov vir navadno na novo pripisujemo lastnost vira. V nadaljevanju Novi vir smo nato podrobno pregledali lahko določna oblika pomaga prepoznati že omenjeni vir. Določno obliko uporabljamo tudi v zvezah s kazalnimi zaimki, denimo ta novi vir.</a:t>
            </a:r>
          </a:p>
          <a:p/>
          <a:p>
            <a:r>
              <a:t>Vrsta pridevnika in njegova oblikovna določnost nista popolnoma ista stvar. Avtoričin izraža svojino, čeprav nima nasprotja avtoričin – avtoričini po vzorcu nov – novi. Pri mnogih vrstnih pridevnikih je določna oblika ustaljena, denimo slovenski ali šivalni. V drugih spolih in oblikah razlika pogosto ni izražena z ločeno končnico, čeprav se pomenska razlika ohranja.</a:t>
            </a:r>
          </a:p>
          <a:p/>
          <a:p>
            <a:r>
              <a:t>To razločevanje je pomembno tudi pri branju priročnika. Toporišič razlikuje pridevnike z obema oblikama, samo z nedoločno obliko in samo z določno obliko; hkrati pridevnike iz zadnjih dveh skupin opredeli kot določne. Besedi določen in določna oblika tu torej nimata enakega obsega (Toporišič 2004: 320). V povedi Rokopis je avtoričin ne tvorimo novega -i, da bi izrazili prepoznavno lastnico. Pri ta novi rokopis pa imamo oblikovno nasprotje nov – novi in okolje, ki podpira določno obliko. Pri odgovoru moramo zato ločiti pomen prepoznavnosti, pomensko vrstnost in oblikovno izbiro.</a:t>
            </a:r>
          </a:p>
          <a:p/>
          <a:p>
            <a:r>
              <a:t>Zato pri poimenovalni zvezi ne presojamo pridevnika ločeno od samostalnika. Razlikovanje med poimenovanjem vrste in opisom lastnosti smo že uporabili pri sodobnem plesu v 2. poglavju. V povedkovem položaju, kjer lastnost šele pripisujemo, uporabljamo nedoločno obliko, kadar jo pridevnik ima: Članek je zanimiv; vir je nov.</a:t>
            </a:r>
          </a:p>
          <a:p/>
          <a:p>
            <a:r>
              <a:t>Pogoj kadar jo ima je bistven: Ta jezik je slovenski in Čaj je lipov sta povsem običajna povedkovna položaja. Zato iz povedkove vloge ne sklepamo avtomatično na lastnostni pomen ali na obliko brez -i. Toporišič obravnava takšne primere skupaj z rabo obeh oblik (Toporišič 2004: 328). Vidovič Muha pa pri razmernih pridevnikih še izraziteje ločuje skladenjsko določnost od pridevniške vrstnosti: opozarja, da nasprotij tipa -(e)n : -ni ne smemo vseh razlagati kot izbiro znane in neznane lastnosti (Vidovič Muha 2013: 398–399). Razlika med modeloma je del razlage, ne razlog za prikrivanje enega izmed njiju.</a:t>
            </a:r>
          </a:p>
          <a:p/>
          <a:p>
            <a:r>
              <a:t>Snovni pridevniki pokažejo, zakaj eno samo merilo ni dovolj. Steklen kozarec in bombažne nogavice izražata snov, ne stopnje lepote ali velikosti. Hkrati lahko rečemo Kozarec je steklen: pridevnik nastopa kot povedkovo določilo. Razvrstitve niso povsem enotne. Praznik (2014) — https://svetovalnica.zrc-sazu.si/topic/25/ali-je-kozarec-steklen-ali-stekleni/1 snovne pridevnike po pomenu uvršča med vrstne, hkrati pa opozori na lastnosti, zaradi katerih jih druge obravnave približujejo lastnostnim. Pri odgovoru zato navedemo merilo: snovni pomen, možnost stopnjevanja, določnost ali skladenjsko vlogo. Vprašalnica kakšen sama ne razreši razvrstitve. Prav tako končni -i ne dokazuje, da ima beseda v vseh zvezah isti pomen.</a:t>
            </a:r>
          </a:p>
          <a:p/>
          <a:p>
            <a:r>
              <a:t>V knjigi Vidovič Muhe najdemo pojasnilo te dvojnosti v ponatisu študije iz leta 1981. Snovne pridevnike povezuje z lastnostnimi možnost različnih skladenjskih vlog in delnega razlikovanja določnosti, z vrstnimi pa pretvorba, kakršna je lesena žlica – žlica iz lesa, ter odsotnost običajnega stopnjevanja v snovnem pomenu. Opomba v izdaji iz leta 2013 vprašalnico natančneje oblikuje kot iz česa (Vidovič Muha 2013: 395–396). Pri takem viru preberemo tudi opombe: knjiga ohranja starejše razprave z naknadnimi terminološkimi popravki. Starejše poimenovanje kakovostni je ponekod širše od današnjega para kakovostni in merni znotraj lastnostnih; avtorica to izrecno pojasni (Vidovič Muha 2013: 367, op. 8; 369, op. 11; 385, op. 1–2). Dober odgovor zato ne trdi le »snovni so vrstni« ali »snovni so lastnostni«, temveč pove, v katerem modelu in po katerih lastnostih jih razvršča.</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Določenost, določna oblika in vrstnost niso isto</a:t>
            </a:r>
          </a:p>
          <a:p/>
          <a:p>
            <a:r>
              <a:t>Povezava s skripto: 4.5</a:t>
            </a:r>
          </a:p>
          <a:p/>
          <a:p>
            <a:r>
              <a:t>ZA IZVEDBO</a:t>
            </a:r>
          </a:p>
          <a:p>
            <a:r>
              <a:t>Pri novem viru lahko najprej pripišemo lastnost, z določno obliko novi pa se nato navežemo na prepoznaven vir. Kazalni ta podpira določno obliko. Toda avtoričin nima enakega nasprotja oblik kot nov–novi. Toporišič poleg pridevnikov z obema oblikama loči tiste samo z nedoločno ali samo z določno obliko; obe zadnji skupini hkrati opredeli kot določni. Tudi povedkovna vloga ne zahteva avtomatično oblike brez -i: Ta jezik je slovenski; Čaj je lipov. Vidovič Muha posebej opozori, da nasprotij -(e)n : -ni ne razložimo vseh samo z znanostjo lastnosti.</a:t>
            </a:r>
          </a:p>
          <a:p/>
          <a:p>
            <a:r>
              <a:t>VIRI</a:t>
            </a:r>
          </a:p>
          <a:p>
            <a:r>
              <a:t>Toporišič 2004: 320, 328</a:t>
            </a:r>
          </a:p>
          <a:p>
            <a:r>
              <a:t>Vidovič Muha 2013: 398–399</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Steklen: snovni pomen in različne skladenjske vloge</a:t>
            </a:r>
          </a:p>
          <a:p/>
          <a:p>
            <a:r>
              <a:t>Povezava s skripto: 4.5</a:t>
            </a:r>
          </a:p>
          <a:p/>
          <a:p>
            <a:r>
              <a:t>ZA IZVEDBO</a:t>
            </a:r>
          </a:p>
          <a:p>
            <a:r>
              <a:t>Zgled je posebej uporaben za opozorilo na razliko med merili. Snovni pomen ostane tako v prilastku kot v povedkovem določilu. Praznik ga po pomenu uvršča med vrstne, a opozori na lastnosti, ki ga približujejo lastnostnim. Vidovič Muha v ponatisnjeni študiji poveže različne skladenjske vloge in delno določnost z lastnostnimi, pretvorbo žlica iz lesa ter odsotnost običajnega stopnjevanja pa z vrstnimi lastnostmi. V izdaji 2013 upoštevamo naknadne terminološke opombe, tudi vprašalnico iz česa. Predikativnost sama zato ne dokazuje nevrstnosti.</a:t>
            </a:r>
          </a:p>
          <a:p/>
          <a:p>
            <a:r>
              <a:t>VIRI</a:t>
            </a:r>
          </a:p>
          <a:p>
            <a:r>
              <a:t>Praznik 2014</a:t>
            </a:r>
          </a:p>
          <a:p>
            <a:r>
              <a:t>Vidovič Muha 2013: 367, 369, 385, 395–396</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Svoj in njen lahko spremenita lastnico</a:t>
            </a:r>
          </a:p>
          <a:p/>
          <a:p>
            <a:r>
              <a:t>Povezava s skripto: 4.6</a:t>
            </a:r>
          </a:p>
          <a:p/>
          <a:p>
            <a:r>
              <a:t>ZA IZVEDBO</a:t>
            </a:r>
          </a:p>
          <a:p>
            <a:r>
              <a:t>Prvo poved razložimo v njeni dejanski zgradbi: povratnosvojilni zaimek se nanaša na osebek Majo. Druga potrebuje nanosnico iz sobesedila; Nina je možna, toda pri daljšem besedilu ni nujno edina. Če potrebujemo nedvoumnost, uporabimo Ninino nalogo. Pravila ne raztegnemo brez razčlenitve na celoten odstavek. V Maja je povedala, da je Nina poslala svojo nalogo odvisnik dobi svoj osebek, zato je naloga v običajnem branju Ninina. Pri nedoločnikih in prepletenih perspektivah potrebujemo dodatno presojo nosilca dejanja.</a:t>
            </a:r>
          </a:p>
          <a:p/>
          <a:p>
            <a:r>
              <a:t>RAZLAGA IZ SKRIPTE · 4.6 Zaimki: na koga ali kaj se oblika nanaša?</a:t>
            </a:r>
          </a:p>
          <a:p>
            <a:r>
              <a:t>Zaimki omogočajo, da se izognemo ponavljanju poimenovanj, vendar moramo ohraniti jasno nanašanje. Razlika med svoj in njegov/njen lahko spremeni lastnika. V povedi Maja je Nini poslala svojo nalogo je naloga Majina: povratnosvojilni zaimek se v tej zgradbi nanaša na osebek. V povedi Maja je Nini poslala njeno nalogo lastništvo iščemo pri drugi ženski, določljivi iz sobesedila; to je lahko Nina. Če je možnih več nanosnic, jasnost zagotovimo s poimenovanjem: Ninino nalogo.</a:t>
            </a:r>
          </a:p>
          <a:p/>
          <a:p>
            <a:r>
              <a:t>Pravilo uporabimo na dejanski zgradbi, ne na celotnem odstavku brez razlikovanja med stavki. Pri povedi Maja je povedala, da je Nina poslala svojo nalogo ima odvisni stavek svoj osebek. Nalogo zato v običajnem branju pripišemo Nini. V daljših zgradbah z nedoločniki in prepletanjem perspektiv je treba natančneje preveriti tudi nosilca dejanja.</a:t>
            </a:r>
          </a:p>
          <a:p/>
          <a:p>
            <a:r>
              <a:t>Pri ki in kateri ne gre za delitev na ljudi in stvari. Obe sredstvi lahko uvajata opis ljudi ali predmetov. Ki je nespremenljiv, zato v odvisniku njegovo skladenjsko vlogo pogosto dodatno izrazi osebni zaimek: knjiga, ki jo berem; sodelavec, ki sem ga vprašal. Za predlogom uporabimo ustrezno obliko kateri: knjiga, o kateri govorimo; sodelavec, s katerim sodelujemo. Spol in število določa odnosnica, sklon pa razmerje znotraj odvisnega stavka. Knjiga je lahko v glavnem stavku v tožilniku, o kateri pa ostaja v mestniku.</a:t>
            </a:r>
          </a:p>
          <a:p/>
          <a:p>
            <a:r>
              <a:t>Zaimek kaj pogosto uvaja vprašanje ali vsebinski odvisnik, kar pa oziralno zgradbo. Primerjajmo Povej, kaj si opazil in Povej, kar si opazil. Prva različica sprašuje po vsebini opažanja, druga usmerja k posredovanju opaženega. Njuni rabi se v nekaterih okoljih srečujeta; redkejše oblike zato ne popravljamo avtomatično v pogostejšo. Možnost pomensko utemeljene izbire obeh zaimkov pojasnjuje Dejan Gabrovšek (2025) — https://svetovalnica.zrc-sazu.si/topic/7309/jezikovna-ne-pravilnost-slogana-kaj-je-notri-%C5%A1teje; poseben primer obravnava 8. poglavje.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Ki in kateri ne delita ljudi od stvari</a:t>
            </a:r>
          </a:p>
          <a:p/>
          <a:p>
            <a:r>
              <a:t>Povezava s skripto: 4.6</a:t>
            </a:r>
          </a:p>
          <a:p/>
          <a:p>
            <a:r>
              <a:t>ZA IZVEDBO</a:t>
            </a:r>
          </a:p>
          <a:p>
            <a:r>
              <a:t>Oba načina uporabimo tudi za osebe: sodelavec, ki sem ga vprašal, in sodelavec, s katerim sodelujemo. Ki je nespremenljiv, njegovo predmetno vlogo pa pogosto dodatno izrazi osebni zaimek. Kateri za predlogom dobi ustrezno sklonsko obliko. Spol in število določa odnosnica, sklon pa razmerje znotraj odvisnika. To ločitev lahko pokažemo pri odnosnici v tožilniku glavnega stavka in zvezi o kateri v mestniku odvisnika. Sklona ne prenesemo avtomatično iz glavnega stavka v odvisni stavek.</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Kaj in kar usmerjata različno branje</a:t>
            </a:r>
          </a:p>
          <a:p/>
          <a:p>
            <a:r>
              <a:t>Povezava s skripto: 4.6</a:t>
            </a:r>
          </a:p>
          <a:p/>
          <a:p>
            <a:r>
              <a:t>ZA IZVEDBO</a:t>
            </a:r>
          </a:p>
          <a:p>
            <a:r>
              <a:t>Par uporabimo za razlikovanje vprašalne oziroma vsebinske in oziralne zgradbe. Leva poved poizveduje po vsebini opažanja, desna usmerja k temu, naj naslovnik opaženo pove. Razlike ne spremenimo v absolutno pravilo, po katerem bi bila ena oblika vedno napačna. Rabi se v nekaterih okoljih srečujeta in odločitev mora upoštevati namen ter sobesedilo. Svetovalnični vir ob sloganu pojasnjuje možnost pomensko utemeljene izbire; osmo poglavje primer vključi v pisanje jezikovnega nasveta. Cilj je prepoznati, katero razlago predpostavlja popravek.</a:t>
            </a:r>
          </a:p>
          <a:p/>
          <a:p>
            <a:r>
              <a:t>VIRI</a:t>
            </a:r>
          </a:p>
          <a:p>
            <a:r>
              <a:t>Gabrovšek 2025</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Osebna glagolska oblika je lahko večbesedna</a:t>
            </a:r>
          </a:p>
          <a:p/>
          <a:p>
            <a:r>
              <a:t>Povezava s skripto: 4.7</a:t>
            </a:r>
          </a:p>
          <a:p/>
          <a:p>
            <a:r>
              <a:t>ZA IZVEDBO</a:t>
            </a:r>
          </a:p>
          <a:p>
            <a:r>
              <a:t>Osebna glagolska oblika povezuje dogajanje z osebo in številom ter sodeluje pri času in naklonu. Pri sestavljeni obliki se slovnične informacije razporedijo med njene dele. Pomožnik bom označuje osebo, deležnik pregledala pa tudi spol in število. Povedek analiziramo kot celoto in ne štejemo vsake njegove besede kot samostojnega osebnega glagola. Nasproti temu stojijo neosebne oblike, denimo nedoločnik, namenilnik in deležniške oziroma deležijske oblike. Njihova prepoznava še ni navodilo za ločila; kasneje bomo določili tudi način vključitve v poved.</a:t>
            </a:r>
          </a:p>
          <a:p/>
          <a:p>
            <a:r>
              <a:t>RAZLAGA IZ SKRIPTE · 4.7 Osebne in neosebne glagolske oblike</a:t>
            </a:r>
          </a:p>
          <a:p>
            <a:r>
              <a:t>Osebna glagolska oblika povezuje dogajanje z osebo in številom ter sodeluje pri izražanju časa in naklona. Lahko je enobesedna, denimo pregledam, ali sestavljena, denimo bom pregledala. V drugi zvezi pomožnik bom izraža osebo, deležnik pregledala pa med drugim spol in število. Povedek analiziramo kot celoto; ni vsaka njegova beseda samostojen osebni glagol.</a:t>
            </a:r>
          </a:p>
          <a:p/>
          <a:p>
            <a:r>
              <a:t>Med neosebnimi oblikami so nedoločnik, namenilnik in deležniške oziroma deležijske oblike. Nedoločnik nastopa v zvezah, kot sta moram pregledati in začela je pisati. Namenilnik uporabljamo z glagoli premikanja ali njegovega povzročanja, ko izrazimo namen: šel je pregledat dvorano; poslala ga je kupit papir. Podobnost namenilnika s pogovornim kratkim nedoločnikom ne pomeni, da imata isto skladenjsko funkcijo.</a:t>
            </a:r>
          </a:p>
          <a:p/>
          <a:p>
            <a:r>
              <a:t>Pri presoji si pomagamo z nadrejenim glagolom in pomenom zveze. Želim prebrati obvestilo izraža željo; grem prebrat obvestilo vsebuje premikanje z namenom branja. Če je glagol premikanja izpuščen, je treba rekonstruirati celotno sporočilo, zato vsake oblike brez -i ne razglasimo za napačen nedoločnik.</a:t>
            </a:r>
          </a:p>
          <a:p/>
          <a:p>
            <a:r>
              <a:t>Deležnik lahko sodeluje pri glagolski obliki ali določa samostalnik: poročilo je bilo pregledano in pregledano poročilo. Njegova oblika sama zato še ne pove celotne skladenjske funkcije. Preveriti moramo, s katerimi besedami se povezuje in ali opisujemo dejanje ali pridobljeno stanje.</a:t>
            </a:r>
          </a:p>
          <a:p/>
          <a:p>
            <a:r>
              <a:t>Primerjajmo še Listi so padli in Pobirali smo padle liste. V prvem zgledu padli sodeluje pri pretekli glagolski obliki; v drugem padle določa liste in se z njimi ujema tudi v sklonu. Toporišič zato razlikuje opisni deležnik na -l od deležnika stanja na -l; podobno razločuje trpno dejanje in stanje pri oblikah na -n/-t (Toporišič 2004: 404–405). Tudi Urednik je ves dan zapiral vrata in Vrata so zaprta ne izražata istega časovnega pogleda na dogajanje. Pri drugem zgledu sobesedilo pokaže, ali je v ospredju rezultat ali dogodek zaprtja.</a:t>
            </a:r>
          </a:p>
          <a:p/>
          <a:p>
            <a:r>
              <a:t>Deležnik razlikujemo od deležja tudi oblikovno. V smejoči se otroci – s smejočimi se otroki se določilo pregiba, v Smejoč se, je otrok odšel pa neosebna oblika označuje spremljajoče dogajanje. Toporišič na tej podlagi pregibne deležnike, razen obeh opisnih, uvršča med pridevniške besede; deležja obravnava med glagolskimi oblikami (Toporišič 2004: 319, 403–404). Praktični sklep ni »vsak deležnik potrebuje vejico«, temveč zahteva po ugotovitvi funkcije; to razvijeta 6. in 7. poglavje.</a:t>
            </a:r>
          </a:p>
          <a:p/>
          <a:p>
            <a:r>
              <a:t>Pri povedi Besedotvorje nas uči tvorjene besede razumeti nedoločnik razumeti dopolnjuje glagol uči. Od glagola ga ne ločimo z vejico samo zato, ker je neoseben. Drugače moramo analizirati deležijsko zvezo Premišljujoč o dogodkih dneva, je zaspala: ta izraža spremljajoče dogajanje. Obliko prepoznamo v oblikoslovju, njen odnos do povedi in ločila pa razložimo skladenjsko.</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Nedoločnik in namenilnik nista poljubni dolžini</a:t>
            </a:r>
          </a:p>
          <a:p/>
          <a:p>
            <a:r>
              <a:t>Povezava s skripto: 4.7</a:t>
            </a:r>
          </a:p>
          <a:p/>
          <a:p>
            <a:r>
              <a:t>ZA IZVEDBO</a:t>
            </a:r>
          </a:p>
          <a:p>
            <a:r>
              <a:t>Pri izbiri preverimo nadrejeni glagol in pomen zveze. Želim izraža željo, grem pa premikanje z namenom, zato sledita različni neosebni obliki. Namenilnik je mogoč tudi ob povzročanju premikanja: poslala ga je kupit papir. Če je glagol premikanja izpuščen, obnovimo celotno sporočilo; vsake oblike brez -i ne razglasimo za napačen nedoločnik. Pri Besedotvorje nas uči tvorjene besede razumeti nedoločnik dopolnjuje glagol uči in ga ne ločimo z vejico zgolj zaradi neosebnosti. Oblikovna oznaka in ločilo zahtevata različni stopnji analize.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Deležnik ali deležje: primerjajmo funkcijo in pregibanje</a:t>
            </a:r>
          </a:p>
          <a:p/>
          <a:p>
            <a:r>
              <a:t>Povezava s skripto: 4.7</a:t>
            </a:r>
          </a:p>
          <a:p/>
          <a:p>
            <a:r>
              <a:t>ZA IZVEDBO</a:t>
            </a:r>
          </a:p>
          <a:p>
            <a:r>
              <a:t>Pri prvih dveh vrsticah je podoben končaj povezan z drugačno funkcijo. Opisni deležnik sodeluje pri pretekli obliki, deležnik stanja pa določa samostalnik in se z njim ujema tudi v sklonu. Pri smejočih se otrocih pokažemo sklanjanje, pri Smejoč se, je otrok odšel pa spremljajoče dogajanje. Toporišič pregibne deležnike, razen obeh opisnih, uvršča med pridevniške besede, deležja pa med glagolske oblike. Pri pregledano poročilo in poročilo je bilo pregledano preverimo tudi dejanje proti stanju. Iz oznake deležnik ne izpeljemo avtomatične vejice.</a:t>
            </a:r>
          </a:p>
          <a:p/>
          <a:p>
            <a:r>
              <a:t>VIRI</a:t>
            </a:r>
          </a:p>
          <a:p>
            <a:r>
              <a:t>Toporišič 2004: 319, 403–405</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Vid in čas opisujeta različni razmerji</a:t>
            </a:r>
          </a:p>
          <a:p/>
          <a:p>
            <a:r>
              <a:t>Povezava s skripto: 4.8</a:t>
            </a:r>
          </a:p>
          <a:p/>
          <a:p>
            <a:r>
              <a:t>ZA IZVEDBO</a:t>
            </a:r>
          </a:p>
          <a:p>
            <a:r>
              <a:t>Prvi dve povedi govorita o prihodnosti. Nedovršnik predstavi ukvarjanje s pisanjem, dovršnik v ospredje postavi celovitost oziroma dokončanje. Nedovršna poved dokončanja ne izključuje, dovršna pa ne pomeni že preteklega dogodka. Nato primerjamo sedanjik s prihodnjo umestitvijo v tretjem zgledu. Pri Zdaj odprete datoteko lahko sedanjik sodeluje tudi pri usmerjanju dejanja. Časovne razlage zato ne izpeljemo samo iz imena oblike: pomagata prislov in sobesedilo. To bo pomembno pri preoblikovanju tvornika v trpnik, kjer lahko nehote zamenjamo še vid.</a:t>
            </a:r>
          </a:p>
          <a:p/>
          <a:p>
            <a:r>
              <a:t>RAZLAGA IZ SKRIPTE · 4.8 Vid, čas in način usmerjajo pomen</a:t>
            </a:r>
          </a:p>
          <a:p>
            <a:r>
              <a:t>Glagolski vid ni isto kot glagolski čas. Dovršnik dogodek predstavi z mejo oziroma kot zaokroženo celoto, nedovršnik pa omogoča pogled na njegovo potekanje, trajanje ali ponavljanje. Primerjajmo Jutri bom pisal poročilo in Jutri bom napisal poročilo. Obe povedi govorita o prihodnosti. Prva napoveduje ukvarjanje s pisanjem, druga v ospredje postavlja dokončanje celote. Prva dokončanja ne izključuje, druga pa ne pomeni, da se je dejanje že zgodilo.</a:t>
            </a:r>
          </a:p>
          <a:p/>
          <a:p>
            <a:r>
              <a:t>Časovna oblika prav tako ne določa vedno sama časovne umestitve. Jutri odpotujemo ima sedanjik, vendar prislov in sobesedilo dogodek postavita v prihodnost. Pri navodilu Zdaj odprete datoteko lahko sedanjik sodeluje pri usmerjanju dejanja. Smiselno razlago zato gradimo iz celotne povedi.</a:t>
            </a:r>
          </a:p>
          <a:p/>
          <a:p>
            <a:r>
              <a:t>Pri tvorniku in trpniku se spreminja razporeditev udeležencev: Urednica je pregledala rokopis – Rokopis je pregledala urednica – Rokopis je bil pregledan. Prvi dve povedi sta tvorni kljub različnemu besednemu redu. V tretji je rokopis osebek, vršilec pa ni izražen. Trpnik lahko primerno postavi v ospredje postopek ali predmet obravnave. Kadar je odgovornost pomembna, preverimo, ali izpuščeni vršilec ustvarja nepotrebno nejasnost. Oblike torej ne popravljamo samo zato, ker je trpna; presodimo njeno vlogo v besedilu.</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Besedni red še ne naredi trpnika</a:t>
            </a:r>
          </a:p>
          <a:p/>
          <a:p>
            <a:r>
              <a:t>Povezava s skripto: 4.8</a:t>
            </a:r>
          </a:p>
          <a:p/>
          <a:p>
            <a:r>
              <a:t>ZA IZVEDBO</a:t>
            </a:r>
          </a:p>
          <a:p>
            <a:r>
              <a:t>Prvi dve povedi sta tvorni kljub različnemu vrstnemu redu. Pri tretji rokopis postane osebek, vršilka pa ni izražena. Trpnik lahko smiselno postavi v ospredje predmet ali postopek, zato ga ne odpravljamo zgolj zaradi oblike. Če je odgovornost pomembna, preverimo, ali izpust vršilca povzroči nejasnost. Pri nadaljnjih pretvorbah pazimo tudi na vid: popravljala in popravljeno ne pomenita zgolj zamenjave načina, ker se nedovršno popravljati zamenja z dovršnim popraviti. Poglavje zaključimo z vprašanjem, katere slovnične in pomenske informacije mora uredniška sprememba ohraniti.</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4.9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4.9; nalogi 1 in 2</a:t>
            </a:r>
          </a:p>
          <a:p/>
          <a:p>
            <a:r>
              <a:t>NALOGE</a:t>
            </a:r>
          </a:p>
          <a:p/>
          <a:p>
            <a:r>
              <a:t>1. Izberite in pojasnite: Govorimo o novem/novemu načrtu. Nasprotujemo novem/novemu načrtu.</a:t>
            </a:r>
          </a:p>
          <a:p/>
          <a:p>
            <a:r>
              <a:t>2. Popravite Sodelovali smo z novem prevajalcem. Zakaj pravilo o ujemanju ne zahteva enakih končnic?</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4.10</a:t>
            </a:r>
          </a:p>
          <a:p/>
          <a:p>
            <a:r>
              <a:t>ZA IZVEDBO</a:t>
            </a:r>
          </a:p>
          <a:p>
            <a:r>
              <a:t>Primerjajte razlago s postopkom študentov. Naj označijo, kaj so dokazali in katera predpostavka je odločilna. Alternative sprejmite v mejah, navedenih v skripti.</a:t>
            </a:r>
          </a:p>
          <a:p/>
          <a:p>
            <a:r>
              <a:t>VIRI</a:t>
            </a:r>
          </a:p>
          <a:p>
            <a:r>
              <a:t>Skripta 3.0, 4.10; rešitvi 1 in 2</a:t>
            </a:r>
          </a:p>
          <a:p/>
          <a:p>
            <a:r>
              <a:t>REŠITVE Z RAZLAGO</a:t>
            </a:r>
          </a:p>
          <a:p/>
          <a:p>
            <a:r>
              <a:t>1. O novem načrtu je mestniška zveza; nasprotujemo novemu načrtu vsebuje dajalniško določilo. Samostalniška oblika načrtu je enaka, pridevnik pa sklona razločuje.</a:t>
            </a:r>
          </a:p>
          <a:p/>
          <a:p>
            <a:r>
              <a:t>2. Z novim prevajalcem. Predlog uvaja orodniško zvezo. Pridevnik in samostalnik se ujemata v spolu, številu in sklonu, čeprav imata zaradi različnih pregibnih vzorcev različni končnici.</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4.9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4.9; nalogi 3 in 4</a:t>
            </a:r>
          </a:p>
          <a:p/>
          <a:p>
            <a:r>
              <a:t>NALOGE</a:t>
            </a:r>
          </a:p>
          <a:p/>
          <a:p>
            <a:r>
              <a:t>3. Primerjajte Našli smo nov vir in Novi vir je že v bibliografiji. Kakšno vlogo ima lahko določna oblika?</a:t>
            </a:r>
          </a:p>
          <a:p/>
          <a:p>
            <a:r>
              <a:t>4. Razložite lastništvo v povedih Ana je Maji vrnila svojo knjigo in Ana je Maji vrnila njeno knjigo. Drugo poved preoblikujte tako, da bo lastnica nedvomno Maja.</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4.10</a:t>
            </a:r>
          </a:p>
          <a:p/>
          <a:p>
            <a:r>
              <a:t>ZA IZVEDBO</a:t>
            </a:r>
          </a:p>
          <a:p>
            <a:r>
              <a:t>Primerjajte razlago s postopkom študentov. Naj označijo, kaj so dokazali in katera predpostavka je odločilna. Alternative sprejmite v mejah, navedenih v skripti.</a:t>
            </a:r>
          </a:p>
          <a:p/>
          <a:p>
            <a:r>
              <a:t>VIRI</a:t>
            </a:r>
          </a:p>
          <a:p>
            <a:r>
              <a:t>Skripta 3.0, 4.10; rešitvi 3 in 4</a:t>
            </a:r>
          </a:p>
          <a:p/>
          <a:p>
            <a:r>
              <a:t>REŠITVE Z RAZLAGO</a:t>
            </a:r>
          </a:p>
          <a:p/>
          <a:p>
            <a:r>
              <a:t>3. Prva poved uvaja vir in mu pripisuje novost. V drugi lahko določna oblika označuje že prepoznavni, prej omenjeni vir. Pri dejanski presoji preverimo predhodno besedilo; sama beseda novi ne dokazuje, kdaj je bil vir objavljen.</a:t>
            </a:r>
          </a:p>
          <a:p/>
          <a:p>
            <a:r>
              <a:t>4. Svojo v prvi povedi označuje Anino knjigo. Njeno v drugi zahteva drugo nanosnico iz sobesedila; Maja je možna, ni pa edina v vsakem širšem besedilu. Nedvoumna različica je Ana je Maji vrnila Majino knjigo.</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5 in 6</a:t>
            </a:r>
          </a:p>
          <a:p/>
          <a:p>
            <a:r>
              <a:t>Povezava s skripto: 4.9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4.9; nalogi 5 in 6</a:t>
            </a:r>
          </a:p>
          <a:p/>
          <a:p>
            <a:r>
              <a:t>NALOGE</a:t>
            </a:r>
          </a:p>
          <a:p/>
          <a:p>
            <a:r>
              <a:t>5. Dopolnite: To je članek, o ___ smo govorili. Nato isto odnosnico povežite z odvisnikom z ki in glagolom prebrati.</a:t>
            </a:r>
          </a:p>
          <a:p/>
          <a:p>
            <a:r>
              <a:t>6. Dopolnite z ustrezno obliko glagola: Želim ___ (pogledati) posnetek. Grem ___ (pogledati) posnetek. Pojasnite razliko.</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5 in 6</a:t>
            </a:r>
          </a:p>
          <a:p/>
          <a:p>
            <a:r>
              <a:t>Povezava s skripto: 4.10</a:t>
            </a:r>
          </a:p>
          <a:p/>
          <a:p>
            <a:r>
              <a:t>ZA IZVEDBO</a:t>
            </a:r>
          </a:p>
          <a:p>
            <a:r>
              <a:t>Primerjajte razlago s postopkom študentov. Naj označijo, kaj so dokazali in katera predpostavka je odločilna. Alternative sprejmite v mejah, navedenih v skripti.</a:t>
            </a:r>
          </a:p>
          <a:p/>
          <a:p>
            <a:r>
              <a:t>VIRI</a:t>
            </a:r>
          </a:p>
          <a:p>
            <a:r>
              <a:t>Skripta 3.0, 4.10; rešitvi 5 in 6</a:t>
            </a:r>
          </a:p>
          <a:p/>
          <a:p>
            <a:r>
              <a:t>REŠITVE Z RAZLAGO</a:t>
            </a:r>
          </a:p>
          <a:p/>
          <a:p>
            <a:r>
              <a:t>5. To je članek, o katerem smo govorili. Predlog o zahteva mestnik. Druga možnost je To je članek, ki smo ga prebrali: osebni zaimek ga izraža predmetno vlogo znotraj odvisnika.</a:t>
            </a:r>
          </a:p>
          <a:p/>
          <a:p>
            <a:r>
              <a:t>6. Želim pogledati; grem pogledat. Prvič uporabljamo nedoločnik ob glagolu želje, drugič namenilnik ob glagolu premikanja. Ne gre za dve poljubni dolžini istega zapisa.</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7 in 8</a:t>
            </a:r>
          </a:p>
          <a:p/>
          <a:p>
            <a:r>
              <a:t>Povezava s skripto: 4.9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4.9; nalogi 7 in 8</a:t>
            </a:r>
          </a:p>
          <a:p/>
          <a:p>
            <a:r>
              <a:t>NALOGE</a:t>
            </a:r>
          </a:p>
          <a:p/>
          <a:p>
            <a:r>
              <a:t>7. Primerjajte Urednica bo popravljala besedilo in Besedilo bo popravljeno. Kaj poleg razporeditve udeležencev spremeni to preoblikovanje?</a:t>
            </a:r>
          </a:p>
          <a:p/>
          <a:p>
            <a:r>
              <a:t>8. Zakaj j v čaja in taksija nima istega položaja v pregibnem postopku? Kaj v paru veter – vetra dokazuje, da e ni končnica?</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7 in 8</a:t>
            </a:r>
          </a:p>
          <a:p/>
          <a:p>
            <a:r>
              <a:t>Povezava s skripto: 4.10</a:t>
            </a:r>
          </a:p>
          <a:p/>
          <a:p>
            <a:r>
              <a:t>ZA IZVEDBO</a:t>
            </a:r>
          </a:p>
          <a:p>
            <a:r>
              <a:t>Primerjajte razlago s postopkom študentov. Naj označijo, kaj so dokazali in katera predpostavka je odločilna. Alternative sprejmite v mejah, navedenih v skripti.</a:t>
            </a:r>
          </a:p>
          <a:p/>
          <a:p>
            <a:r>
              <a:t>VIRI</a:t>
            </a:r>
          </a:p>
          <a:p>
            <a:r>
              <a:t>Skripta 3.0, 4.10; rešitvi 7 in 8</a:t>
            </a:r>
          </a:p>
          <a:p/>
          <a:p>
            <a:r>
              <a:t>REŠITVE Z RAZLAGO</a:t>
            </a:r>
          </a:p>
          <a:p/>
          <a:p>
            <a:r>
              <a:t>7. Poleg prehoda v trpnik in izpusta urednice smo nedovršni glagol popravljati zamenjali z dovršnim popraviti. Prva poved napoveduje potek dela, druga dokončan rezultat. Če želimo spreminjati samo način, moramo paziti, da pri preoblikovanju ne spremenimo še vida in s tem vsebinskega poudarka.</a:t>
            </a:r>
          </a:p>
          <a:p/>
          <a:p>
            <a:r>
              <a:t>8. V čaj je j že del imenovalniške osnove; pri taksi ga osnova v imenovalniku nima in se z njim podaljša. Pri veter se e nahaja znotraj osnove, pred končnim r, v vetra pa izgine. Gre za neobstojni samoglasnik.</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9 in 10</a:t>
            </a:r>
          </a:p>
          <a:p/>
          <a:p>
            <a:r>
              <a:t>Povezava s skripto: 4.9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4.9; nalogi 9 in 10</a:t>
            </a:r>
          </a:p>
          <a:p/>
          <a:p>
            <a:r>
              <a:t>NALOGE</a:t>
            </a:r>
          </a:p>
          <a:p/>
          <a:p>
            <a:r>
              <a:t>9. Pojasnite razliko med vzorcema Japonska – Japonske in Japonsko – Japonskega. Zakaj zveze iz Japonske ne zavrnemo zgolj s sklicem na na Japonsko?</a:t>
            </a:r>
          </a:p>
          <a:p/>
          <a:p>
            <a:r>
              <a:t>10. Presodite trditev: »Pridevnik steklen je lahko povedkovo določilo, zato zagotovo ne izraža vrstnosti.« Kaj v trditvi zamenjujemo?</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9 in 10</a:t>
            </a:r>
          </a:p>
          <a:p/>
          <a:p>
            <a:r>
              <a:t>Povezava s skripto: 4.10</a:t>
            </a:r>
          </a:p>
          <a:p/>
          <a:p>
            <a:r>
              <a:t>ZA IZVEDBO</a:t>
            </a:r>
          </a:p>
          <a:p>
            <a:r>
              <a:t>Primerjajte razlago s postopkom študentov. Naj označijo, kaj so dokazali in katera predpostavka je odločilna. Alternative sprejmite v mejah, navedenih v skripti.</a:t>
            </a:r>
          </a:p>
          <a:p/>
          <a:p>
            <a:r>
              <a:t>VIRI</a:t>
            </a:r>
          </a:p>
          <a:p>
            <a:r>
              <a:t>Skripta 3.0, 4.10; rešitvi 9 in 10</a:t>
            </a:r>
          </a:p>
          <a:p/>
          <a:p>
            <a:r>
              <a:t>REŠITVE Z RAZLAGO</a:t>
            </a:r>
          </a:p>
          <a:p/>
          <a:p>
            <a:r>
              <a:t>9. Prvi vzorec je ženski samostalniški, drugi srednji pridevniški. Pri tem zemljepisnem poimenovanju se raba vzorcev prepleta. Predložna shema ne nadomesti podatkov o ustaljenih zvezah; iz Japonske je izpričana in strokovno obravnavana možnost.</a:t>
            </a:r>
          </a:p>
          <a:p/>
          <a:p>
            <a:r>
              <a:t>10. Trditev iz skladenjske funkcije neposredno sklepa na pomensko skupino. Steklen v obeh položajih lahko izraža snov. Za razvrstitev moramo izrecno določiti merila in upoštevati, da snovni pridevniki združujejo lastnosti, ki jih poenostavljena delitev ne zajame.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11</a:t>
            </a:r>
          </a:p>
          <a:p/>
          <a:p>
            <a:r>
              <a:t>Povezava s skripto: 4.9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4.9; naloga 11</a:t>
            </a:r>
          </a:p>
          <a:p/>
          <a:p>
            <a:r>
              <a:t>NALOGE</a:t>
            </a:r>
          </a:p>
          <a:p/>
          <a:p>
            <a:r>
              <a:t>11. Zahtevnejša naloga: tri ravni analize. V Z mizicami smo opremili igralnico razdelite mizicami na osnovo in končnico ter nato na morfeme. Pojasnite razliko med primerjavama mizica – mizicami in miza – mizica. Nato določite sklon in število oblike mize v Rob mize je poškodovan in Mize so poškodovane. Zakaj zapis sam ne zadošča?</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11</a:t>
            </a:r>
          </a:p>
          <a:p/>
          <a:p>
            <a:r>
              <a:t>Povezava s skripto: 4.10</a:t>
            </a:r>
          </a:p>
          <a:p/>
          <a:p>
            <a:r>
              <a:t>ZA IZVEDBO</a:t>
            </a:r>
          </a:p>
          <a:p>
            <a:r>
              <a:t>Primerjajte razlago s postopkom študentov. Naj označijo, kaj so dokazali in katera predpostavka je odločilna. Alternative sprejmite v mejah, navedenih v skripti.</a:t>
            </a:r>
          </a:p>
          <a:p/>
          <a:p>
            <a:r>
              <a:t>VIRI</a:t>
            </a:r>
          </a:p>
          <a:p>
            <a:r>
              <a:t>Skripta 3.0, 4.10; rešitev 11</a:t>
            </a:r>
          </a:p>
          <a:p/>
          <a:p>
            <a:r>
              <a:t>REŠITVE Z RAZLAGO</a:t>
            </a:r>
          </a:p>
          <a:p/>
          <a:p>
            <a:r>
              <a:t>11. Pri sklanjatveni analizi dobimo mizic-ami, pri morfemski miz-ic-ami. Osnova torej vsebuje več morfemov. Mizica – mizicami sta obliki istega leksema, miza – mizica pa besedotvorno povezana leksema. Mize v prvi povedi izraža rodilnik ednine in je jedro desnega prilastka k rob; v drugi izraža imenovalnik množine in je osebek. Enak zapis ima različno vrednost v paradigmi, ki jo razkrijeta odvisnost in ujemanje.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12</a:t>
            </a:r>
          </a:p>
          <a:p/>
          <a:p>
            <a:r>
              <a:t>Povezava s skripto: 4.9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4.9; naloga 12</a:t>
            </a:r>
          </a:p>
          <a:p/>
          <a:p>
            <a:r>
              <a:t>NALOGE</a:t>
            </a:r>
          </a:p>
          <a:p/>
          <a:p>
            <a:r>
              <a:t>12. Zahtevnejša naloga: merila se ne prekrivajo. Analizirajte ta novi stol, lesen stol, Stol je lesen in Pobirali smo padle liste. Pri prvih treh primerih ločite določnost, snovni pomen in skladenjsko vlogo. Primerjajte poimenovanje snovnih pridevnikov v različnih obravnavah, ne da bi eno vprašalnico razglasili za odločilno. Zadnjo poved primerjajte z Listi so padli: kaj se spremeni pri oblikovni in skladenjski analizi?</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a:t>
            </a:r>
          </a:p>
          <a:p/>
          <a:p>
            <a:r>
              <a:t>Povezava s skripto: 4.10</a:t>
            </a:r>
          </a:p>
          <a:p/>
          <a:p>
            <a:r>
              <a:t>ZA IZVEDBO</a:t>
            </a:r>
          </a:p>
          <a:p>
            <a:r>
              <a:t>Primerjajte razlago s postopkom študentov. Naj označijo, kaj so dokazali in katera predpostavka je odločilna. Alternative sprejmite v mejah, navedenih v skripti.</a:t>
            </a:r>
          </a:p>
          <a:p/>
          <a:p>
            <a:r>
              <a:t>VIRI</a:t>
            </a:r>
          </a:p>
          <a:p>
            <a:r>
              <a:t>Skripta 3.0, 4.10; rešitev 12</a:t>
            </a:r>
          </a:p>
          <a:p/>
          <a:p>
            <a:r>
              <a:t>REŠITVE Z RAZLAGO</a:t>
            </a:r>
          </a:p>
          <a:p/>
          <a:p>
            <a:r>
              <a:t>12. Novi v zvezi s kazalnim ta je določna oblika lastnostnega pridevnika nov. Lesen izraža snov in je v lesen stol prilastek, v Stol je lesen pa povedkovo določilo. Njegova predikativna raba ni dokaz za stopnjevanje v snovnem pomenu. Utemeljena primerjava navede, da ga nekatere obravnave zaradi odnosa do snovi približujejo vrstnim, druge pa upoštevajo tudi njegovo določnost in skladenjsko polnofunkcionalnost. Pri Vidovič Muhi navedemo še časovni in terminološki položaj ponatisnjene študije. Padle je pregibni deležnik stanja v prilastku k tožilniku množine liste; padli v Listi so padli pa opisni deležnik v sestavljeni pretekli obliki. Podoben končaj ne zagotavlja enake funkcije ali enakega obsega pregibanja.</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poglavje4</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Lastna imena</a:t>
            </a:r>
          </a:p>
          <a:p/>
          <a:p>
            <a:r>
              <a:t>ZA IZVEDBO</a:t>
            </a:r>
          </a:p>
          <a:p>
            <a:r>
              <a:t>Osrednje vprašanje te enote: Katere podatke potrebujemo, da ime pravilno zapišemo, pregibamo in iz njega tvorimo pridevnik?</a:t>
            </a:r>
          </a:p>
          <a:p>
            <a:r>
              <a:t>Cilji: Razločimo lastno ime, opis in preneseno poimenovanje.; Povežemo izgovor, osnovo, pregibanje in tvorbo.; Utemeljimo različice v izrecno navedenem normativnem okviru.</a:t>
            </a:r>
          </a:p>
          <a:p/>
          <a:p>
            <a:r>
              <a:t>UVOD V ENOTO</a:t>
            </a:r>
          </a:p>
          <a:p>
            <a:r>
              <a:t> 5. Lastna imena v slovenskem besedilu</a:t>
            </a:r>
          </a:p>
          <a:p/>
          <a:p>
            <a:r>
              <a:t>Ime moramo v besedilu prepoznati, ustrezno zapisati in vključiti v slovensko slovnično zgradbo. To so tri povezane, vendar različne naloge. Pri zvezi cerkev sv. Primoža odločamo, kaj poimenujemo. Pri imenu Jean Guyot de Châtelet ugotavljamo, katere sestavine pregibamo. Pri svojilnem pridevniku iz tujega imena pa moramo poleg zapisa poznati tudi izgovor. Ena sama informacija, denimo zadnja črka imena, za vse te odločitve ne zadostuje.</a:t>
            </a:r>
          </a:p>
          <a:p/>
          <a:p>
            <a:r>
              <a:t>V prejšnjih poglavjih smo izbirali poimenovanja, tvorili besede in ugotavljali njihove oblike v povedi. Pri lastnih imenih se te odločitve združijo. Predstavljajmo si, da pripravljamo besedilo o razstavi: navesti moramo avtorja, kraj, ustanovo in naslov dela. Vsak podatek mora biti prepoznaven, obenem pa mora celotna poved delovati v slovenščini.</a:t>
            </a:r>
          </a:p>
          <a:p/>
          <a:p>
            <a:r>
              <a:t>Sledimo zaporedju pomen in vloga → izgovor in zgradba → oblika in zapis → utemeljitev. Osnovni normativni okvir je SP 2001. Kjer primerjamo drugačne rešitve ePravopisa 2025 ali predloga Pravopisa 8.0, jih posebej označimo. Primerjava nam pomaga razumeti, kaj je jezikovno pravilo, kaj ustaljena oblika in kaj predlagana sprememba.</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Isti kraj: opis ali lastno ime?</a:t>
            </a:r>
          </a:p>
          <a:p/>
          <a:p>
            <a:r>
              <a:t>Povezava s skripto: 5.1</a:t>
            </a:r>
          </a:p>
          <a:p/>
          <a:p>
            <a:r>
              <a:t>ZA IZVEDBO</a:t>
            </a:r>
          </a:p>
          <a:p>
            <a:r>
              <a:t>Najprej razločimo nanosnika od vrste poimenovanja. Obe povedi lahko govorita o Ljubljani, vendar beseda mesto zato še ne postane ime. Študenti naj pojasnijo, kaj v drugem primeru identificira kraj in kaj v prvem uvršča objekt v razred. Nato primerjamo mesto Ljubljana, Univerza v Ljubljani in naša univerza. Pri vsaki zvezi označimo obseg imena; pomembnost ustanove ni merilo za veliko začetnico.</a:t>
            </a:r>
          </a:p>
          <a:p/>
          <a:p>
            <a:r>
              <a:t>VIRI</a:t>
            </a:r>
          </a:p>
          <a:p>
            <a:r>
              <a:t>Toporišič 2004: 274–275</a:t>
            </a:r>
          </a:p>
          <a:p/>
          <a:p>
            <a:r>
              <a:t>RAZLAGA IZ SKRIPTE · 5.1 Ime ali opis?</a:t>
            </a:r>
          </a:p>
          <a:p>
            <a:r>
              <a:t>Občno poimenovanje uvršča predmet med podobne predmete: cerkev, nagrada, mesto, fakulteta. Lastno ime posamezno bitje, kraj ali stvar identificira: Ana, Ljubljana, Triglav. Beseda mesto ostane občno poimenovanje tudi takrat, ko iz sobesedila natančno vemo, katero mesto imamo v mislih. Enkratnost trenutnega referenta torej sama ne zadošča za veliko začetnico.</a:t>
            </a:r>
          </a:p>
          <a:p/>
          <a:p>
            <a:r>
              <a:t>Primerjajmo:</a:t>
            </a:r>
          </a:p>
          <a:p/>
          <a:p>
            <a:r>
              <a:t>&gt; Po sestanku smo se sprehodili po mestu. V Ljubljani smo ostali do večera.</a:t>
            </a:r>
          </a:p>
          <a:p/>
          <a:p>
            <a:r>
              <a:t>Prva poved lahko govori o istem kraju kot druga. Vendar ga prvič označimo z občnim poimenovanjem, drugič z lastnim imenom. Podobno v povedi Direktor je obiskal fakulteto začetnice ne določamo po pomembnosti direktorja ali fakultete.</a:t>
            </a:r>
          </a:p>
          <a:p/>
          <a:p>
            <a:r>
              <a:t>Pri večbesedni zvezi moramo ugotoviti tudi obseg imena. V zvezi mesto Ljubljana je ime Ljubljana, mesto pa pojasnjuje vrsto zemljepisnega objekta. V zvezi Univerza v Ljubljani je Univerza začetna sestavina imena ustanove. Če pozneje napišemo naša univerza, uporabimo opisno zvezo.</a:t>
            </a:r>
          </a:p>
          <a:p/>
          <a:p>
            <a:r>
              <a:t>Pri imenih s prosojnim pomenom je meja težja. Izraz lahko še opisuje položaj, lahko pa se je ustalil kot ime. Zato je vprašanje »Ali je to uradno?« uporabno, vendar ne zadostuje: ime lahko živi tudi v lokalni skupnosti, pripovedi ali ustaljeni vsakdanji rabi. Preverjamo, ali govorci z izrazom dosledno poimenujejo isti objekt, in ne zgolj, ali je izraz zapisan z veliko začetnico v enem spletnem zadetku.</a:t>
            </a:r>
          </a:p>
          <a:p/>
          <a:p>
            <a:r>
              <a:t>Razliko ponazarjata tudi sever in Sever. V zvezi potujemo proti severu poimenujemo smer. V razpravi o razmerju med Severom in Jugom pa lahko izraza nadomestno poimenujeta določeni gospodarski oziroma politični skupini držav. Ob taki interpretaciji izpitnega odlomka je velika začetnica utemeljena; ne izraža pomembnosti skupin. Uporabimo merilo nadomestnega lastnega imena iz SP 2001, člena 38 — https://www.fran.si/134/slovenski-pravopis/datoteke/Pravopis_Pravila.pdf. Zgolj omemba severnega ali južnega dela ozemlja še ne zahteva velike začetnice.</a:t>
            </a:r>
          </a:p>
          <a:p/>
          <a:p>
            <a:r>
              <a:t>Lastno ime in občno poimenovanje sta lahko tudi enakozvočna. ePravopis 2025 na str. 142–143 razlikuje Norik, ime nekdanjega kraljestva oziroma province, in norik, manj formalno poimenovanje noriškega konja. Začetnica tu ne označuje iste besede v dveh poljubnih zapisih, temveč pomaga razlikovati njeno vlogo in pomen. Pridevnik noriški v navadni zvezi nima velike začetnice samo zato, ker je povezan z imenom.</a:t>
            </a:r>
          </a:p>
          <a:p/>
          <a:p>
            <a:r>
              <a:t>Podobno moramo v besedilu o izdelkih ugotoviti, ali navajamo znamko ali poimenujemo posamezni izdelek. SP 2001 ločuje znamko ob vrstnem poimenovanju od občnoimenske rabe: avtomobil znamke Renault nasproti kupil je renault. Podatek o zaščiteni znamki sam zato še ne reši vsakega položaja v tekočem besedilu. Najprej določimo pomen konkretne rabe. To razlikovanje se navezuje na pomenske prenose iz 2. poglavja. (SP 2001, § 107 in 147.)</a:t>
            </a:r>
          </a:p>
          <a:p/>
          <a:p>
            <a:r>
              <a:t> Identifikacija, slovarski pomen in vedenje o nosilcu</a:t>
            </a:r>
          </a:p>
          <a:p/>
          <a:p>
            <a:r>
              <a:t>Vidovič Muha lastna imena obravnava drugače kot občna poimenovanja s pomensko sestavo, ki omogoča uvrščanje v razred. Pri imenu je v ospredju identifikacija posameznega; njegove slovarske kategorialne lastnosti in besedilno določeni nanosnik niso isto kot uvrščevalna in razločevalne sestavine pomena občnega leksema. Avtorica zato lastnim imenom ne pripisuje enakega strukturiranega slovarskega denotativnega pomena kot občnim imenom. To je opredelitev v njenem modelu, ki je ne krajšamo v trditev, da imena ničesar ne sporočajo. Sama posebej razloži njihove kulturne, zgodovinske in besedilne asociacije. (Vidovič Muha 2013: 92–93.)</a:t>
            </a:r>
          </a:p>
          <a:p/>
          <a:p>
            <a:r>
              <a:t>Predstavljajmo si osebo s priimkom Kovač, ki je po poklicu pek. Priimek zaradi tega ni pomensko napačen. Pri občnem poimenovanju kovač pa poklicna dejavnost sodeluje pri pomenski prepoznavnosti besede. Vedenje, da je naš Kovač pek, živi v Mariboru in je prevajalčev sosed, pomaga prepoznati konkretnega človeka; teh podatkov ne vpišemo med pomenske sestavine občnega leksema kovač. Toporišič podobno razlikuje občna in lastna poimenovanja ter pri imenih obravnava motiviranost in možnost slogovnega učinkovanja njihovega prepoznavnega izraza (2004: 274–275).</a:t>
            </a:r>
          </a:p>
          <a:p/>
          <a:p>
            <a:r>
              <a:t>Identifikacija posameznega tudi ne pomeni, da en izraz po vsem svetu poimenuje samo enega človeka. Več oseb se lahko imenuje Ana; v posamezni rabi ugotovimo, katera je mišljena. Nasprotno lahko opis urednica tega zbornika v danem položaju označuje natanko eno osebo, pa ostaja opisna zveza. Pri začetnici je zato odločilna poimenovalna vloga izraza, ne samo število mogočih nanosnikov.</a:t>
            </a:r>
          </a:p>
          <a:p/>
          <a:p>
            <a:r>
              <a:t>Prehod med občnim in lastnim poimenovanjem lahko vključuje apelativizacijo: iz imena se razvije poimenovanje razreda na podlagi izbrane značilnosti. Vidovič Muha obravnava npr. donhuan in donkihot (2013: 93). Posamezna šaljiva primerjava še ne dokazuje, da je novi pomen že ustaljen v leksiki. Leksikaliziranost, besedilni prenos in pravopisna obravnava začetnice so zato ločeni koraki iste presoje.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Identifikacija ni poklicna ali slovarska definicija</a:t>
            </a:r>
          </a:p>
          <a:p/>
          <a:p>
            <a:r>
              <a:t>Povezava s skripto: 5.1</a:t>
            </a:r>
          </a:p>
          <a:p/>
          <a:p>
            <a:r>
              <a:t>ZA IZVEDBO</a:t>
            </a:r>
          </a:p>
          <a:p>
            <a:r>
              <a:t>Priimek Kovač ni napačen, če je nosilec pek. Vedenje o posamezniku razlikujemo od pomenskih sestavin občnega leksema kovač. Vidovič Muha lastnih imen ne analizira z enakim strukturiranim denotativnim pomenom kot občnih poimenovanj, vendar upošteva kulturne in zgodovinske asociacije. To je poimenovani teoretični model, ne trditev, da imena ničesar ne sporočajo. Ob donhuanu vprašamo še, ali gre za ustaljeno apelativizacijo ali trenutno primerjavo.</a:t>
            </a:r>
          </a:p>
          <a:p/>
          <a:p>
            <a:r>
              <a:t>VIRI</a:t>
            </a:r>
          </a:p>
          <a:p>
            <a:r>
              <a:t>Vidovič Muha 2013: 92–93</a:t>
            </a:r>
          </a:p>
          <a:p>
            <a:r>
              <a:t>Toporišič 2004: 274–275</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Začetnica lahko razlikuje poimenovalno vlogo</a:t>
            </a:r>
          </a:p>
          <a:p/>
          <a:p>
            <a:r>
              <a:t>Povezava s skripto: 5.1</a:t>
            </a:r>
          </a:p>
          <a:p/>
          <a:p>
            <a:r>
              <a:t>ZA IZVEDBO</a:t>
            </a:r>
          </a:p>
          <a:p>
            <a:r>
              <a:t>Preglednico beremo po pomenih, ne kot seznam zapisov, ki bi jih poljubno zamenjevali. Pri Severu in Jugu mora biti iz sobesedila razvidno nadomestno poimenovanje določenih skupin držav. Norik in norik sta v ePravopisu 2025 ločeni iztočnici. Pri Renaultu razlikujemo znamko ob vrstnem poimenovanju od občnoimenske rabe izdelka. Za vsak primer naj študent navede podatek, brez katerega začetnice ne bi mogel utemeljiti.</a:t>
            </a:r>
          </a:p>
          <a:p/>
          <a:p>
            <a:r>
              <a:t>VIRI</a:t>
            </a:r>
          </a:p>
          <a:p>
            <a:r>
              <a:t>SP 2001: § 38, 107, 147</a:t>
            </a:r>
          </a:p>
          <a:p>
            <a:r>
              <a:t>ePravopis 2025: 142–143; Predlog</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Zemljepisna začetnica: razvrstitev pred pravilom</a:t>
            </a:r>
          </a:p>
          <a:p/>
          <a:p>
            <a:r>
              <a:t>Povezava s skripto: 5.2</a:t>
            </a:r>
          </a:p>
          <a:p/>
          <a:p>
            <a:r>
              <a:t>ZA IZVEDBO</a:t>
            </a:r>
          </a:p>
          <a:p>
            <a:r>
              <a:t>Najprej določimo vrsto zemljepisnega objekta. Mestna četrt ni naselbinsko ime zgolj zato, ker tam živijo ljudje. Nato primerjamo kodifikacijo SP 2001 s predlogom P8. Novo mesto ostaja ustrezna oblika v okviru SP 2001; predlog novega zapisa ne spremeni za nazaj starega odgovora v napako. Dodatek v Slovenskih goricah ohranja svojo notranjo imensko zgradbo. Študenti naj v vsakem zgledu označijo, kaj je samostojno lastno ime.</a:t>
            </a:r>
          </a:p>
          <a:p/>
          <a:p>
            <a:r>
              <a:t>VIRI</a:t>
            </a:r>
          </a:p>
          <a:p>
            <a:r>
              <a:t>SP 2001: § 69–74, str. 13–14</a:t>
            </a:r>
          </a:p>
          <a:p>
            <a:r>
              <a:t>Pravopis 8.0, predlog: Velika in mala začetnica {52–53}, PDF 24–25</a:t>
            </a:r>
          </a:p>
          <a:p/>
          <a:p>
            <a:r>
              <a:t>RAZLAGA IZ SKRIPTE · 5.2 Vrsta poimenovanja in začetnica</a:t>
            </a:r>
          </a:p>
          <a:p>
            <a:r>
              <a:t> Naselbinsko ali nenaselbinsko ime?</a:t>
            </a:r>
          </a:p>
          <a:p/>
          <a:p>
            <a:r>
              <a:t>SP 2001 med naselbinska uvršča imena mest, vasi, trgov in zaselkov; druga zemljepisna imena obravnava kot nenaselbinska. Ime mestne četrti zato ni naselbinsko ime zgolj zato, ker tam živijo ljudje. Razvrstitev je pogoj za uporabo pravila.</a:t>
            </a:r>
          </a:p>
          <a:p/>
          <a:p>
            <a:r>
              <a:t>Po SP 2001 v naselbinskih imenih pišemo sestavine z veliko, razen neprvih predlogov in izjem, kot so mesto, vas, trg, selo: Škofja Loka, Most na Soči, Novo mesto. Pri nenaselbinskih imenih pišemo z veliko prvo sestavino in nadaljnje sestavine, ki so same lastna imena: Bohinjsko jezero, vendar Julijske Alpe. V imenu Gradišče v Slovenskih goricah predložni dodatek ohrani zapis nenaselbinskega imena. (SP 2001, § 69–74, str. 13–14.)</a:t>
            </a:r>
          </a:p>
          <a:p/>
          <a:p>
            <a:r>
              <a:t>Primerjava s predlogom. Pravopis 8.0 predlaga Novo Mesto, Gorenja Vas, Opatje Selo. Nekrajevni identifikacijski dodatek še vedno obravnava po svojem pravilu: Gradišče v Slovenskih goricah. V tej skripti oblike Novo mesto po SP 2001 zato ne popravljamo brez navedbe drugega normativnega okvira. (Pravopis 8.0 – predlog, Velika in mala začetnica, {52–53}, PDF-str. 24–25.)</a:t>
            </a:r>
          </a:p>
          <a:p/>
          <a:p>
            <a:r>
              <a:t> Sakralni objekti in priznanja</a:t>
            </a:r>
          </a:p>
          <a:p/>
          <a:p>
            <a:r>
              <a:t>Pri sakralnih objektih ločimo opis stavbe s podatkom o posvetitvi od njenega imenskega poimenovanja. V zvezi cerkev sv. Primoža beseda cerkev označuje vrsto objekta, sv. pa je okrajšani pridevnik ob osebnem imenu. Ko stavbo ali kompleks poimenujemo s skrajšanim imenom Sv. Primož, se spremeni meja imena in s tem začetnica.</a:t>
            </a:r>
          </a:p>
          <a:p/>
          <a:p>
            <a:r>
              <a:t>Pri konkretnem primeru nad Kamnikom svetovalnica utemeljuje veliko začetnico tudi brez domneve, da je Sv. Primož uradno ime hriba. Ob tem razlikuje med cerkvijo oziroma romarskim območjem in vzpetino; za knjižno poimenovanje poti predlaga k Sv. Primožu. Iz lokalno razširjene zveze s predlogom na zato ne izpeljemo avtomatičnega pravila za vse podobne kraje. Dobrovoljc in Lengar Verovnik: Sv. Primož nad Kamnikom – velika začetnica — https://svetovalnica.zrc-sazu.si/topic/7362/sv-primo%C5%BE-nad-kamnikom-velika-za%C4%8Detnica.</a:t>
            </a:r>
          </a:p>
          <a:p/>
          <a:p>
            <a:r>
              <a:t>Ta primer pokaže, zakaj moramo pred popravljanjem preveriti tudi stvarno predpostavko vprašanja. Če nekdo vpraša, kako zapisati »ime hriba«, hrib pa v resnici ni poimenovani objekt, bi pravilno pravilo uporabili za napačno stvar.</a:t>
            </a:r>
          </a:p>
          <a:p/>
          <a:p>
            <a:r>
              <a:t>Pri nagradah in priznanjih ne sklepamo po slovesnosti dogodka ali grafični podobi priznanja. Zvezo jabolko navdiha v tekočem besedilu pišemo z malo začetnico. Morebitna lastnoimenska sestavina ohrani svojo začetnico: nagrada Prešernovega sklada. Razlika torej ni med pomembnim in manj pomembnim priznanjem. Lengar Verovnik: Ali se »jabolko navdiha« zapisuje z veliko ali malo začetnico? — https://svetovalnica.zrc-sazu.si/topic/7571/ali-se-jabolko-navdiha-zapisuje-z-veliko-ali-malo-za%C4%8Detnico.</a:t>
            </a:r>
          </a:p>
          <a:p/>
          <a:p>
            <a:r>
              <a:t>Razčlenjen zgled</a:t>
            </a:r>
          </a:p>
          <a:p/>
          <a:p>
            <a:r>
              <a:t>&gt; Prejemnica je dobila priznanje jabolko navdiha.</a:t>
            </a:r>
          </a:p>
          <a:p/>
          <a:p>
            <a:r>
              <a:t>Odločitev utemeljimo takole: zveza poimenuje priznanje; začetnice ne določa njegov državni ali slavnostni pomen; v poimenovanju ni osebnega imena ali iz njega tvorjenega svojilnega pridevnika. Zato velike začetnice ne dodamo. Razlaga »ker ni dovolj pomembno« bi bila napačna, četudi bi zapis po naključju zadela.</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Cerkev sv. Primoža ali Sv. Primož?</a:t>
            </a:r>
          </a:p>
          <a:p/>
          <a:p>
            <a:r>
              <a:t>Povezava s skripto: 5.2</a:t>
            </a:r>
          </a:p>
          <a:p/>
          <a:p>
            <a:r>
              <a:t>ZA IZVEDBO</a:t>
            </a:r>
          </a:p>
          <a:p>
            <a:r>
              <a:t>Sakralni zgled zahteva tudi stvarno preverjanje: poimenovani objekt ni nujno hrib, čeprav vprašanje to predpostavlja. Pri konkretnem primeru nad Kamnikom svetovalnica razlikuje cerkev oziroma romarsko območje od vzpetine in utemelji veliko začetnico brez domneve o uradnem imenu hriba. Predlagana knjižna zveza je k Sv. Primožu. Lokalno zvezo s predlogom na opišemo v njenem okolju; iz nje ne izpeljemo splošnega pravila za podobna imena.</a:t>
            </a:r>
          </a:p>
          <a:p/>
          <a:p>
            <a:r>
              <a:t>VIRI</a:t>
            </a:r>
          </a:p>
          <a:p>
            <a:r>
              <a:t>Dobrovoljc in Lengar Verovnik: Sv. Primož nad Kamnikom – velika začetnica</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Slovesnost priznanja ne določa začetnice</a:t>
            </a:r>
          </a:p>
          <a:p/>
          <a:p>
            <a:r>
              <a:t>Povezava s skripto: 5.2</a:t>
            </a:r>
          </a:p>
          <a:p/>
          <a:p>
            <a:r>
              <a:t>ZA IZVEDBO</a:t>
            </a:r>
          </a:p>
          <a:p>
            <a:r>
              <a:t>Na glas preberemo celotno poved in vprašamo, kaj poimenuje zveza jabolko navdiha. Razlog za malo začetnico ni manjša pomembnost priznanja. Grafična podoba listine tudi ni pravilo za tekoče besedilo. Nato primerjamo nagrada Prešernovega sklada: lastnoimenska sestavina ohrani začetnico znotraj zveze. Cilj razlage je razlikovati pravilni zapis od napačne utemeljitve, ki bi po naključju pripeljala do istega zapisa.</a:t>
            </a:r>
          </a:p>
          <a:p/>
          <a:p>
            <a:r>
              <a:t>VIRI</a:t>
            </a:r>
          </a:p>
          <a:p>
            <a:r>
              <a:t>Lengar Verovnik: Ali se »jabolko navdiha« zapisuje z veliko ali malo začetnico?</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FIFA in Fifa: tri preverjene možnosti</a:t>
            </a:r>
          </a:p>
          <a:p/>
          <a:p>
            <a:r>
              <a:t>Povezava s skripto: 5.3</a:t>
            </a:r>
          </a:p>
          <a:p/>
          <a:p>
            <a:r>
              <a:t>ZA IZVEDBO</a:t>
            </a:r>
          </a:p>
          <a:p>
            <a:r>
              <a:t>Kratice niso samodejno nesklonljive. Najprej razlikujemo črkovalni izgovor od izgovora kot besede, nato način zapisa in pregibanja. SP 2001 že pozna prehod UNESCO–Unesco; tabela za FIFA ni dokaz povsem novega načela. Enako velja za FIBA: FIBE, nespremenjeno FIBA ali Fiba–Fibe. Študenti naj izberejo en način za zamišljeni odstavek in ga ohranijo. Doslednost je uredniška odločitev znotraj dopustnih možnosti, ne samostojen dokaz pravilnosti.</a:t>
            </a:r>
          </a:p>
          <a:p/>
          <a:p>
            <a:r>
              <a:t>VIRI</a:t>
            </a:r>
          </a:p>
          <a:p>
            <a:r>
              <a:t>SP 2001: § 120–122, str. 17</a:t>
            </a:r>
          </a:p>
          <a:p>
            <a:r>
              <a:t>Vranjek Ošlak: Zapis kratic: »FIFA« ali »Fifa«</a:t>
            </a:r>
          </a:p>
          <a:p/>
          <a:p>
            <a:r>
              <a:t>RAZLAGA IZ SKRIPTE · 5.3 Kratice: izgovor, zapis in sklanjanje</a:t>
            </a:r>
          </a:p>
          <a:p>
            <a:r>
              <a:t>Kratice lahko izgovarjamo črkovalno, torej z imeni črk, ali nečrkovalno, kot besedo. Ta razlika sodeluje pri njihovem vključevanju v slovnico. Pri FIBA in FIFA je posebej uporabno razlikovati med ohranjenim kratičnim zapisom in prehodom med navadno zapisano lastnoimensko besedje.</a:t>
            </a:r>
          </a:p>
          <a:p/>
          <a:p>
            <a:r>
              <a:t>SP 2001 že predvideva prehod kratičnega zapisa v navadno lastnoimensko pisavo, npr. UNESCO – Unesco, in pregibanje z menjavo zadnjega samoglasnika (§ 120–122, str. 17). Ne gre torej za domnevo, da kratic nikoli ne pregibamo. Svetovalnica za FIFA dopušča naslednje možnosti:</a:t>
            </a:r>
          </a:p>
          <a:p/>
          <a:p>
            <a:r>
              <a:t>| Način zapisa in pregibanja | Imenovalnik | Rodilnik |</a:t>
            </a:r>
          </a:p>
          <a:p>
            <a:r>
              <a:t>|---|---|---|</a:t>
            </a:r>
          </a:p>
          <a:p>
            <a:r>
              <a:t>| Velike črke, glasovno pregibanje | FIFA | FIFE |</a:t>
            </a:r>
          </a:p>
          <a:p>
            <a:r>
              <a:t>| Velike črke, ničto pregibanje | FIFA | FIFA |</a:t>
            </a:r>
          </a:p>
          <a:p>
            <a:r>
              <a:t>| Zapis kot pri navadnem lastnem imenu | Fifa | Fife |</a:t>
            </a:r>
          </a:p>
          <a:p/>
          <a:p>
            <a:r>
              <a:t>Enako velja za FIBA: FIBE, nespremenjeno FIBA ali Fiba – Fibe. Zapis Fiba je torej utemeljena možnost. Vranjek Ošlak: Zapis kratic: »FIFA« ali »Fifa« — https://svetovalnica.zrc-sazu.si/topic/6531/zapis-kratic-fifa-ali-fifa.</a:t>
            </a:r>
          </a:p>
          <a:p/>
          <a:p>
            <a:r>
              <a:t>V urejenem besedilu izbrani način uporabljamo dosledno. Če sklanjamo po vzorcu Fifa – Fife, ne preklapljamo brez razloga med tem vzorcem in drugimi. Doslednost je uredniška odločitev znotraj dopustnih možnosti. Sama po sebi pa ne dokazuje, da je neki način ustrezen: tudi napako je mogoče ponavljati dosledno.</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Tri različne spremembe ob pregibanju</a:t>
            </a:r>
          </a:p>
          <a:p/>
          <a:p>
            <a:r>
              <a:t>Povezava s skripto: 5.4</a:t>
            </a:r>
          </a:p>
          <a:p/>
          <a:p>
            <a:r>
              <a:t>ZA IZVEDBO</a:t>
            </a:r>
          </a:p>
          <a:p>
            <a:r>
              <a:t>Pri domačem Marku sta govorjena in pisna osnova pregledni. Pri tujem imenu pa ne smemo najprej rezati črk in šele nato ugibati izgovora. Locke in Moore izgubita nemi končni e, Wallace in George pa ga ohranita zaradi označevanja izgovora: Wallacea, Georgea. To razliko povemo ob zadnji vrstici. Študenti naj za vsako spremembo določijo, ali zadeva glasovno osnovo, slovnično končnico ali samo pisavo.</a:t>
            </a:r>
          </a:p>
          <a:p/>
          <a:p>
            <a:r>
              <a:t>VIRI</a:t>
            </a:r>
          </a:p>
          <a:p>
            <a:r>
              <a:t>SP 2001: § 771–784, str. 89–91</a:t>
            </a:r>
          </a:p>
          <a:p>
            <a:r>
              <a:t>Vranjek Ošlak in Lengar Verovnik: Sklanjanje priimkov »Locke« in »Moore«</a:t>
            </a:r>
          </a:p>
          <a:p/>
          <a:p>
            <a:r>
              <a:t>RAZLAGA IZ SKRIPTE · 5.4 Pisna in govorjena osnova</a:t>
            </a:r>
          </a:p>
          <a:p>
            <a:r>
              <a:t>Pri domačem imenu Marko sta pisna in govorjena podoba razmeroma pregledni. V rodilniku Marka prepoznamo osnovo Mark- in končnico -a. Pri tujih imenih je lahko ista glasovna vrednost zapisana z več črkami, posamezna črka pa se sploh ne izgovarja. Pisna osnova zato ni nujno neposreden prepis govorjene osnove.</a:t>
            </a:r>
          </a:p>
          <a:p/>
          <a:p>
            <a:r>
              <a:t>Najprej določimo izgovor celotnega imena, nato njegovo izglasje in osnovo pri pregibanju. Šele potem določamo, kako bomo glasovno obliko zapisali. Pri imenu, ki se v različnih jezikih izgovarja različno, navedba jezika ni dodatna zanimivost: spremeni lahko sam postopek.</a:t>
            </a:r>
          </a:p>
          <a:p/>
          <a:p>
            <a:r>
              <a:t>Koristno je ločiti tri pojave:</a:t>
            </a:r>
          </a:p>
          <a:p/>
          <a:p>
            <a:r>
              <a:t>| Pojav | Kaj se zgodi? | Pregleden zgled |</a:t>
            </a:r>
          </a:p>
          <a:p>
            <a:r>
              <a:t>|---|---|---|</a:t>
            </a:r>
          </a:p>
          <a:p>
            <a:r>
              <a:t>| Menjava končnice | Osnova ostane, spremeni se sklonska končnica. | Marko – Marka |</a:t>
            </a:r>
          </a:p>
          <a:p>
            <a:r>
              <a:t>| Daljšanje osnove | Pred končnico se pojavi dodatni glas. | Dante – Danteja |</a:t>
            </a:r>
          </a:p>
          <a:p>
            <a:r>
              <a:t>| Samo pisno krajšanje | Izpustimo neizgovorjeno končno črko. | Locke – Locka |</a:t>
            </a:r>
          </a:p>
          <a:p/>
          <a:p>
            <a:r>
              <a:t>Pri zadnjem pojavu ne črtamo vseh nemih črk. Končni e v imenih Locke in Moore odpade, v imenu Wallace pa ga ohranimo: Wallacea. V tem primeru sodeluje pri označevanju izgovora črke c. Podobno dobimo Georgea. Vranjek Ošlak in Lengar Verovnik: Sklanjanje priimkov »Locke« in »Moore« — https://svetovalnica.zrc-sazu.si/topic/5586/sklanjanje-priimkov-locke-in-moore.</a:t>
            </a:r>
          </a:p>
          <a:p/>
          <a:p>
            <a:r>
              <a:t>Pri vsakem zapisu ugotavljamo, kaj črka označuje in kako ime v slovenščini pregibamo. SP 2001 razlikuje pisno in glasovno krajšanje ter daljšanje osnove (§ 771–784, str. 89–91). To je uporabnejši opis od splošnega napotka, naj »odrežemo zadnjo črko«.</a:t>
            </a:r>
          </a:p>
          <a:p/>
          <a:p>
            <a:r>
              <a:t> Isti zapis, drugačen izgovor: Guy</a:t>
            </a:r>
          </a:p>
          <a:p/>
          <a:p>
            <a:r>
              <a:t>Razliko lahko preverimo z imenom, pri katerem se spremeni samo jezikovno izhodišče:</a:t>
            </a:r>
          </a:p>
          <a:p/>
          <a:p>
            <a:r>
              <a:t>| Ime in izgovor | Rodilnik | Svojilni pridevnik |</a:t>
            </a:r>
          </a:p>
          <a:p>
            <a:r>
              <a:t>|---|---|---|</a:t>
            </a:r>
          </a:p>
          <a:p>
            <a:r>
              <a:t>| Francosko Guy [gí] | Guyja [gíja] | Guyjev |</a:t>
            </a:r>
          </a:p>
          <a:p>
            <a:r>
              <a:t>| Angleško Guy [gáj] | Guya [gája] | Guyev |</a:t>
            </a:r>
          </a:p>
          <a:p/>
          <a:p>
            <a:r>
              <a:t>Obe izhodišči sta v ePravopisu 2025 obravnavani v ločenih sestavkih Guy¹ in Guy² (str. 91–93, status Predlog). Pri francoskem imenu končni y označuje [i]; ob pregibanju se osnova podaljša z [j], ki ga tudi zapišemo. Pri angleškem imenu je [j] že del imenovalniške osnove in ga označuje y. Zato dodatnega j ne zapisujemo. Pri obeh pridevnikih se za govorjenim [j] pojavi -ev.</a:t>
            </a:r>
          </a:p>
          <a:p/>
          <a:p>
            <a:r>
              <a:t>Predstavljajmo si uredniško vprašanje: »V besedilu sta Guyja in Guya. Katera oblika je napačna?« Brez podatka o nosilcu imena in izgovoru vprašanje še nima ene rešitve. Slovnična analiza se začne s podatkom, ki ga moramo pridobiti, ne s samodejnim poenotenjem obeh zapisov.</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Guy: zapis je isti, postopek ni</a:t>
            </a:r>
          </a:p>
          <a:p/>
          <a:p>
            <a:r>
              <a:t>Povezava s skripto: 5.4</a:t>
            </a:r>
          </a:p>
          <a:p/>
          <a:p>
            <a:r>
              <a:t>ZA IZVEDBO</a:t>
            </a:r>
          </a:p>
          <a:p>
            <a:r>
              <a:t>Primer ohranja isto imenovalniško pisavo, zato dobro razkrije pomen jezikovnega izhodišča. Pri francoskem Guy črka y označuje i; dodani j je del podaljšanja in ga tudi zapišemo. Pri angleškem Guy pa y že označuje končni j. Pri obeh svojilnih pridevnikih je govorjeno izglasje podlaga za ev. Navedeni obliki sta iz ločenih sestavkov ePravopisa 2025 s statusom Predlog. Brez podatka o nosilcu in izgovoru zapisov ne poenotimo.</a:t>
            </a:r>
          </a:p>
          <a:p/>
          <a:p>
            <a:r>
              <a:t>VIRI</a:t>
            </a:r>
          </a:p>
          <a:p>
            <a:r>
              <a:t>ePravopis 2025: Guy¹, Guy², 91–93; Predlog</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Spol in sestavine večbesednega imena</a:t>
            </a:r>
          </a:p>
          <a:p/>
          <a:p>
            <a:r>
              <a:t>Povezava s skripto: 5.5</a:t>
            </a:r>
          </a:p>
          <a:p/>
          <a:p>
            <a:r>
              <a:t>ZA IZVEDBO</a:t>
            </a:r>
          </a:p>
          <a:p>
            <a:r>
              <a:t>Zadnja črka sama ne določa spola. Pri ženskem imenu Beatrice lahko različni skloni ostanejo glasovno enaki, vendar zato ne izginejo. Pri Jeanu Guyotu de Châteletu pa razmejimo tri pregibne sestavine in predimek de. Svetovalnica za konkretno ime priporoča rodilnik Jeana Guyota de Châteleta, ob opozorilu na neenotnost starejših podobnih obravnav. Zemljepisnega izvora priimka ne uporabimo kot razloga za samovoljni prevod s predlogom iz.</a:t>
            </a:r>
          </a:p>
          <a:p/>
          <a:p>
            <a:r>
              <a:t>VIRI</a:t>
            </a:r>
          </a:p>
          <a:p>
            <a:r>
              <a:t>ePravopis: Beatrice; Predlog</a:t>
            </a:r>
          </a:p>
          <a:p>
            <a:r>
              <a:t>Dobrovoljc: Sklanjanje imen s predimki: »Jean Guyot de Châtelet«</a:t>
            </a:r>
          </a:p>
          <a:p/>
          <a:p>
            <a:r>
              <a:t>RAZLAGA IZ SKRIPTE · 5.5 Spol in večbesedna osebna imena</a:t>
            </a:r>
          </a:p>
          <a:p>
            <a:r>
              <a:t>Pri osebnih imenih najprej ugotovimo, koga poimenujejo. Končni -a sam ne zagotavlja ženskega spola: Luka in Miha sta moški imeni. Tudi tuje žensko ime se lahko končuje drugače kot najpogostejša slovenska ženska imena. Spola zato ne ugibamo samo po zapisu.</a:t>
            </a:r>
          </a:p>
          <a:p/>
          <a:p>
            <a:r>
              <a:t>Ničto pregibanje pomeni, da različni skloni nimajo različnih glasovnih končnic. To ne pomeni, da beseda nima sklona. V zvezah z Beatrice in o Beatrice sklon določa skladenjska zveza, čeprav ime ostane enako. Pri italijanskem imenu to prikazuje tudi predlog slovarskega sestavka v ePravopisu: Beatrice — https://fran.si/135/epravopis-slovenski-pravopis/4578435/beatrice.</a:t>
            </a:r>
          </a:p>
          <a:p/>
          <a:p>
            <a:r>
              <a:t>Pri večbesednem moškem imenu najprej razmejimo njegove sestavine. Predimek, denimo de, nima enake vloge kot ime ali priimek. Zemljepisni izvor priimka sam po sebi še ne pomeni, da v slovenskem osebnem imenu ostaja nesklonljiv.</a:t>
            </a:r>
          </a:p>
          <a:p/>
          <a:p>
            <a:r>
              <a:t>Razčlenjen zgled</a:t>
            </a:r>
          </a:p>
          <a:p/>
          <a:p>
            <a:r>
              <a:t>&gt; Poslušali smo skladbo Jeana Guyota de Châteleta.</a:t>
            </a:r>
          </a:p>
          <a:p/>
          <a:p>
            <a:r>
              <a:t>V rodilnik postavimo Jean, Guyot in Châtelet; predimek de ohranimo. To rešitev za konkretno ime priporoča svetovalnica, ki hkrati opozori, da starejši pravopisni slovar podobnih imen ne obravnava povsem enotno. Dobrovoljc: Sklanjanje imen s predimki: »Jean Guyot de Châtelet« — https://svetovalnica.zrc-sazu.si/topic/7588/sklanjanje-imen-s-predimki-jean-guyot-de-ch%C3%A2telet.</a:t>
            </a:r>
          </a:p>
          <a:p/>
          <a:p>
            <a:r>
              <a:t>Imena pri tem ne prevajamo samovoljno v zvezo z iz. Priimkovna sestavina je del poimenovanja osebe; njen zgodovinski pomen in današnja slovnična obravnava nista ista stvar.</a:t>
            </a:r>
          </a:p>
          <a:p/>
          <a:p>
            <a:r>
              <a:t>Pri izražanju svojine ločimo dvojno rojstno ime od zveze rojstnega imena in priimka. Po SP 2001 iz dvojnega rojstnega imena Franc Jožef tvorimo Francjožefov, iz Ana Marija pa Anamarijin. Pri zvezi imena in priimka praviloma uporabimo rodilnik: pesmi Franceta Prešerna. Ne sestavimo oblike Francetov Prešernov. (SP 2001, § 961, 966–970, str. 114–115.)</a:t>
            </a:r>
          </a:p>
          <a:p/>
          <a:p>
            <a:r>
              <a:t>Predlog Pravopisa 8.0 pri dvojnih rojstnih imenih ohranja ločeni zapis: Franc Jožefov. To je sprememba načina zapisa tvorjenke; ne pomeni, da bi enak postopek brez omejitev prenesli na ime in priimek. (Besedotvorni oris, {200–202}, PDF-str. 283–284.)</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Dvojno rojstno ime ni ime s priimkom</a:t>
            </a:r>
          </a:p>
          <a:p/>
          <a:p>
            <a:r>
              <a:t>Povezava s skripto: 5.5</a:t>
            </a:r>
          </a:p>
          <a:p/>
          <a:p>
            <a:r>
              <a:t>ZA IZVEDBO</a:t>
            </a:r>
          </a:p>
          <a:p>
            <a:r>
              <a:t>Pred tvorjenjem svojilnega pridevnika potrebujemo razvrstitev večbesednega osebnega imena. SP 2001 pri dvojnem rojstnem imenu predpisuje strnjeno tvorjenko, predlog P8 pa ločen zapis. To razliko ohranimo označeno z virom. Zveza imena in priimka je drug primer: uporabimo pesmi Franceta Prešerna, ne dveh zaporednih svojilnih pridevnikov. Študenti naj najprej povedo, kateri tip poimenovanja imajo, in šele nato izberejo zapis.</a:t>
            </a:r>
          </a:p>
          <a:p/>
          <a:p>
            <a:r>
              <a:t>VIRI</a:t>
            </a:r>
          </a:p>
          <a:p>
            <a:r>
              <a:t>SP 2001: § 961, 966–970, str. 114–115</a:t>
            </a:r>
          </a:p>
          <a:p>
            <a:r>
              <a:t>Pravopis 8.0, predlog: Besedotvorni oris {200–202}, PDF 283–284</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Svojilno obrazilo in sklonska končnica</a:t>
            </a:r>
          </a:p>
          <a:p/>
          <a:p>
            <a:r>
              <a:t>Povezava s skripto: 5.6</a:t>
            </a:r>
          </a:p>
          <a:p/>
          <a:p>
            <a:r>
              <a:t>ZA IZVEDBO</a:t>
            </a:r>
          </a:p>
          <a:p>
            <a:r>
              <a:t>Primerjavo začnemo z o Markovem prevodu: ov je besedotvorna sestavina, em pa sklonska. Tabela predstavlja osnovne kontraste, ne mehaničnega pravila po zadnji zapisani črki. Pri Mary končni y označuje i; pred in se pojavi j. Pri Enya pa y označuje soglasnik j, zato samo črka y ne upravičuje dodatnega vstavljanja. V modelu Vidovič Muhe izraz celotno priponsko obrazilo vključuje tudi končnico; skrajšani zapis tukaj poimenuje prepoznavno obrazilno sestavino.</a:t>
            </a:r>
          </a:p>
          <a:p/>
          <a:p>
            <a:r>
              <a:t>VIRI</a:t>
            </a:r>
          </a:p>
          <a:p>
            <a:r>
              <a:t>SP 2001: § 956–960</a:t>
            </a:r>
          </a:p>
          <a:p>
            <a:r>
              <a:t>Vidovič Muha 2011: 99, op. 87</a:t>
            </a:r>
          </a:p>
          <a:p>
            <a:r>
              <a:t>Lengar Verovnik in Dobrovoljc: Tuja osebna imena in njihovi svojilni pridevniki</a:t>
            </a:r>
          </a:p>
          <a:p/>
          <a:p>
            <a:r>
              <a:t>RAZLAGA IZ SKRIPTE · 5.6 Svojilni pridevniki: obrazilo izberemo glede na osnovo</a:t>
            </a:r>
          </a:p>
          <a:p>
            <a:r>
              <a:t>Svojilni pridevnik povezuje nekaj z določeno osebo: Markov prevod, Anina razlaga, Alešev članek. Tvorimo novo besedo, zato moramo ločiti besedotvorno obrazilo od sklonske končnice. V zvezi o Markovem prevodu je del -ov- povezan s tvorbo svojilnega pridevnika, del -em pa z njegovo sklonsko obliko.</a:t>
            </a:r>
          </a:p>
          <a:p/>
          <a:p>
            <a:r>
              <a:t>Osnovni kontrast je:</a:t>
            </a:r>
          </a:p>
          <a:p/>
          <a:p>
            <a:r>
              <a:t>| Izhodišče | Tvorba | Kaj pojasnimo? |</a:t>
            </a:r>
          </a:p>
          <a:p>
            <a:r>
              <a:t>|---|---|---|</a:t>
            </a:r>
          </a:p>
          <a:p>
            <a:r>
              <a:t>| Moško ime Marko | Markov | Obrazilo -ov dodamo osnovi Mark-. |</a:t>
            </a:r>
          </a:p>
          <a:p>
            <a:r>
              <a:t>| Moško ime Aleš | Alešev | Za govorjenim š se uveljavi preglas v -ev. |</a:t>
            </a:r>
          </a:p>
          <a:p>
            <a:r>
              <a:t>| Žensko ime Ana | Anin | Osnovi An- dodamo -in. |</a:t>
            </a:r>
          </a:p>
          <a:p>
            <a:r>
              <a:t>| Žensko ime Mary, izgovorjeno s končnim [i] | Maryjin | Pred -in se pojavi j. |</a:t>
            </a:r>
          </a:p>
          <a:p/>
          <a:p>
            <a:r>
              <a:t>Pri ženskih imenih razlikujemo tudi med črko y, ki predstavlja samoglasnik [i], in črko y, ki predstavlja soglasnik [j]. Dodatnega j ne vstavljamo zgolj zato, ker vidimo y. Svetovalnica ta kontrast razloži ob imenih Mary in Enya. Lengar Verovnik in Dobrovoljc: Tuja osebna imena in njihovi svojilni pridevniki — https://svetovalnica.zrc-sazu.si/topic/71/tuja-osebna-imena-in-njihovi-svojilni-pridevniki.</a:t>
            </a:r>
          </a:p>
          <a:p/>
          <a:p>
            <a:r>
              <a:t> Svojilno obrazilo in vrsta pomenskega razmerja</a:t>
            </a:r>
          </a:p>
          <a:p/>
          <a:p>
            <a:r>
              <a:t>Obrazilo -ov/-ev/-in nas še ne obvesti, ali govorimo o lastništvu, sorodstvu, vršilcu dejanja ali drugi povezanosti. Pri izpeljanem pridevniku razmerje ugotavljamo v zvezi s samostalniškim jedrom. Vidovič Muha razlago razmernih pridevnikov razvije s pretvorbo levega prilastka v desnega in po potrebi v stavčno zgradbo: en sam rodilnik lahko namreč prikriva različna razmerja. (Vidovič Muha 2013: 385–389.)</a:t>
            </a:r>
          </a:p>
          <a:p/>
          <a:p>
            <a:r>
              <a:t>| Zveza in predpostavljeni pomen | Razvita razlaga | Kaj razmerje pove? |</a:t>
            </a:r>
          </a:p>
          <a:p>
            <a:r>
              <a:t>|---|---|---|</a:t>
            </a:r>
          </a:p>
          <a:p>
            <a:r>
              <a:t>| Anin zvezek v pomenu lastnine | Ana ima zvezek v lasti. | Lastninsko razmerje. |</a:t>
            </a:r>
          </a:p>
          <a:p>
            <a:r>
              <a:t>| Anin brat | Ta človek je Anin brat; Ana ima brata. | Sorodstveno razmerje, brez trditve o lastništvu človeka. |</a:t>
            </a:r>
          </a:p>
          <a:p>
            <a:r>
              <a:t>| Anino prevajanje romana | Ana prevaja roman. | Ob dogodkovnem samostalniku je Ana vršilka. |</a:t>
            </a:r>
          </a:p>
          <a:p>
            <a:r>
              <a:t>| Anin prevod v kontekstu avtorstva | Ana je besedilo prevedla. | Povezanost osebe z rezultatom njenega dejanja. |</a:t>
            </a:r>
          </a:p>
          <a:p/>
          <a:p>
            <a:r>
              <a:t>Preglednica je učna uporaba pretvorbenega merila, ne seznam vseh pomenov svojilnih pridevnikov. Pri zadnji zvezi brez sobesedila niso izključene druge povezave, denimo lastništvo izvoda. Razlika je pomembna pri uredniškem posegu: prevod, ki ga je naredila Ana ni v vsakem besedilu zamenljiv s prevod, ki ga ima Ana.</a:t>
            </a:r>
          </a:p>
          <a:p/>
          <a:p>
            <a:r>
              <a:t>V dodatku k pomenoslovju je ponatisnjena starejša razprava o nekakovostnih pridevnikih. Avtorica v opombah izrecno dopolnjuje njeno terminologijo in razmerje do poznejše razlage pravih ter nepravih vrstnih pridevnikov (2013: 385). Tu prevzemamo njeno merilo razvijanja pomenskega razmerja; pri razvrščanju celotnega pridevniškega sistema ga povežemo z obravnavo v 2. in 4. poglavju.</a:t>
            </a:r>
          </a:p>
          <a:p/>
          <a:p>
            <a:r>
              <a:t>Začetnica v zgledih z Anin ostane povezana z individualnim svojilnim pridevnikom iz osebnega imena, ne z vprašanjem, ali gre za pravno lastnino. Pravopisni dokaz še vedno podamo posebej. Pri pregibanju nato osnovi pridevnika dodamo ustrezno končnico: An-in-o prevajanje – o An-in-em prevajanju. Vezaji v tem zapisu zaznamujejo analizo, ne običajnega zapisa. Pri natančnem branju terminologije Vidovič Muha je -in- priponski obrazilni morfem; njeno poimenovanje celotnega priponskega obrazila zajema tudi končnico. V preglednicah tvorjenja uporabljamo krajši zapis -in, -ov, -ev za prepoznavno besedotvorno sestavino. (Vidovič Muha 2011: 99, op. 87; SP 2001, § 115, 956–960.)</a:t>
            </a:r>
          </a:p>
          <a:p/>
          <a:p>
            <a:r>
              <a:t> Kaj nam pokaže rodilnik?</a:t>
            </a:r>
          </a:p>
          <a:p/>
          <a:p>
            <a:r>
              <a:t>Pri mnogih moških imenih je rodilnik uporaben vmesni korak: pokaže osnovo, ki jo potrebujemo tudi pri tvorbi pridevnika. Primerjajmo:</a:t>
            </a:r>
          </a:p>
          <a:p/>
          <a:p>
            <a:r>
              <a:t>| Ime | Rodilnik | Osnova za tvorbo | Svojilni pridevnik |</a:t>
            </a:r>
          </a:p>
          <a:p>
            <a:r>
              <a:t>|---|---|---|---|</a:t>
            </a:r>
          </a:p>
          <a:p>
            <a:r>
              <a:t>| Edi | Edija | Edij- | Edijev |</a:t>
            </a:r>
          </a:p>
          <a:p>
            <a:r>
              <a:t>| Tine | Tineta | Tinet- | Tinetov |</a:t>
            </a:r>
          </a:p>
          <a:p>
            <a:r>
              <a:t>| Gregor | Gregorja | Gregorj- | Gregorjev |</a:t>
            </a:r>
          </a:p>
          <a:p>
            <a:r>
              <a:t>| Peter | Petra | Petr- | Petrov |</a:t>
            </a:r>
          </a:p>
          <a:p/>
          <a:p>
            <a:r>
              <a:t>V prvih treh zgledih opazimo daljšanje osnove, pri Petru pa izpad polglasnika. Svojilno obrazilo izberemo ob dobljeni osnovi: za govorjenimi c, j, č, ž, š, dž se -ov preglasi v -ev. Tako Gregorjev pojasnimo z osnovo Gregorj-, ne z domnevo, da vsak zapisani r zahteva -ev. Mirtič: Svojilni pridevniki iz lastnih imen: »Edijev«, »Tinetov« in »Gregorjev« — https://svetovalnica.zrc-sazu.si/topic/2046/svojilni-pridevniki-iz-lastnih-imen-edijev-tinetov-in-gregorjev.</a:t>
            </a:r>
          </a:p>
          <a:p/>
          <a:p>
            <a:r>
              <a:t>Pri tujih imenih nato posebej preverimo zapis. Angleški Nye [naj] ima rodilnik Nya in svojilni pridevnik Nyev [najev-]. Končni nemi e pri pregibanju odpade. Črka y tu že označuje [j], zato ne dodajamo še enega j; zapis Nyev vsebuje preglašeno obrazilo -ev. Dobrovoljc: Kakšen je svojilni pridevnik iz priimka »Nye«? — https://svetovalnica.zrc-sazu.si/topic/1197/kak%C5%A1en-je-svojilni-pridevnik-iz-priimka-nye.</a:t>
            </a:r>
          </a:p>
          <a:p/>
          <a:p>
            <a:r>
              <a:t> Kaj se razlikuje pri dvojnicah?</a:t>
            </a:r>
          </a:p>
          <a:p/>
          <a:p>
            <a:r>
              <a:t>Iz francoskega imena Renault sta mogoča zapisa Renaultov in Renaultev, v izgovoru pa se v obeh uresniči osnova z j in preglašeno obrazilo. To ni novost predloga: SP 2001 v § 960, str. 114, za tak tip že dopušča pisni obrazili -ov/-ev ob govorjenem -ev. Konkretni primer razloži Vranjek Ošlak: Svojilni pridevnik iz imena »Renault« — https://svetovalnica.zrc-sazu.si/topic/4330/svojilni-pridevnik-iz-imena-renault.</a:t>
            </a:r>
          </a:p>
          <a:p/>
          <a:p>
            <a:r>
              <a:t>Tudi končnega govorjenega [a] ne obravnavamo samodejno kot končnico, ki jo odstranimo. Francoski Dumas [dima] ima svojilni obliki Dumasov/Dumasev, obe z govorjeno osnovo [dimaj-] in preglašenim obrazilom. Isti svetovalnični odgovor — https://svetovalnica.zrc-sazu.si/topic/4330/svojilni-pridevnik-iz-imena-renault ta zgled navaja ob pravilu SP 2001. Odločilna je osnova pri pregibanju, ne podobnost zadnjega glasu z domačo končnico.</a:t>
            </a:r>
          </a:p>
          <a:p/>
          <a:p>
            <a:r>
              <a:t>Podobno pri francoskem Lavoisier [lavoazje] govorjeno osnovo podaljšamo z j, v pisavi pa dodatnega j ne vstavljamo: Lavoisierov/Lavoisierev, izgovorjeno [lavoazjejev-]. Končni r v izhodišču ni izgovorjen. Zato tega imena ne obravnavamo enako kot Gregor. Dobrovoljc: Svojilni pridevnik iz francoskega priimka »Lavoisier« — https://svetovalnica.zrc-sazu.si/topic/2898/svojilni-pridevnik-iz-francoskega-priimka-lavoisier/1.</a:t>
            </a:r>
          </a:p>
          <a:p/>
          <a:p>
            <a:r>
              <a:t>Pisna podoba je pomembna tudi pri imenih z govorjenim [c]. Za nemški Franz SP 2001 navaja Frančev, tudi Franzev; pri Fritzu Fričev, tudi Fritzev. V obeh parih je predviden izgovor s [č]. Prve pisne oblike bolj pokažejo glasovno premeno, druge bolj ohranijo prepoznavnost izhodiščnega imena. Svetovalnica opozarja, da se prednostna pravopisna rešitev v rabi ni povsem uveljavila. Zapisani možnosti zato predstavimo skupaj z njunim virom in izgovorom. Dobrovoljc, Weiss in Vranjek Ošlak: Sklanjanje imena »Franz Liszt« — https://svetovalnica.zrc-sazu.si/topic/5691/sklanjanje-imena-franz-liszt.</a:t>
            </a:r>
          </a:p>
          <a:p/>
          <a:p>
            <a:r>
              <a:t>Pri Auberju ePravopis 2025 navaja drugačen tip dvojničnosti: Auberja/Aubera in temu ustrezno Auberjev/Auberov, z izgovoroma [obêrjev-]/[obêrov-] (str. 29–30). Tu se razlikujeta tudi govorjeni osnovi. Pri branju dvojnic torej vedno vprašamo: se razlikuje samo zapis ali tudi izgovor in pregibanje?</a:t>
            </a:r>
          </a:p>
          <a:p/>
          <a:p>
            <a:r>
              <a:t> Beatrice: isti zapis, različni jezikovni izhodišči</a:t>
            </a:r>
          </a:p>
          <a:p/>
          <a:p>
            <a:r>
              <a:t>Pri italijanskem izgovoru [beatríče] je svojilni pridevnik Beatricin, izgovorjen [beatríčin]. Končni govorjeni e odpade, črka c pred i pa še naprej označuje [č]. Obliko navaja SP 2001 v § 962, str. 114; italijansko izgovorno izhodišče pokaže preglednica na str. 155. Ista oblika je tudi v spletnem sestavku Beatricin v ePravopisu — https://fran.si/135/epravopis-slovenski-pravopis/4578436/beatricin.</a:t>
            </a:r>
          </a:p>
          <a:p/>
          <a:p>
            <a:r>
              <a:t>Pri angleškem izgovoru s končnim [s] — v izpitnem prepisu [biatris] — končni e ni samoglasnik, ki bi ga izgovorili. Sodobna strokovna obravnava zato razlikuje ta tip in navaja Beatricein: nemi e ohranja zaradi pisnega označevanja izgovora c. To razčlenitev najdemo pri Dobrovoljc in Lengar Verovnik, Unikatna, tuja in večbesedna ženska rojstna imena — https://omp.zrc-sazu.si/zalozba/catalog/download/1219/5156/1254-1?inline=1.</a:t>
            </a:r>
          </a:p>
          <a:p/>
          <a:p>
            <a:r>
              <a:t>To nista poljubno zamenljiva zapisa za isti izgovor. Navedemo jezikovno izhodišče in vir. Spletnih sestavkov Beatrice/Beatricin tudi ne zamenjamo z letno izdajo ePravopisa 2025: v tej izdaji ju ni.</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Svojilna oblika ne pomeni samo lastnine</a:t>
            </a:r>
          </a:p>
          <a:p/>
          <a:p>
            <a:r>
              <a:t>Povezava s skripto: 5.6</a:t>
            </a:r>
          </a:p>
          <a:p/>
          <a:p>
            <a:r>
              <a:t>ZA IZVEDBO</a:t>
            </a:r>
          </a:p>
          <a:p>
            <a:r>
              <a:t>Tabelo uporabimo kot pretvorbeni preizkus, ne kot izčrpni seznam vseh pomenov. Vsak levi prilastek povežemo s samostalniškim jedrom in razvijemo razmerje. Pri Aninem prevodu izrecno potrebujemo kontekst avtorstva; drugje je mogoče lastništvo izvoda. Pri dogodkovnem prevajanju Ana nastopa kot vršilka. Merilo je povzeto po Vidovič Muhi, katere starejša razprava v dodatku vsebuje poznejše terminološke dopolnitve. Začetnico individualnega svojilnega pridevnika utemeljimo posebej s pravopisnim pravilom.</a:t>
            </a:r>
          </a:p>
          <a:p/>
          <a:p>
            <a:r>
              <a:t>VIRI</a:t>
            </a:r>
          </a:p>
          <a:p>
            <a:r>
              <a:t>Vidovič Muha 2013: 385–389</a:t>
            </a:r>
          </a:p>
          <a:p>
            <a:r>
              <a:t>SP 2001: § 115, 956–960</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Rodilnik razkrije osnovo za tvorjenje</a:t>
            </a:r>
          </a:p>
          <a:p/>
          <a:p>
            <a:r>
              <a:t>Povezava s skripto: 5.6</a:t>
            </a:r>
          </a:p>
          <a:p/>
          <a:p>
            <a:r>
              <a:t>ZA IZVEDBO</a:t>
            </a:r>
          </a:p>
          <a:p>
            <a:r>
              <a:t>Študenti naj primerjajo imenovalnik z rodilnikom in poimenujejo spremembo: daljšanje z j, daljšanje s t ali izpad polglasnika. Šele nato izberemo ov oziroma ev. Gregorjev ni posledica poljubnega pravila o črki r, temveč dobljene osnove Gregorj-. Zgled Nye dodatno loči govor in zapis: y že označuje j, nemi e odpade, ev pa ostane razviden v zapisu Nyev. Rodilnik je uporaben vmesni korak, ne dovoljenje za kopiranje vseh njegovih končnih črk.</a:t>
            </a:r>
          </a:p>
          <a:p/>
          <a:p>
            <a:r>
              <a:t>VIRI</a:t>
            </a:r>
          </a:p>
          <a:p>
            <a:r>
              <a:t>Mirtič: Svojilni pridevniki iz lastnih imen: »Edijev«, »Tinetov« in »Gregorjev«</a:t>
            </a:r>
          </a:p>
          <a:p>
            <a:r>
              <a:t>Dobrovoljc: Kakšen je svojilni pridevnik iz priimka »Nye«?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Dva zapisa, ista govorjena tvorjenka</a:t>
            </a:r>
          </a:p>
          <a:p/>
          <a:p>
            <a:r>
              <a:t>Povezava s skripto: 5.6</a:t>
            </a:r>
          </a:p>
          <a:p/>
          <a:p>
            <a:r>
              <a:t>ZA IZVEDBO</a:t>
            </a:r>
          </a:p>
          <a:p>
            <a:r>
              <a:t>SP 2001 takšno pisno dvojničnost že dopušča; ne pripisujemo je šele novejšemu predlogu. Pri vseh treh francoskih imenih upoštevamo govorjeno osnovo, podaljšano z j, in preglašeno obrazilo, v pisavi pa dodatnega j ne vstavljamo. Pri Dumasu govorjeni a ni avtomatično domača končnica za odstranjevanje. Pri Lavoisieru končni r ni izgovorjen, zato postopka ne izenačimo z Gregorjem. Študenti naj povedo, na kateri ravni se dvojnici dejansko razlikujeta.</a:t>
            </a:r>
          </a:p>
          <a:p/>
          <a:p>
            <a:r>
              <a:t>VIRI</a:t>
            </a:r>
          </a:p>
          <a:p>
            <a:r>
              <a:t>SP 2001: § 960, str. 114</a:t>
            </a:r>
          </a:p>
          <a:p>
            <a:r>
              <a:t>Vranjek Ošlak: Svojilni pridevnik iz imena »Renault«</a:t>
            </a:r>
          </a:p>
          <a:p>
            <a:r>
              <a:t>Dobrovoljc: Svojilni pridevnik iz francoskega priimka »Lavoisier«</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Dvojnice imajo različne razloge</a:t>
            </a:r>
          </a:p>
          <a:p/>
          <a:p>
            <a:r>
              <a:t>Povezava s skripto: 5.6</a:t>
            </a:r>
          </a:p>
          <a:p/>
          <a:p>
            <a:r>
              <a:t>ZA IZVEDBO</a:t>
            </a:r>
          </a:p>
          <a:p>
            <a:r>
              <a:t>Prvi dve vrstici beremo z istim izgovorom na č: razlika med pisnima možnostma je stopnja ohranitve prepoznavnosti imena. Navedba tudi ohrani razlikovanje iz SP 2001, svetovalnica pa opozori na dejansko rabo. Auber ponuja drugačen primer: ePravopis 2025 navaja dve govorjeni osnovi in ustrezno različni pridevniški obliki. Ne sestavimo skupnega seznama, v katerem bi izginila razlika med samo pisno različico in različnim pregibanjem ter izgovorom.</a:t>
            </a:r>
          </a:p>
          <a:p/>
          <a:p>
            <a:r>
              <a:t>VIRI</a:t>
            </a:r>
          </a:p>
          <a:p>
            <a:r>
              <a:t>SP 2001: Franz, Fritz; po svetovalnični razlagi</a:t>
            </a:r>
          </a:p>
          <a:p>
            <a:r>
              <a:t>Dobrovoljc, Weiss in Vranjek Ošlak: Sklanjanje imena »Franz Liszt«</a:t>
            </a:r>
          </a:p>
          <a:p>
            <a:r>
              <a:t>ePravopis 2025: Auber, 29–30; Predlog</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Beatrice: ne združimo dveh jezikovnih izhodišč</a:t>
            </a:r>
          </a:p>
          <a:p/>
          <a:p>
            <a:r>
              <a:t>Povezava s skripto: 5.6</a:t>
            </a:r>
          </a:p>
          <a:p/>
          <a:p>
            <a:r>
              <a:t>ZA IZVEDBO</a:t>
            </a:r>
          </a:p>
          <a:p>
            <a:r>
              <a:t>Italijanski in angleški primer nista dve poljubni pisavi istega izgovora. Pri italijanskem Beatrice govorjeni e odpade, c pred i pa še naprej označuje č. Pri angleškem tipu je e nem in se ohrani zaradi označevanja izgovora c. Skripta razlikuje tudi vire: italijansko obliko navajata SP 2001 in spletni ePravopis, angleško pa sodobna strokovna razprava. Spletnih gesel Beatrice in Beatricin ne pripišemo letni izdaji ePravopisa 2025, v kateri ju ni.</a:t>
            </a:r>
          </a:p>
          <a:p/>
          <a:p>
            <a:r>
              <a:t>VIRI</a:t>
            </a:r>
          </a:p>
          <a:p>
            <a:r>
              <a:t>SP 2001: § 962, str. 114; izgovorna preglednica str. 155</a:t>
            </a:r>
          </a:p>
          <a:p>
            <a:r>
              <a:t>ePravopis: Beatricin; spletni sestavek</a:t>
            </a:r>
          </a:p>
          <a:p>
            <a:r>
              <a:t>Dobrovoljc in Lengar Verovnik: Unikatna, tuja in večbesedna ženska rojstna imena</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Zemljepisni pridevnik: osnova in stik z obrazilom</a:t>
            </a:r>
          </a:p>
          <a:p/>
          <a:p>
            <a:r>
              <a:t>Povezava s skripto: 5.7</a:t>
            </a:r>
          </a:p>
          <a:p/>
          <a:p>
            <a:r>
              <a:t>ZA IZVEDBO</a:t>
            </a:r>
          </a:p>
          <a:p>
            <a:r>
              <a:t>Tvorbo začnemo pri podstavi, ne pri slepem dodajanju ski celotnemu imenovalniku. Pri Ribnici in New Yorku opazujemo stik izglasnega soglasnika z obrazilom. Pri mnogih govorjenih sičnikih, šumnikih in mehkonebnikih dobimo končaj ški, vendar obstajajo ustaljene izjeme, denimo ruski in francoski. Pri navadni zvezi ima zemljepisni pridevnik malo začetnico; njegova morebitna vloga prve sestavine lastnega imena je novo pravopisno vprašanje.</a:t>
            </a:r>
          </a:p>
          <a:p/>
          <a:p>
            <a:r>
              <a:t>VIRI</a:t>
            </a:r>
          </a:p>
          <a:p>
            <a:r>
              <a:t>SP 2001: § 977–988</a:t>
            </a:r>
          </a:p>
          <a:p>
            <a:r>
              <a:t>Slovarski SP 2001: New York</a:t>
            </a:r>
          </a:p>
          <a:p/>
          <a:p>
            <a:r>
              <a:t>RAZLAGA IZ SKRIPTE · 5.7 Pridevniki iz zemljepisnih imen</a:t>
            </a:r>
          </a:p>
          <a:p>
            <a:r>
              <a:t>Pri pridevnikih na -ski/-ški izražamo povezanost s krajem: celjski muzej, ribniški obrtnik. Običajno jih pišemo z malo začetnico; če so začetna sestavina lastnega imena, začetnico določa ta vloga v imenu. Izhodiščni samostalnik in iz njega nastali pridevnik torej nimata avtomatično enake začetnice.</a:t>
            </a:r>
          </a:p>
          <a:p/>
          <a:p>
            <a:r>
              <a:t>Obrazila ne dodajamo vedno celotnemu imenovalniku. Najprej določimo podstavo in preverimo premene na njenem stiku z obrazilom:</a:t>
            </a:r>
          </a:p>
          <a:p/>
          <a:p>
            <a:r>
              <a:t>| Izhodišče | Pridevnik | Bistvo postopka |</a:t>
            </a:r>
          </a:p>
          <a:p>
            <a:r>
              <a:t>|---|---|---|</a:t>
            </a:r>
          </a:p>
          <a:p>
            <a:r>
              <a:t>| Celje | celjski | Odstranitev končnice -e. |</a:t>
            </a:r>
          </a:p>
          <a:p>
            <a:r>
              <a:t>| Ribnica | ribniški | Premena soglasnika na meji z obrazilom. |</a:t>
            </a:r>
          </a:p>
          <a:p>
            <a:r>
              <a:t>| Tahiti | tahitijski | Osnova se podaljša z j. |</a:t>
            </a:r>
          </a:p>
          <a:p>
            <a:r>
              <a:t>| New York | newyorški | Združeni zapis in premena končnega soglasnika. |</a:t>
            </a:r>
          </a:p>
          <a:p/>
          <a:p>
            <a:r>
              <a:t>Za tvorbo in premene primerjaj SP 2001, člene 977–988 — https://www.fran.si/134/slovenski-pravopis/datoteke/Pravopis_Pravila.pdf; obliko newyorški navaja tudi slovarski sestavek New York — https://fran.si/134/slovenski-pravopis/3765925/new-york?AllNoHeadword=nju&amp;Query=nju&amp;View=1.</a:t>
            </a:r>
          </a:p>
          <a:p/>
          <a:p>
            <a:r>
              <a:t>Pri osnovah na govorjene s, z, c, š, ž, č, dž, k, g, h je pogost rezultat stika z -ski končaj -ški: npr. ribnic- + -ski → ribniški. Upoštevamo izgovor tudi ob drugačnem tujem zapisu. Vzorec ima izjeme, denimo ruski in francoski, zato preverimo ustaljeno tvorjenko.</a:t>
            </a:r>
          </a:p>
          <a:p/>
          <a:p>
            <a:r>
              <a:t>Pri imenih na -i ni dovolj opaziti zadnje črke. Tahiti se pregiba Tahitija, množinsko ime Komori pa Komorov; temu ustreza razlika tahitijski – komorski. Poleg produktivnega vzorca upoštevamo ustaljene oblike. Svetovalnica denimo dopušča frascatijski ter v strokovni rabi ustaljeni frascatski. Vranjek Ošlak: Tvorba pridevnika na -ski … »Frascati« — https://svetovalnica.zrc-sazu.si/topic/4730/tvorba-pridevnika-na-ski-iz-zemljepisnega-imena-ki-se-kon%C4%8Da-na-i-frascati-frascatijski-ali-frascatski.</a:t>
            </a:r>
          </a:p>
          <a:p/>
          <a:p>
            <a:r>
              <a:t>Tudi podstava ni vedno neposredno krajevno ime. Oblika trentarski je povezana s prebivalskim imenom Trentar. To pojasni, zakaj vseh zemljepisnih pridevnikov ne moremo izdelati z enim postopkom »ime minus zadnja črka plus -ski«. Gliha Komac, Černivec in Dobrovoljc: Pridevnik iz imen »Trenta« in »Mojstrana« — https://svetovalnica.zrc-sazu.si/topic/6258/pridevnik-iz-imen-trenta-in-mojstrana-trentski-ali-trentarski-mojstranski-ali-mojstran%C5%A1ki.</a:t>
            </a:r>
          </a:p>
          <a:p/>
          <a:p>
            <a:r>
              <a:t> Kadar se starejše pravilo in predlog razlikujeta</a:t>
            </a:r>
          </a:p>
          <a:p/>
          <a:p>
            <a:r>
              <a:t>Iz Aix-en-Provence slovarski SP 2001 navaja aixenprovenški. Strnjeni zapis je povezan tudi s pravilom za večbesedne podstave v § 988, str. 117. ePravopis 2025 pa v sestavku Aix-en-Provence, str. 14, navaja aix-en-provenški. Predlog ohranja vezaje iz imena; v obeh zapisih prepoznamo premeno v končaju -ški. Starejši zapis je pravilen odgovor na navodilo »po SP 2001«, predlaganega pa moramo označiti z virom. Slovarski SP 2001: Aix-en-Provence — https://fran.si/134/slovenski-pravopis/3723360/aix-en-provence?AllNoHeadword=mesto&amp;FilteredDictionaryIds=134&amp;Query=mesto.</a:t>
            </a:r>
          </a:p>
          <a:p/>
          <a:p>
            <a:r>
              <a:t>Letna izdaja omogoča še naslednje primerjave:</a:t>
            </a:r>
          </a:p>
          <a:p/>
          <a:p>
            <a:r>
              <a:t>| Primer | SP 2001 oziroma starejša oblika | ePravopis 2025, status Predlog |</a:t>
            </a:r>
          </a:p>
          <a:p>
            <a:r>
              <a:t>|---|---|---|</a:t>
            </a:r>
          </a:p>
          <a:p>
            <a:r>
              <a:t>| Dachau | dachavski/dahavski (§ 981) | dachauski/dahavski; opomba o uveljavljenem dachavski (str. 75–76) |</a:t>
            </a:r>
          </a:p>
          <a:p>
            <a:r>
              <a:t>| Midway | midwajski, po načelu § 981 | midwayski; opomba o uveljavljenem midwajski (str. 133–134) |</a:t>
            </a:r>
          </a:p>
          <a:p>
            <a:r>
              <a:t>| Versailles | versajski (§ 980) | versajski tudi versailleski, vendar samo versajski mir in versajska Evropa (str. 199–200) |</a:t>
            </a:r>
          </a:p>
          <a:p/>
          <a:p>
            <a:r>
              <a:t>Razlika zadeva predvsem razmerje med ohranjeno pisno podstavo in podomačenim zapisom. Iz preglednice ne sledi, da moramo vsako staro obliko zamenjati. Zlasti zadnja vrstica pokaže, da sta pomen in ustaljenost zveze pomembna tudi tedaj, ko slovar ponuja dvojnico. V besedilu zato preverimo celotno zvezo, ne le iztočnice.</a:t>
            </a:r>
          </a:p>
          <a:p/>
          <a:p>
            <a:r>
              <a:t>V tekočem besedilu je včasih jasnejša zveza s krajevnim imenom, denimo arhiv mesta Aix-en-Provence. Taka rešitev pomaga ohraniti prepoznavnost imena. Če pa naloga izrecno zahteva tvorbo pridevnika, opisna zveza ne opravi zahtevane besedotvorne naloge. O možnostih izražanja govori tudi Weiss: Sklanjanje tujih zemljepisnih imen: »Southend-on-Sea« — https://svetovalnica.zrc-sazu.si/topic/3753/sklanjanje-tujih-zemljepisnih-imen-southend-on-sea.</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Podoben končaj ne pomeni iste podstave</a:t>
            </a:r>
          </a:p>
          <a:p/>
          <a:p>
            <a:r>
              <a:t>Povezava s skripto: 5.7</a:t>
            </a:r>
          </a:p>
          <a:p/>
          <a:p>
            <a:r>
              <a:t>ZA IZVEDBO</a:t>
            </a:r>
          </a:p>
          <a:p>
            <a:r>
              <a:t>Tahiti in Komori končujeta na i, vendar nista istega pregibnega tipa. Rodilnika Tahitija in Komorov pokažeta pomembno razliko, ki vpliva na pridevnik. Frascati opozori na ustaljeno strokovno tvorjenko ob produktivnejši možnosti. Trentarski pa izhaja iz prebivalskega imena Trentar, zato neposredno dodajanje obrazila krajevnemu imenu ne opiše postopka. Pri vsaki vrstici študenti izrečejo manjkajoči podatek, ki ga zadnja črka sama ne more dati.</a:t>
            </a:r>
          </a:p>
          <a:p/>
          <a:p>
            <a:r>
              <a:t>VIRI</a:t>
            </a:r>
          </a:p>
          <a:p>
            <a:r>
              <a:t>Vranjek Ošlak: Tvorba pridevnika na -ski … »Frascati«</a:t>
            </a:r>
          </a:p>
          <a:p>
            <a:r>
              <a:t>Gliha Komac, Černivec in Dobrovoljc: Pridevnik iz imen »Trenta« in »Mojstrana«</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 2001 in eP 2025: razlike poimenujemo</a:t>
            </a:r>
          </a:p>
          <a:p/>
          <a:p>
            <a:r>
              <a:t>Povezava s skripto: 5.7</a:t>
            </a:r>
          </a:p>
          <a:p/>
          <a:p>
            <a:r>
              <a:t>ZA IZVEDBO</a:t>
            </a:r>
          </a:p>
          <a:p>
            <a:r>
              <a:t>Vsako vrstico beremo skupaj z normativnim okvirom. Aix-en-Provence v predlogu ohrani vezaje, Dachau in Midway kažeta drugačno razmerje do pisne podstave, Versailles pa tudi omejitve v ustaljenih zvezah. Predlog pri Dachau in Midway posebej omenja uveljavljeni starejši obliki. Če naloga zahteva SP 2001, je starejši ustrezni zapis veljaven odgovor. Opisna zveza arhiv mesta Aix-en-Provence je uporabna v besedilu, ne nadomesti pa izrecno zahtevane tvorbe pridevnika.</a:t>
            </a:r>
          </a:p>
          <a:p/>
          <a:p>
            <a:r>
              <a:t>VIRI</a:t>
            </a:r>
          </a:p>
          <a:p>
            <a:r>
              <a:t>SP 2001: § 980–981, 988; Aix-en-Provence</a:t>
            </a:r>
          </a:p>
          <a:p>
            <a:r>
              <a:t>ePravopis 2025: 14, 75–76, 133–134, 199–200; Predlog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Različice preverjamo za isto izhodišče in isti okvir</a:t>
            </a:r>
          </a:p>
          <a:p/>
          <a:p>
            <a:r>
              <a:t>Povezava s skripto: 5.8</a:t>
            </a:r>
          </a:p>
          <a:p/>
          <a:p>
            <a:r>
              <a:t>ZA IZVEDBO</a:t>
            </a:r>
          </a:p>
          <a:p>
            <a:r>
              <a:t>Ob nastanku skripte oktobra 2026 je SP 2001 veljavna kodifikacija, P8 pa predlog v redakciji. ePravopis 2025 je letna slovarska izdaja, objavljena 2026; navedeni sestavki imajo status Predlog. Fran je zbirka različnih virov, zato ga ne navajamo kot en sam slovar. Primer Proustova/proustova magdalenica nadaljuje možnost, znano že SP 2001, medtem ko Proustova pisma ohranijo veliko začetnico ob individualni pripadnosti. Novejši podatek torej ni nujno novo pravilo.</a:t>
            </a:r>
          </a:p>
          <a:p/>
          <a:p>
            <a:r>
              <a:t>VIRI</a:t>
            </a:r>
          </a:p>
          <a:p>
            <a:r>
              <a:t>ePravopis 2025: 6, 10, 164; Predlog</a:t>
            </a:r>
          </a:p>
          <a:p>
            <a:r>
              <a:t>SP 2001: § 115, 159</a:t>
            </a:r>
          </a:p>
          <a:p>
            <a:r>
              <a:t>Slovenski pravopis: stanje prenove ob nastanku skripte, oktober 2026</a:t>
            </a:r>
          </a:p>
          <a:p/>
          <a:p>
            <a:r>
              <a:t>RAZLAGA IZ SKRIPTE · 5.8 Kako ravnamo z različicami in viri?</a:t>
            </a:r>
          </a:p>
          <a:p>
            <a:r>
              <a:t>Oblika, ki se pojavi na spletu, še ni nujno dvojnica. Tudi dva različna slovarska podatka ne pomenita nujno dveh enakovrednih sodobnih rešitev: lahko pripadata različnima obdobjema, različnima jezikovnima izhodiščema ali različnima pomenoma.</a:t>
            </a:r>
          </a:p>
          <a:p/>
          <a:p>
            <a:r>
              <a:t>Pri preverjanju si zapišemo ime priročnika, konkretni sestavek ali pravilo, datum ter izgovor obravnavanega imena. Fran združuje več virov; navedba »tako piše na Franu« zato ni dovolj natančna.</a:t>
            </a:r>
          </a:p>
          <a:p/>
          <a:p>
            <a:r>
              <a:t>Ob nastanku te skripte, oktobra 2026, je SP 2001 uradno veljavni pravopis. Pravopis 8.0 je predlog v končni redakciji. ePravopis 2025 je letna slovarska izdaja, objavljena leta 2026; v tem poglavju navedeni sestavki imajo status Predlog. Njegov uvod na str. 6 in 10 pojasni, da je normativna veljavnost vezana na potrditev pripadajočih pravil. Naslovi SP 2001, Pravopis 8.0 in ePravopis 2025 torej ne pomenijo treh izdaj istega dokumenta. Spletišče Slovenski pravopis: stanje prenove — https://slovenski-pravopis.si/.</a:t>
            </a:r>
          </a:p>
          <a:p/>
          <a:p>
            <a:r>
              <a:t>Dobro preverjanje tudi ne išče razlik za vsako ceno. Dvojna začetnica v frazemu Proustova/proustova magdalenica (ePravopis 2025, str. 164) nadaljuje možnost, ki jo pri prenesenih pomenih pozna že SP 2001 (§ 115 in 159). Pri zvezi Proustova pisma pa govorimo o pripadnosti določeni osebi in uporabimo veliko začetnico. Sprememba pomena lahko vpliva na zapis, ne da bi se spremenilo osnovno pravilo.</a:t>
            </a:r>
          </a:p>
          <a:p/>
          <a:p>
            <a:r>
              <a:t>Pri navodilu navedite vse pravilne možnosti zato naštevamo preverjene možnosti za isto izhodišče in isti normativni okvir. Nato pojasnimo, ali se razlikujejo v zapisu, izgovoru, ustaljenosti ali rabi. Dolg seznam nepreverjenih oblik ni temeljitejši odgovor.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nalogi 1 in 2</a:t>
            </a:r>
          </a:p>
          <a:p/>
          <a:p>
            <a:r>
              <a:t>NALOGE</a:t>
            </a:r>
          </a:p>
          <a:p/>
          <a:p>
            <a:r>
              <a:t>1. Pojasnite razliko med zvezama cerkev sv. Primoža in pot k Sv. Primožu. Zakaj odsotnost uradnega imena hriba ne zadošča za zavrnitev velike začetnice?</a:t>
            </a:r>
          </a:p>
          <a:p/>
          <a:p>
            <a:r>
              <a:t>2. Popravite začetnice: Na prireditvi so podelili priznanje Jabolko Navdiha in nagrado prešernovega sklada.</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rešitvi 1 in 2</a:t>
            </a:r>
          </a:p>
          <a:p/>
          <a:p>
            <a:r>
              <a:t>REŠITVE Z RAZLAGO</a:t>
            </a:r>
          </a:p>
          <a:p/>
          <a:p>
            <a:r>
              <a:t>1. V prvi zvezi vrsto objekta izraža cerkev, sv. pa označuje svetnika, kateremu je posvečena. V drugi zvezi Sv. Primož deluje kot ime cilja poti. Odločamo o imenu sakralnega objekta oziroma območja, zato vprašanje uradnega imena hriba ne reši začetnice. Pri konkretnem primeru upoštevamo tudi razliko med lokalno predložno rabo in priporočilom k Sv. Primožu.</a:t>
            </a:r>
          </a:p>
          <a:p/>
          <a:p>
            <a:r>
              <a:t>2. Na prireditvi so podelili priznanje jabolko navdiha in nagrado Prešernovega sklada. Vrste priznanja ne pišemo z veliko začetnico zaradi njegovega pomena. V drugi zvezi veliko začetnico ohranja lastnoimenska sestavina Prešernovega sklada.</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nalogi 3 in 4</a:t>
            </a:r>
          </a:p>
          <a:p/>
          <a:p>
            <a:r>
              <a:t>NALOGE</a:t>
            </a:r>
          </a:p>
          <a:p/>
          <a:p>
            <a:r>
              <a:t>3. Urednik je vse oblike Fiba, Fibe, Fibi označil za napačne. Presodite njegovo odločitev in navedite še en dopusten način zapisa rodilnika.</a:t>
            </a:r>
          </a:p>
          <a:p/>
          <a:p>
            <a:r>
              <a:t>4. Zapišite rodilnik imen Marko, Dante, Locke, Wallace. Pri vsakem povejte, ali menjamo končnico, daljšamo osnovo ali spreminjamo pisni zapis osnove.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rešitvi 3 in 4</a:t>
            </a:r>
          </a:p>
          <a:p/>
          <a:p>
            <a:r>
              <a:t>REŠITVE Z RAZLAGO</a:t>
            </a:r>
          </a:p>
          <a:p/>
          <a:p>
            <a:r>
              <a:t>3. Urednikova splošna zavrnitev je neutemeljena. Predstavljene oblike sledijo pregibanju nečrkovalne kratice, ki je prešla v navadno zapisano lastno ime. Poleg rodilnika Fibe svetovalnica dopušča FIBE ter ničto pregibanje FIBA. Izberemo dosleden način.</a:t>
            </a:r>
          </a:p>
          <a:p/>
          <a:p>
            <a:r>
              <a:t>4. Marka: osnovi Mark- dodamo rodilniško končnico. Danteja: osnova se podaljša z j. Locka: končni nemi e izpustimo in dodamo -a. Wallacea: nemi e ohranimo, ker sodeluje pri označevanju izgovora c, nato dodamo -a. V zadnjih dveh primerih se ne ravnamo po pravilu »vse neizgovorjene črke odpadejo«.</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Vaja 5</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naloga 5</a:t>
            </a:r>
          </a:p>
          <a:p/>
          <a:p>
            <a:r>
              <a:t>NALOGE</a:t>
            </a:r>
          </a:p>
          <a:p/>
          <a:p>
            <a:r>
              <a:t>5. Dopolnite: Raziskujemo glasbo ______ (Jean Guyot de Châtelet). Pojasnite obravnavo predimka in zadnje sestavine.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5</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rešitev 5</a:t>
            </a:r>
          </a:p>
          <a:p/>
          <a:p>
            <a:r>
              <a:t>REŠITVE Z RAZLAGO</a:t>
            </a:r>
          </a:p>
          <a:p/>
          <a:p>
            <a:r>
              <a:t>5. Raziskujemo glasbo Jeana Guyota de Châteleta. Pregibamo tri imenske sestavine, predimek de pa ostane nespremenjen. Zemljepisni izvor zadnje sestavine ne zahteva njene nesklonljivosti. Rešitev temelji na svetovalni obravnavi tega konkretnega imena; ni dokaz, da so vsi zgodovinski večbesedni priimki brez izjem enaki.</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Vaja 6</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naloga 6</a:t>
            </a:r>
          </a:p>
          <a:p/>
          <a:p>
            <a:r>
              <a:t>NALOGE</a:t>
            </a:r>
          </a:p>
          <a:p/>
          <a:p>
            <a:r>
              <a:t>6. Tvorite svojilne pridevnike iz imen Ana, Aleš, Gregor, Peter, Mary s končnim [i], Nye [naj] in francoskega Renault. Pri zadnjem navedite obe predstavljeni pisni možnosti. Pri Gregorju, Petru in Nyu naj vam pomaga rodilnik.</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6</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rešitev 6</a:t>
            </a:r>
          </a:p>
          <a:p/>
          <a:p>
            <a:r>
              <a:t>REŠITVE Z RAZLAGO</a:t>
            </a:r>
          </a:p>
          <a:p/>
          <a:p>
            <a:r>
              <a:t>6. Anin, Alešev, Gregorjev, Petrov, Maryjin, Nyev, Renaultov/Renaultev. Pri prvem uporabimo -in, pri drugem -ev zaradi preglasa. Rodilnika Gregorja in Petra pokažeta različni osnovi za tvorbo; Nya pokaže opustitev nemega e. Pri Mary je odločilen govorjeni [i], zato se pred obrazilom pojavi j; pri Nyu črka y že označuje [j]. Pri francoskem imenu sta dopustni dve pisni obliki z istim izgovorom obrazila.</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7 in 8</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nalogi 7 in 8</a:t>
            </a:r>
          </a:p>
          <a:p/>
          <a:p>
            <a:r>
              <a:t>NALOGE</a:t>
            </a:r>
          </a:p>
          <a:p/>
          <a:p>
            <a:r>
              <a:t>7. Zakaj za italijansko in angleško ime Beatrice ne zadostuje ena razlaga »odstranimo zadnji e«? Pojasnite obe izhodišči in status uporabljenih virov.</a:t>
            </a:r>
          </a:p>
          <a:p/>
          <a:p>
            <a:r>
              <a:t>8. Tvorite pridevnike iz imen Ribnica, Tahiti, New York in po SP 2001 iz Aix-en-Provence. Nato navedite predlagano obliko zadnjega pridevnika v ePravopisu 2025 in natančno opišite razliko.</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7 in 8</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rešitvi 7 in 8</a:t>
            </a:r>
          </a:p>
          <a:p/>
          <a:p>
            <a:r>
              <a:t>REŠITVE Z RAZLAGO</a:t>
            </a:r>
          </a:p>
          <a:p/>
          <a:p>
            <a:r>
              <a:t>7. Italijanski končni e se izgovarja; pri tvorbi Beatricin [beatríčin] odpade, c pred i pa označuje [č]. Pri angleškem imenu s končnim [s] je e nem in sodeluje pri pisanem označevanju tega izgovora, zato novejša strokovna obravnava navaja Beatricein. Oznake virov so del odgovora: SP 2001, svetovalna razlaga in predlog ePravopisa niso isti dokument.</a:t>
            </a:r>
          </a:p>
          <a:p/>
          <a:p>
            <a:r>
              <a:t>8. Ribniški, tahitijski, newyorški, aixenprovenški; v navadni zvezi sredi povedi vse z malo začetnico. Prvi primer zahteva soglasniško premeno, drugi daljšanje z j, tretji tudi strnjeni zapis. ePravopis 2025 predlaga aix-en-provenški: ohrani vezaje iz podstave. Pri odgovoru navedemo, kateremu viru sledi posamezna oblika. Ne gre za razliko med veliko in malo začetnico ali za dva različna kraja.</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9 in 10</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nalogi 9 in 10</a:t>
            </a:r>
          </a:p>
          <a:p/>
          <a:p>
            <a:r>
              <a:t>NALOGE</a:t>
            </a:r>
          </a:p>
          <a:p/>
          <a:p>
            <a:r>
              <a:t>9. V enem besedilu nastopata Francoz Guy [gí] in Anglež Guy [gáj]. Za vsakega dopolnite zvezi pogovor z bratom ___ in ___ predlog. V prvi zvezi ime pove, čigav je brat. Uporabite izhodišči iz ePravopisa 2025. Ali bi obe obliki poenotili?</a:t>
            </a:r>
          </a:p>
          <a:p/>
          <a:p>
            <a:r>
              <a:t>10. Urednica trdi: »Ker novejši slovar dopušča versailleski, moramo versajski mir povsod spremeniti v versailleski mir.« Presodite sklep. Nato pojasnite, zakaj Novo mesto po SP 2001 in Novo Mesto po predlogu ne smeta nastopati kot neoznačeni rešitvi iste enoznačne naloge.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9 in 10</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rešitvi 9 in 10</a:t>
            </a:r>
          </a:p>
          <a:p/>
          <a:p>
            <a:r>
              <a:t>REŠITVE Z RAZLAGO</a:t>
            </a:r>
          </a:p>
          <a:p/>
          <a:p>
            <a:r>
              <a:t>9. Francosko: pogovor z bratom Guyja, Guyjev predlog. Angleško: pogovor z bratom Guya, Guyev predlog. Ime za bratom izraža pripadnost in je v rodilniku; predlog z neposredno določa obliko bratom. Pri francoskem imenu dodamo j, pri angleškem pa y že označuje [j]. Različnih pravilno oblikovanih imen zato ne poenotimo samo zaradi istega imenovalniškega zapisa.</a:t>
            </a:r>
          </a:p>
          <a:p/>
          <a:p>
            <a:r>
              <a:t>10. Sklep je napačen: ePravopis 2025 pri stalni zvezi izrecno ohranja samo versajski mir. Možnost versailleski ni dovoljenje za njeno uporabo v vsaki zvezi. Pri drugem paru gre za razliko med normativnima okviroma; v nalogi, ki izrecno zahteva SP 2001, zapišemo Novo mesto. Predlagani zapis navedemo kot primerjavo z jasno oznako vira, ne kot tiho zamenjavo osnovne rešitve.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11</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naloga 11</a:t>
            </a:r>
          </a:p>
          <a:p/>
          <a:p>
            <a:r>
              <a:t>NALOGE</a:t>
            </a:r>
          </a:p>
          <a:p/>
          <a:p>
            <a:r>
              <a:t>11. Zahtevnejša naloga: ime in pomen. V izmišljenem primeru je gospod Kovač pek, pri zborniku pa sodelujeta dve osebi z imenom Ana. Pojasnite, zakaj nobeno dejstvo ne ovrže lastnoimenskosti izrazov. Nato primerjajte Ana, urednica tega zbornika in občno urednica: katere podatke potrebujemo za identifikacijo in katere za slovarsko pomensko razčlenitev?</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11</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rešitev 11</a:t>
            </a:r>
          </a:p>
          <a:p/>
          <a:p>
            <a:r>
              <a:t>REŠITVE Z RAZLAGO</a:t>
            </a:r>
          </a:p>
          <a:p/>
          <a:p>
            <a:r>
              <a:t>11. Lastno ime identificira posameznega v konkretni rabi; priimek Kovač nosilcu ne predpisuje poklica. Pri dveh Anah za razločevanje potrebujemo sobesedilo ali dodaten podatek, npr. priimek. Opis urednica tega zbornika je lahko enoličen, vendar za identifikacijo uporablja občno poimenovanje in določujočo zvezo. Pri občnem leksemu urednica pojasnjujemo pomen, ki omogoča uvrščanje oseb v razred; pri Ani ugotavljamo nanosnico. Podatkov o njenem življenju zato ne enačimo s sestavinsko razčlenitvijo pomena urednica. (Vidovič Muha 2013: 92–93; Toporišič 2004: 274–275.)</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12</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naloga 12</a:t>
            </a:r>
          </a:p>
          <a:p/>
          <a:p>
            <a:r>
              <a:t>NALOGE</a:t>
            </a:r>
          </a:p>
          <a:p/>
          <a:p>
            <a:r>
              <a:t>12. Zahtevnejša naloga: razmerje v svojilni zvezi. Razvijte zveze Anin zvezek, Anin brat, Anino prevajanje romana. Pri vsaki pojasnite razmerje, obliko svojilnega pridevnika in začetnico. Nato presodite, ali bi Anin prevod brez dodatnega sobesedila vedno preoblikovali v prevod, ki je Anina last.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rešitev 12</a:t>
            </a:r>
          </a:p>
          <a:p/>
          <a:p>
            <a:r>
              <a:t>REŠITVE Z RAZLAGO</a:t>
            </a:r>
          </a:p>
          <a:p/>
          <a:p>
            <a:r>
              <a:t>12. Ob predpostavkah iz preglednice imamo lastnino, sorodstvo in vršilko prevajanja. Pridevnik je v vseh primerih tvorjen iz Ana s priponskim obrazilnim morfemom -in-; končnica se prilagaja jedru: zvezek/brat moški spol, prevajanje srednji. Velika začetnica je povezana z izvorom individualnega svojilnega pridevnika iz osebnega imena. Predlagana razveza Aninega prevoda je preozka: v kontekstu avtorstva pomeni prevod, ki ga je napravila Ana, ne nujno njene lastnine. Samo pravilno zapisano obrazilo še ne zagotavlja pomensko ustrezne uredniške zamenjave. (Vidovič Muha 2013: 386–389; SP 2001, § 115.)</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13</a:t>
            </a:r>
          </a:p>
          <a:p/>
          <a:p>
            <a:r>
              <a:t>Povezava s skripto: 5.9</a:t>
            </a:r>
          </a:p>
          <a:p/>
          <a:p>
            <a:r>
              <a:t>ZA IZVEDBO</a:t>
            </a:r>
          </a:p>
          <a:p>
            <a:r>
              <a:t>Najprej omogočite samostojen poskus. Zahtevajte rešitev in odločilni razlog. Pri več mogočih analizah naj študent izrecno navede predpostavko. Razlaga je na naslednji prosojnici.</a:t>
            </a:r>
          </a:p>
          <a:p/>
          <a:p>
            <a:r>
              <a:t>VIRI</a:t>
            </a:r>
          </a:p>
          <a:p>
            <a:r>
              <a:t>Skripta 3.0, 5.9; naloga 13</a:t>
            </a:r>
          </a:p>
          <a:p/>
          <a:p>
            <a:r>
              <a:t>NALOGE</a:t>
            </a:r>
          </a:p>
          <a:p/>
          <a:p>
            <a:r>
              <a:t>13. Zahtevnejša naloga: ničta končnica. Primerjajte Naša Karmen je prišla, Naše Karmen še ni in Z našo Karmen smo govorili. Določite sklon imena in pokažite, kateri deli zgradbe ga razkrivajo. Zakaj enaka pisna podoba ni dokaz, da sklon ali spol manjkata? Uporabite Toporišičev opis tretje ženske sklanjatve.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13</a:t>
            </a:r>
          </a:p>
          <a:p/>
          <a:p>
            <a:r>
              <a:t>Povezava s skripto: 5.10</a:t>
            </a:r>
          </a:p>
          <a:p/>
          <a:p>
            <a:r>
              <a:t>ZA IZVEDBO</a:t>
            </a:r>
          </a:p>
          <a:p>
            <a:r>
              <a:t>Primerjajte razlago s postopkom študentov. Naj označijo, kaj so dokazali in katera predpostavka je odločilna. Alternative sprejmite v mejah, navedenih v skripti.</a:t>
            </a:r>
          </a:p>
          <a:p/>
          <a:p>
            <a:r>
              <a:t>VIRI</a:t>
            </a:r>
          </a:p>
          <a:p>
            <a:r>
              <a:t>Skripta 3.0, 5.10; rešitev 13</a:t>
            </a:r>
          </a:p>
          <a:p/>
          <a:p>
            <a:r>
              <a:t>REŠITVE Z RAZLAGO</a:t>
            </a:r>
          </a:p>
          <a:p/>
          <a:p>
            <a:r>
              <a:t>13. Karmen je v prvi povedi v imenovalniku, v drugi v rodilniku, v tretji v orodniku. Sklon razkrivajo ujemalni pridevniški zaimek, stavčna zgradba in pri tretji zvezi predlog z. Ženski spol je razviden tudi iz ujemanja naša, prišla. Toporišič tretjo žensko sklanjatev opiše z ničtimi končnicami v vseh sklonih; enaka glasovna oziroma pisna oblika torej uresničuje več različnih mest v paradigmi. (Toporišič 2004: 296.)</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poglavje5</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Zgradba povedi in vejica</a:t>
            </a:r>
          </a:p>
          <a:p/>
          <a:p>
            <a:r>
              <a:t>ZA IZVEDBO</a:t>
            </a:r>
          </a:p>
          <a:p>
            <a:r>
              <a:t>Osrednje vprašanje te enote: Kaj se povezuje na tem mestu in katero mejo označuje vejica?</a:t>
            </a:r>
          </a:p>
          <a:p>
            <a:r>
              <a:t>Cilji: Razločimo stavčne člene, udeleženske vloge in notranjo hierarhijo.; Določimo nadrejenost, prirednost in obseg odvisnikov.; Utemeljimo ločila ter preureditev besednega in naslonskega reda.</a:t>
            </a:r>
          </a:p>
          <a:p/>
          <a:p>
            <a:r>
              <a:t>UVOD V ENOTO</a:t>
            </a:r>
          </a:p>
          <a:p>
            <a:r>
              <a:t> 6. Zgradba povedi in vejica</a:t>
            </a:r>
          </a:p>
          <a:p/>
          <a:p>
            <a:r>
              <a:t>Vejico lažje postavimo, če znamo poved razstaviti in spet sestaviti. Pri tem ugotavljamo, katere besede tvorijo skupno sestavino, kaj je čemu podrejeno in kje se posamezno razmerje konča. Dolga poved zato ni nujno težka, kratka pa ni nujno preprosta. Odločilno vprašanje je kaj se povezuje na tem mestu.</a:t>
            </a:r>
          </a:p>
          <a:p/>
          <a:p>
            <a:r>
              <a:t>Razlaga povezuje skladnjo iz predavateljevega gradiva, zlasti prosojnic 233–267 in 293–309, s stavčno hierarhijo in pretvorbenimi analizami v Slovenski slovnici (Toporišič 2004: 555–557, 606–638). Pravila o vejici preverjamo v SP 2001, §§ 289–348. Slovnični model nam pomaga ugotoviti zgradbo, pravopisni vir pa določi njen zapis.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Najprej določimo cele sestavine</a:t>
            </a:r>
          </a:p>
          <a:p/>
          <a:p>
            <a:r>
              <a:t>Povezava s skripto: 6.1</a:t>
            </a:r>
          </a:p>
          <a:p/>
          <a:p>
            <a:r>
              <a:t>ZA IZVEDBO</a:t>
            </a:r>
          </a:p>
          <a:p>
            <a:r>
              <a:t>Zgled razčlenimo najprej po udeležencih in okoliščini, nato po stavčnih členih. Študentka je osebek, mentorici in dopolnjen osnutek sta predmeta, včeraj pa časovno določilo. Dopolnjen je notranji prilastek predmeta. Posebej vprašamo, ali je predmet samo osnutek ali celotna zveza: jedro ni isto kot obseg. Nadaljujemo z daljšo zvezo dopolnjen osnutek seminarske naloge, ki je lahko še vedno en sam predmet z notranjo hierarhijo.</a:t>
            </a:r>
          </a:p>
          <a:p/>
          <a:p>
            <a:r>
              <a:t>VIRI</a:t>
            </a:r>
          </a:p>
          <a:p>
            <a:r>
              <a:t>Toporišič 2004: 555–557</a:t>
            </a:r>
          </a:p>
          <a:p/>
          <a:p>
            <a:r>
              <a:t>RAZLAGA IZ SKRIPTE · 6.1 Povedek, udeleženci in okoliščine</a:t>
            </a:r>
          </a:p>
          <a:p>
            <a:r>
              <a:t>&gt; Študentka je mentorici včeraj poslala dopolnjen osnutek.</a:t>
            </a:r>
          </a:p>
          <a:p/>
          <a:p>
            <a:r>
              <a:t>Povedek je poslala izraža pošiljanje. Ob njem prepoznamo pošiljateljico, prejemnico in poslani predmet, čas pa dodamo kot okoliščino.</a:t>
            </a:r>
          </a:p>
          <a:p/>
          <a:p>
            <a:r>
              <a:t>| Sestavina | Stavčnočlenska vloga |</a:t>
            </a:r>
          </a:p>
          <a:p>
            <a:r>
              <a:t>|---|---|</a:t>
            </a:r>
          </a:p>
          <a:p>
            <a:r>
              <a:t>| študentka | osebek |</a:t>
            </a:r>
          </a:p>
          <a:p>
            <a:r>
              <a:t>| je poslala | povedek |</a:t>
            </a:r>
          </a:p>
          <a:p>
            <a:r>
              <a:t>| mentorici | predmet: prejemnica |</a:t>
            </a:r>
          </a:p>
          <a:p>
            <a:r>
              <a:t>| dopolnjen osnutek | predmet: poslano |</a:t>
            </a:r>
          </a:p>
          <a:p>
            <a:r>
              <a:t>| včeraj | prislovno določilo časa |</a:t>
            </a:r>
          </a:p>
          <a:p>
            <a:r>
              <a:t>| dopolnjen | prilastek znotraj predmeta |</a:t>
            </a:r>
          </a:p>
          <a:p/>
          <a:p>
            <a:r>
              <a:t>Prilastek določa samostalniško jedro in je sestavina širšega stavčnega člena. Če predmet označimo samo z besedo osnutek, smo pokazali njegovo jedro, ne celotnega obsega. Tudi dopolnjen osnutek seminarske naloge je lahko en predmet z več notranjimi sestavinami.</a:t>
            </a:r>
          </a:p>
          <a:p/>
          <a:p>
            <a:r>
              <a:t>Prisojanje oziroma predikacija je razmerje, v katerem nekomu ali nečemu pripišemo dejanje, stanje ali lastnost. Povedek zato ne izraža nujno dejanja: v Besedilo je jasno besedilu pripisujemo lastnost. Pridevnik jasno dopolnjuje pomensko nepolni glagol je: je povedkovo določilo, skupaj z vezjo je pa sestavlja povedek. V jasno besedilo je ista pridevniška oblika prilastek. Podatek o besedni vrsti razlikujemo od podatka o stavčni vlogi.</a:t>
            </a:r>
          </a:p>
          <a:p/>
          <a:p>
            <a:r>
              <a:t>Pri tem je treba upoštevati izbrani besednovrstni model. Toporišič pridevniškim besedam pripisuje vse tri vloge: prilastek, povedkovo določilo in povedkov prilastek; obenem posebej opredeljuje povedkovnik, ki vključuje tudi besede drugih izvornih vrst v povedkovodoločilni rabi (Toporišič 2004: 317, 344, 412). Izraz pridevnik v vlogi povedkovega določila zato v začetni analizi povezuje izhodiščno besedno vrsto in funkcijo. Natančnejša analiza lahko to razloži kot prehod v povedkovnik. Povedkovnik in povedek v nobenem primeru nista zamenljivi oznaki: prvo je besednovrstni pojem določenega modela, drugo stavčnočlenski pojem.</a:t>
            </a:r>
          </a:p>
          <a:p/>
          <a:p>
            <a:r>
              <a:t>Pri iskanju povedkov upoštevamo celotne zveze: je poslala je en povedek. Tudi v Študentka je začela popravljati osnutek osebna oblika, deležnik in nedoločnik sodelujejo pri izražanju začetka popravljanja. Število glagolskih besed ni število stavkov. Prav tako osebek ni obvezen v vsaki povedi: Dežuje izraža dogajanje brez osebka.</a:t>
            </a:r>
          </a:p>
          <a:p/>
          <a:p>
            <a:r>
              <a:t> Vezljivost in izrečenost nista isto</a:t>
            </a:r>
          </a:p>
          <a:p/>
          <a:p>
            <a:r>
              <a:t>Vezljivost je zmožnost, da beseda s svojim pomenom odpira mesta za dopolnila. Poslati v našem zgledu povezuje pošiljatelja, poslano vsebino in prejemnika; včeraj pa dogodek časovno umesti. Pri glagolu nasprotovati je z vezljivostjo povezana dajalniška oblika dopolnila. Vezljivost torej obsega vprašanje, katera mesta so predvidena, vezava pa vprašanje, kakšno obliko zahteva odvisnost. Tudi pridevnik lahko odpira tako mesto: ponosen na dosežek (prim. 4.1; Toporišič 2004: 318, 556).</a:t>
            </a:r>
          </a:p>
          <a:p/>
          <a:p>
            <a:r>
              <a:t>Vezljivostnega mesta ne smemo enačiti z besedo, ki mora biti v vsaki izjavi izgovorjena. V pogovoru Si mentorici že poslala osnutek? – Sem ji že poslala je poslano vsebino mogoče obnoviti iz vprašanja. Izpust ne spremeni glagola v takšnega, ki vsebinskega dopolnila sploh nima. Podobno je v Bratu bom povedala vsebina lahko znana iz sobesedila (Toporišič 2004: 617–618). Zato preizkus »ali lahko ta del izbrišem« brez podatka o sobesedilu ni zadostna razmejitev med dopolnilom in prostim okoliščinskim podatkom.</a:t>
            </a:r>
          </a:p>
          <a:p/>
          <a:p>
            <a:r>
              <a:t>Tudi prislovno določilo ni vedno nevezljivo. Primerjajmo Ana je brala na hodniku in Ana je obesila sliko na steno. Prva krajevna zveza prosto umešča branje, druga v izbranem pomenu glagola označuje cilj namestitve. V obeh primerih govorimo o prostoru, toda mesto v glagolskem vzorcu je različno. Toporišič zato ob primiku izrecno obravnava tudi vezavna oziroma vezljivostno predvidena prislovna določila (Toporišič 2004: 556, 614). Pomenska oznaka kraj sama še ne pove, kako tesno je zveza vključena.</a:t>
            </a:r>
          </a:p>
          <a:p/>
          <a:p>
            <a:r>
              <a:t> Udeleženska vloga in stavčni člen sta različni analizi</a:t>
            </a:r>
          </a:p>
          <a:p/>
          <a:p>
            <a:r>
              <a:t>| Poved | Slovnični osebek | Vloga osebka v dogodku |</a:t>
            </a:r>
          </a:p>
          <a:p>
            <a:r>
              <a:t>|---|---|---|</a:t>
            </a:r>
          </a:p>
          <a:p>
            <a:r>
              <a:t>| Urednica je pregledala rokopis. | urednica | vršilka pregledovanja |</a:t>
            </a:r>
          </a:p>
          <a:p>
            <a:r>
              <a:t>| Rokopis je pregledala urednica. | urednica | vršilka pregledovanja |</a:t>
            </a:r>
          </a:p>
          <a:p>
            <a:r>
              <a:t>| Rokopis je bil pregledan. | rokopis | predmet oziroma prizadeto pri pregledovanju |</a:t>
            </a:r>
          </a:p>
          <a:p/>
          <a:p>
            <a:r>
              <a:t>Premik besed v drugi povedi ne zamenja sklona in stavčnih vlog. Pri tretji, trpni povedi pa predmet iz tvorne zgradbe postane osebek. Osebek zato ni nujno »tisti, ki nekaj dela«, prav tako ni nujno prva beseda. Določamo ga z več merili: s pomenom, obliko, razmerjem do povedka in ujemanjem. To je tudi Toporišičev izrecni večmerilni postopek (Toporišič 2004: 606–610).</a:t>
            </a:r>
          </a:p>
          <a:p/>
          <a:p>
            <a:r>
              <a:t>Poseben preizkus ponuja Ani se je sanjalo. Ana je doživljalka, vendar je Ani dajalniška oblika, povedek pa ostane v tretji osebi ednine srednjega spola. Toporišič takšno sestavino imenuje logični oziroma smiselni osebek in jo primerja z Ana je sanjala, kjer imamo imenovalniški osebek z običajnim ujemanjem (Toporišič 2004: 608–610). Poimenovanje ohranja pomensko sorodnost obeh zgradb; ne pomeni, da se dajalnik brez preostanka vede kot imenovalnik. Pri razlagi vedno povemo oboje: kdo je doživljalec in kako je slovnično izražen.</a:t>
            </a:r>
          </a:p>
          <a:p/>
          <a:p>
            <a:r>
              <a:t> Povedek ima notranjo zgradbo</a:t>
            </a:r>
          </a:p>
          <a:p/>
          <a:p>
            <a:r>
              <a:t>V Ana je morala začeti pregledovati rokopis glagolski niz ni seznam štirih neodvisnih povedkov. Je sodeluje pri času in osebi, morala izraža nujnost, začeti fazo, pregledovati pa poimenuje dejavnost. Hierarhijo lahko povemo z besedami: nujen je bil začetek pregledovanja. Toporišič takšna naklonska in fazna dopolnjevanja analizira kot sestavljeno povedkovo zgradbo; neosebnost posameznega člena ne odpravi njegove pomenske vloge (Toporišič 2004: 587–588, 611–612).</a:t>
            </a:r>
          </a:p>
          <a:p/>
          <a:p>
            <a:r>
              <a:t>Pomembna je razlika med Ana je utrujena in Ana se je vrnila utrujena. V prvi povedi je utrujena nujna vsebinska sestavina povedka je utrujena. Če jo odstranimo, golo Ana je bodisi obvisi bodisi dobi drug pomen, na primer obstajanje. V drugi povedi se je vrnila ohrani pomen vrnitve; utrujena dodatno označi Ano med tem dogodkom. To je povedkov prilastek, ki ga razvežemo v Ana se je vrnila in bila je utrujena. Razvezava pokaže dodatno prisojanje, ne da bi morala biti v izvirni povedi druga osebna glagolska oblika (Toporišič 2004: 557, 588–589).</a:t>
            </a:r>
          </a:p>
          <a:p/>
          <a:p>
            <a:r>
              <a:t>Ta preizkus je boljši od samega iskanja pridevnika ob glagolu. Preverjamo, ali brez dodatka ostane isti pomen glagola, ne zgolj, ali lahko sestavimo kakšno krajšo poved. Pri mejnih zvezah z imenovanjem ali razglašanjem se razvrstitve v strokovni literaturi razlikujejo; tudi Toporišič obvezna določila ob imenovati za na različnih mestih razvršča različno (Toporišič 2004: 589, 618–619). Zato pri takšni nalogi izrecno navedemo merilo in vir. Razlika med nespornima tipoma biti utrujen in vrniti se utrujen pa ostaja uporabno izhodišče za analizo iz 7.6.</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Besedna vrsta in funkcija sta različna podatka</a:t>
            </a:r>
          </a:p>
          <a:p/>
          <a:p>
            <a:r>
              <a:t>Povezava s skripto: 6.1</a:t>
            </a:r>
          </a:p>
          <a:p/>
          <a:p>
            <a:r>
              <a:t>ZA IZVEDBO</a:t>
            </a:r>
          </a:p>
          <a:p>
            <a:r>
              <a:t>Pri prvih dveh zgledih primerjamo izhodiščno pridevniško besedo in njeno vlogo. Toporišič dopušča opis pridevniških besed v več funkcijah, hkrati pa opredeli povedkovnik in prehode vanj. Model moramo zato poimenovati; povedkovnik ni sinonim za povedek. Tretji zgled uvede dodatno prisojanje: Ana se vrne in je ob tem utrujena. Za razliko od biti utrujen glagol vrniti se brez pridevniškega dela ohrani svoj osnovni pomen. Mejna določila ob imenovati za presojamo z navedbo merila in vira.</a:t>
            </a:r>
          </a:p>
          <a:p/>
          <a:p>
            <a:r>
              <a:t>VIRI</a:t>
            </a:r>
          </a:p>
          <a:p>
            <a:r>
              <a:t>Toporišič 2004: 317, 344, 412, 557, 588–589, 618–619</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Izpustljivost sama ne dokazuje nevezljivosti</a:t>
            </a:r>
          </a:p>
          <a:p/>
          <a:p>
            <a:r>
              <a:t>Povezava s skripto: 6.1</a:t>
            </a:r>
          </a:p>
          <a:p/>
          <a:p>
            <a:r>
              <a:t>ZA IZVEDBO</a:t>
            </a:r>
          </a:p>
          <a:p>
            <a:r>
              <a:t>Začnemo z razliko med odprtjem pomenskega mesta in njegovo glasovno uresničitvijo. V odgovoru Sem ji že poslala je osnutek znan iz vprašanja, zato ga ni treba ponoviti. To ne dokazuje odsotnosti vezljivostnega mesta. Nato primerjamo krajevni zvezi ob brati in obesiti: obe označujeta prostor, vendar druga v izbranem pomenu glagola določa cilj namestitve. Vezljivost sprašuje, katera mesta so predvidena, vezava pa, katero obliko odvisnost zahteva.</a:t>
            </a:r>
          </a:p>
          <a:p/>
          <a:p>
            <a:r>
              <a:t>VIRI</a:t>
            </a:r>
          </a:p>
          <a:p>
            <a:r>
              <a:t>Toporišič 2004: 318, 556, 614, 617–618</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Osebek ni nujno vršilec ali prva beseda</a:t>
            </a:r>
          </a:p>
          <a:p/>
          <a:p>
            <a:r>
              <a:t>Povezava s skripto: 6.1</a:t>
            </a:r>
          </a:p>
          <a:p/>
          <a:p>
            <a:r>
              <a:t>ZA IZVEDBO</a:t>
            </a:r>
          </a:p>
          <a:p>
            <a:r>
              <a:t>Pri prvih dveh povedih se spremeni vrstni red, ne slovnične vloge. Šele trpna zgradba postavi rokopis v osebek, pri čemer vršilka ni izražena. Osebek določamo z več merili, predvsem obliko, ujemanjem, zgradbo in pomenom. Nato ustno dodamo Ani se je sanjalo: Ani je doživljalka v dajalniku, ki jo Toporišič imenuje logični osebek. To poimenovanje ne odpravi razlike do imenovalniškega osebka in običajnega ujemanja v Ana je sanjala.</a:t>
            </a:r>
          </a:p>
          <a:p/>
          <a:p>
            <a:r>
              <a:t>VIRI</a:t>
            </a:r>
          </a:p>
          <a:p>
            <a:r>
              <a:t>Toporišič 2004: 606–610</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Povedek je lahko hierarhično sestavljen</a:t>
            </a:r>
          </a:p>
          <a:p/>
          <a:p>
            <a:r>
              <a:t>Povezava s skripto: 6.1</a:t>
            </a:r>
          </a:p>
          <a:p/>
          <a:p>
            <a:r>
              <a:t>ZA IZVEDBO</a:t>
            </a:r>
          </a:p>
          <a:p>
            <a:r>
              <a:t>Študenti naj najprej označijo vse glagolske oblike, nato pa pojasnijo, zakaj njihov seštevek ni število stavkov. Je izraža časovne in osebne podatke skupaj z deležnikom, morala nujnost, začeti fazo, pregledovati pa dejavnost. Razlago povemo kot nujen začetek pregledovanja. Toporišič naklonska in fazna dopolnjevanja analizira znotraj sestavljene povedkove zgradbe. Primerjamo še Dežuje: odsotnost osebka ne pomeni, da poved ne more izraziti dogajanja.</a:t>
            </a:r>
          </a:p>
          <a:p/>
          <a:p>
            <a:r>
              <a:t>VIRI</a:t>
            </a:r>
          </a:p>
          <a:p>
            <a:r>
              <a:t>Toporišič 2004: 587–588, 611–612</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Vsebinski odvisnik nima vedno iste funkcije</a:t>
            </a:r>
          </a:p>
          <a:p/>
          <a:p>
            <a:r>
              <a:t>Povezava s skripto: 6.2</a:t>
            </a:r>
          </a:p>
          <a:p/>
          <a:p>
            <a:r>
              <a:t>ZA IZVEDBO</a:t>
            </a:r>
          </a:p>
          <a:p>
            <a:r>
              <a:t>V vseh treh vrsticah odvisnik izraža vsebino, vendar je odvisen od drugačnega nadrejenega člena. Pri obljubila je pomaga zamenjava s predmetom prihod; pri veseli me zamenjava s to, kar je osebek. Pri obljubi je odvisnik notranji prilastek k samostalniku. S tem ohranimo dve razvrstitveni merili, namesto da bi eno zavrnili. Toporišič ločuje tipologije po vsebini, besednovrstni vrednosti in stavčnočlenski vlogi. Podobno lahko stavčno izrazimo časovno ali vzročno določilo.</a:t>
            </a:r>
          </a:p>
          <a:p/>
          <a:p>
            <a:r>
              <a:t>VIRI</a:t>
            </a:r>
          </a:p>
          <a:p>
            <a:r>
              <a:t>Toporišič 2004: 637–638</a:t>
            </a:r>
          </a:p>
          <a:p/>
          <a:p>
            <a:r>
              <a:t>RAZLAGA IZ SKRIPTE · 6.2 Stavčno funkcijo lahko izrazi odvisnik</a:t>
            </a:r>
          </a:p>
          <a:p>
            <a:r>
              <a:t>&gt; Urednica je sporočila odločitev.  </a:t>
            </a:r>
          </a:p>
          <a:p>
            <a:r>
              <a:t>&gt; Urednica je sporočila, da bo objavila besedilo.</a:t>
            </a:r>
          </a:p>
          <a:p/>
          <a:p>
            <a:r>
              <a:t>Na mestu predmeta odločitev v drugi povedi nastopi vsebinski odvisnik. Podobno lahko druge funkcije izrazimo z besedno zvezo ali stavčno:</a:t>
            </a:r>
          </a:p>
          <a:p/>
          <a:p>
            <a:r>
              <a:t>| Nestavčna sestavina | Stavčna sestavina | Funkcija |</a:t>
            </a:r>
          </a:p>
          <a:p>
            <a:r>
              <a:t>|---|---|---|</a:t>
            </a:r>
          </a:p>
          <a:p>
            <a:r>
              <a:t>| Vaš prihod me veseli. | Veseli me, da ste prišli. | osebek |</a:t>
            </a:r>
          </a:p>
          <a:p>
            <a:r>
              <a:t>| Prebral je popravljeno besedilo. | Prebral je besedilo, ki ga je avtor popravil. | prilastek |</a:t>
            </a:r>
          </a:p>
          <a:p>
            <a:r>
              <a:t>| Po predavanju smo odšli. | Ko se je predavanje končalo, smo odšli. | časovno določilo |</a:t>
            </a:r>
          </a:p>
          <a:p>
            <a:r>
              <a:t>| Zaradi dežja smo ostali doma. | Ker je deževalo, smo ostali doma. | vzročno določilo |</a:t>
            </a:r>
          </a:p>
          <a:p/>
          <a:p>
            <a:r>
              <a:t>Odvisnika ne določimo samo po začetni besedi. Da ste prišli ima ob veseli me drugačno vlogo kot ob povedala je. Preizkus zamenjave s samostalniško zvezo pomaga, vendar ga preverimo ob nadredni besedi: kaj odvisnik dopolnjuje in kateri pomen izraža?</a:t>
            </a:r>
          </a:p>
          <a:p/>
          <a:p>
            <a:r>
              <a:t>Tudi izraz vsebinski odvisnik ne poimenuje ene same stavčnočlenske vloge. Vsebina da pride je predmet v Obljubila je, da pride, osebek v Veseli me, da pride in prilastek k samostalniškemu jedru v Obljuba, da pride, nas je razveselila. S tem ne zavračamo vsebinske razvrstitve, temveč razlikujemo merili. Toporišič posebej predstavi razvrščanje odvisnikov po vsebini, besednovrstni vrednosti in stavčnočlenski vlogi ter svojo nadaljnjo obravnavo organizira po zadnjem merilu (Toporišič 2004: 637–638).</a:t>
            </a:r>
          </a:p>
          <a:p/>
          <a:p>
            <a:r>
              <a:t>Nestavčno dopolnilo lahko izrazi tudi nedoločnik. V Obljubila je priti razložimo priti kot vsebino obljube; v Morala je priti pa kot del naklonskega povedka. V prvem primeru pomaga pretvorba v Obljubila je, da pride oziroma Obljubila je prihod. Druga primerjava, Morala je prihod, brez spremembe zgradbe ni mogoča. Toporišič prav s pretvorbo v samostalniško ali stavčno dopolnilo razmejuje predmetni nedoločnik od povedkovodoločilnega (Toporišič 2004: 616). To je preizkus odvisnosti, ne navodilo, da vsak nedoločnik ločimo z vejico. Prav tako vseh neosebnih zgradb ne razglasimo za polstavke: njihovo vključenost presojamo posebej v 7.6.</a:t>
            </a:r>
          </a:p>
          <a:p/>
          <a:p>
            <a:r>
              <a:t>Vprašalno dopolnilo lahko vsebuje tudi nedoločnik:</a:t>
            </a:r>
          </a:p>
          <a:p/>
          <a:p>
            <a:r>
              <a:t>&gt; Vprašanje, kako nadaljevati delo, je ostalo odprto.</a:t>
            </a:r>
          </a:p>
          <a:p/>
          <a:p>
            <a:r>
              <a:t>Ogrodje je Vprašanje je ostalo odprto. Del kako nadaljevati delo izraža vsebino vprašanja; razvežemo ga lahko v kako naj nadaljujemo delo. Obe meji označimo z vejico. To ni enak položaj kot nedoločnik v povedku moramo nadaljevati: podobna glagolska oblika opravlja drugo funkcijo.</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Podoben nedoločnik, druga odvisnost</a:t>
            </a:r>
          </a:p>
          <a:p/>
          <a:p>
            <a:r>
              <a:t>Povezava s skripto: 6.2</a:t>
            </a:r>
          </a:p>
          <a:p/>
          <a:p>
            <a:r>
              <a:t>ZA IZVEDBO</a:t>
            </a:r>
          </a:p>
          <a:p>
            <a:r>
              <a:t>Pretvorba v samostalniško ali stavčno dopolnilo pomaga razločiti predmetni nedoločnik od sestavine naklonskega povedka. Ne uporabljamo je kot avtomatičnega pravila o vejici. Nato dodamo zgled Vprašanje, kako nadaljevati delo, je ostalo odprto. Njegovo ogrodje je Vprašanje je ostalo odprto, vprašalni nedoločniški del pa izraža vsebino vprašanja in ima obe označeni meji. Enaka neosebna oblika torej ne upravičuje enake analize v vseh treh okoljih.</a:t>
            </a:r>
          </a:p>
          <a:p/>
          <a:p>
            <a:r>
              <a:t>VIRI</a:t>
            </a:r>
          </a:p>
          <a:p>
            <a:r>
              <a:t>Toporišič 2004: 616</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Odvisnik je lahko nadreden drugemu odvisniku</a:t>
            </a:r>
          </a:p>
          <a:p/>
          <a:p>
            <a:r>
              <a:t>Povezava s skripto: 6.3</a:t>
            </a:r>
          </a:p>
          <a:p/>
          <a:p>
            <a:r>
              <a:t>ZA IZVEDBO</a:t>
            </a:r>
          </a:p>
          <a:p>
            <a:r>
              <a:t>Najprej preberemo poved z odvisnikom na koncu, nato prikazano različico, kjer je prilastkov odvisnik vrinjen pred objavila. Vejica po popravil zapre samo ta notranji del; nato se vrnemo k prej začetemu povedku bo objavila. Glavni označuje izhodišče celotnega podredja, nadredni pa odnos med dvema sestavinama. Primerjamo Predlog, da bi besedilo, ki še ni pregledano, takoj objavili, ni bil sprejet in poiščemo ogrodje Predlog ni bil sprejet.</a:t>
            </a:r>
          </a:p>
          <a:p/>
          <a:p>
            <a:r>
              <a:t>VIRI</a:t>
            </a:r>
          </a:p>
          <a:p>
            <a:r>
              <a:t>SP 2001: § 289–348</a:t>
            </a:r>
          </a:p>
          <a:p/>
          <a:p>
            <a:r>
              <a:t>RAZLAGA IZ SKRIPTE · 6.3 Glavni stavek ni edini nadredni stavek</a:t>
            </a:r>
          </a:p>
          <a:p>
            <a:r>
              <a:t>&gt; Urednica je sporočila, da bo objavila besedilo, ki ga je avtor popravil.</a:t>
            </a:r>
          </a:p>
          <a:p/>
          <a:p>
            <a:r>
              <a:t>Glavni stavek urednica je sporočila ima predmetni odvisnik da bo objavila besedilo. Znotraj tega odvisnika je samostalnik besedilo, ki ga določa še prilastkov odvisnik. Tudi odvisni stavek je torej lahko nadreden drugemu odvisniku. Glavni označuje izhodišče podredne zgradbe, nadredni pa konkretno razmerje med dvema deloma.</a:t>
            </a:r>
          </a:p>
          <a:p/>
          <a:p>
            <a:r>
              <a:t>Premaknimo odvisnik:</a:t>
            </a:r>
          </a:p>
          <a:p/>
          <a:p>
            <a:r>
              <a:t>&gt; Urednica je sporočila, da bo besedilo, ki ga je avtor popravil, objavila.</a:t>
            </a:r>
          </a:p>
          <a:p/>
          <a:p>
            <a:r>
              <a:t>Vejica za popravil zapre samo prilastkov odvisnik. Z objavila se vrnemo k prej začetemu povedku bo objavila. Zato pri analizi označimo celotne sestavine, ne zgolj veznikov.</a:t>
            </a:r>
          </a:p>
          <a:p/>
          <a:p>
            <a:r>
              <a:t>Enako ravnamo v povedi Predlog, da bi besedilo, ki še ni pregledano, takoj objavili, ni bil sprejet. Ogrodje je Predlog ni bil sprejet. Vejica pred ni zapira vsebinsko razširitev predloga; ne stoji tam zato, ker bi bil osebek dolg. V Predlog za takojšnjo objavo nepregledanega besedila ni bil sprejet take vejice ni.</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Veznik prepoznamo po razmerju, ne samo po zapisu</a:t>
            </a:r>
          </a:p>
          <a:p/>
          <a:p>
            <a:r>
              <a:t>Povezava s skripto: 6.4</a:t>
            </a:r>
          </a:p>
          <a:p/>
          <a:p>
            <a:r>
              <a:t>ZA IZVEDBO</a:t>
            </a:r>
          </a:p>
          <a:p>
            <a:r>
              <a:t>Priredje lahko povezuje besede, besedne zveze, povedkovne vsebine ali odvisnike iste ravni. Prvi dve vrstici razlikujeta ločni ali od začetka odvisnega vprašanja. Dodamo še zgodovinsko protivno rabo: Dolgo je poskušal, ali uspeha ni bilo, kjer ali pomeni vendar. Pri in to pa ločimo pojasnjevalno zvezo od veznika in ter samostojnega zaimka to. Pregled je namenjen analizi konkretne funkcije, ne izdelavi seznama besed, pred katerimi vejica vedno je ali je nikoli ni.</a:t>
            </a:r>
          </a:p>
          <a:p/>
          <a:p>
            <a:r>
              <a:t>VIRI</a:t>
            </a:r>
          </a:p>
          <a:p>
            <a:r>
              <a:t>SP 2001: § 308, 319, 325</a:t>
            </a:r>
          </a:p>
          <a:p>
            <a:r>
              <a:t>Lengar Verovnik 2016: Vejica pred »in to«</a:t>
            </a:r>
          </a:p>
          <a:p/>
          <a:p>
            <a:r>
              <a:t>RAZLAGA IZ SKRIPTE · 6.4 Prirednost in pomen veznika</a:t>
            </a:r>
          </a:p>
          <a:p>
            <a:r>
              <a:t>Priredno povezujemo sestavine na isti ravni: naslov in povzetek; pregledali smo naslov in popravili povzetek; vemo, da je naslov ustrezen in da je povzetek prekratek. Zadnja poved vsebuje priredno povezana odvisnika: oba sta odvisna od vemo, med seboj pa sta enakovredna.</a:t>
            </a:r>
          </a:p>
          <a:p/>
          <a:p>
            <a:r>
              <a:t>| Razmerje | Zgled |</a:t>
            </a:r>
          </a:p>
          <a:p>
            <a:r>
              <a:t>|---|---|</a:t>
            </a:r>
          </a:p>
          <a:p>
            <a:r>
              <a:t>| vezalno | Prebrala je članek in napisala odziv. |</a:t>
            </a:r>
          </a:p>
          <a:p>
            <a:r>
              <a:t>| ločno | Besedilo bomo skrajšali ali ga razdelili. |</a:t>
            </a:r>
          </a:p>
          <a:p>
            <a:r>
              <a:t>| protivno | Besedilo je kratko, vendar ni jasno. |</a:t>
            </a:r>
          </a:p>
          <a:p>
            <a:r>
              <a:t>| vzročno | Pregled bomo ponovili, saj so podatki novi. |</a:t>
            </a:r>
          </a:p>
          <a:p>
            <a:r>
              <a:t>| posledično | Podatki so novi, zato bomo ponovili pregled. |</a:t>
            </a:r>
          </a:p>
          <a:p>
            <a:r>
              <a:t>| pojasnjevalno | Dodali bomo povzetek, in sicer v angleščini. |</a:t>
            </a:r>
          </a:p>
          <a:p/>
          <a:p>
            <a:r>
              <a:t>Isti izraz nima vedno iste funkcije. V Izberi članek ali knjigo je ali ločni veznik; v Povej, ali si članek prebrala uvaja odvisno vprašanje. V starejšem književnem jeziku je lahko protivni, v pomenu vendar: Dolgo je poskušal, ali uspeha ni bilo. Tak ali v arhivskem Cankarjevem odlomku zahteva pomensko branje, ne naučenega seznama besed brez vejice (SP 2001, §§ 308, 319, 325).</a:t>
            </a:r>
          </a:p>
          <a:p/>
          <a:p>
            <a:r>
              <a:t>Tudi niz in to ima dve zgradbi. Odgovor je poslal, in to včeraj pojasni čas; Predlog je bil sprejet in to nas je razveselilo pa vsebuje veznik in ter zaimek to, ki se nanaša na sprejetje. V nevtralnem vezalnem branju pred drugim nizom ni vejice. Poseben protivni ali poudarjalni pomen bi zahteval dodatno utemeljitev. Lengar Verovnik, Vejica pred »in to«, 2016 — https://svetovalnica.zrc-sazu.si/topic/1329/vejica-pred-in-to.</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Prirednost ne zahteva dveh stavkov</a:t>
            </a:r>
          </a:p>
          <a:p/>
          <a:p>
            <a:r>
              <a:t>Povezava s skripto: 6.5</a:t>
            </a:r>
          </a:p>
          <a:p/>
          <a:p>
            <a:r>
              <a:t>ZA IZVEDBO</a:t>
            </a:r>
          </a:p>
          <a:p>
            <a:r>
              <a:t>Zaradi okvare je predložna zveza, ker je zmanjkalo elektrike pa odvisnik. Oba dela lahko izražata alternativni vzrok istega zastoja in sta zato ločno povezana. Prvega ne razglasimo za stavek zato, da bi ohranili naučeno razlago. Ko celotno vzročno sestavino prestavimo naprej, označimo njen konec. Ustno primerjamo še Revma ga najbolj muči zvečer in ko dežuje. Morebitno naknadno pripombo bi morali utemeljiti kot drugačno členitev, ne kot obvezno posledico osebne oblike.</a:t>
            </a:r>
          </a:p>
          <a:p/>
          <a:p>
            <a:r>
              <a:t>VIRI</a:t>
            </a:r>
          </a:p>
          <a:p>
            <a:r>
              <a:t>SP 2001: § 315</a:t>
            </a:r>
          </a:p>
          <a:p/>
          <a:p>
            <a:r>
              <a:t>RAZLAGA IZ SKRIPTE · 6.5 Enakovrednost ne zahteva enake izrazne oblike</a:t>
            </a:r>
          </a:p>
          <a:p>
            <a:r>
              <a:t>&gt; Zastoj je nastal zaradi okvare ali ker je zmanjkalo elektrike.</a:t>
            </a:r>
          </a:p>
          <a:p/>
          <a:p>
            <a:r>
              <a:t>Zaradi okvare je predložna zveza, ker je zmanjkalo elektrike pa odvisnik. Oba dela izražata možni vzrok istega zastoja, zato ju lahko povezuje ločni ali. Pred njim ne pišemo vejice samo zato, ker drugi člen vsebuje odvisnik. Analiza »dva enakovredna stavka« bi bila napačna: prvi člen ni stavek. Gre za priredno povezana nestavčni in stavčni del (SP 2001, § 315).</a:t>
            </a:r>
          </a:p>
          <a:p/>
          <a:p>
            <a:r>
              <a:t>Če zgradbo postavimo na začetek, označimo njen konec:</a:t>
            </a:r>
          </a:p>
          <a:p/>
          <a:p>
            <a:r>
              <a:t>&gt; Zaradi okvare ali ker je zmanjkalo elektrike, je nastal zastoj.</a:t>
            </a:r>
          </a:p>
          <a:p/>
          <a:p>
            <a:r>
              <a:t>Podobno razložimo arhivski primer Revma ga najbolj muči zvečer in ko dežuje: časovni določili sta v običajnem branju vezalno povezani. Pozneje dodana, posebej izpostavljena pripomba bi lahko zahtevala drugačno členitev, vendar bi morali tako razlago tudi pomensko pojasniti.</a:t>
            </a:r>
          </a:p>
          <a:p/>
          <a:p>
            <a:r>
              <a:t>Ta preizkus pomaga pri zvezah, kot je Pomembni sta zaupnost podatkov in nepristranskost tolmača. Če drugi samostalniški člen razširimo v da tolmač ostane nepristranski, zaradi stavčne oblike še ne nastane novo samostojno sporočilo zunaj povezane vsebine. Morebitno preoblikovanje zaradi večje vzporednosti jasno ločimo od popravka vejice.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Vejica pred in lahko zapira odvisnik</a:t>
            </a:r>
          </a:p>
          <a:p/>
          <a:p>
            <a:r>
              <a:t>Povezava s skripto: 6.6</a:t>
            </a:r>
          </a:p>
          <a:p/>
          <a:p>
            <a:r>
              <a:t>ZA IZVEDBO</a:t>
            </a:r>
          </a:p>
          <a:p>
            <a:r>
              <a:t>Pri prvi povedi vprašamo, kaj je prebrala in kaj napisala: in povezuje glavni dejanji. Vejica pred njim zapre prilastkov odvisnik. Pri drugi povedi oba podatka ostaneta znotraj opisa članka, zato vejice pred in ni. Postopek prenesemo na Obljubila je, da bo prišla, ko konča delo, in da bo prinesla gradivo: notranji časovni odvisnik povzroči vejico na stiku z in da. Brez njega je vezalna povezava odvisnikov brez te vejice.</a:t>
            </a:r>
          </a:p>
          <a:p/>
          <a:p>
            <a:r>
              <a:t>VIRI</a:t>
            </a:r>
          </a:p>
          <a:p>
            <a:r>
              <a:t>SP 2001: § 289–348</a:t>
            </a:r>
          </a:p>
          <a:p/>
          <a:p>
            <a:r>
              <a:t>RAZLAGA IZ SKRIPTE · 6.6 Kaj povezuje in in kje se konča odvisnik?</a:t>
            </a:r>
          </a:p>
          <a:p>
            <a:r>
              <a:t>&gt; Prebrala je članek, ki si ji ga priporočil, in napisala odziv.  </a:t>
            </a:r>
          </a:p>
          <a:p>
            <a:r>
              <a:t>&gt; Prebrala je članek, ki obravnava narečja in prinaša nove podatke.</a:t>
            </a:r>
          </a:p>
          <a:p/>
          <a:p>
            <a:r>
              <a:t>Prvi in povezuje glavni dejanji, vejica pred njim pa zapre odvisnik. Drugi in ostaja znotraj odvisnika in povezuje podatka o članku. Izbira ločila je posledica različnega obsega.</a:t>
            </a:r>
          </a:p>
          <a:p/>
          <a:p>
            <a:r>
              <a:t>&gt; Obljubila je, da bo prišla, ko konča delo, in da bo prinesla gradivo.</a:t>
            </a:r>
          </a:p>
          <a:p/>
          <a:p>
            <a:r>
              <a:t>Odvisnika z da sta priredna. Vejico pred in zahteva konec notranjega časovnega odvisnika. Brez njega dobimo Obljubila je, da bo prišla in da bo prinesla gradivo.</a:t>
            </a:r>
          </a:p>
          <a:p/>
          <a:p>
            <a:r>
              <a:t>Drugačen položaj je stik prirednega in podrednega veznika:</a:t>
            </a:r>
          </a:p>
          <a:p/>
          <a:p>
            <a:r>
              <a:t>&gt; Prišla bo, in če bo imela čas, bo pregledala gradivo.</a:t>
            </a:r>
          </a:p>
          <a:p/>
          <a:p>
            <a:r>
              <a:t>In povezuje prišla bo ter bo pregledala gradivo. Drugi člen se začne s pogojnim odvisnikom. Po SP 2001, § 328, vejico pišemo pred in, med in in če pa je ne vrivamo. Enako: Izjavo bomo podpisali jutri, oziroma če bo treba, bomo podpisnike poklicali že danes. To razmerje razlikujemo od istovrstnih odvisnikov Vem, da pride in da prinese gradivo ter od mešane prirednosti iz 6.5.</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Stik veznikov: dva različna razloga za vejico</a:t>
            </a:r>
          </a:p>
          <a:p/>
          <a:p>
            <a:r>
              <a:t>Povezava s skripto: 6.6</a:t>
            </a:r>
          </a:p>
          <a:p/>
          <a:p>
            <a:r>
              <a:t>ZA IZVEDBO</a:t>
            </a:r>
          </a:p>
          <a:p>
            <a:r>
              <a:t>V levem primeru je drugi priredni člen uveden s pogojnim odvisnikom. SP 2001 postavi vejico pred in in ne med in ter če; druga vejica zapre pogojni del. Desni primer pa nima začetnega odvisnika znotraj drugega prirednega člena: oba odvisnika neposredno dopolnjujeta isti vem. Primerjamo še mešano prirednost zaradi okvare ali ker je zmanjkalo elektrike. Sosednja veznika zato sama ne določita enega pravilnega postopka; najprej razčlenimo njuno nadrejenost.</a:t>
            </a:r>
          </a:p>
          <a:p/>
          <a:p>
            <a:r>
              <a:t>VIRI</a:t>
            </a:r>
          </a:p>
          <a:p>
            <a:r>
              <a:t>SP 2001: § 328</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Elipsa ohrani razmerja tudi brez ponovitve glagola</a:t>
            </a:r>
          </a:p>
          <a:p/>
          <a:p>
            <a:r>
              <a:t>Povezava s skripto: 6.7</a:t>
            </a:r>
          </a:p>
          <a:p/>
          <a:p>
            <a:r>
              <a:t>ZA IZVEDBO</a:t>
            </a:r>
          </a:p>
          <a:p>
            <a:r>
              <a:t>Pred težjim zgledom obnovimo Eva je izbrala prvi naslov, Nika pa drugega in Eva zaupa mentorici, Nika pa urednici. Izpuščeni glagol ohranja razmerje in vezavo. Nato v prikazanem zgledu razvežemo ampak marjetica v ampak je marjetica. Protivni del ostane znotraj prve vsebine ugotovitve; druga vsebina se začne z in da. Kratki Vem, zakaj obravnavamo glede na obnovljivost iz sobesedila in opozorilo SP 2001 o omahovanju, ne kot univerzalni vzorec.</a:t>
            </a:r>
          </a:p>
          <a:p/>
          <a:p>
            <a:r>
              <a:t>VIRI</a:t>
            </a:r>
          </a:p>
          <a:p>
            <a:r>
              <a:t>Toporišič 2004: 613, 634–635</a:t>
            </a:r>
          </a:p>
          <a:p>
            <a:r>
              <a:t>SP 2001: § 331</a:t>
            </a:r>
          </a:p>
          <a:p>
            <a:r>
              <a:t>Jezikovna svetovalnica 2026: Vejica na meji med skladenjsko raznorodnimi enotami</a:t>
            </a:r>
          </a:p>
          <a:p/>
          <a:p>
            <a:r>
              <a:t>RAZLAGA IZ SKRIPTE · 6.7 Elipsa: izpuščeno ni brez slovnične vloge</a:t>
            </a:r>
          </a:p>
          <a:p>
            <a:r>
              <a:t>&gt; Eva je izbrala prvi naslov, Nika pa drugega.</a:t>
            </a:r>
          </a:p>
          <a:p/>
          <a:p>
            <a:r>
              <a:t>Pri Niki razumemo je izbrala. Izpust oziroma elipsa prepreči ponavljanje, ohrani pa razmerje med sporočiloma. V Zanima me, kaj je res in kaj ne je iz drugega vprašalnega dela izpuščeno je res; oba dela dopolnjujeta zanima me.</a:t>
            </a:r>
          </a:p>
          <a:p/>
          <a:p>
            <a:r>
              <a:t>Elipsa lahko ohrani tudi vezavo neizrečenega glagola: Eva zaupa mentorici, Nika pa urednici. Dajalnik urednici ni prost dodatek k Niki, temveč ga še vedno usmerja razumljeni zaupa. V odgovoru Komu zaupa Nika? – Urednici dopolnitev v Nika zaupa urednici uporabimo za analizo, ne kot obvezni popravek odgovora. Izpuščanje že znanega je običajen način povezovanja besedila (Toporišič 2004: 613, 634–635). Vendar iz možnosti razvezave ne izpeljemo enega pravila o vseh vejicah: posebej preverimo tip zveze, kakor kažejo primerjave v 6.8.</a:t>
            </a:r>
          </a:p>
          <a:p/>
          <a:p>
            <a:r>
              <a:t>Tudi Vem, zakaj lahko vsebuje eliptični odvisnik. Vejica ne spremeni trditve v samostojno vprašanje Zakaj?, temveč označi odvisnost vsebine od vem. Pri takih kratkih zgradbah upoštevamo možnost dopolnitve iz sobesedila; SP 2001, § 331, opozarja tudi na omahovanje. Slogan NLB in vlogo konteksta posebej razloži Lengar Verovnik, Vejica in vezniški »zakaj« v odvisnikih, 2014 — https://svetovalnica.zrc-sazu.si/topic/596/vejica-in-vezni%C5%A1ki-zakaj-v-odvisnikih.</a:t>
            </a:r>
          </a:p>
          <a:p/>
          <a:p>
            <a:r>
              <a:t>Razvezava pomaga tudi v primeru iz gradiva 2026:</a:t>
            </a:r>
          </a:p>
          <a:p/>
          <a:p>
            <a:r>
              <a:t>&gt; Ugotovil je, da na sliki ni ivanjščica, ampak marjetica, in da so vsi podnapisi napačni.</a:t>
            </a:r>
          </a:p>
          <a:p/>
          <a:p>
            <a:r>
              <a:t>Ampak marjetica razvežemo v ampak je marjetica. Protivni del pripada prvemu odvisniku; nato se vrnemo na raven dveh vsebin ugotovitve. Vejica pred in da je zato utemeljena. Jezikovna svetovalnica, Vejica na meji med skladenjsko raznorodnimi enotami, 2026 — https://svetovalnica.zrc-sazu.si/topic/7654/vejica-na-meji-med-skladenjsko-raznorodnimi-enotami-te%C5%BEji-primeri.</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Razvezljivost primerjave ni univerzalni preizkus</a:t>
            </a:r>
          </a:p>
          <a:p/>
          <a:p>
            <a:r>
              <a:t>Povezava s skripto: 6.8</a:t>
            </a:r>
          </a:p>
          <a:p/>
          <a:p>
            <a:r>
              <a:t>ZA IZVEDBO</a:t>
            </a:r>
          </a:p>
          <a:p>
            <a:r>
              <a:t>Prvi dve vrstici kažeta osnovni kontrast nestavčnega člena in razvitega primerjalnega odvisnika. Naslednji dve pa preprečujeta napačno posplošitev: možnost, da sami dodamo glagol ali razširimo primerjavo, še ne zahteva vejice. SP 2001 pri teh tipih izrecno razlikuje zapis. Dodamo primer Nastopila je kot predstavnica študentov, kjer kot lahko izraža vlogo. Pomen primerjanja in pomen vloge preverjamo v sobesedilu, ne samo iz prisotnosti besede kot.</a:t>
            </a:r>
          </a:p>
          <a:p/>
          <a:p>
            <a:r>
              <a:t>VIRI</a:t>
            </a:r>
          </a:p>
          <a:p>
            <a:r>
              <a:t>SP 2001: § 330</a:t>
            </a:r>
          </a:p>
          <a:p/>
          <a:p>
            <a:r>
              <a:t>RAZLAGA IZ SKRIPTE · 6.8 Primerjanje in ustaljene zveze</a:t>
            </a:r>
          </a:p>
          <a:p>
            <a:r>
              <a:t>&gt; Maja bere hitreje kot Luka.  </a:t>
            </a:r>
          </a:p>
          <a:p>
            <a:r>
              <a:t>&gt; Maja bere hitreje, kot je brala lani.</a:t>
            </a:r>
          </a:p>
          <a:p/>
          <a:p>
            <a:r>
              <a:t>V prvem primeru primerjamo z nestavčnim členom, v drugem imamo primerjalni odvisnik. Pri primerjavah je možnost dopolnitve izpuščenega glagola omejen preizkus: SP 2001, § 330, brez vejice navaja tudi tipa Več je govoril kot delal in Bolje je delati kot govoriti. Vejice ne dodamo samo zato, ker lahko sami sestavimo daljšo različico. Enako velja za Delali smo zavzeto kot že dolgo ne. Dodatna razlaga primera — https://svetovalnica.zrc-sazu.si/topic/4788/vejica-pred-kot-%C5%BEe-dolgo-ne.</a:t>
            </a:r>
          </a:p>
          <a:p/>
          <a:p>
            <a:r>
              <a:t>Ločimo še pomen vloge in primerjavo: Nastopila je kot predstavnica študentov proti Nastopila je, kot da zastopa vse študente.</a:t>
            </a:r>
          </a:p>
          <a:p/>
          <a:p>
            <a:r>
              <a:t>Pri ustaljenih zvezah preverimo, koliko samostojne stavčne zgradbe ohranjajo. Kar se tiče rokov, smo se dogovorili vsebuje oziralno zgradbo; oznaka »fraza« vejice ne odpravi. V Odgovor naj bo kar se da jasen pa kar se da deluje kot prislovno določanje stopnje, zato izraza ne odtrgamo od jasen.</a:t>
            </a:r>
          </a:p>
          <a:p/>
          <a:p>
            <a:r>
              <a:t>Zveza kot bi mignil lahko ohranja odvisniško razlago ali prehaja med prislovne zveze. Vključitev v priredje, denimo Zadevo je uredil kot bi mignil in brez zapletov, podpira drugo analizo. Osebna glagolska oblika zato ni univerzalni sprožilec vejice. Lengar Verovnik, Vrinjeni stavek »kot bi mignil« in vejica — https://svetovalnica.zrc-sazu.si/topic/3668/vrinjeni-stavek-kot-bi-mignil-in-vejica.</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Ustaljena zveza lahko ohrani ali izgubi stavčnost</a:t>
            </a:r>
          </a:p>
          <a:p/>
          <a:p>
            <a:r>
              <a:t>Povezava s skripto: 6.8</a:t>
            </a:r>
          </a:p>
          <a:p/>
          <a:p>
            <a:r>
              <a:t>ZA IZVEDBO</a:t>
            </a:r>
          </a:p>
          <a:p>
            <a:r>
              <a:t>Izraz fraza ne razreši ločil. Kar se tiče rokov ohranja oziralno zgradbo, kar se da pa v prikazanem zgledu določa stopnjo jasnosti. Kot bi mignil lahko ohrani odvisniško razlago ali preide v prislovno zvezo. Ko ga povežemo z brez zapletov, priredna zgradba podpira prislovno analizo. To je dokaz iz vključitve v poved, ne dovoljenje za odstranjevanje vseh vejic ob tej zvezi. Študenti naj poimenujejo funkcijo vsake celote.</a:t>
            </a:r>
          </a:p>
          <a:p/>
          <a:p>
            <a:r>
              <a:t>VIRI</a:t>
            </a:r>
          </a:p>
          <a:p>
            <a:r>
              <a:t>Lengar Verovnik: Vrinjeni stavek »kot bi mignil« in vejica</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Celovita redakcija preveri tudi že zapisane vejice</a:t>
            </a:r>
          </a:p>
          <a:p/>
          <a:p>
            <a:r>
              <a:t>Povezava s skripto: 6.9</a:t>
            </a:r>
          </a:p>
          <a:p/>
          <a:p>
            <a:r>
              <a:t>ZA IZVEDBO</a:t>
            </a:r>
          </a:p>
          <a:p>
            <a:r>
              <a:t>Najprej pokažemo izhodiščni zapis iz skripte brez vejic in pustimo čas za analizo. Nato razkrijemo urejeno poved. Dve vsebini dopolnjujeta povedala; prva vsebuje prilastkov, druga pogojni odvisnik. Pred in ni vejice, ker se notranji prilastkov odvisnik konča že pred predolg. Študenti naj za vsako vejico povedo začetek ali konec katere sestavine označuje. Na koncu preverimo še mesta, kjer smo se zavestno odločili vejice ne dodati.</a:t>
            </a:r>
          </a:p>
          <a:p/>
          <a:p>
            <a:r>
              <a:t>VIRI</a:t>
            </a:r>
          </a:p>
          <a:p>
            <a:r>
              <a:t>SP 2001: § 289–348</a:t>
            </a:r>
          </a:p>
          <a:p/>
          <a:p>
            <a:r>
              <a:t>RAZLAGA IZ SKRIPTE · 6.9 Celovit postopek popravljanja</a:t>
            </a:r>
          </a:p>
          <a:p>
            <a:r>
              <a:t>&gt; Urednica je povedala da je članek ki smo ga poslali predolg in da ga bo objavila če ga skrajšamo.</a:t>
            </a:r>
          </a:p>
          <a:p/>
          <a:p>
            <a:r>
              <a:t>Ogrodje je urednica je povedala. Dopolnjujeta ga dve vsebini, povezani z in. Prva vsebuje prilastkov, druga pogojni odvisnik:</a:t>
            </a:r>
          </a:p>
          <a:p/>
          <a:p>
            <a:r>
              <a:t>&gt; Urednica je povedala, da je članek, ki smo ga poslali, predolg in da ga bo objavila, če ga skrajšamo.</a:t>
            </a:r>
          </a:p>
          <a:p/>
          <a:p>
            <a:r>
              <a:t>Pred in vejice ni: notranji odvisnik se je končal že pred predolg. Postopek je vedno enak: poiščemo povedke, označimo celotne sestavine, določimo njihova razmerja in preverimo obe meji vsakega vključenega dela. Nazadnje preverimo tudi že zapisane vejice. Popravljanje vključuje ohranjanje pravilnega, ne samo dodajanja.</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Iste stavčne vloge, drugačen sporočilni poudarek</a:t>
            </a:r>
          </a:p>
          <a:p/>
          <a:p>
            <a:r>
              <a:t>Povezava s skripto: 6.10</a:t>
            </a:r>
          </a:p>
          <a:p/>
          <a:p>
            <a:r>
              <a:t>ZA IZVEDBO</a:t>
            </a:r>
          </a:p>
          <a:p>
            <a:r>
              <a:t>Povedi najprej preberemo kot odgovora na dve različni vprašanji. Pri prvem sprašujemo po pregledanem, pri drugem po vršilki. Sklon in ujemanje ostaneta enaka, spremeni se členitev po aktualnosti: kaj vzamemo za izhodišče in kaj za osrednjo novost. Toporišič razlikuje temo, prehod in remo. Nevtralno zaporedje navadno vodi od dostopnega k novemu, vendar ga vprašanje ali poudarek spremeni. Tema zato ni drugo ime za osebek.</a:t>
            </a:r>
          </a:p>
          <a:p/>
          <a:p>
            <a:r>
              <a:t>VIRI</a:t>
            </a:r>
          </a:p>
          <a:p>
            <a:r>
              <a:t>Toporišič 2004: 660–663</a:t>
            </a:r>
          </a:p>
          <a:p/>
          <a:p>
            <a:r>
              <a:t>RAZLAGA IZ SKRIPTE · 6.10 Besedni red, naslonke in členitev po aktualnosti</a:t>
            </a:r>
          </a:p>
          <a:p>
            <a:r>
              <a:t>Slovenski besedni red omogoča, da isto razmerje predstavimo z različnim poudarkom. Na vprašanje Kaj je pregledala urednica? naravno odgovorimo Urednica je pregledala rokopis. Na vprašanje Kdo je pregledal rokopis? pa Rokopis je pregledala urednica. Obe povedi sta tvorni in imata enake stavčne člene; razlikujeta se po tem, kaj vzamemo za izhodišče in kaj sporočimo kot osrednjo novost.</a:t>
            </a:r>
          </a:p>
          <a:p/>
          <a:p>
            <a:r>
              <a:t>To je členitev po aktualnosti. Toporišič razlikuje izhodišče oziroma temo, jedro oziroma remo ter prehod. Nevtralno zaporedje navadno vodi od že dostopnega k novemu, poudarek ali posebno vprašanje pa ga lahko spremeni (Toporišič 2004: 660–663). Tema zato ni drugo ime za osebek, rema pa ne za predmet. Pri preoblikovanju najprej ugotovimo, na katero vprašanje odgovarjamo; sicer lahko slovnično pravilni popravek spremeni sporočilni poudarek.</a:t>
            </a:r>
          </a:p>
          <a:p/>
          <a:p>
            <a:r>
              <a:t>Vrstni red kljub temu ni poljuben. Kratke nenaglašene oblike, naslonke, se združujejo v urejen niz. Primerjajmo Včeraj sem ji ga poslala in Včeraj ji ga je poslala. Oblika sem stoji pred zaimenskima naslonkama, je pa za njima. Zaimenski dajalnik ji predhaja tožilniku ga. Različni osebi pomožnika zato ne pomenita zgolj zamenjave ene besede na nespremenjenem mestu (Toporišič 2004: 671).</a:t>
            </a:r>
          </a:p>
          <a:p/>
          <a:p>
            <a:r>
              <a:t>Tudi mesto celotnega niza ni preprosto »za drugo besedo«: Včeraj popoldne ji ga je poslala ima pred naslonkami večbesedno časovno sestavino. Podobno Ko je končala pregled, ji ga je poslala postavlja niz za začetni odvisnik, katerega konec samostojno zahteva vejico. Toporišič mesto prostih naslonk povezuje s prvo sestavino, položajem povedka, veznikom in morebitnim vrivkom (Toporišič 2004: 675–676). Pri urejanju zapletenega zapisa zato preverimo oboje: pravilni notranji red naslonk in mejo sestavine pred njimi. Vejica ne nastane zaradi same prisotnosti naslonskega niza.</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Naslonke imajo svoj notranji red</a:t>
            </a:r>
          </a:p>
          <a:p/>
          <a:p>
            <a:r>
              <a:t>Povezava s skripto: 6.10</a:t>
            </a:r>
          </a:p>
          <a:p/>
          <a:p>
            <a:r>
              <a:t>ZA IZVEDBO</a:t>
            </a:r>
          </a:p>
          <a:p>
            <a:r>
              <a:t>Primerjavo opravimo tako, da prvo poved preoblikujemo v tretjo osebo. Zgolj zamenjava sem z je na istem mestu ne zadošča: sem je pred zaimkoma, je pa za njima. Dajalniški ji predhaja tožilniškemu ga. Nato razširimo začetno sestavino v Včeraj popoldne ji ga je poslala in v Ko je končala pregled, ji ga je poslala. Niz torej ni mehanično za drugo besedo. V zadnjem zgledu vejica zapre odvisnik in je ne povzroča prisotnost naslonk.</a:t>
            </a:r>
          </a:p>
          <a:p/>
          <a:p>
            <a:r>
              <a:t>VIRI</a:t>
            </a:r>
          </a:p>
          <a:p>
            <a:r>
              <a:t>Toporišič 2004: 671, 675–676</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nalogi 1 in 2</a:t>
            </a:r>
          </a:p>
          <a:p/>
          <a:p>
            <a:r>
              <a:t>NALOGE</a:t>
            </a:r>
          </a:p>
          <a:p/>
          <a:p>
            <a:r>
              <a:t>1. V povedi Mlajši sodelavec je mentorici v petek poslal tri predloge določite stavčne člene. Nato določite vlogo pridevnika v Predlog je jasen in Jasen predlog je bil sprejet.</a:t>
            </a:r>
          </a:p>
          <a:p/>
          <a:p>
            <a:r>
              <a:t>2. Pojasnite oba ali v Ni vedela, ali naj nadaljuje delo ali naj odide. Primerjajte še Poslal je odgovor, in to pravočasno ter Poslal je odgovor in to nas je presenetilo.</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rešitvi 1 in 2</a:t>
            </a:r>
          </a:p>
          <a:p/>
          <a:p>
            <a:r>
              <a:t>REŠITVE Z RAZLAGO</a:t>
            </a:r>
          </a:p>
          <a:p/>
          <a:p>
            <a:r>
              <a:t>1. Osebek je mlajši sodelavec, povedek je poslal, predmeta mentorici in tri predloge, časovno določilo v petek. Mlajši je notranji prilastek; tri določa količino v predmetu. V Predlog je jasen je jasen povedkovo določilo, v Jasen predlog pa prilastek k samostalniku.</a:t>
            </a:r>
          </a:p>
          <a:p/>
          <a:p>
            <a:r>
              <a:t>2. Prvi ali uvaja odvisno vprašanje, drugi povezuje alternativni vsebini. Pred drugim ni vejice. In to pravočasno pojasnjuje že povedano, v drugi povedi pa to pomeni dejstvo, da je bil odgovor poslan: gre za zaimek v osebku drugega stavka. Vejice zato ne določa samo zaporedje in to.</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nalogi 3 in 4</a:t>
            </a:r>
          </a:p>
          <a:p/>
          <a:p>
            <a:r>
              <a:t>NALOGE</a:t>
            </a:r>
          </a:p>
          <a:p/>
          <a:p>
            <a:r>
              <a:t>3. Dodajte vejice: Vem da imaš čas in da želiš pomagati. Prejel sem vprašanje ki si ga poslala in pripravil odgovor.</a:t>
            </a:r>
          </a:p>
          <a:p/>
          <a:p>
            <a:r>
              <a:t>4. Uredite: Predlog da bi članek ki še ni pregledan takoj objavili ni bil sprejet. Poiščite ogrodje.</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rešitvi 3 in 4</a:t>
            </a:r>
          </a:p>
          <a:p/>
          <a:p>
            <a:r>
              <a:t>REŠITVE Z RAZLAGO</a:t>
            </a:r>
          </a:p>
          <a:p/>
          <a:p>
            <a:r>
              <a:t>3. Vem, da imaš čas in da želiš pomagati. Odvisnika imata skupno nadredno besedo. Prejel sem vprašanje, ki si ga poslala, in pripravil odgovor. Druga vejica zapira odvisnik; in povezuje glavni dejanji.</a:t>
            </a:r>
          </a:p>
          <a:p/>
          <a:p>
            <a:r>
              <a:t>4. Predlog, da bi članek, ki še ni pregledan, takoj objavili, ni bil sprejet. Ogrodje: Predlog ni bil sprejet. Vsebinsko razširitev predloga prekinja odvisnik, ki določa članek.</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5 in 6</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nalogi 5 in 6</a:t>
            </a:r>
          </a:p>
          <a:p/>
          <a:p>
            <a:r>
              <a:t>NALOGE</a:t>
            </a:r>
          </a:p>
          <a:p/>
          <a:p>
            <a:r>
              <a:t>5. Odstranite odvečne vejice: Na današnji seji komisije, smo sklenili, da bomo osnutek pregledali, in popravili.</a:t>
            </a:r>
          </a:p>
          <a:p/>
          <a:p>
            <a:r>
              <a:t>6. Uredite primerjave: Prevod je daljši kot izvirnik. Prevod je daljši kot smo pričakovali. Več je govoril kot delal.</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5 in 6</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rešitvi 5 in 6</a:t>
            </a:r>
          </a:p>
          <a:p/>
          <a:p>
            <a:r>
              <a:t>REŠITVE Z RAZLAGO</a:t>
            </a:r>
          </a:p>
          <a:p/>
          <a:p>
            <a:r>
              <a:t>5. Na današnji seji komisije smo sklenili, da bomo osnutek pregledali in popravili. Za začetnim stavčnim členom ni razloga za vejico; tudi vezalno povezanih dejanj znotraj odvisnika ne ločujemo.</a:t>
            </a:r>
          </a:p>
          <a:p/>
          <a:p>
            <a:r>
              <a:t>6. Vejico dodamo le v Prevod je daljši, kot smo pričakovali. Tam je primerjalni odvisnik z izraženim povedkom. Pri drugih dveh primerjavah uporabimo pravilo za nestavčni oziroma nepopolno izraženi primerjalni člen iz 6.8.</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7 in 8</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nalogi 7 in 8</a:t>
            </a:r>
          </a:p>
          <a:p/>
          <a:p>
            <a:r>
              <a:t>NALOGE</a:t>
            </a:r>
          </a:p>
          <a:p/>
          <a:p>
            <a:r>
              <a:t>7. Pojasnite elipso: Eva je izbrala prvi naslov Nika pa drugega. Zanima me kaj je res in kaj ne.</a:t>
            </a:r>
          </a:p>
          <a:p/>
          <a:p>
            <a:r>
              <a:t>8. Uredite: Ko sem prebral poročilo sem opazil da so podatki ki jih navajate pravilni in da sklep ne sledi ugotovitvam.</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7 in 8</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rešitvi 7 in 8</a:t>
            </a:r>
          </a:p>
          <a:p/>
          <a:p>
            <a:r>
              <a:t>REŠITVE Z RAZLAGO</a:t>
            </a:r>
          </a:p>
          <a:p/>
          <a:p>
            <a:r>
              <a:t>7. Eva je izbrala prvi naslov, Nika pa drugega. Pri Niki razumemo je izbrala. Zanima me, kaj je res in kaj ne. Drugi vprašalni del razvežemo v kaj ni res; ločilna meja je pred celotnim osebkovim odvisniškim dopolnilom: to me zanima. Zaimek me je predmet, ne osebek.</a:t>
            </a:r>
          </a:p>
          <a:p/>
          <a:p>
            <a:r>
              <a:t>8. Ko sem prebral poročilo, sem opazil, da so podatki, ki jih navajate, pravilni in da sklep ne sledi ugotovitvam. Časovni odvisnik se konča po poročilo, prilastkov po navajate. Vsebinski sestavini z da sta vezalno povezani.</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9 in 10</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nalogi 9 in 10</a:t>
            </a:r>
          </a:p>
          <a:p/>
          <a:p>
            <a:r>
              <a:t>NALOGE</a:t>
            </a:r>
          </a:p>
          <a:p/>
          <a:p>
            <a:r>
              <a:t>9. Primerjajte: Prišla bo in če bo imela čas bo ostala. Zastoj je nastal zaradi okvare ali ker je zmanjkalo elektrike. Zakaj stik dveh veznikov nima enakega učinka?</a:t>
            </a:r>
          </a:p>
          <a:p/>
          <a:p>
            <a:r>
              <a:t>10. Uredite in razložite: Kar se tiče rokov smo se dogovorili. Odgovor naj bo kar se da jasen.</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9 in 10</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rešitvi 9 in 10</a:t>
            </a:r>
          </a:p>
          <a:p/>
          <a:p>
            <a:r>
              <a:t>REŠITVE Z RAZLAGO</a:t>
            </a:r>
          </a:p>
          <a:p/>
          <a:p>
            <a:r>
              <a:t>9. Prišla bo, in če bo imela čas, bo ostala. Drugi priredni člen vsebuje začetni pogojni odvisnik. Poved o zastoju ostane brez vejice: ali povezuje dve vzročni določili istega dogodka, od katerih je samo drugo stavčno.</a:t>
            </a:r>
          </a:p>
          <a:p/>
          <a:p>
            <a:r>
              <a:t>10. Kar se tiče rokov, smo se dogovorili. Oziralni del ločimo od nadaljevanja. Odgovor naj bo kar se da jasen ostane brez vejic: ustaljena zveza določa stopnjo jasnosti. Skupna beseda kar ne pomeni enake zgradbe.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Vaja 11</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naloga 11</a:t>
            </a:r>
          </a:p>
          <a:p/>
          <a:p>
            <a:r>
              <a:t>NALOGE</a:t>
            </a:r>
          </a:p>
          <a:p/>
          <a:p>
            <a:r>
              <a:t>11. Uredite: Vprašanje kako nadaljevati delo je ostalo odprto. Nato presodite, ali Turisti gredo plavat ali se vozit s kočijo ali si ogledajo grad potrebuje vejico zaradi različne glagolske oblike.</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11</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rešitev 11</a:t>
            </a:r>
          </a:p>
          <a:p/>
          <a:p>
            <a:r>
              <a:t>REŠITVE Z RAZLAGO</a:t>
            </a:r>
          </a:p>
          <a:p/>
          <a:p>
            <a:r>
              <a:t>11. Vprašanje, kako nadaljevati delo, je ostalo odprto. Vmesno dopolnilo izraža vsebino vprašanja. Poved o turistih lahko ostane brez vejice: namenilniški možnosti sta povezani z ali, nato jima sledi še možnost, izražena z osebnim glagolom. Različna izrazna oblika ob ohranjenem ločnem razmerju sama ne zahteva vejice; primerjajte SP 2001, §§ 315–319.</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12</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naloga 12</a:t>
            </a:r>
          </a:p>
          <a:p/>
          <a:p>
            <a:r>
              <a:t>NALOGE</a:t>
            </a:r>
          </a:p>
          <a:p/>
          <a:p>
            <a:r>
              <a:t>12. Zahtevnejša naloga: vloge in izpusti. Primerjajte Urednica je pregledala rokopis, Rokopis je pregledala urednica in Rokopis je bil pregledan. Pri vsaki ločite vršilca, prizadeto in slovnični osebek. Nato ob Ani se je sanjalo pojasnite izraz logični osebek. Nazadnje presodite trditev: »Če lahko v odgovoru Sem ji že poslala izpustimo osnutek, poslano ni vezljivostno mesto glagola.«</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rešitev 12</a:t>
            </a:r>
          </a:p>
          <a:p/>
          <a:p>
            <a:r>
              <a:t>REŠITVE Z RAZLAGO</a:t>
            </a:r>
          </a:p>
          <a:p/>
          <a:p>
            <a:r>
              <a:t>12. V prvih dveh povedih je vršilka in osebek urednica, prizadeto in predmet pa rokopis. V drugi se spremeni besedni red, ne ujemanje ali sklonska razmerja. V tretji je rokopis še vedno prizadeto, vendar postane osebek; vršilec ni izražen. V Ani se je sanjalo je Ani doživljalka v dajalniku. Toporišičev izraz logični osebek poudarja to pomensko vlogo, medtem ko oblika se je sanjalo pokaže odsotnost običajnega imenovalniškega ujemanja. Zadnja trditev ne velja: v danem pogovornem sobesedilu je poslano obnovljivo, zato ga ni treba ponoviti. Izrečenost in vezljivost nista isto merilo.</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13</a:t>
            </a:r>
          </a:p>
          <a:p/>
          <a:p>
            <a:r>
              <a:t>Povezava s skripto: 6.11</a:t>
            </a:r>
          </a:p>
          <a:p/>
          <a:p>
            <a:r>
              <a:t>ZA IZVEDBO</a:t>
            </a:r>
          </a:p>
          <a:p>
            <a:r>
              <a:t>Najprej omogočite samostojen poskus. Zahtevajte rešitev in odločilni razlog. Pri več mogočih analizah naj študent izrecno navede predpostavko. Razlaga je na naslednji prosojnici.</a:t>
            </a:r>
          </a:p>
          <a:p/>
          <a:p>
            <a:r>
              <a:t>VIRI</a:t>
            </a:r>
          </a:p>
          <a:p>
            <a:r>
              <a:t>Skripta 3.0, 6.11; naloga 13</a:t>
            </a:r>
          </a:p>
          <a:p/>
          <a:p>
            <a:r>
              <a:t>NALOGE</a:t>
            </a:r>
          </a:p>
          <a:p/>
          <a:p>
            <a:r>
              <a:t>13. Zahtevnejša naloga: hierarhija in besedilni poudarek. Razčlenite Ana je morala začeti pregledovati rokopis ter primerjajte vlogo nedoločnika v Obljubila je priti in Morala je priti. Nato sestavite odgovor na Kdo je pregledal rokopis?, v katerem bo rokopis izhodišče. Poved Včeraj sem ji ga poslala preoblikujte tako, da poročate o Ani v tretji osebi in da stoji na začetku Ko je končala pregled. Utemeljite mesto vejice in zaporedje naslonk.</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13</a:t>
            </a:r>
          </a:p>
          <a:p/>
          <a:p>
            <a:r>
              <a:t>Povezava s skripto: 6.12</a:t>
            </a:r>
          </a:p>
          <a:p/>
          <a:p>
            <a:r>
              <a:t>ZA IZVEDBO</a:t>
            </a:r>
          </a:p>
          <a:p>
            <a:r>
              <a:t>Primerjajte razlago s postopkom študentov. Naj označijo, kaj so dokazali in katera predpostavka je odločilna. Alternative sprejmite v mejah, navedenih v skripti.</a:t>
            </a:r>
          </a:p>
          <a:p/>
          <a:p>
            <a:r>
              <a:t>VIRI</a:t>
            </a:r>
          </a:p>
          <a:p>
            <a:r>
              <a:t>Skripta 3.0, 6.12; rešitev 13</a:t>
            </a:r>
          </a:p>
          <a:p/>
          <a:p>
            <a:r>
              <a:t>REŠITVE Z RAZLAGO</a:t>
            </a:r>
          </a:p>
          <a:p/>
          <a:p>
            <a:r>
              <a:t>13. Niz je morala začeti pregledovati sestavlja hierarhično zgrajen povedek: preteklost, nujnost, začetek in dejavnost niso štirje samostojni stavki. Priti v Obljubila je priti izraža vsebino obljube; preverimo ga s predmetno pretvorbo Obljubila je prihod/da pride. Pri Morala je priti je nedoločnik sestavina naklonskega povedka. Odgovor z rokopisom kot izhodiščem je Rokopis je pregledala urednica: vršilka je osrednja nova informacija. Zadnja preoblikovana poved je Ko je končala pregled, ji ga je poslala. Vejica zapre časovni odvisnik. Zaimek ji predhaja ga, pomožnik je pa stoji za njima; prvotnega sem ne smemo le zamenjati z je in pustiti zaporedja je ji ga.</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poglavje6</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Vrinjeno, pristavljeno, citirano</a:t>
            </a:r>
          </a:p>
          <a:p/>
          <a:p>
            <a:r>
              <a:t>ZA IZVEDBO</a:t>
            </a:r>
          </a:p>
          <a:p>
            <a:r>
              <a:t>Osrednje vprašanje te enote: Kako je dodana ali citirana vsebina vključena v poved?</a:t>
            </a:r>
          </a:p>
          <a:p>
            <a:r>
              <a:t>Cilji: Razločimo prilastek, pristavek, vrivek, dostavek in nagovor.; Povežemo neosebno obliko z njeno dejansko skladenjsko funkcijo.; Uredimo navedke in ohranimo govorni položaj pri poročanju.</a:t>
            </a:r>
          </a:p>
          <a:p/>
          <a:p>
            <a:r>
              <a:t>UVOD V ENOTO</a:t>
            </a:r>
          </a:p>
          <a:p>
            <a:r>
              <a:t> 7. Vrinjeno, pristavljeno, citirano</a:t>
            </a:r>
          </a:p>
          <a:p/>
          <a:p>
            <a:r>
              <a:t>Poved lahko razširimo s pojasnilom, komentarjem, nagovorom ali navedkom. Ti deli vplivajo na ločila, vendar nimajo enake zgradbe. Tudi možnost izpusta ni zadosten preizkus: odstranimo lahko včeraj, pa beseda zato še ni vrivek. Ugotoviti moramo, kako je dodana vsebina vključena v poved.</a:t>
            </a:r>
          </a:p>
          <a:p/>
          <a:p>
            <a:r>
              <a:t>Razlaga nadgrajuje izhodiščno gradivo predmeta, zlasti prosojnice 268–272, in analize polstavčnosti ter poročanega govora v Slovenski slovnici (Toporišič 2004: 632–634, 653–659). Pri ločilih uporabljamo navedene člene SP 2001; poseben podatek iz predloga Pravopisa 8.0 je izrecno označen.</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Pristavek ponovno poimenuje isto osebo</a:t>
            </a:r>
          </a:p>
          <a:p/>
          <a:p>
            <a:r>
              <a:t>Povezava s skripto: 7.1</a:t>
            </a:r>
          </a:p>
          <a:p/>
          <a:p>
            <a:r>
              <a:t>ZA IZVEDBO</a:t>
            </a:r>
          </a:p>
          <a:p>
            <a:r>
              <a:t>Obe povedi identificirata urednico, vendar druga že imenovani Maji doda drugo poimenovanje. Desna vejica zato zapre pristavek in ne ločuje osebka od povedka. Nato primerjamo Z Ano, prevajalko iz Kopra, smo pregledali besedilo: iz Kopra je prilastek znotraj pristavka. Ista notranja zveza v s prevajalko iz Kopra še ne pomeni pristavka. Študenti naj pokažejo celotni obseg drugega poimenovanja in preverijo, ali se poved za njim nadaljuje.</a:t>
            </a:r>
          </a:p>
          <a:p/>
          <a:p>
            <a:r>
              <a:t>VIRI</a:t>
            </a:r>
          </a:p>
          <a:p>
            <a:r>
              <a:t>SP 2001: § 301–303</a:t>
            </a:r>
          </a:p>
          <a:p/>
          <a:p>
            <a:r>
              <a:t>RAZLAGA IZ SKRIPTE · 7.1 Prilastek in pristavek</a:t>
            </a:r>
          </a:p>
          <a:p>
            <a:r>
              <a:t>&gt; Urednica Maja je pregledala besedilo.  </a:t>
            </a:r>
          </a:p>
          <a:p>
            <a:r>
              <a:t>&gt; Maja, urednica zbirke, je pregledala besedilo.</a:t>
            </a:r>
          </a:p>
          <a:p/>
          <a:p>
            <a:r>
              <a:t>V prvi povedi zveza urednica Maja skupaj poimenuje osebo. V drugi že poimenovani Maji dodamo drugo poimenovanje iste osebe. Zveza urednica zbirke je pristavek; omejimo ga z vejicama. Desna vejica zapira pristavek, ne ločuje osebka od povedka.</a:t>
            </a:r>
          </a:p>
          <a:p/>
          <a:p>
            <a:r>
              <a:t>Pristavek ima lahko svojo notranjo zgradbo. V Pogovarjali smo se z Ano, prevajalko iz Kopra je prevajalko iz Kopra pristavek k imenu, iz Kopra pa prilastek znotraj pristavka. Ista analiza notranjega prilastka velja v Pogovarjali smo se s prevajalko iz Kopra, vendar tam celotna zveza ni dodatno poimenovanje že imenovane osebe.</a:t>
            </a:r>
          </a:p>
          <a:p/>
          <a:p>
            <a:r>
              <a:t>Ko se poved nadaljuje, pristavek zapremo: Z Ano, prevajalko iz Kopra, smo pregledali besedilo. Na koncu povedi njegovo desno mejo označi končno ločilo. Odločilni sta nanašanje obeh poimenovanj na isto osebo oziroma stvar in njuno razmerje v povedi (SP 2001, §§ 301–303).</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Vejica med prilastkoma ne odpira vrivka</a:t>
            </a:r>
          </a:p>
          <a:p/>
          <a:p>
            <a:r>
              <a:t>Povezava s skripto: 7.2</a:t>
            </a:r>
          </a:p>
          <a:p/>
          <a:p>
            <a:r>
              <a:t>ZA IZVEDBO</a:t>
            </a:r>
          </a:p>
          <a:p>
            <a:r>
              <a:t>Najprej naj študenti poiščejo razlog za vsako vejico posebej. V levem zgledu prva vejica povezuje prilastka drugem in bolj obširnem; zato ne potrebuje zaključne vejice za delu. Za običajno branje izberemo desni zapis. Nato odstranimo tudi prvo vejico in primerjamo pomen: drugo bolj obširno delo lahko pomeni drugo izmed obširnejših del. Ponazorimo še dolgi kodrasti lasje proti dolgi, gosti lasje. Dve vidni vejici torej nista samodejno en par.</a:t>
            </a:r>
          </a:p>
          <a:p/>
          <a:p>
            <a:r>
              <a:t>VIRI</a:t>
            </a:r>
          </a:p>
          <a:p>
            <a:r>
              <a:t>SP 2001: § 297–298</a:t>
            </a:r>
          </a:p>
          <a:p>
            <a:r>
              <a:t>ŠUSS: arhivski primer 000505</a:t>
            </a:r>
          </a:p>
          <a:p/>
          <a:p>
            <a:r>
              <a:t>RAZLAGA IZ SKRIPTE · 7.2 Dve vejici nista nujno par</a:t>
            </a:r>
          </a:p>
          <a:p>
            <a:r>
              <a:t>V več arhivskih polah in v gradivu 2026 sta primerjana zapisa:</a:t>
            </a:r>
          </a:p>
          <a:p/>
          <a:p>
            <a:r>
              <a:t>&gt; a) V svojem drugem, bolj obširnem delu, je avtor ugotovil, da ...  </a:t>
            </a:r>
          </a:p>
          <a:p>
            <a:r>
              <a:t>&gt; b) V svojem drugem, bolj obširnem delu je avtor ugotovil, da ...</a:t>
            </a:r>
          </a:p>
          <a:p/>
          <a:p>
            <a:r>
              <a:t>Za običajno branje izberemo b. Vejica za drugem izraža razmerje med levima prilastkoma. Ne odpira vrivka, ki bi se končal za delu. Celotna zveza v svojem drugem, bolj obširnem delu je vključena v glavni stavek.</a:t>
            </a:r>
          </a:p>
          <a:p/>
          <a:p>
            <a:r>
              <a:t>Razlika je pomenska: drugo, bolj obširno delo je drugo delo, ki ga dodatno opišemo; drugo bolj obširno delo pa lahko pomeni drugo izmed obširnejših del. Kadar levi pridevnik določa vso zvezo na svoji desni, vejice ne pišemo: dolgi kodrasti lasje. Kadar naštevamo lastnosti, jo: dolgi, gosti lasje (SP 2001, §§ 297–298). Izhodiščni problem v arhivu ŠUSS — https://dariah-si.github.io/suss/suss-arhiv-000505.html.</a:t>
            </a:r>
          </a:p>
          <a:p/>
          <a:p>
            <a:r>
              <a:t>Pridevniško določilo je lahko večbesedno: groženj poln odgovor. Razčlenitev neprijazen, groženj poln odgovor zato zahteva presojo odnosa med neprijazen in celotno zvezo groženj poln, ne vejice med vsako sosednjo besedo.</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Vmesni, vrinjeni in dostavljeni del</a:t>
            </a:r>
          </a:p>
          <a:p/>
          <a:p>
            <a:r>
              <a:t>Povezava s skripto: 7.3</a:t>
            </a:r>
          </a:p>
          <a:p/>
          <a:p>
            <a:r>
              <a:t>ZA IZVEDBO</a:t>
            </a:r>
          </a:p>
          <a:p>
            <a:r>
              <a:t>Podobna lega še ne pomeni iste odvisnosti. Prvi del je odvisnik, ki določa članek in se pojavi med deloma nadrednega stavka. Drugi komentira sporočanje; tretji po že oblikovanem sporočilu dodaja časovno podrobnost. Dostavek zjutraj ni drugo poimenovanje naloge in zato ni pristavek. Možnost izpusta prav tako ni dovolj: izpustili bi lahko navadno časovno določilo. Študenti naj vsak dodatek povežejo s tem, kar pojasnjuje ali komentira.</a:t>
            </a:r>
          </a:p>
          <a:p/>
          <a:p>
            <a:r>
              <a:t>VIRI</a:t>
            </a:r>
          </a:p>
          <a:p>
            <a:r>
              <a:t>SP 2001: § 289–348, 390–392</a:t>
            </a:r>
          </a:p>
          <a:p/>
          <a:p>
            <a:r>
              <a:t>RAZLAGA IZ SKRIPTE · 7.3 Vmesni stavek, vrivek in dostavek</a:t>
            </a:r>
          </a:p>
          <a:p>
            <a:r>
              <a:t>&gt; Članek, ki ga pregledujemo, je nastal lani.  </a:t>
            </a:r>
          </a:p>
          <a:p>
            <a:r>
              <a:t>&gt; Članek, to smo že omenili, je nastal lani.</a:t>
            </a:r>
          </a:p>
          <a:p/>
          <a:p>
            <a:r>
              <a:t>V prvem primeru je odvisnik umeščen med dela nadrednega stavka: to je vmesni stavek. V drugem to smo že omenili komentira sporočanje: to je vrinjeni stavek oziroma vrivek. Podobna lega ne pomeni enake odvisnosti. Vrivke lahko poudarimo s pomišljajema ali oklepajema: Rezultat – tega nismo pričakovali – je bil zelo dober.</a:t>
            </a:r>
          </a:p>
          <a:p/>
          <a:p>
            <a:r>
              <a:t>Dostavek naknadno doda informacijo: Nalogo pošljite jutri, po možnosti zjutraj. Pri njem se po zaključenem sporočilu vrnemo k podrobnosti. Ni vsak dodatni podatek pristavek: zjutraj ni drugo poimenovanje naloge.</a:t>
            </a:r>
          </a:p>
          <a:p/>
          <a:p>
            <a:r>
              <a:t>Ločila ob pomišljaju preverimo na dveh ravneh:</a:t>
            </a:r>
          </a:p>
          <a:p/>
          <a:p>
            <a:r>
              <a:t>&gt; Rezultat je – čeprav tega nismo pričakovali – presegel napovedi.  </a:t>
            </a:r>
          </a:p>
          <a:p>
            <a:r>
              <a:t>&gt; Ko je rezultat – tega nismo pričakovali – presegel napovedi, smo pregled ponovili.</a:t>
            </a:r>
          </a:p>
          <a:p/>
          <a:p>
            <a:r>
              <a:t>V prvem zgledu za zaklepnim pomišljajem ni vejice: nadaljuje se isti povedek. V drugem vejico za napovedi zahteva konec časovnega odvisnika. Pomišljaj torej ne nadomesti vseh drugih meja in tudi ne sproži dodatne vejice sam od sebe (SP 2001, §§ 390–392).</a:t>
            </a:r>
          </a:p>
          <a:p/>
          <a:p>
            <a:r>
              <a:t>Vejica pa lahko stoji neposredno za zaklepnim pomišljajem:</a:t>
            </a:r>
          </a:p>
          <a:p/>
          <a:p>
            <a:r>
              <a:t>&gt; Ko je bil pregled končan – trajal je dve uri –, smo odšli.</a:t>
            </a:r>
          </a:p>
          <a:p/>
          <a:p>
            <a:r>
              <a:t>Vstavek se konča skupaj s časovnim odvisnikom. Pomišljaj zapre vstavek, vejica za njim pa odvisnik; tako stično zaporedje dopušča SP 2001, § 392.</a:t>
            </a:r>
          </a:p>
          <a:p/>
          <a:p>
            <a:r>
              <a:t>Komentar lahko spremlja popravek poimenovanja:</a:t>
            </a:r>
          </a:p>
          <a:p/>
          <a:p>
            <a:r>
              <a:t>&gt; Projekt oziroma bolje rečeno njegov prvi del bo končan maja.  </a:t>
            </a:r>
          </a:p>
          <a:p>
            <a:r>
              <a:t>&gt; Projekt, oziroma bolje rečeno njegov prvi del, bo končan maja.</a:t>
            </a:r>
          </a:p>
          <a:p/>
          <a:p>
            <a:r>
              <a:t>Prvi zapis vključuje popravek v tekočo zgradbo, drugi ga dodatno izpostavi in omeji. Zveze bolje rečeno ne obdajamo mehanično z vejicama: v Skoraj nič oziroma bolje rečeno nič se ni spremenilo je tesno povezana s popravkom; v Rezultati so se izboljšali oziroma se, bolje rečeno, niso poslabšali pa nastopa kot komentar. Weiss, Besedna zveza »z drugimi besedami« in raba ločil, 2016 — https://svetovalnica.zrc-sazu.si/topic/1399/besedna-zveza-z-drugimi-besedami-in-raba-lo%C4%8Dil.</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 pomišljajem je lahko še potrebna vejica</a:t>
            </a:r>
          </a:p>
          <a:p/>
          <a:p>
            <a:r>
              <a:t>Povezava s skripto: 7.3</a:t>
            </a:r>
          </a:p>
          <a:p/>
          <a:p>
            <a:r>
              <a:t>ZA IZVEDBO</a:t>
            </a:r>
          </a:p>
          <a:p>
            <a:r>
              <a:t>Najprej odstranimo vstavek in dobimo Ko je bil pregled končan, smo odšli. Vejica je že potrebna zaradi časovnega odvisnika. Ko nato vrnemo trajal je dve uri, pomišljaj zapre vstavek, vejica pa ostane na drugi skladenjski ravni. Primerjamo Rezultat je – čeprav tega nismo pričakovali – presegel napovedi, kjer za zaklepnim pomišljajem ni druge meje in zato ni vejice. Pomišljaj ne sproži dodatne vejice, niti ne odstrani vsake že potrebne vejice.</a:t>
            </a:r>
          </a:p>
          <a:p/>
          <a:p>
            <a:r>
              <a:t>VIRI</a:t>
            </a:r>
          </a:p>
          <a:p>
            <a:r>
              <a:t>SP 2001: § 390–392</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Bolje rečeno: vključeni popravek ali komentar?</a:t>
            </a:r>
          </a:p>
          <a:p/>
          <a:p>
            <a:r>
              <a:t>Povezava s skripto: 7.3</a:t>
            </a:r>
          </a:p>
          <a:p/>
          <a:p>
            <a:r>
              <a:t>ZA IZVEDBO</a:t>
            </a:r>
          </a:p>
          <a:p>
            <a:r>
              <a:t>Zveze bolje rečeno ne omejujemo avtomatično z dvema vejicama. V prikazanih različicah popravljamo poimenovanje projekta; desna različica celotni popravek dodatno osamosvoji. Obe meji morata ustrezati istemu dodatku. Nato preberemo Skoraj nič oziroma bolje rečeno nič se ni spremenilo ter Rezultati so se izboljšali oziroma se, bolje rečeno, niso poslabšali. V drugem primeru se komentar vključuje med dele glagolske zgradbe. Odločitev sledi obsegu in načinu vključitve, ne sami frazi.</a:t>
            </a:r>
          </a:p>
          <a:p/>
          <a:p>
            <a:r>
              <a:t>VIRI</a:t>
            </a:r>
          </a:p>
          <a:p>
            <a:r>
              <a:t>Weiss 2016: Besedna zveza »z drugimi besedami« in raba ločil</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Trije položaji istega zaporedja in da</a:t>
            </a:r>
          </a:p>
          <a:p/>
          <a:p>
            <a:r>
              <a:t>Povezava s skripto: 7.4</a:t>
            </a:r>
          </a:p>
          <a:p/>
          <a:p>
            <a:r>
              <a:t>ZA IZVEDBO</a:t>
            </a:r>
          </a:p>
          <a:p>
            <a:r>
              <a:t>Besedilno navezovanje, vrinjeni komentar in povezovanje odvisnikov zahtevajo različne analize.</a:t>
            </a:r>
          </a:p>
          <a:p/>
          <a:p>
            <a:r>
              <a:t>Prvi primer navezuje novo poved na prejšnje besedilo, nato pa komentar prekine nadaljevanje. V drugem se komentar pojavi v naštevanju; meja je pred in in za večja. V tretjem in povezuje odvisnika, ki dopolnjujeta isto nadredno zgradbo. Trojček iz arhivskega gradiva pokaže, zakaj se pravilo ne more glasiti pred in da je vejica ali pred in da ni vejice. Po potrebi primerjamo še stik in če iz šestega poglavja.</a:t>
            </a:r>
          </a:p>
          <a:p/>
          <a:p>
            <a:r>
              <a:t>VIRI</a:t>
            </a:r>
          </a:p>
          <a:p>
            <a:r>
              <a:t>Jezikovna svetovalnica: Vejica in večbesedni vezniki: »in ker«</a:t>
            </a:r>
          </a:p>
          <a:p/>
          <a:p>
            <a:r>
              <a:t>RAZLAGA IZ SKRIPTE · 7.4 Trije različni položaji in da</a:t>
            </a:r>
          </a:p>
          <a:p>
            <a:r>
              <a:t>V arhivu se večkrat pojavi isti trojček:</a:t>
            </a:r>
          </a:p>
          <a:p/>
          <a:p>
            <a:r>
              <a:t>&gt; In, da ne pozabimo, zraven dobite tudi brezplačno majico!  </a:t>
            </a:r>
          </a:p>
          <a:p>
            <a:r>
              <a:t>&gt; Tovrstne govorice zdaj širi nemški, francoski, angleški, in da bo ironija še večja, tudi ameriški tisk.  </a:t>
            </a:r>
          </a:p>
          <a:p>
            <a:r>
              <a:t>&gt; V današnjem tempu življenja pogosto pozabimo na to, da lahko pomagamo drugim in da bomo morda tudi sami potrebovali pomoč že jutri.</a:t>
            </a:r>
          </a:p>
          <a:p/>
          <a:p>
            <a:r>
              <a:t>V prvem primeru začetni in navezuje poved na prejšnje besedilo, komentar da ne pozabimo pa prekine nadaljevanje. V drugem komentar poseže v naštevanje; odprt je pred in in zaprt za večja. V tretjem in povezuje enakovredna vsebinska odvisnika, zato na tem mestu vejice ni.</a:t>
            </a:r>
          </a:p>
          <a:p/>
          <a:p>
            <a:r>
              <a:t>Sosednost in in da ne določa enega postopka. Razlikujemo navezovanje na besedilo, komentiranje in povezovanje odvisnikov. Izhodiščni trojček razloži Jezikovna svetovalnica, Vejica in večbesedni vezniki: »in ker« — https://svetovalnica.zrc-sazu.si/topic/421/vejica-in-ve%C4%8Dbesedni-vezniki-in-ker. Stik prirednega veznika z vmesnim pogojnim odvisnikom primerjajte še s 6.6.</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Nagovor lahko imenuje istega človeka kot osebek</a:t>
            </a:r>
          </a:p>
          <a:p/>
          <a:p>
            <a:r>
              <a:t>Povezava s skripto: 7.5</a:t>
            </a:r>
          </a:p>
          <a:p/>
          <a:p>
            <a:r>
              <a:t>ZA IZVEDBO</a:t>
            </a:r>
          </a:p>
          <a:p>
            <a:r>
              <a:t>V prvi povedi je Maja osebek. V drugi Majo nagovarjamo, velelnik pa ima neizraženi osebek vi. Skupni nanosnik zato ne pomeni iste slovnične vloge. Prestavimo nagovor: Pošljite, Maja, še zadnjo različico. Nato primerjamo samostojni Da, besedilo je pripravljeno z vključenim členkom v Besedilo je gotovo pripravljeno. Enako razlikujemo neposredni pozdrav Dober dan, vstopite! in navajanje izraza v Pozdravil je z »dober dan«. Narekovaji sami ne ustvarijo notranje vejice.</a:t>
            </a:r>
          </a:p>
          <a:p/>
          <a:p>
            <a:r>
              <a:t>VIRI</a:t>
            </a:r>
          </a:p>
          <a:p>
            <a:r>
              <a:t>SP 2001: § 342–347</a:t>
            </a:r>
          </a:p>
          <a:p>
            <a:r>
              <a:t>Jezikovna svetovalnica: Vejica ali ne pri igri »človek, ne jezi se«</a:t>
            </a:r>
          </a:p>
          <a:p/>
          <a:p>
            <a:r>
              <a:t>RAZLAGA IZ SKRIPTE · 7.5 Nagovor ni osebek</a:t>
            </a:r>
          </a:p>
          <a:p>
            <a:r>
              <a:t>&gt; Maja je poslala osnutek.  </a:t>
            </a:r>
          </a:p>
          <a:p>
            <a:r>
              <a:t>&gt; Maja, pošljite osnutek.</a:t>
            </a:r>
          </a:p>
          <a:p/>
          <a:p>
            <a:r>
              <a:t>Prva Maja je osebek; drugo nagovarjamo. Nagovor oziroma zvalniški pastavek omejimo tudi drugje: Pošljite, Maja, še zadnjo različico. Velelnik pošljite ima neizraženega osebka vi. Nagovor in osebek se pomensko lahko nanašata na isto osebo, a njuni slovnični vlogi nista isti.</a:t>
            </a:r>
          </a:p>
          <a:p/>
          <a:p>
            <a:r>
              <a:t>Prav tako razlikujemo samostojni odgovor Da, besedilo je pripravljeno od vključenega členka v Besedilo je gotovo pripravljeno (SP 2001, §§ 342–347). Pri ustaljenem imenu igre človek, ne jezi se vejica loči nagovor od velelne povedi. Razlaga tega primera — https://svetovalnica.zrc-sazu.si/topic/7595/vejica-ali-ne-pri-igri-%C4%8Dlovek-ne-jezi-se.</a:t>
            </a:r>
          </a:p>
          <a:p/>
          <a:p>
            <a:r>
              <a:t>Tudi pozdrav je lahko samostojen ali vključen: Dober dan, vstopite! proti Pozdravil je z »dober dan«. Drugi zgled pozdrav navaja kot izraz v stavčnem členu; narekovaji sami ne zahtevajo vejice. Arhivska primera ribiškega in gasilskega pozdrava zato povezujeta vprašanje začetnice z vprašanjem, ali izraz navajamo ali z njim neposredno nagovarjamo.</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Pridevniški del lahko opravlja štiri vloge</a:t>
            </a:r>
          </a:p>
          <a:p/>
          <a:p>
            <a:r>
              <a:t>Povezava s skripto: 7.6</a:t>
            </a:r>
          </a:p>
          <a:p/>
          <a:p>
            <a:r>
              <a:t>ZA IZVEDBO</a:t>
            </a:r>
          </a:p>
          <a:p>
            <a:r>
              <a:t>Tabela poveže obliko s funkcijo in pripravi razlago polstavka. Pri povedkovem določilu glagol biti brez vsebinskega dopolnila ne ohrani istega pomena. Pri povedkovem prilastku pa odhod ostane samostojno dejanje, jeza je dodatno stanje ob njem. Zadnja vrstica izpostavi razširjeni desni opis urednika. Upoštevamo besednovrstni model iz prejšnjega poglavja; predikativna raba ni isto kot besedna vrsta povedek. Študenti naj za vsako vrstico povedo, kaj pridevniški del določa.</a:t>
            </a:r>
          </a:p>
          <a:p/>
          <a:p>
            <a:r>
              <a:t>VIRI</a:t>
            </a:r>
          </a:p>
          <a:p>
            <a:r>
              <a:t>Toporišič 2004: 632–634</a:t>
            </a:r>
          </a:p>
          <a:p>
            <a:r>
              <a:t>SP 2001: § 333–337</a:t>
            </a:r>
          </a:p>
          <a:p/>
          <a:p>
            <a:r>
              <a:t>RAZLAGA IZ SKRIPTE · 7.6 Polstavčne zgradbe in različne vrste prisojanja</a:t>
            </a:r>
          </a:p>
          <a:p>
            <a:r>
              <a:t>Primerjajmo štiri različne rabe pridevnika:</a:t>
            </a:r>
          </a:p>
          <a:p/>
          <a:p>
            <a:r>
              <a:t>| Poved | Vloga pridevniškega dela |</a:t>
            </a:r>
          </a:p>
          <a:p>
            <a:r>
              <a:t>|---|---|</a:t>
            </a:r>
          </a:p>
          <a:p>
            <a:r>
              <a:t>| Jezen urednik je odšel. | levi prilastek; določa samostalnik |</a:t>
            </a:r>
          </a:p>
          <a:p>
            <a:r>
              <a:t>| Urednik je jezen. | povedkovo določilo; z vezjo tvori povedek |</a:t>
            </a:r>
          </a:p>
          <a:p>
            <a:r>
              <a:t>| Urednik je odšel jezen. | povedkov prilastek; stanje osebka ob odhodu |</a:t>
            </a:r>
          </a:p>
          <a:p>
            <a:r>
              <a:t>| Urednik, jezen zaradi zamude, je odšel. | desni polstavčni prilastek; dodatno opiše urednika |</a:t>
            </a:r>
          </a:p>
          <a:p/>
          <a:p>
            <a:r>
              <a:t>Povedkov prilastek je povezan z udeležencem in z dogajanjem: v tretji povedi urednik odide in je ob tem jezen. Povedkovemu določilu v drugi povedi glagol je zagotavlja časovno in osebno obliko, pridevnik pa bistveno vsebino prisojanja. Razlika je uporabna, kadar pridevnik prenesemo iz samostalniške zveze v povedek ali presojamo, ali je dodatni opis ločen.</a:t>
            </a:r>
          </a:p>
          <a:p/>
          <a:p>
            <a:r>
              <a:t>Toporišič polstavek opredeljuje po neosebnem jedru: to je lahko glagolska oblika, pridevnik ali samostalnik iz povedka. Pri razlagi ga navadno razvijemo v odvisnik. Toda njegova obravnava posebej opozarja tudi na stopnjo vključenosti: že to, da ima izraz neosebno obliko ali da ga lahko nadomestimo s stavkom, ne pove, ali ga v dani zvezi občutimo kot polstavek (Toporišič 2004: 632–633). Razlika med poimenovanjem oblike in analizo zgradbe je tu odločilna.</a:t>
            </a:r>
          </a:p>
          <a:p/>
          <a:p>
            <a:r>
              <a:t>| Zgled | Kaj pokaže analiza? |</a:t>
            </a:r>
          </a:p>
          <a:p>
            <a:r>
              <a:t>|---|---|</a:t>
            </a:r>
          </a:p>
          <a:p>
            <a:r>
              <a:t>| Urednica mora prebrati rokopis. | Nedoločnik je sestavina naklonskega povedka. |</a:t>
            </a:r>
          </a:p>
          <a:p>
            <a:r>
              <a:t>| Prebrati rokopis je njena naloga. | Nedoločniška zveza zaseda mesto osebka. |</a:t>
            </a:r>
          </a:p>
          <a:p>
            <a:r>
              <a:t>| Urednica je odšla prebrat rokopis. | Namenilnik dopolnjuje premikanje s ciljem. |</a:t>
            </a:r>
          </a:p>
          <a:p>
            <a:r>
              <a:t>| Rokopis, prebran že prejšnji teden, je čakal na odgovor. | Deležniška zveza je desni polstavčni prilastek. |</a:t>
            </a:r>
          </a:p>
          <a:p/>
          <a:p>
            <a:r>
              <a:t>V prvih treh primerih ne dodamo vejice pred nedoločnik oziroma za njim samo zaradi neosebnosti; pri četrtem omejimo naknadni opis rokopisa. Slovnica tudi namenilniške razširitve obravnava med polstavčnimi tvorbami, a izrecno razlikuje njihovo ločilno obnašanje. Zato iz formule »polstavek = vejica« ne moremo izpeljati pravilnega zapisa vseh teh zvez (Toporišič 2004: 399–400, 632–634; SP 2001, §§ 333–337).</a:t>
            </a:r>
          </a:p>
          <a:p/>
          <a:p>
            <a:r>
              <a:t>Pomembno je še, kaj je razvezava ohranila in kaj je dodala. Iz Urednik je odšel jezen lahko dobimo Urednik je odšel in bil je jezen. Izvirnik je stanje tesno povezal z odhodom; razvezava ga razporedi v samostojen stavčni del. Če napišemo Ker je bil jezen, je odšel, dodamo izrecno vzročno razmerje, ki je bilo prej kvečjemu razumljeno iz sobesedila. Pretvorba pomaga odkriti prisojanje, vendar ni vedno popolna pomenska enačba. To velja tudi pri krajšanju dolgih besedil: z zamenjavo odvisnika s pridevniško ali deležniško zvezo lahko oslabi natančen podatek o času, vzroku ali pogoju.</a:t>
            </a:r>
          </a:p>
          <a:p/>
          <a:p>
            <a:r>
              <a:t>Po SP 2001, §§ 333 in 336, razširjeni pridevniški oziroma deležniški prilastek ločimo, ko sledi odnosnici: Ogledali smo si hišo, oprto v hrib. Pred odnosnico je vključen brez take vejice: Ogledali smo si v hrib oprto hišo. Gola sprememba besednega reda lahko zato spremeni ločilno podobo, četudi opisujemo isto hišo.</a:t>
            </a:r>
          </a:p>
          <a:p/>
          <a:p>
            <a:r>
              <a:t>Jedro polstavka je lahko deležje, ki izraža spremljajoče dogajanje:</a:t>
            </a:r>
          </a:p>
          <a:p/>
          <a:p>
            <a:r>
              <a:t>&gt; Razmišljajoč o popravkih, je urednik zaprl računalnik.</a:t>
            </a:r>
          </a:p>
          <a:p/>
          <a:p>
            <a:r>
              <a:t>Razvezava je Medtem ko je razmišljal o popravkih, je urednik zaprl računalnik. Deležje ni osebna oblika, vendar njegova razširjena zgradba zahteva presojo polstavčne meje. Drugačna je prislovna raba Molče je odšel: molče je vključeno kot načinovno določilo, zato vejice ne dodajamo (SP 2001, §§ 333–335).</a:t>
            </a:r>
          </a:p>
          <a:p/>
          <a:p>
            <a:r>
              <a:t>Preverimo tudi nosilca dejanja. Zapirajoč računalnik, je zazvonil telefon bi zapiranje pripisalo telefonu. Jasna rešitev je Ko je urednik zapiral računalnik, je zazvonil telefon. Vejica sama ne popravi neustreznega nanašanja.</a:t>
            </a:r>
          </a:p>
          <a:p/>
          <a:p>
            <a:r>
              <a:t>Pri začetnem pridevniškem delu je lahko potrebna odločitev med analizama:</a:t>
            </a:r>
          </a:p>
          <a:p/>
          <a:p>
            <a:r>
              <a:t>&gt; Stisnjeni v kot so se odločili, da popustijo.  </a:t>
            </a:r>
          </a:p>
          <a:p>
            <a:r>
              <a:t>&gt; Stisnjeni v kot, so se odločili, da popustijo.</a:t>
            </a:r>
          </a:p>
          <a:p/>
          <a:p>
            <a:r>
              <a:t>Prvi zapis začetno zvezo vključuje kot povedkov prilastek; drugi jo osamosvoji kot polstavčno zgradbo, za katero SP 2001 predvideva vejico. Razliko iz gradiva 2026 obravnava Jezikovna svetovalnica — https://svetovalnica.zrc-sazu.si/topic/7654/vejica-na-meji-med-skladenjsko-raznorodnimi-enotami-te%C5%BEji-primeri.</a:t>
            </a:r>
          </a:p>
          <a:p/>
          <a:p>
            <a:r>
              <a:t>Predlog Pravopisa 8.0 (22. 6. 2026, poglavje Ločila, {55}, PDF str. 84) opisuje opuščanje vejice ob začetnih deležijskih polstavkih v sodobni rabi. Ta podatek iz predloga razlikujemo od utemeljitve po SP 2001; pri njej navedemo analizo konkretne zgradbe in ustrezno pravilo.</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Neosebno jedro ne pomeni vedno vejice</a:t>
            </a:r>
          </a:p>
          <a:p/>
          <a:p>
            <a:r>
              <a:t>Povezava s skripto: 7.6</a:t>
            </a:r>
          </a:p>
          <a:p/>
          <a:p>
            <a:r>
              <a:t>ZA IZVEDBO</a:t>
            </a:r>
          </a:p>
          <a:p>
            <a:r>
              <a:t>Toporišič polstavek opredeljuje po neosebnem jedru, vendar posebej razpravlja o razvitosti in vključenosti takih zgradb. Tabela pokaže, da nedoločnik lahko dopolnjuje naklonski povedek ali zaseda mesto osebka, namenilnik pa izraža cilj premikanja. Namenilniške razširitve so v slovnici tudi obravnavane med polstavčnimi tvorbami, a niso zato ločene z vejico. V zadnji vrstici je desni deležniški opis drugače vključen. Od oznake oblike zato vedno preidemo k konkretni skladenjski funkciji.</a:t>
            </a:r>
          </a:p>
          <a:p/>
          <a:p>
            <a:r>
              <a:t>VIRI</a:t>
            </a:r>
          </a:p>
          <a:p>
            <a:r>
              <a:t>Toporišič 2004: 399–400, 632–634</a:t>
            </a:r>
          </a:p>
          <a:p>
            <a:r>
              <a:t>SP 2001: § 333–337</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Deležijski polstavek in vključeno prislovno določilo</a:t>
            </a:r>
          </a:p>
          <a:p/>
          <a:p>
            <a:r>
              <a:t>Povezava s skripto: 7.6</a:t>
            </a:r>
          </a:p>
          <a:p/>
          <a:p>
            <a:r>
              <a:t>ZA IZVEDBO</a:t>
            </a:r>
          </a:p>
          <a:p>
            <a:r>
              <a:t>Razširjeno deležijsko zvezo razvežemo v Medtem ko je razmišljal o popravkih, je urednik zaprl računalnik. Razvezava pomaga ugotoviti spremljajoče dogajanje. Molče pa v drugem primeru deluje kot načinovno določilo. Vejice zato ne dodamo le zaradi zgodovinske povezave z glagolom. Dodatno primerjamo Ogledali smo si hišo, oprto v hrib in Ogledali smo si v hrib oprto hišo: položaj razširjenega prilastka glede na odnosnico spremeni ločilno podobo.</a:t>
            </a:r>
          </a:p>
          <a:p/>
          <a:p>
            <a:r>
              <a:t>VIRI</a:t>
            </a:r>
          </a:p>
          <a:p>
            <a:r>
              <a:t>SP 2001: § 333–336</a:t>
            </a:r>
          </a:p>
          <a:p>
            <a:r>
              <a:t>Toporišič 2004: 632–634</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Vejica ne popravi napačnega nosilca dejanja</a:t>
            </a:r>
          </a:p>
          <a:p/>
          <a:p>
            <a:r>
              <a:t>Povezava s skripto: 7.6</a:t>
            </a:r>
          </a:p>
          <a:p/>
          <a:p>
            <a:r>
              <a:t>ZA IZVEDBO</a:t>
            </a:r>
          </a:p>
          <a:p>
            <a:r>
              <a:t>V levem zgledu slovnična povezava zapiranje računalnika pripiše telefonu. Več ali drugače postavljene vejice tega ne rešijo. Razvita časovna zgradba jasno razloči nosilca dejanj: urednik zapira, telefon zazvoni. Nato opozorimo na meje pretvorbe: iz Urednik je odšel jezen ne sledi nujno Ker je bil jezen, je odšel, saj bi s ker izrecno dodali vzročnost. Pri razvezavi preverimo, ali smo ohranili nosilce, čas in vrsto razmerja.</a:t>
            </a:r>
          </a:p>
          <a:p/>
          <a:p>
            <a:r>
              <a:t>VIRI</a:t>
            </a:r>
          </a:p>
          <a:p>
            <a:r>
              <a:t>Toporišič 2004: 632–634</a:t>
            </a:r>
          </a:p>
          <a:p>
            <a:r>
              <a:t>SP 2001: § 333–337</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Stisnjeni v kot: dve različni vključitvi</a:t>
            </a:r>
          </a:p>
          <a:p/>
          <a:p>
            <a:r>
              <a:t>Povezava s skripto: 7.6</a:t>
            </a:r>
          </a:p>
          <a:p/>
          <a:p>
            <a:r>
              <a:t>ZA IZVEDBO</a:t>
            </a:r>
          </a:p>
          <a:p>
            <a:r>
              <a:t>Svetovalnična razlaga iz gradiva 2026 razlikuje vključeni povedkov prilastek od osamosvojene polstavčne zgradbe. Obeh zapisov ne predstavimo kot naključno menjavo vejice, temveč pojasnimo analizo. Ločeno opozorimo na predlog P8: njegov člen 55 opisuje opuščanje vejice ob začetnih deležijskih polstavkih v sodobni rabi. To je predlog in govori o deležijskih zgradbah; ne uporabimo ga brez razlike za vse začetne pridevniške zveze. Pri odgovoru po SP 2001 ostane odločilna konkretna vključitev.</a:t>
            </a:r>
          </a:p>
          <a:p/>
          <a:p>
            <a:r>
              <a:t>VIRI</a:t>
            </a:r>
          </a:p>
          <a:p>
            <a:r>
              <a:t>Jezikovna svetovalnica 2026: Vejica na meji med skladenjsko raznorodnimi enotami</a:t>
            </a:r>
          </a:p>
          <a:p>
            <a:r>
              <a:t>SP 2001: § 333–337</a:t>
            </a:r>
          </a:p>
          <a:p>
            <a:r>
              <a:t>Pravopis 8.0, predlog 22. 6. 2026: Ločila {55}, PDF 84</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Položaj spremnega stavka določa zapis premega govora</a:t>
            </a:r>
          </a:p>
          <a:p/>
          <a:p>
            <a:r>
              <a:t>Povezava s skripto: 7.7</a:t>
            </a:r>
          </a:p>
          <a:p/>
          <a:p>
            <a:r>
              <a:t>ZA IZVEDBO</a:t>
            </a:r>
          </a:p>
          <a:p>
            <a:r>
              <a:t>Pri vsaki vrstici označimo dobesedni navedek in spremni stavek. Spremni stavek pred navedkom napove izjavo z dvopičjem. Kadar sledi pripovednemu navedku, pika postane vejica pred desnim narekovajem; spremni stavek se začne z malo začetnico. Vprašaj in klicaj ostaneta, dodatne vejice za narekovajem ne dodamo. Pri vmesnem spremnem stavku preverimo, ali se ista citirana poved nadaljuje. To razmejitev potrebujemo pozneje pri vključevanju samo dela citata v drugo poved.</a:t>
            </a:r>
          </a:p>
          <a:p/>
          <a:p>
            <a:r>
              <a:t>VIRI</a:t>
            </a:r>
          </a:p>
          <a:p>
            <a:r>
              <a:t>SP 2001: § 460</a:t>
            </a:r>
          </a:p>
          <a:p/>
          <a:p>
            <a:r>
              <a:t>RAZLAGA IZ SKRIPTE · 7.7 Premi govor in poročanje o govoru</a:t>
            </a:r>
          </a:p>
          <a:p>
            <a:r>
              <a:t>Pri premem govoru navedemo izjavo, spremni stavek pa pove, kdo jo je izrekel in kako. Njegov položaj vpliva na ločila:</a:t>
            </a:r>
          </a:p>
          <a:p/>
          <a:p>
            <a:r>
              <a:t>| Položaj spremnega stavka | Zapis |</a:t>
            </a:r>
          </a:p>
          <a:p>
            <a:r>
              <a:t>|---|---|</a:t>
            </a:r>
          </a:p>
          <a:p>
            <a:r>
              <a:t>| pred navedkom | Maja je rekla: »Osnutek oddam jutri.« |</a:t>
            </a:r>
          </a:p>
          <a:p>
            <a:r>
              <a:t>| za navedkom | »Osnutek oddam jutri,« je rekla Maja. |</a:t>
            </a:r>
          </a:p>
          <a:p>
            <a:r>
              <a:t>| sredi navedka | »Osnutek,« je rekla Maja, »oddam jutri.« |</a:t>
            </a:r>
          </a:p>
          <a:p>
            <a:r>
              <a:t>| za vprašanjem | »Kdaj oddate osnutek?« je vprašala Maja. |</a:t>
            </a:r>
          </a:p>
          <a:p/>
          <a:p>
            <a:r>
              <a:t>Kadar spremni stavek sledi pripovednemu navedku, piko nadomesti vejica pred desnim narekovajem. Vprašaj in klicaj ohranimo; dodatne vejice za narekovajem ne pišemo. Spremni stavek se začne z malo začetnico (SP 2001, § 460).</a:t>
            </a:r>
          </a:p>
          <a:p/>
          <a:p>
            <a:r>
              <a:t>V odvisnem govoru vsebino vključimo v svojo poved: Maja je rekla, da bo osnutek oddala jutri. Narekovajev ni, vsebina je predmetni odvisnik. Če poročamo drug dan ali z drugega položaja, preverimo osebo, zaimke ter izraze danes, jutri, tukaj. Jutri se lahko spremeni v naslednji dan, če bi sicer označeval napačen datum. Sprememba sledi položaju poročanja, ne avtomatičnemu zamenjevanju vseh glagolskih časov.</a:t>
            </a:r>
          </a:p>
          <a:p/>
          <a:p>
            <a:r>
              <a:t>Poglejmo celoten govorni položaj. Maja v ponedeljek v Ljubljani reče Ani:</a:t>
            </a:r>
          </a:p>
          <a:p/>
          <a:p>
            <a:r>
              <a:t>&gt; »Jutri ti bom tukaj izročila osnutek.«</a:t>
            </a:r>
          </a:p>
          <a:p/>
          <a:p>
            <a:r>
              <a:t>Nika je v torek dopoldne v Kopru in o tem poroča Roku:</a:t>
            </a:r>
          </a:p>
          <a:p/>
          <a:p>
            <a:r>
              <a:t>&gt; Maja je včeraj Ani povedala, da ji bo danes v Ljubljani izročila osnutek.</a:t>
            </a:r>
          </a:p>
          <a:p/>
          <a:p>
            <a:r>
              <a:t>Govorka prvotne izjave postane imenovana Maja; njen prvoosebni bom se spremeni v bo. Ti se nanaša na Ano, zato v poročilu uporabimo ji, ne oblike, ki bi nenamerno pomenila Roka. Prvotni jutri je glede na torek postal danes, tukaj pa nadomestimo s krajem prvotne izjave. Ker naj bi se izročitev zgodila pozneje istega dne, prihodnjik ostane smiseln. Če bi Nika govorila drug dan, bi morala časovni izraz znova prilagoditi. Vsebina se ohranja z usklajevanjem kazalcev z govornim položajem, ne z ohranjanjem vseh istih besed (Toporišič 2004: 657–658).</a:t>
            </a:r>
          </a:p>
          <a:p/>
          <a:p>
            <a:r>
              <a:t>Spremeni se lahko tudi oblika govornega dejanja. Iz »Pošlji mi pripombe,« je Maja rekla Ani dobimo Maja je Ani rekla, naj ji pošlje pripombe. Nagovor v izvirniku lahko v poročilu postane dopolnilo glagola govorjenja, ki poimenuje naslovnika: »Ana, pošlji mi pripombe« ne zahteva, da Ana tudi v odvisnem govoru ostane med vejicama. Toporišič zato pri pretvarjanju posebej obravnava skladenjski naklon, nagovore, členke in medmete ter osebo, prostor in čas (Toporišič 2004: 657–658). Če bi prvotno prošnjo preimenovali v ukaz, bi dodali interpretacijo govornega dejanja. Izbor spremnega glagola je zato vsebinski poseg, ki ga ločila sama ne upravičijo.</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Poročanje prestavi osebo, čas in kraj</a:t>
            </a:r>
          </a:p>
          <a:p/>
          <a:p>
            <a:r>
              <a:t>Povezava s skripto: 7.7</a:t>
            </a:r>
          </a:p>
          <a:p/>
          <a:p>
            <a:r>
              <a:t>ZA IZVEDBO</a:t>
            </a:r>
          </a:p>
          <a:p>
            <a:r>
              <a:t>Izrecno določimo oba govorna položaja. V ponedeljek Maja govori Ani v Ljubljani. V torek dopoldne je Nika v Kopru in o izjavi poroča Roku. Bom postane bo, ti se nanaša na Ano in postane ji, jutri postane danes, tukaj pa nadomestimo z Ljubljano. Prihodnjik lahko ostane, ker naj bi se izročitev zgodila pozneje tisti dan. Ne uporabljamo samodejnega premika vseh časov; ohranjamo časovno vsebino glede na trenutek poročanja.</a:t>
            </a:r>
          </a:p>
          <a:p/>
          <a:p>
            <a:r>
              <a:t>VIRI</a:t>
            </a:r>
          </a:p>
          <a:p>
            <a:r>
              <a:t>Toporišič 2004: 657–658</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Sprememba naklona ne dovoljuje spremembe namena</a:t>
            </a:r>
          </a:p>
          <a:p/>
          <a:p>
            <a:r>
              <a:t>Povezava s skripto: 7.7</a:t>
            </a:r>
          </a:p>
          <a:p/>
          <a:p>
            <a:r>
              <a:t>ZA IZVEDBO</a:t>
            </a:r>
          </a:p>
          <a:p>
            <a:r>
              <a:t>Velelno obliko prenesemo v zgradbo z naj. Ana, ki je bila lahko nagovorjena, je v spremnem stavku izražena kot naslovnica glagola govorjenja. Zaimek ji se mora še vedno nanašati na Majo. Namenoma ohranimo nevtralni rekla: če bi prvotno prošnjo preimenovali v ukaz, bi dodali interpretacijo. Toporišič zato pri pretvarjanju poleg osebe, kraja in časa obravnava tudi skladenjski naklon, nagovore, členke in medmete. Poročanje ni zgolj odstranjevanje narekovajev.</a:t>
            </a:r>
          </a:p>
          <a:p/>
          <a:p>
            <a:r>
              <a:t>VIRI</a:t>
            </a:r>
          </a:p>
          <a:p>
            <a:r>
              <a:t>Toporišič 2004: 657–658</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Narekovaji lahko omejujejo stavčni člen</a:t>
            </a:r>
          </a:p>
          <a:p/>
          <a:p>
            <a:r>
              <a:t>Povezava s skripto: 7.8</a:t>
            </a:r>
          </a:p>
          <a:p/>
          <a:p>
            <a:r>
              <a:t>ZA IZVEDBO</a:t>
            </a:r>
          </a:p>
          <a:p>
            <a:r>
              <a:t>V prvem primeru je citirana besedna zveza predmet, v drugem pa citirana poved nastopa kot osebek okvirne povedi. Del je geslo uredništva ni spremni stavek, zato pred njim ne postavimo vejice samo zaradi narekovaja. Pri citirani povedi ohranimo njeno začetnico, končne pike pa praviloma ne prenašamo v sredino okvirne zgradbe. Študenti naj najprej opišejo slovnično mesto navedka in šele nato primerjajo zapis s premim govorom.</a:t>
            </a:r>
          </a:p>
          <a:p/>
          <a:p>
            <a:r>
              <a:t>VIRI</a:t>
            </a:r>
          </a:p>
          <a:p>
            <a:r>
              <a:t>SP 2001: § 357, 460</a:t>
            </a:r>
          </a:p>
          <a:p>
            <a:r>
              <a:t>Jezikovna svetovalnica: Povedkovo določilo znotraj narekovajev in vprašanje vejice, dvopičja, začetnice …</a:t>
            </a:r>
          </a:p>
          <a:p/>
          <a:p>
            <a:r>
              <a:t>RAZLAGA IZ SKRIPTE · 7.8 Navedek ni vedno premi govor</a:t>
            </a:r>
          </a:p>
          <a:p>
            <a:r>
              <a:t>&gt; Uredništvo zahteva »natančno preverjanje virov«.  </a:t>
            </a:r>
          </a:p>
          <a:p>
            <a:r>
              <a:t>&gt; »Vedno preverimo vir« je geslo uredništva.</a:t>
            </a:r>
          </a:p>
          <a:p/>
          <a:p>
            <a:r>
              <a:t>Prvi navedek je predmet, drugi nastopa kot osebek v okvirni povedi. Vejice med navedkom in povedkom zato ne dodamo. Narekovaji označujejo prevzeto besedilo, ne ustvarjajo pa sami stavčne meje.</a:t>
            </a:r>
          </a:p>
          <a:p/>
          <a:p>
            <a:r>
              <a:t>Pri citirani povedi znotraj druge povedi ohranimo začetnico citirane povedi, njene končne pike pa praviloma ne prenašamo v sredino okvirne zgradbe. Zato drugi zgled ni enak delnemu navedku, ki se začne z malo začetnico. Načelo vključitve navedka pojasnjujeta SP 2001, §§ 357 in 460, ter svetovalnična razlaga povedkovega določila v narekovajih — https://svetovalnica.zrc-sazu.si/topic/7862/povedkovo-dolo%C4%8Dilo-znotraj-narekovajev-in-vpra%C5%A1anje-vejice-dvopi%C4%8Dja-za%C4%8Detnice-.../1.</a:t>
            </a:r>
          </a:p>
          <a:p/>
          <a:p>
            <a:r>
              <a:t>Ob vsakem navedku zato vprašamo: ali besedilo zavzema mesto stavčnega člena ali pa skupaj s spremnim stavkom tvori premi govor? Oblika narekovajev na to vprašanje ne odgovori.</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Včasih moramo razmejiti dve zgradbi</a:t>
            </a:r>
          </a:p>
          <a:p/>
          <a:p>
            <a:r>
              <a:t>Povezava s skripto: 7.9</a:t>
            </a:r>
          </a:p>
          <a:p/>
          <a:p>
            <a:r>
              <a:t>ZA IZVEDBO</a:t>
            </a:r>
          </a:p>
          <a:p>
            <a:r>
              <a:t>Zgled združuje povedkovo določilo v delnem navedku, novo citirano poved in spremni stavek. Prestavljanje ene končne vejice ne razreši te zgradbe. Desna rešitev ohrani oba citirana dela ter govorko, vendar jasno razmeji prvo okvirno poved od premega govora. Če bi želeli oba dela združiti v eno citirano poved, bi morali preveriti izvirnik in upravičenost vsebinskega posega. Uredniško popravljanje mora ohraniti razliko med natančnim navajanjem in našim preoblikovanjem.</a:t>
            </a:r>
          </a:p>
          <a:p/>
          <a:p>
            <a:r>
              <a:t>VIRI</a:t>
            </a:r>
          </a:p>
          <a:p>
            <a:r>
              <a:t>Jezikovna svetovalnica: Manj tipični primeri zapisa premega govora: ločila</a:t>
            </a:r>
          </a:p>
          <a:p/>
          <a:p>
            <a:r>
              <a:t>RAZLAGA IZ SKRIPTE · 7.9 Ko ločilo ne more popraviti cele zgradbe</a:t>
            </a:r>
          </a:p>
          <a:p>
            <a:r>
              <a:t>Gradivo 2026 vsebuje delni navedek o prikazu peke kruha, ki v zvezi njihova želja je … opravlja vlogo povedkovega določila, nato pa še pripis govorki. Težava nastane, ko se delnemu navedku pridruži nova samostojna poved. Enako zgradbo ponazarja:</a:t>
            </a:r>
          </a:p>
          <a:p/>
          <a:p>
            <a:r>
              <a:t>&gt; Njena želja je »odpreti razstavo. Vse je že pripravljeno,« je povedala avtorica.</a:t>
            </a:r>
          </a:p>
          <a:p/>
          <a:p>
            <a:r>
              <a:t>Samo prestavljanje zadnje vejice ne razreši prepleta okvirne povedi in premega govora. Razmejimo ju lahko tako:</a:t>
            </a:r>
          </a:p>
          <a:p/>
          <a:p>
            <a:r>
              <a:t>&gt; Njena želja je »odpreti razstavo«. »Vse je že pripravljeno,« je povedala avtorica.</a:t>
            </a:r>
          </a:p>
          <a:p/>
          <a:p>
            <a:r>
              <a:t>Ohranili smo oba citirana dela in podatek o govorki. Če bi besedilo povezali v eno poved, bi posegli v notranjo zgradbo navedka, zato bi morali preveriti izvirnik. Manj tipični primeri zapisa premega govora: ločila — https://svetovalnica.zrc-sazu.si/topic/7544/manj-tipi%C4%8Dni-primeri-zapisa-premega-govora-lo%C4%8Dila.</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7.10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7.10; nalogi 1 in 2</a:t>
            </a:r>
          </a:p>
          <a:p/>
          <a:p>
            <a:r>
              <a:t>NALOGE</a:t>
            </a:r>
          </a:p>
          <a:p/>
          <a:p>
            <a:r>
              <a:t>1. Uredite in pojasnite razliko: Prevajalka Ana je prišla. Ana prevajalka iz Kopra je prišla.</a:t>
            </a:r>
          </a:p>
          <a:p/>
          <a:p>
            <a:r>
              <a:t>2. Popravite: Na svojem prvem, krajšem predavanju, je raziskovalka predstavila metodo. Kaj bi pomenila različica brez obeh vejic?</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7.11</a:t>
            </a:r>
          </a:p>
          <a:p/>
          <a:p>
            <a:r>
              <a:t>ZA IZVEDBO</a:t>
            </a:r>
          </a:p>
          <a:p>
            <a:r>
              <a:t>Primerjajte razlago s postopkom študentov. Naj označijo, kaj so dokazali in katera predpostavka je odločilna. Alternative sprejmite v mejah, navedenih v skripti.</a:t>
            </a:r>
          </a:p>
          <a:p/>
          <a:p>
            <a:r>
              <a:t>VIRI</a:t>
            </a:r>
          </a:p>
          <a:p>
            <a:r>
              <a:t>Skripta 3.0, 7.11; rešitvi 1 in 2</a:t>
            </a:r>
          </a:p>
          <a:p/>
          <a:p>
            <a:r>
              <a:t>REŠITVE Z RAZLAGO</a:t>
            </a:r>
          </a:p>
          <a:p/>
          <a:p>
            <a:r>
              <a:t>1. Prevajalka Ana je prišla ostane brez vejice. Ana, prevajalka iz Kopra, je prišla vsebuje drugo poimenovanje iste osebe. Pristavek tudi zapremo, saj se glavna poved nadaljuje.</a:t>
            </a:r>
          </a:p>
          <a:p/>
          <a:p>
            <a:r>
              <a:t>2. Na svojem prvem, krajšem predavanju je raziskovalka predstavila metodo. Vejica med prilastkoma ne odpira vrivka. Zapis brez prve vejice bi lahko označeval prvo izmed več krajših predavanj; z njo prvo predavanje dodatno opišemo kot krajše. Vejica za predavanju ni utemeljena v nobeni od teh dveh razlag.</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7.10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7.10; nalogi 3 in 4</a:t>
            </a:r>
          </a:p>
          <a:p/>
          <a:p>
            <a:r>
              <a:t>NALOGE</a:t>
            </a:r>
          </a:p>
          <a:p/>
          <a:p>
            <a:r>
              <a:t>3. Dodajte pomišljaja: Odgovor tega res nismo pričakovali je prišel še isti dan. Ali za zaklepnim pomišljajem potrebujemo tudi vejico?</a:t>
            </a:r>
          </a:p>
          <a:p/>
          <a:p>
            <a:r>
              <a:t>4. Uredite: In da ne bo nesporazuma nalogo oddate v petek. Vem da ste jo napisali in da jo boste oddali v petek.</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7.11</a:t>
            </a:r>
          </a:p>
          <a:p/>
          <a:p>
            <a:r>
              <a:t>ZA IZVEDBO</a:t>
            </a:r>
          </a:p>
          <a:p>
            <a:r>
              <a:t>Primerjajte razlago s postopkom študentov. Naj označijo, kaj so dokazali in katera predpostavka je odločilna. Alternative sprejmite v mejah, navedenih v skripti.</a:t>
            </a:r>
          </a:p>
          <a:p/>
          <a:p>
            <a:r>
              <a:t>VIRI</a:t>
            </a:r>
          </a:p>
          <a:p>
            <a:r>
              <a:t>Skripta 3.0, 7.11; rešitvi 3 in 4</a:t>
            </a:r>
          </a:p>
          <a:p/>
          <a:p>
            <a:r>
              <a:t>REŠITVE Z RAZLAGO</a:t>
            </a:r>
          </a:p>
          <a:p/>
          <a:p>
            <a:r>
              <a:t>3. Odgovor – tega res nismo pričakovali – je prišel še isti dan. Dodatne vejice ni: nadaljuje se ogrodje Odgovor je prišel še isti dan. Pomišljaja omejujeta komentar, na njuni desni meji pa ni druge stavčne meje.</a:t>
            </a:r>
          </a:p>
          <a:p/>
          <a:p>
            <a:r>
              <a:t>4. In, da ne bo nesporazuma, nalogo oddate v petek. Komentar omejimo z vejicama. Vem, da ste jo napisali in da jo boste oddali v petek. Odvisnika dopolnjujeta isti vem; med njima je vezalno razmerje.</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5 in 6</a:t>
            </a:r>
          </a:p>
          <a:p/>
          <a:p>
            <a:r>
              <a:t>Povezava s skripto: 7.10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7.10; nalogi 5 in 6</a:t>
            </a:r>
          </a:p>
          <a:p/>
          <a:p>
            <a:r>
              <a:t>NALOGE</a:t>
            </a:r>
          </a:p>
          <a:p/>
          <a:p>
            <a:r>
              <a:t>5. Uredite nagovor: Kolegica preverite še datum. Zakaj kolegica ni osebek? Nato pojasnite, zakaj v Pozdravil je z »dober dan« ni notranje vejice.</a:t>
            </a:r>
          </a:p>
          <a:p/>
          <a:p>
            <a:r>
              <a:t>6. Spremni stavek postavite za navedek: Maja je vprašala: »Ste preverili vir?« Nato vsebino izrazite v odvisnem govoru.</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5 in 6</a:t>
            </a:r>
          </a:p>
          <a:p/>
          <a:p>
            <a:r>
              <a:t>Povezava s skripto: 7.11</a:t>
            </a:r>
          </a:p>
          <a:p/>
          <a:p>
            <a:r>
              <a:t>ZA IZVEDBO</a:t>
            </a:r>
          </a:p>
          <a:p>
            <a:r>
              <a:t>Primerjajte razlago s postopkom študentov. Naj označijo, kaj so dokazali in katera predpostavka je odločilna. Alternative sprejmite v mejah, navedenih v skripti.</a:t>
            </a:r>
          </a:p>
          <a:p/>
          <a:p>
            <a:r>
              <a:t>VIRI</a:t>
            </a:r>
          </a:p>
          <a:p>
            <a:r>
              <a:t>Skripta 3.0, 7.11; rešitvi 5 in 6</a:t>
            </a:r>
          </a:p>
          <a:p/>
          <a:p>
            <a:r>
              <a:t>REŠITVE Z RAZLAGO</a:t>
            </a:r>
          </a:p>
          <a:p/>
          <a:p>
            <a:r>
              <a:t>5. Kolegica, preverite še datum. Osebek velelne oblike je neizraženi vi, kolegica pa nagovor. Pri pozdravu z dober dan navajamo besedilo izraza znotraj predložne zveze; ne nagovarjamo samostojno, zato ne dodamo vejice.</a:t>
            </a:r>
          </a:p>
          <a:p/>
          <a:p>
            <a:r>
              <a:t>6. »Ste preverili vir?« je vprašala Maja. Vprašaj ostane znotraj narekovajev. Odvisni govor je lahko Maja je vprašala, ali smo preverili vir, če smo bili naslovniki mi. Osebo izberemo glede na to, komu je bilo vprašanje namenjeno, ne z mehaničnim ohranjanjem oblike ste.</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7 in 8</a:t>
            </a:r>
          </a:p>
          <a:p/>
          <a:p>
            <a:r>
              <a:t>Povezava s skripto: 7.10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7.10; nalogi 7 in 8</a:t>
            </a:r>
          </a:p>
          <a:p/>
          <a:p>
            <a:r>
              <a:t>NALOGE</a:t>
            </a:r>
          </a:p>
          <a:p/>
          <a:p>
            <a:r>
              <a:t>7. Presodite vejico: »Podatke preverimo dvakrat«, je geslo skupine. Je zadnji del spremni stavek?</a:t>
            </a:r>
          </a:p>
          <a:p/>
          <a:p>
            <a:r>
              <a:t>8. Določite vloge pridevniških delov: Raziskovalka je utrujena. Raziskovalka je prišla utrujena. Utrujena raziskovalka je prišla. Raziskovalka utrujena od poti je prišla. Uredite ločila.</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7 in 8</a:t>
            </a:r>
          </a:p>
          <a:p/>
          <a:p>
            <a:r>
              <a:t>Povezava s skripto: 7.11</a:t>
            </a:r>
          </a:p>
          <a:p/>
          <a:p>
            <a:r>
              <a:t>ZA IZVEDBO</a:t>
            </a:r>
          </a:p>
          <a:p>
            <a:r>
              <a:t>Primerjajte razlago s postopkom študentov. Naj označijo, kaj so dokazali in katera predpostavka je odločilna. Alternative sprejmite v mejah, navedenih v skripti.</a:t>
            </a:r>
          </a:p>
          <a:p/>
          <a:p>
            <a:r>
              <a:t>VIRI</a:t>
            </a:r>
          </a:p>
          <a:p>
            <a:r>
              <a:t>Skripta 3.0, 7.11; rešitvi 7 in 8</a:t>
            </a:r>
          </a:p>
          <a:p/>
          <a:p>
            <a:r>
              <a:t>REŠITVE Z RAZLAGO</a:t>
            </a:r>
          </a:p>
          <a:p/>
          <a:p>
            <a:r>
              <a:t>7. »Podatke preverimo dvakrat« je geslo skupine. Vejico odstranimo: navedek je vključen kot osebek, je geslo skupine pa ni spremni stavek premega govora.</a:t>
            </a:r>
          </a:p>
          <a:p/>
          <a:p>
            <a:r>
              <a:t>8. Zaporedoma gre za povedkovo določilo, povedkov prilastek, levi prilastek in desni polstavčni prilastek. Prve tri povedi ostanejo brez vejic. Četrta: Raziskovalka, utrujena od poti, je prišla. Razširjeni desni opis razmejimo na obeh straneh; razlike med vlogami ne izbriše dejstvo, da povsod nastopa pridevnik.</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9 in 10</a:t>
            </a:r>
          </a:p>
          <a:p/>
          <a:p>
            <a:r>
              <a:t>Povezava s skripto: 7.10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7.10; nalogi 9 in 10</a:t>
            </a:r>
          </a:p>
          <a:p/>
          <a:p>
            <a:r>
              <a:t>NALOGE</a:t>
            </a:r>
          </a:p>
          <a:p/>
          <a:p>
            <a:r>
              <a:t>9. Uredite po SP 2001 in razložite: Razmišljajoč o nalogi je zaprl računalnik. Molče je zaprl računalnik. Nato pojasnite možnost obeh členitev: Projekt oziroma bolje rečeno njegov prvi del bo končan maja.</a:t>
            </a:r>
          </a:p>
          <a:p/>
          <a:p>
            <a:r>
              <a:t>10. Uredite tako, da ohranite citirani besedili in govorko: Njena želja je »dokončati knjigo. Rokopis je že skoraj pripravljen,« je povedala urednica.</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9 in 10</a:t>
            </a:r>
          </a:p>
          <a:p/>
          <a:p>
            <a:r>
              <a:t>Povezava s skripto: 7.11</a:t>
            </a:r>
          </a:p>
          <a:p/>
          <a:p>
            <a:r>
              <a:t>ZA IZVEDBO</a:t>
            </a:r>
          </a:p>
          <a:p>
            <a:r>
              <a:t>Primerjajte razlago s postopkom študentov. Naj označijo, kaj so dokazali in katera predpostavka je odločilna. Alternative sprejmite v mejah, navedenih v skripti.</a:t>
            </a:r>
          </a:p>
          <a:p/>
          <a:p>
            <a:r>
              <a:t>VIRI</a:t>
            </a:r>
          </a:p>
          <a:p>
            <a:r>
              <a:t>Skripta 3.0, 7.11; rešitvi 9 in 10</a:t>
            </a:r>
          </a:p>
          <a:p/>
          <a:p>
            <a:r>
              <a:t>REŠITVE Z RAZLAGO</a:t>
            </a:r>
          </a:p>
          <a:p/>
          <a:p>
            <a:r>
              <a:t>9. Razmišljajoč o nalogi, je zaprl računalnik: razširjeni deležijski polstavek po SP 2001, § 333. Molče je zaprl računalnik ostane brez vejice zaradi prislovne rabe. Projekt lahko pojasnimo v tekoči zvezi brez vejic ali popravek osamosvojimo: Projekt, oziroma bolje rečeno njegov prvi del, bo končan maja. V drugi možnosti moramo označiti obe meji celotnega dodatka; ni dovolj naključno omejiti samo dela bolje rečeno.</a:t>
            </a:r>
          </a:p>
          <a:p/>
          <a:p>
            <a:r>
              <a:t>10. Njena želja je »dokončati knjigo«. »Rokopis je že skoraj pripravljen,« je povedala urednica. Delni navedek je del prve okvirne povedi, druga citirana poved pa je vključena v premi govor.</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11</a:t>
            </a:r>
          </a:p>
          <a:p/>
          <a:p>
            <a:r>
              <a:t>Povezava s skripto: 7.10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7.10; naloga 11</a:t>
            </a:r>
          </a:p>
          <a:p/>
          <a:p>
            <a:r>
              <a:t>NALOGE</a:t>
            </a:r>
          </a:p>
          <a:p/>
          <a:p>
            <a:r>
              <a:t>11. Zahtevnejša naloga: neosebno jedro in različen obseg. Uredite Urednica je morala prebrati rokopis. Urednica razočarana nad odgovorom je odšla. Urednica je odšla razočarana. Pri vsaki pojasnite vključitev neosebnega oziroma pridevniškega dela. Drugo poved razvežite najprej brez izrecnega vzroka in nato vzročno; kaj dodate z drugo pretvorbo? Nazadnje popravite nanašanje v Prebirajoč odgovor je urednico zmotil telefon.</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11</a:t>
            </a:r>
          </a:p>
          <a:p/>
          <a:p>
            <a:r>
              <a:t>Povezava s skripto: 7.11</a:t>
            </a:r>
          </a:p>
          <a:p/>
          <a:p>
            <a:r>
              <a:t>ZA IZVEDBO</a:t>
            </a:r>
          </a:p>
          <a:p>
            <a:r>
              <a:t>Primerjajte razlago s postopkom študentov. Naj označijo, kaj so dokazali in katera predpostavka je odločilna. Alternative sprejmite v mejah, navedenih v skripti.</a:t>
            </a:r>
          </a:p>
          <a:p/>
          <a:p>
            <a:r>
              <a:t>VIRI</a:t>
            </a:r>
          </a:p>
          <a:p>
            <a:r>
              <a:t>Skripta 3.0, 7.11; rešitev 11</a:t>
            </a:r>
          </a:p>
          <a:p/>
          <a:p>
            <a:r>
              <a:t>REŠITVE Z RAZLAGO</a:t>
            </a:r>
          </a:p>
          <a:p/>
          <a:p>
            <a:r>
              <a:t>11. Prva poved ostane brez vejice: je morala prebrati je naklonsko sestavljen povedek. Druga: Urednica, razočarana nad odgovorom, je odšla. Desni polstavčni opis ima za odnosnico urednica obe meji. Tretja ostane Urednica je odšla razočarana: pridevnik je vključen kot povedkov prilastek in izraža stanje ob odhodu. Možna razvezava druge povedi brez izrecnega vzroka je Urednica, ki je bila razočarana nad odgovorom, je odšla. Vzročna je Ker je bila urednica razočarana nad odgovorom, je odšla: ta že trdi, da je razočaranje razlog za odhod. Zadnja poved bi prebiranje pripisala telefonu. Popravek Ko je urednica prebirala odgovor, jo je zmotil telefon jasno loči nosilca obeh dejanj; samo vstavljena vejica težave ne odpravi.</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12</a:t>
            </a:r>
          </a:p>
          <a:p/>
          <a:p>
            <a:r>
              <a:t>Povezava s skripto: 7.10</a:t>
            </a:r>
          </a:p>
          <a:p/>
          <a:p>
            <a:r>
              <a:t>ZA IZVEDBO</a:t>
            </a:r>
          </a:p>
          <a:p>
            <a:r>
              <a:t>Najprej omogočite samostojen poskus. Zahtevajte rešitev in odločilni razlog. Pri več mogočih analizah naj študent izrecno navede predpostavko. Razlaga je na naslednji prosojnici.</a:t>
            </a:r>
          </a:p>
          <a:p/>
          <a:p>
            <a:r>
              <a:t>VIRI</a:t>
            </a:r>
          </a:p>
          <a:p>
            <a:r>
              <a:t>Skripta 3.0, 7.10; naloga 12</a:t>
            </a:r>
          </a:p>
          <a:p/>
          <a:p>
            <a:r>
              <a:t>NALOGE</a:t>
            </a:r>
          </a:p>
          <a:p/>
          <a:p>
            <a:r>
              <a:t>12. Zahtevnejša naloga: dva govorna položaja. Maja v ponedeljek v Ljubljani reče Ani: »Jutri mi tukaj vrni osnutek.« Nika v torek zjutraj iz Kopra poroča Roku o Majinem navodilu. Napišite poročilo v odvisnem govoru ter pojasnite spremembe osebe, časa, kraja in naklona. Nato isto izjavo navedite kot premi govor s spremnim stavkom za navedkom. Zakaj se v njem prvotni jutri ohrani?</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a:t>
            </a:r>
          </a:p>
          <a:p/>
          <a:p>
            <a:r>
              <a:t>Povezava s skripto: 7.11</a:t>
            </a:r>
          </a:p>
          <a:p/>
          <a:p>
            <a:r>
              <a:t>ZA IZVEDBO</a:t>
            </a:r>
          </a:p>
          <a:p>
            <a:r>
              <a:t>Primerjajte razlago s postopkom študentov. Naj označijo, kaj so dokazali in katera predpostavka je odločilna. Alternative sprejmite v mejah, navedenih v skripti.</a:t>
            </a:r>
          </a:p>
          <a:p/>
          <a:p>
            <a:r>
              <a:t>VIRI</a:t>
            </a:r>
          </a:p>
          <a:p>
            <a:r>
              <a:t>Skripta 3.0, 7.11; rešitev 12</a:t>
            </a:r>
          </a:p>
          <a:p/>
          <a:p>
            <a:r>
              <a:t>REŠITVE Z RAZLAGO</a:t>
            </a:r>
          </a:p>
          <a:p/>
          <a:p>
            <a:r>
              <a:t>12. Ena jasna rešitev je Maja je včeraj Ani naročila, naj ji danes v Ljubljani vrne osnutek. Velelnik vrni postane zgradba z naj; vračala naj bi Ana, ji pa v tem sobesedilu označuje Majo. Jutri glede na ponedeljkovo izjavo pomeni torek, zato je za Nikino poročanje danes; tukaj se spremeni v izrecno v Ljubljani, saj Nika govori iz Kopra. Če bi bilo nanašanje zaradi širšega sobesedila nejasno, lahko Majo ponovno poimenujemo. Premi govor: »Jutri mi tukaj vrni osnutek,« je Maja v ponedeljek v Ljubljani rekla Ani. Navedek ohranja prvotni govorni položaj in zato tudi jutri, mi ter tukaj. Pri odvisnem govoru pa te izraze uskladimo s poročevalčevim položajem. Vejica pred desnim narekovajem je del pravila za navedek s sledečim spremnim stavkom.</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poglavje7</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Jezikovni nasvet</a:t>
            </a:r>
          </a:p>
          <a:p/>
          <a:p>
            <a:r>
              <a:t>ZA IZVEDBO</a:t>
            </a:r>
          </a:p>
          <a:p>
            <a:r>
              <a:t>Osrednje vprašanje te enote: Kako napišemo odgovor, ki je uporaben, utemeljen in pomensko zvest?</a:t>
            </a:r>
          </a:p>
          <a:p>
            <a:r>
              <a:t>Cilji: Povežem ravni analize v celovitem uredniškem primeru.; Preverim, katere podatke pretvorba ohrani, izpusti ali doda.; Napišem strokovni odgovor za konkretnega naslovnika.</a:t>
            </a:r>
          </a:p>
          <a:p/>
          <a:p>
            <a:r>
              <a:t>UVOD V ENOTO</a:t>
            </a:r>
          </a:p>
          <a:p>
            <a:r>
              <a:t> 8. Od analize do jezikovnega nasveta</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Kaj mora ohraniti dober jezikovni nasvet?</a:t>
            </a:r>
          </a:p>
          <a:p/>
          <a:p>
            <a:r>
              <a:t>Povezava s skripto: 8.1</a:t>
            </a:r>
          </a:p>
          <a:p/>
          <a:p>
            <a:r>
              <a:t>ZA IZVEDBO</a:t>
            </a:r>
          </a:p>
          <a:p>
            <a:r>
              <a:t>Začnimo z vprašanjem: kaj smo do zdaj analizirali ločeno, v besedilu pa nastopa skupaj? Študenti naj navedejo ime, obliko in vejico. Nato usmerimo pozornost k pretvorbi. Preoblikovanje lahko ohrani dogodek, a prikrije vršilca, spremeni gotovost ali premakne sporočilni poudarek. Cilj zadnje enote je uporaben odgovor, katerega kratkost temelji na natančni analizi. Na naslednjih prosojnicah bomo isti postopek uporabili na zaimku, sloganu in dveh celovitih uredniških primerih.</a:t>
            </a:r>
          </a:p>
          <a:p/>
          <a:p>
            <a:r>
              <a:t>VIRI</a:t>
            </a:r>
          </a:p>
          <a:p>
            <a:r>
              <a:t>Vidovič Muha 2013: 17–18; 2011: 82–85</a:t>
            </a:r>
          </a:p>
          <a:p>
            <a:r>
              <a:t>Toporišič 2004: 491–492</a:t>
            </a:r>
          </a:p>
          <a:p/>
          <a:p>
            <a:r>
              <a:t>RAZLAGA IZ SKRIPTE · 8.1 Povezovanje znanja</a:t>
            </a:r>
          </a:p>
          <a:p>
            <a:r>
              <a:t>V prejšnjih poglavjih smo posamezne pojave obravnavali ločeno, v besedilu pa se pogosto pojavijo skupaj. Pri tujem imenu se povežejo izgovor, spol, oblika osnove, pregibanje in začetnica. Pri pridevniku se lahko vprašanje oblike začne z vprašanjem, ali poimenujemo vrsto ali opisujemo lastnost. Pri navedku moramo hkrati prepoznati govorca, obseg citiranih besed in zgradbo povedi, ki jih vključuje.</a:t>
            </a:r>
          </a:p>
          <a:p/>
          <a:p>
            <a:r>
              <a:t>V zadnjem poglavju je cilj samostojen, razumljiv in natančno omejen odgovor. Uporabnik potrebuje rešitev, iz razlage pa mora biti razvidno, na čem temelji. Tudi kadar poznamo številko pravopisnega člena ali strokovno ime pojava, moramo pokazati, kako je povezano z njegovim konkretnim primerom.</a:t>
            </a:r>
          </a:p>
          <a:p/>
          <a:p>
            <a:r>
              <a:t>Naša skupna razlagalna opora je razmerje med poimenovanjem in upovedovanjem. Vidovič Muha slovar in slovnico razume kot medsebojno odvisni sestavini jezikovnega sistema; njeno besedotvorje pokaže, kako se določena skladenjska razmerja lahko izrazijo morfemsko. Toporišič pa pokaže, kako se pomenska podstava izrazi v različnih stavčnih in tudi imenskih zgradbah. Jezikovni nasvet zato pogosto presoja pretvorbo: iz zveze v tvorjenko, iz stavka v samostalniško poimenovanje, iz neposrednega govora v poročanje. (Vidovič Muha 2013: 17–18; 2011: 82–85, 100–103; Toporišič 2004: 491–492.)</a:t>
            </a:r>
          </a:p>
          <a:p/>
          <a:p>
            <a:r>
              <a:t>Pri takem posegu vprašamo, kaj se ohrani in kaj se spremeni. Dve formulaciji lahko označujeta isti dogodek, vendar različno razkrijeta vršilca, uredita znano in novo ali izrazita govorčevo gotovost. To ni obrobna slogovna razlika, kadar je uporabnik želel sporočiti prav te podatke.</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Najprej določimo pravi problem</a:t>
            </a:r>
          </a:p>
          <a:p/>
          <a:p>
            <a:r>
              <a:t>Povezava s skripto: 8.2</a:t>
            </a:r>
          </a:p>
          <a:p/>
          <a:p>
            <a:r>
              <a:t>ZA IZVEDBO</a:t>
            </a:r>
          </a:p>
          <a:p>
            <a:r>
              <a:t>Primerjajmo uporabnikovo vprašanje in predmet dejanske presoje. Vprašanje o vejici lahko skriva dvoumno navezavo. Predlagana izbira dveh oblik morda ne zajame nameravanega pomena. Koraki niso nepovraten seznam: slovarski sestavek nas lahko vrne k začetni pomenski analizi. Od študentov zahtevajmo, da pred reševanjem označijo točno besedo, zvezo ali mejo, o kateri odločajo.</a:t>
            </a:r>
          </a:p>
          <a:p/>
          <a:p>
            <a:r>
              <a:t>VIRI</a:t>
            </a:r>
          </a:p>
          <a:p>
            <a:r>
              <a:t>Skripta 3.0, 8.2</a:t>
            </a:r>
          </a:p>
          <a:p/>
          <a:p>
            <a:r>
              <a:t>RAZLAGA IZ SKRIPTE · 8.2 Postopek strokovnega odgovarjanja</a:t>
            </a:r>
          </a:p>
          <a:p>
            <a:r>
              <a:t>Najprej preberemo celotno vprašanje. Včasih avtor sprašuje o vejici, dejanska težava pa je nejasna navezava odvisnika. Včasih ponudi dve obliki, vendar potrebuje tretjo formulacijo, ki bolj nedvoumno izraža njegov pomen. Včasih pa je prvotna rešitev ustrezna in jo moramo le razložiti.</a:t>
            </a:r>
          </a:p>
          <a:p/>
          <a:p>
            <a:r>
              <a:t>Pri delu si pomagamo z naslednjim zaporedjem:</a:t>
            </a:r>
          </a:p>
          <a:p/>
          <a:p>
            <a:r>
              <a:t>1. Določimo predmet presoje. Označimo besedo, zvezo ali mejo, o kateri odločamo. Obsega vprašanja po nepotrebnem ne širimo.</a:t>
            </a:r>
          </a:p>
          <a:p>
            <a:r>
              <a:t>2. Ugotovimo pomen in okoliščine. Kdo govori, o čem, komu in v kakšnem besedilu? Ali je odločilna razlika med poimenovanjem in opisom?</a:t>
            </a:r>
          </a:p>
          <a:p>
            <a:r>
              <a:t>3. Analiziramo relevantno zgradbo. Pri imenu določimo izgovor in osnovo, pri povedi odnose med sestavinami, pri besedni izbiri pomen in povezovalnost.</a:t>
            </a:r>
          </a:p>
          <a:p>
            <a:r>
              <a:t>4. Preverimo potrebno pravilo ali podatek. Izberemo vir, ki odgovarja prav na naše vprašanje, in upoštevamo njegov status.</a:t>
            </a:r>
          </a:p>
          <a:p>
            <a:r>
              <a:t>5. Napišemo rešitev z utemeljitvijo. Bralca čim prej seznanimo z uporabnim odgovorom, nato navedemo odločilni razlog.</a:t>
            </a:r>
          </a:p>
          <a:p>
            <a:r>
              <a:t>6. Opredelimo alternative. Če sta dve rešitvi mogoči zaradi različnih pomenov, pojasnimo razliko. Če predlagamo stilistično spremembo, navedemo njen namen.</a:t>
            </a:r>
          </a:p>
          <a:p/>
          <a:p>
            <a:r>
              <a:t>V praksi se lahko med koraki vračamo. Prebrani slovarski sestavek nam denimo pokaže, da smo sprva izbrali napačen pomen. Dodatna poved v sobesedilu razreši zaimensko navezavo. To je del analize, zato končna utemeljitev temelji na preverjenem razumevanju primera.</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Od preverjanja do uporabnega odgovora</a:t>
            </a:r>
          </a:p>
          <a:p/>
          <a:p>
            <a:r>
              <a:t>Povezava s skripto: 8.2</a:t>
            </a:r>
          </a:p>
          <a:p/>
          <a:p>
            <a:r>
              <a:t>ZA IZVEDBO</a:t>
            </a:r>
          </a:p>
          <a:p>
            <a:r>
              <a:t>Študenti naj primerjajo strokovni postopek in vrstni red končnega odgovora. Pri delu najprej preverjamo; uporabniku pa navadno najprej podamo uporabno rešitev. Nato pojasnimo odločilni razlog in po potrebi omejimo veljavnost priporočila. Alternativna rešitev potrebuje opredelitev pomena ali okoliščin. Sklic na avtoriteto ni zadosten brez razlage, kako se njeno merilo uporabi na konkretnem primeru.</a:t>
            </a:r>
          </a:p>
          <a:p/>
          <a:p>
            <a:r>
              <a:t>VIRI</a:t>
            </a:r>
          </a:p>
          <a:p>
            <a:r>
              <a:t>Skripta 3.0, 8.2</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»Kaj je notri, šteje.«</a:t>
            </a:r>
          </a:p>
          <a:p/>
          <a:p>
            <a:r>
              <a:t>Povezava s skripto: 8.3</a:t>
            </a:r>
          </a:p>
          <a:p/>
          <a:p>
            <a:r>
              <a:t>ZA IZVEDBO</a:t>
            </a:r>
          </a:p>
          <a:p>
            <a:r>
              <a:t>Slogan je izpitni primer, pri katerem prepoznava manj običajnega vzorca hitro sproži preoster popravek. Preverimo glagolski pomen in funkcijo začetnega dela. V navedenem svetovalničnem odgovoru je obravnavana možnost utemeljitve z vsebinskim odvisnikom. Različica s kar je mogoča, vendar ne izbriše potrebe po pomenski analizi. Ločeno obravnavajmo razumljivost, oglasni učinek in slovnično sprejemljivost.</a:t>
            </a:r>
          </a:p>
          <a:p/>
          <a:p>
            <a:r>
              <a:t>VIRI</a:t>
            </a:r>
          </a:p>
          <a:p>
            <a:r>
              <a:t>Gabrovšek 2025, Jezikovna svetovalnica</a:t>
            </a:r>
          </a:p>
          <a:p>
            <a:r>
              <a:t>Skripta 3.0, 8.3</a:t>
            </a:r>
          </a:p>
          <a:p/>
          <a:p>
            <a:r>
              <a:t>RAZLAGA IZ SKRIPTE · 8.3 Razčlenjeni primer: »Kaj je notri, šteje.«</a:t>
            </a:r>
          </a:p>
          <a:p>
            <a:r>
              <a:t>Pri sloganu iz izpitnega gradiva upoštevamo razlago Dejana Gabrovška v Jezikovni svetovalnici, marec 2025 — https://svetovalnica.zrc-sazu.si/topic/7309/jezikovna-ne-pravilnost-slogana-kaj-je-notri-%C5%A1teje.</a:t>
            </a:r>
          </a:p>
          <a:p/>
          <a:p>
            <a:r>
              <a:t>Možen strokovni odgovor:</a:t>
            </a:r>
          </a:p>
          <a:p/>
          <a:p>
            <a:r>
              <a:t>&gt; Slogan je slovnično mogoče utemeljiti: Pomembno je, kaj je notri. Glagol šteti izraža pomembnost, vsebinski odvisnik pa stoji pred njim. Manj običajen vrstni red ni sam po sebi napačen. Mogoča je tudi različica s kar; izbira zaimka vpliva na pomenski poudarek. Izbrano rešitev zato presojamo ob sporočilu oglasa.</a:t>
            </a:r>
          </a:p>
          <a:p/>
          <a:p>
            <a:r>
              <a:t>Pri vrednotenju oglasa dodatno presojamo razumljivost in učinek, kar je drugo vprašanje kot slovnična sprejemljivost.</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Čigav članek je poslala Maja?</a:t>
            </a:r>
          </a:p>
          <a:p/>
          <a:p>
            <a:r>
              <a:t>Povezava s skripto: 8.4</a:t>
            </a:r>
          </a:p>
          <a:p/>
          <a:p>
            <a:r>
              <a:t>ZA IZVEDBO</a:t>
            </a:r>
          </a:p>
          <a:p>
            <a:r>
              <a:t>Pred razkritjem možnosti prikažimo vprašanje Maja je Nini poslala njen članek. Študenti naj povedo, kateri podatek manjka. Prejemnica je znana, nanosnica svojilnega zaimka pa ni nujno ista oseba v vsakem širšem sobesedilu. Če je članek Majin, pomaga svoj; če ga pripisujemo Nini, lahko uporabimo izrecno poimenovanje. Ne izbirajmo zaimka pred razjasnitvijo pripisanega razmerja.</a:t>
            </a:r>
          </a:p>
          <a:p/>
          <a:p>
            <a:r>
              <a:t>VIRI</a:t>
            </a:r>
          </a:p>
          <a:p>
            <a:r>
              <a:t>Skripta 3.0, 8.4</a:t>
            </a:r>
          </a:p>
          <a:p/>
          <a:p>
            <a:r>
              <a:t>RAZLAGA IZ SKRIPTE · 8.4 Razčlenjeni primer: nejasna navezava</a:t>
            </a:r>
          </a:p>
          <a:p>
            <a:r>
              <a:t>Vprašanje: Ali je poved Maja je Nini poslala njen članek dovolj jasna?</a:t>
            </a:r>
          </a:p>
          <a:p/>
          <a:p>
            <a:r>
              <a:t>Poved pove, kdo je pošiljateljica in kdo prejemnica. Osebnosvojilni zaimek njen pa zahteva razpoznavno nanosnico. Bralec ga lahko poveže z Nino ali s tretjo žensko, ki je bila omenjena v sobesedilu. Če je članek Majin, to jasno izrazimo s povratnosvojilnim zaimkom: Maja je Nini poslala svoj članek. Če želimo poudariti, da je članek Ninin, lahko napišemo Maja je Nini poslala Ninin članek ali ob primernem sobesedilu Maja je Nini poslala njen članek.</a:t>
            </a:r>
          </a:p>
          <a:p/>
          <a:p>
            <a:r>
              <a:t>Možen strokovni odgovor:</a:t>
            </a:r>
          </a:p>
          <a:p/>
          <a:p>
            <a:r>
              <a:t>&gt; Poved je smiselna, vendar mora biti iz sobesedila razvidno, na koga se nanaša njen. Če članek pripisujemo Maji, uporabite svoj članek. Če ga pripisujemo Nini in želite navezavo izraziti povsem jasno, napišite Ninin članek. Sama zamenjava zaimka brez podatka o tem, komu članek pripisujemo, bi lahko spremenila pomen.</a:t>
            </a:r>
          </a:p>
          <a:p/>
          <a:p>
            <a:r>
              <a:t>Odgovor tu ne išče ene oblike, ki bi bila najboljša v vseh okoliščinah. Določi podatek, od katerega je izbira odvisna, in uporabniku pokaže posledice posamezne odločitve.</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Celovita redakcija: najprej podatki</a:t>
            </a:r>
          </a:p>
          <a:p/>
          <a:p>
            <a:r>
              <a:t>Povezava s skripto: 8.5</a:t>
            </a:r>
          </a:p>
          <a:p/>
          <a:p>
            <a:r>
              <a:t>ZA IZVEDBO</a:t>
            </a:r>
          </a:p>
          <a:p>
            <a:r>
              <a:t>Pred reševanjem glasno navedemo oba pogoja: avtor piše o literarni zgodovini in ime Guy je francosko, izgovorjeno gi. Izhodiščno besedilo vsebuje namenoma napačne oblike in ločila. Vsak poseg mora imeti svojo utemeljitev. Naj študenti najprej ločijo oblikoslovno, imensko, besedotvorno in skladenjsko odločitev. Na naslednjih dveh prosojnicah se vrnemo k istim podatkom.</a:t>
            </a:r>
          </a:p>
          <a:p/>
          <a:p>
            <a:r>
              <a:t>VIRI</a:t>
            </a:r>
          </a:p>
          <a:p>
            <a:r>
              <a:t>eP 2025: Guy¹, str. 91–93, predlog</a:t>
            </a:r>
          </a:p>
          <a:p>
            <a:r>
              <a:t>Skripta 3.0, 8.5</a:t>
            </a:r>
          </a:p>
          <a:p/>
          <a:p>
            <a:r>
              <a:t>RAZLAGA IZ SKRIPTE · 8.5 Razčlenjeni primer: od poimenovanja do urejene povedi</a:t>
            </a:r>
          </a:p>
          <a:p>
            <a:r>
              <a:t>Pri uredniškem delu se jezikovne ravni srečajo v istem odstavku. Avtor obravnava literarno zgodovino, francosko ime Guy pa se v tem primeru izgovarja [gi]. Za njegovo pregibanje in tvorjenko uporabimo izrecno navedeni slovarski predlog eP 2025, str. 91–93.</a:t>
            </a:r>
          </a:p>
          <a:p/>
          <a:p>
            <a:r>
              <a:t>Besedilo za pregled:</a:t>
            </a:r>
          </a:p>
          <a:p/>
          <a:p>
            <a:r>
              <a:t>&gt; V novemu katalogu predstavljamo Guyove zapiske o literarno zgodovinskih vprašanjih. Urednica je pojasnila da bomo poglavje ki ga je avtor dopolnil objavili v petek, in da bo katalog dostopen vsem študentom.</a:t>
            </a:r>
          </a:p>
          <a:p/>
          <a:p>
            <a:r>
              <a:t>Začnemo pri podatkih, ki jih že imamo. Vsebina zapiskov je literarna zgodovina, zato pridevnika ne razvezujemo kot literarni in zgodovinski. Pri imenu upoštevamo navedeni francoski izgovor. Nato določimo sklon začetne zveze in razmerja med stavki. Uredničino pojasnilo ima dve vsebini, priredno povezani z in, znotraj prve pa stoji prilastkov odvisnik.</a:t>
            </a:r>
          </a:p>
          <a:p/>
          <a:p>
            <a:r>
              <a:t>Urejena različica:</a:t>
            </a:r>
          </a:p>
          <a:p/>
          <a:p>
            <a:r>
              <a:t>&gt; V novem katalogu predstavljamo Guyjeve zapiske o literarnozgodovinskih vprašanjih. Urednica je pojasnila, da bomo poglavje, ki ga je avtor dopolnil, objavili v petek in da bo katalog dostopen vsem študentom.</a:t>
            </a:r>
          </a:p>
          <a:p/>
          <a:p>
            <a:r>
              <a:t>| Poseg | Analiza, iz katere sledi |</a:t>
            </a:r>
          </a:p>
          <a:p>
            <a:r>
              <a:t>|---|---|</a:t>
            </a:r>
          </a:p>
          <a:p>
            <a:r>
              <a:t>| v novem katalogu | Mestnik moškega spola ednine; pridevnik se ujema s samostalnikom. |</a:t>
            </a:r>
          </a:p>
          <a:p>
            <a:r>
              <a:t>| Guyjeve zapiske | Francosko izhodišče [gi], rodilnik Guyja, svojilni pridevnik Guyjev; uporabljeni vir je eP 2025. |</a:t>
            </a:r>
          </a:p>
          <a:p>
            <a:r>
              <a:t>| literarnozgodovinskih | Pridevnik poimenuje povezavo z literarno zgodovino in izhaja iz podredne zveze. |</a:t>
            </a:r>
          </a:p>
          <a:p>
            <a:r>
              <a:t>| Vejica za pojasnila | Začetek prvega vsebinskega odvisnika. |</a:t>
            </a:r>
          </a:p>
          <a:p>
            <a:r>
              <a:t>| Vejici ob ki ga je avtor dopolnil | Začetek in konec prilastkovega odvisnika znotraj prve vsebine pojasnila. |</a:t>
            </a:r>
          </a:p>
          <a:p>
            <a:r>
              <a:t>| Brez vejice pred in da | Enakovredna odvisnika sta vezalno povezana; prilastkov odvisnik se je končal že prej. |</a:t>
            </a:r>
          </a:p>
          <a:p/>
          <a:p>
            <a:r>
              <a:t>Tako dobimo enotno redakcijo, čeprav za posamezne posege potrebujemo različne razloge. Če bi bilo ime angleško in izgovorjeno [gaj], bi morali analizo imena opraviti drugače. Če bi zapiski povezovali dve področji, bi morali ponovno preveriti besedotvorno razlago. Podatka o pomenu in izgovoru sta del naloge, zato ju pri popravljanju ne smemo izgubiti.</a:t>
            </a:r>
          </a:p>
          <a:p/>
          <a:p>
            <a:r>
              <a:t>Možen kratek nasvet:</a:t>
            </a:r>
          </a:p>
          <a:p/>
          <a:p>
            <a:r>
              <a:t>&gt; V začetni zvezi uporabite mestnik v novem katalogu. Ker je ime francosko in izgovorjeno [gi], po navedenem slovarskem predlogu tvorimo Guyjev. Skupaj pisani pridevnik literarnozgodovinski ustreza obravnavi literarne zgodovine. V drugi povedi zamejimo odvisnika in odstranimo vejico med vezalno povezanima vsebinama uredničinega pojasnila.</a:t>
            </a:r>
          </a:p>
          <a:p/>
          <a:p>
            <a:r>
              <a:t>Nasvet je krajši od celotne analize, vendar je z njo skladen. Prav to je končni cilj: uporabniku ponudimo obvladljiv odgovor, pod njim pa ohranimo dovolj natančno razumevanje, da lahko pojasnimo tudi nadaljnje vprašanje.</a:t>
            </a:r>
          </a:p>
          <a:p/>
          <a:p>
            <a:r>
              <a:t> Zahtevnejši razčlenjeni primer: kaj skriva imenska zgradba?</a:t>
            </a:r>
          </a:p>
          <a:p/>
          <a:p>
            <a:r>
              <a:t>Izhodišče: pripravljamo poročilo o oddaji rokopisa. Urednica je potrdila prevod, avtor je nato poslal datoteko založbi. Podatek, da je bil avtor utrujen od pogajanj, želimo dodati kot odmaknjeno pojasnilo o njegovem stanju. Kdo je prevod izdelal, ni navedeno.</a:t>
            </a:r>
          </a:p>
          <a:p/>
          <a:p>
            <a:r>
              <a:t>&gt; Po uredničini potrditvi prevoda je avtor utrujen od pogajanj poslal datoteko založbi.</a:t>
            </a:r>
          </a:p>
          <a:p/>
          <a:p>
            <a:r>
              <a:t>Zgolj štetje osebnih glagolskih oblik tu ne pokaže celotne vsebine. Poimenovani sta potrditev in pošiljanje, poleg njiju pa je avtorju pripisano stanje. Samostalniška zveza uredničina potrditev prevoda je rezultat poimenovanja dogodka, katerega udeležence še vedno lahko razberemo. Vidovič Muha besedotvorni pomen dejanja poveže s popredmetenjem povedja, Toporišič pa opozori na ohranjanje vezavnosti pri izglagolskih samostalnikih in na več možnosti upovedovanja pomenske podstave. (Vidovič Muha 2011: 83–85, 100–101; Toporišič 2004: 275–276, 491–492.)</a:t>
            </a:r>
          </a:p>
          <a:p/>
          <a:p>
            <a:r>
              <a:t>Razčlenitev pred posegom:</a:t>
            </a:r>
          </a:p>
          <a:p/>
          <a:p>
            <a:r>
              <a:t>| Sestavina | Slovnična zgradba | Vsebina oziroma razmerje |</a:t>
            </a:r>
          </a:p>
          <a:p>
            <a:r>
              <a:t>|---|---|---|</a:t>
            </a:r>
          </a:p>
          <a:p>
            <a:r>
              <a:t>| po uredničini potrditvi prevoda | Predložna samostalniška zveza; potrditvi in uredničini sta v mestniku. | Časovno umesti pošiljanje za potrditev. |</a:t>
            </a:r>
          </a:p>
          <a:p>
            <a:r>
              <a:t>| uredničini | Levi pridevniški prilastek ob potrditvi. | Urednica je v podanem kontekstu vršilka potrditve. |</a:t>
            </a:r>
          </a:p>
          <a:p>
            <a:r>
              <a:t>| prevoda | Rodilniško dopolnilo izglagolskega samostalnika. | Izraža to, kar je bilo potrjeno; pri razviti glagolski zvezi dobimo potrdila prevod. |</a:t>
            </a:r>
          </a:p>
          <a:p>
            <a:r>
              <a:t>| je avtor … poslal datoteko založbi | Osnovni stavek z osebkom in dvema predmetoma. | Avtor je vršilec pošiljanja, datoteka poslano, založba prejemnik. |</a:t>
            </a:r>
          </a:p>
          <a:p>
            <a:r>
              <a:t>| utrujen od pogajanj | Pridevniška zveza z dodatno predikacijsko vsebino o avtorju. | Pove stanje avtorja; v navedenem komunikacijskem namenu jo osamosvojimo kot pojasnilo. |</a:t>
            </a:r>
          </a:p>
          <a:p/>
          <a:p>
            <a:r>
              <a:t>Urejena zgoščena različica:</a:t>
            </a:r>
          </a:p>
          <a:p/>
          <a:p>
            <a:r>
              <a:t>&gt; Po uredničini potrditvi prevoda je avtor, utrujen od pogajanj, poslal datoteko založbi.</a:t>
            </a:r>
          </a:p>
          <a:p/>
          <a:p>
            <a:r>
              <a:t>Vejici sledita navedeni odmaknjeni vključitvi dodatnega podatka. Če bi bila zveza mišljena kot tesno vključeni povedkov prilastek, bi morali presojati drugo zgradbo; sama možnost razvitja v stavek vejice še ne dokazuje. Pravopisni postopek zato povežemo z razliko med vključitvama iz 7. poglavja. (SP 2001, § 333–337.)</a:t>
            </a:r>
          </a:p>
          <a:p/>
          <a:p>
            <a:r>
              <a:t>Razvita različica z izrecnimi stavčnimi razmerji:</a:t>
            </a:r>
          </a:p>
          <a:p/>
          <a:p>
            <a:r>
              <a:t>&gt; Potem ko je urednica potrdila prevod, je avtor, ki je bil utrujen od pogajanj, poslal datoteko založbi.</a:t>
            </a:r>
          </a:p>
          <a:p/>
          <a:p>
            <a:r>
              <a:t>Prva vsebina je zdaj časovni odvisnik, stanje pa prilastkov odvisnik. Ta različica lažje pokaže, kdo je kaj storil, in jasneje razmeji dogodkovno zaporedje. Daljša zgradba je v tem kontekstu uporabna, vendar ni splošno merilo boljšega sloga. Če je potrditev že znana tema besedila, je lahko začetna imenska zveza učinkovita navezava. Izbor povežemo tudi s členitvijo po aktualnosti. (Toporišič 2004: 660–663.)</a:t>
            </a:r>
          </a:p>
          <a:p/>
          <a:p>
            <a:r>
              <a:t>Dve preoblikovanji, ki ne ohranita danih podatkov:</a:t>
            </a:r>
          </a:p>
          <a:p/>
          <a:p>
            <a:r>
              <a:t>- Po potrditvi uredničinega prevoda … prestavi pridevnik k prevodu. Zdaj je prevod v razmerju do urednice, podatek o vršilki potrditve pa ni več izražen na isti način. Če bi iz tega sklepali, da je urednica prevajalka, bi dodali podatek, ki ga izhodišče ne vsebuje.</a:t>
            </a:r>
          </a:p>
          <a:p>
            <a:r>
              <a:t>- Ker je urednica potrdila prevod, je avtor … izrecno vzpostavi vzročno razmerje. Izhodiščni po izraža časovno zaporedje; to samo še ne zagotavlja enake vzročne trditve.</a:t>
            </a:r>
          </a:p>
          <a:p/>
          <a:p>
            <a:r>
              <a:t>Pri takih posegih »pomen je približno isti« ni zadosten sklep. Označiti moramo nosilce dejanj in stanj, razmerje med dogodkoma ter podatke, ki jih določena pretvorba izpusti ali doda. To je zahtevnejša oblika istega uredniškega postopka, s katerim smo prej utemeljili eno končnico ali vejico.</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Tri popravke utemeljimo s tremi analizami</a:t>
            </a:r>
          </a:p>
          <a:p/>
          <a:p>
            <a:r>
              <a:t>Povezava s skripto: 8.5</a:t>
            </a:r>
          </a:p>
          <a:p/>
          <a:p>
            <a:r>
              <a:t>ZA IZVEDBO</a:t>
            </a:r>
          </a:p>
          <a:p>
            <a:r>
              <a:t>Vsaka vrstica mora vsebovati povezavo med podatkom iz naloge in popravljeno obliko. Pri mestniku poudarimo ujemanje. Pri Guy razlikujemo govorjeno osnovo in zapis ter status izbranega vira. Pri literarnozgodovinski je odločilna podredna zveza literarna zgodovina. Če bi spremenili izgovor imena ali obravnavano področje, bi morali analizo ponoviti; pravilne rešitve niso seznam nespremenljivih zamenjav.</a:t>
            </a:r>
          </a:p>
          <a:p/>
          <a:p>
            <a:r>
              <a:t>VIRI</a:t>
            </a:r>
          </a:p>
          <a:p>
            <a:r>
              <a:t>eP 2025: Guy¹, str. 91–93, predlog</a:t>
            </a:r>
          </a:p>
          <a:p>
            <a:r>
              <a:t>Skripta 3.0, 8.5</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Vejice sledijo obsegu sestavin</a:t>
            </a:r>
          </a:p>
          <a:p/>
          <a:p>
            <a:r>
              <a:t>Povezava s skripto: 8.5</a:t>
            </a:r>
          </a:p>
          <a:p/>
          <a:p>
            <a:r>
              <a:t>ZA IZVEDBO</a:t>
            </a:r>
          </a:p>
          <a:p>
            <a:r>
              <a:t>Najprej naj študenti poiščejo dve vsebini uredničinega pojasnila. Nato znotraj prve določijo odnosnico poglavje in obe meji prilastkovega odvisnika. Posebej preverimo položaj pred in da: notranji odvisnik je tam že končan. Prisotnost odvisnika nekje prej v povedi sama ne zahteva vejice na vsaki nadaljnji priredni meji. Tudi odstranjevanje odvečne vejice potrebuje natančno razlago.</a:t>
            </a:r>
          </a:p>
          <a:p/>
          <a:p>
            <a:r>
              <a:t>VIRI</a:t>
            </a:r>
          </a:p>
          <a:p>
            <a:r>
              <a:t>Skripta 3.0, 8.5</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Kaj skriva imenska zgradba?</a:t>
            </a:r>
          </a:p>
          <a:p/>
          <a:p>
            <a:r>
              <a:t>Povezava s skripto: 8.5</a:t>
            </a:r>
          </a:p>
          <a:p/>
          <a:p>
            <a:r>
              <a:t>ZA IZVEDBO</a:t>
            </a:r>
          </a:p>
          <a:p>
            <a:r>
              <a:t>Pred podrobno analizo določimo dejansko sporočilo. Potrditev in prevajanje sta različni dejanji. Urednica je v izhodišču vršilka potrditve; prevajalec ni naveden. Stanje avtorja želimo dodati kot odmaknjeno pojasnilo. Te predpostavke preprečijo, da bi kasneje pod videzom slogovnega izboljšanja uvedli novega vršilca, drugo dejanje ali vzročno razmerje.</a:t>
            </a:r>
          </a:p>
          <a:p/>
          <a:p>
            <a:r>
              <a:t>VIRI</a:t>
            </a:r>
          </a:p>
          <a:p>
            <a:r>
              <a:t>Vidovič Muha 2011: 83–85, 100–101</a:t>
            </a:r>
          </a:p>
          <a:p>
            <a:r>
              <a:t>Toporišič 2004: 275–276, 491–492</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Tri vsebine, različne slovnične uresničitve</a:t>
            </a:r>
          </a:p>
          <a:p/>
          <a:p>
            <a:r>
              <a:t>Povezava s skripto: 8.5</a:t>
            </a:r>
          </a:p>
          <a:p/>
          <a:p>
            <a:r>
              <a:t>ZA IZVEDBO</a:t>
            </a:r>
          </a:p>
          <a:p>
            <a:r>
              <a:t>Tabela poveže pomensko in skladenjsko analizo. Vprašamo, katera vsebina ima osebni povedek in katera je popredmetena oziroma dodatno prisojena. Rodilnik prevoda dopolnjuje samostalnik potrditev, pri razviti glagolski zvezi pa dobimo tožilnik prevod. Ohranitev udeleženca ne pomeni ohranitve istega sklona. Študent naj zato loči vlogo in obliko.</a:t>
            </a:r>
          </a:p>
          <a:p/>
          <a:p>
            <a:r>
              <a:t>VIRI</a:t>
            </a:r>
          </a:p>
          <a:p>
            <a:r>
              <a:t>Vidovič Muha 2011: 83–85</a:t>
            </a:r>
          </a:p>
          <a:p>
            <a:r>
              <a:t>Toporišič 2004: 491–492</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Odmaknjeno pojasnilo omejimo</a:t>
            </a:r>
          </a:p>
          <a:p/>
          <a:p>
            <a:r>
              <a:t>Povezava s skripto: 8.5</a:t>
            </a:r>
          </a:p>
          <a:p/>
          <a:p>
            <a:r>
              <a:t>ZA IZVEDBO</a:t>
            </a:r>
          </a:p>
          <a:p>
            <a:r>
              <a:t>Vejici izpeljemo iz komunikacijskega pogoja, ki smo ga navedli dve prosojnici prej. Stanje avtorja je odmaknjeno pojasnilo. Če bi želeli tesno vključeni povedkov prilastek, bi analizirali drugo vključitev. Zato iz možnosti razvitja v stavek ne izpeljujemo avtomatične vejice. Povežimo primer z razliko biti utrujen in vrniti se utrujen iz prejšnjih poglavij.</a:t>
            </a:r>
          </a:p>
          <a:p/>
          <a:p>
            <a:r>
              <a:t>VIRI</a:t>
            </a:r>
          </a:p>
          <a:p>
            <a:r>
              <a:t>SP 2001, §§ 333–337</a:t>
            </a:r>
          </a:p>
          <a:p>
            <a:r>
              <a:t>Skripta 3.0, 7.6 in 8.5</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Razvitje olajša preverjanje udeležencev</a:t>
            </a:r>
          </a:p>
          <a:p/>
          <a:p>
            <a:r>
              <a:t>Povezava s skripto: 8.5</a:t>
            </a:r>
          </a:p>
          <a:p/>
          <a:p>
            <a:r>
              <a:t>ZA IZVEDBO</a:t>
            </a:r>
          </a:p>
          <a:p>
            <a:r>
              <a:t>Obe različici preberimo v celoti. Daljša poved izrecno pokaže časovni odvisnik in pridevniški opis razvije v prilastkov odvisnik. Vprašamo, kdaj bi bila krajša imenska zveza učinkovitejša: na primer, če je potrditev že znana tema. Dolžina zato ni splošno merilo boljše formulacije. Pomembni so preglednost udeležencev, sporočilna navezava in ohranjeno razmerje dogodkov.</a:t>
            </a:r>
          </a:p>
          <a:p/>
          <a:p>
            <a:r>
              <a:t>VIRI</a:t>
            </a:r>
          </a:p>
          <a:p>
            <a:r>
              <a:t>Toporišič 2004: 491–492, 660–663</a:t>
            </a:r>
          </a:p>
          <a:p>
            <a:r>
              <a:t>Vidovič Muha 2013: 386–389</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Dva posega, ki spremenita podatke</a:t>
            </a:r>
          </a:p>
          <a:p/>
          <a:p>
            <a:r>
              <a:t>Povezava s skripto: 8.5</a:t>
            </a:r>
          </a:p>
          <a:p/>
          <a:p>
            <a:r>
              <a:t>ZA IZVEDBO</a:t>
            </a:r>
          </a:p>
          <a:p>
            <a:r>
              <a:t>Za obe spremembi zahtevamo konkreten opis izgube ali dodatka. V prvem primeru je uredničin zdaj prilastek prevoda: vršilka potrditve ni več imenovana na isti način. Tudi če prevod povezujemo z urednico, to še ne dokazuje, da ga je sama prevedla. Druga sprememba časovno zaporedje pretvori v izrecni vzrok. Ne zadovoljimo se z oceno, da je poved samo drugače povedana.</a:t>
            </a:r>
          </a:p>
          <a:p/>
          <a:p>
            <a:r>
              <a:t>VIRI</a:t>
            </a:r>
          </a:p>
          <a:p>
            <a:r>
              <a:t>Vidovič Muha 2013: 386–389</a:t>
            </a:r>
          </a:p>
          <a:p>
            <a:r>
              <a:t>Skripta 3.0, 8.5</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Kako presodimo kakovost odgovora?</a:t>
            </a:r>
          </a:p>
          <a:p/>
          <a:p>
            <a:r>
              <a:t>Povezava s skripto: 8.6</a:t>
            </a:r>
          </a:p>
          <a:p/>
          <a:p>
            <a:r>
              <a:t>ZA IZVEDBO</a:t>
            </a:r>
          </a:p>
          <a:p>
            <a:r>
              <a:t>Merila so namenjena samopreverjanju, ne uradnemu točkovniku. Pri popravljanju naj študenti označijo, kateri stavek odgovora poda rešitev, kateri razčlenitev in kateri omejitev. Splošno oznako, kot je vejica zaradi odvisnika, izboljšamo z odnosnico in obema mejama. Enako pri besedotvorju ni dovolj imenovati vrste; pokazati je treba pretvorbo.</a:t>
            </a:r>
          </a:p>
          <a:p/>
          <a:p>
            <a:r>
              <a:t>VIRI</a:t>
            </a:r>
          </a:p>
          <a:p>
            <a:r>
              <a:t>Skripta 3.0, 8.6</a:t>
            </a:r>
          </a:p>
          <a:p/>
          <a:p>
            <a:r>
              <a:t>RAZLAGA IZ SKRIPTE · 8.6 Kako ocenimo kakovost lastnega odgovora?</a:t>
            </a:r>
          </a:p>
          <a:p>
            <a:r>
              <a:t>Pri ponavljanju uporabite naslednja merila. Namenjena so samopreverjanju, ne določajo uradnega izpitnega točkovanja.</a:t>
            </a:r>
          </a:p>
          <a:p/>
          <a:p>
            <a:r>
              <a:t>| Merilo | Vprašanje za pregled |</a:t>
            </a:r>
          </a:p>
          <a:p>
            <a:r>
              <a:t>| --- | --- |</a:t>
            </a:r>
          </a:p>
          <a:p>
            <a:r>
              <a:t>| Natančnost diagnoze | Ali sem prepoznal prav tisto razliko, ki določa odgovor? |</a:t>
            </a:r>
          </a:p>
          <a:p>
            <a:r>
              <a:t>| Pravilnost analize | Ali znam pokazati jedro, odvisnost, osnovo, pomen ali funkcijo, na katero se sklicujem? |</a:t>
            </a:r>
          </a:p>
          <a:p>
            <a:r>
              <a:t>| Doslednost modela | Ali razlikujem npr. morfemsko členitev in skladenjsko podstavo; ali ob drugačnem modelu navedem merilo? |</a:t>
            </a:r>
          </a:p>
          <a:p>
            <a:r>
              <a:t>| Pomenska zvestoba | Ali predlagana pretvorba ohrani udeležence, časovna razmerja, doseg zanikanja in govorčev odnos? |</a:t>
            </a:r>
          </a:p>
          <a:p>
            <a:r>
              <a:t>| Doseg sklepa | Ali znam pokazati, kaj preizkus dokazuje in česa iz njega še ne morem sklepati? |</a:t>
            </a:r>
          </a:p>
          <a:p>
            <a:r>
              <a:t>| Utemeljenost rešitve | Ali je iz razlage razvidno, kako sem prišel do izbrane oblike? |</a:t>
            </a:r>
          </a:p>
          <a:p>
            <a:r>
              <a:t>| Upoštevanje okoliščin | Ali sem po potrebi opredelil register, pomen, nanosnika ali različico vira? |</a:t>
            </a:r>
          </a:p>
          <a:p>
            <a:r>
              <a:t>| Razumljivost | Ali uporabnik iz mojega odgovora ve, kaj naj napiše in zakaj? |</a:t>
            </a:r>
          </a:p>
          <a:p>
            <a:r>
              <a:t>| Zanesljivost virov | Ali navedeni vir obravnava isti pojav in ali njegov status ustreza moji trditvi? |</a:t>
            </a:r>
          </a:p>
          <a:p/>
          <a:p>
            <a:r>
              <a:t>Pogosta šibkost je utemeljitev, ki samo preimenuje problem: Vejica stoji zaradi odvisnika ali Ta pridevnik je vrstni. Tak odgovor izboljšamo z navedbo konkretne odnosnice, meje, pomena ali oblike. Druga šibkost je navajanje pravil, ki v danem zgledu ne odločajo. Če vprašanje zadeva razliko med lastnostjo in vrsto, ni treba naštevati vseh pridevniških sklanjatvenih vzorcev.</a:t>
            </a:r>
          </a:p>
          <a:p/>
          <a:p>
            <a:r>
              <a:t>Pri zahtevnejši nalogi je celovit odgovor sestavljen iz rešitve, prikazane analize, ustreznega vira in opredelitve meja sklepa. Odgovor, ki pravilno poimenuje metonimijo, vendar ne pokaže razmerja med izhodiščnim in izpeljanim pomenom, ostaja nepopoln. Enako velja za pravilni zapis, ki ga študent utemelji z napačno skladenjsko razčlenitvijo.</a:t>
            </a:r>
          </a:p>
          <a:p/>
          <a:p>
            <a:r>
              <a:t>Kako obravnavamo alternativno analizo? Pri izrecno določeni teoriji najprej pokažemo njeno rešitev. Primerjava z drugo teorijo jo lahko dopolni, če jasno poimenujemo razliko v merilu. Kadar model ni določen, je mogoče sprejeti različni dosledni analizi, ki res pojasnita iste podatke. Iz tega še ne sledi več pravopisnih rešitev: število analiz in število dopustnih zapisov sta različni vprašanji. Meja je razvidna zlasti pri povedkovniku, pridevniških pomenskih skupinah in razvrščanju tvorjenk.</a:t>
            </a:r>
          </a:p>
          <a:p/>
          <a:p>
            <a:r>
              <a:t>Pri takem odgovoru tudi navedba avtorjevega imena ni nadomestilo za dokaz. Zapišemo stran, prepoznavno merilo in svojo razčlenitev konkretnega zgleda. Če avtorjeva terminologija ali zgled ni enoznačen, to opredelimo v obsegu, ki je potreben za nalogo; manjkajočega podatka ne ustvarimo s samozavestnejšim izrazom.</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Alternativno analizo je treba utemeljiti</a:t>
            </a:r>
          </a:p>
          <a:p/>
          <a:p>
            <a:r>
              <a:t>Povezava s skripto: 8.6</a:t>
            </a:r>
          </a:p>
          <a:p/>
          <a:p>
            <a:r>
              <a:t>ZA IZVEDBO</a:t>
            </a:r>
          </a:p>
          <a:p>
            <a:r>
              <a:t>Vrnimo se k povedkovniku, snovnim pridevnikom in besedotvorni podstavi. Kadar je teorija določena, najprej pokažemo rešitev v njej. Primerjava z drugo teorijo je dodatna argumentacija, ne dovoljenje za poljubno mešanje terminov. Kadar model ni določen, lahko sprejmemo več doslednih analiz istih podatkov. Ločeno vprašanje je kodifikacija: dve teoretični razvrstitvi ne ustvarita samodejno dveh pravopisnih rešitev.</a:t>
            </a:r>
          </a:p>
          <a:p/>
          <a:p>
            <a:r>
              <a:t>VIRI</a:t>
            </a:r>
          </a:p>
          <a:p>
            <a:r>
              <a:t>Skripta 3.0, 8.6</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1 in 2</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nalogi 1 in 2</a:t>
            </a:r>
          </a:p>
          <a:p/>
          <a:p>
            <a:r>
              <a:t>NALOGE</a:t>
            </a:r>
          </a:p>
          <a:p/>
          <a:p>
            <a:r>
              <a:t>1. Pomen. Primerjajte povedi Komisija je sprejela sklep in Gostiteljica je sprejela obiskovalce. Pojasnite pomen glagola sprejeti v vsaki in povejte, zakaj skupna glagolska oblika ne zagotavlja istega pomena.</a:t>
            </a:r>
          </a:p>
          <a:p/>
          <a:p>
            <a:r>
              <a:t>2. Besedna zveza. Uporabnik v šali sprašuje, ali bi lahko zvezo sončna očala v navodilih zamenjal s sončna očesna zaščita. Napišite odgovor, ki razlikuje pomensko razumljivost in ustaljenost poimenovanja; ne razglasite vsake nove zveze za slovnično napako.</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1 in 2</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rešitvi 1 in 2</a:t>
            </a:r>
          </a:p>
          <a:p/>
          <a:p>
            <a:r>
              <a:t>REŠITVE Z RAZLAGO</a:t>
            </a:r>
          </a:p>
          <a:p/>
          <a:p>
            <a:r>
              <a:t>1. V prvem primeru gre za potrditev oziroma sprejetje odločitve v postopku odločanja. V drugem za sprejem ljudi, ki so prišli. Konkretni pomen prepoznamo iz povezave glagola s predmetom in iz situacije. Enak zapis glagola zato ne zadostuje za sklep o pomenski enakosti obeh rab.</a:t>
            </a:r>
          </a:p>
          <a:p/>
          <a:p>
            <a:r>
              <a:t>2. Zveza sončna očala je ustaljeno poimenovanje prepoznavnega izdelka. Predlagana zamenjava je lahko razložljiva, vendar je pomensko širša in manj nedvoumna: zaščita lahko zajema tudi druge pripomočke. Za navodila je zato smiselno obdržati ustaljeno poimenovanje. Presoja temelji na natančnosti in ustaljenosti, ne na domnevi, da je vsaka neobičajna zveza neslovnična.</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3 in 4</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nalogi 3 in 4</a:t>
            </a:r>
          </a:p>
          <a:p/>
          <a:p>
            <a:r>
              <a:t>NALOGE</a:t>
            </a:r>
          </a:p>
          <a:p/>
          <a:p>
            <a:r>
              <a:t>3. Tvorjenje. Iz zveze literarna zgodovina izpeljite ustrezen vrstni pridevnik in opišite razmerje med sestavinama podstavne zveze. Pri analizi ločite morfemsko členitev od običajnega zapisa tvorjenke.</a:t>
            </a:r>
          </a:p>
          <a:p/>
          <a:p>
            <a:r>
              <a:t>4. Sklon. Uredite V novemu poročilu so zbrane pripombe k novem predlogu. Pojasnite, zakaj pridevniški končnici v obeh zvezah nista enaki.</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3 in 4</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rešitvi 3 in 4</a:t>
            </a:r>
          </a:p>
          <a:p/>
          <a:p>
            <a:r>
              <a:t>REŠITVE Z RAZLAGO</a:t>
            </a:r>
          </a:p>
          <a:p/>
          <a:p>
            <a:r>
              <a:t>3. Ustrezen pridevnik je literarnozgodovinski. V podstavni zvezi literarna zgodovina pridevnik določa samostalnik; razmerje je podredno. Oblikujemo pomen povezanosti z literarno zgodovino. Tvorjenko v običajnem besedilu zapišemo skupaj. Vezaji, s katerimi pri razlagi ločujemo njene sestavine, so znak analize.</a:t>
            </a:r>
          </a:p>
          <a:p/>
          <a:p>
            <a:r>
              <a:t>4. V novem poročilu so zbrane pripombe k novemu predlogu. Zveza v novem poročilu je mestniška: pridevnik in samostalnik se ujemata v mestniku ednine srednjega spola. Predlog k zahteva dajalnik; novemu predlogu je dajalnik ednine moškega spola. Odločilna je zgradba posamezne zveze.</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5 in 6</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nalogi 5 in 6</a:t>
            </a:r>
          </a:p>
          <a:p/>
          <a:p>
            <a:r>
              <a:t>NALOGE</a:t>
            </a:r>
          </a:p>
          <a:p/>
          <a:p>
            <a:r>
              <a:t>5. Imena in pridevniki. Tvorite svojilne pridevnike iz imen Peter, Aleš in Maja ter vrstni pridevnik iz imena Ljubljana. Pojasnite izbiro obrazil in začetnic.</a:t>
            </a:r>
          </a:p>
          <a:p/>
          <a:p>
            <a:r>
              <a:t>6. Poved. Uredite vejice: Kdor je nalogo oddal pravočasno lahko prebere komentar ki ga je poslala mentorica in pripravi dopolnitev. Razložite vejico pred in, če jo uporabite.</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5 in 6</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rešitvi 5 in 6</a:t>
            </a:r>
          </a:p>
          <a:p/>
          <a:p>
            <a:r>
              <a:t>REŠITVE Z RAZLAGO</a:t>
            </a:r>
          </a:p>
          <a:p/>
          <a:p>
            <a:r>
              <a:t>5. Petrov, Alešev, Majin; ljubljanski. Pri svojilnih pridevnikih uporabimo obrazila -ov, -ev oziroma -in; pri Alešev upoštevamo preglas ob izglasnem š. Iz osebnih lastnih imen tvorjeni individualni svojilni pridevniki imajo v teh zgledih veliko začetnico. Vrstni pridevnik ljubljanski pišemo z malo. Zgledi so namenoma preprosti; postopke za tuja in večbesedna imena ponovite v petem poglavju.</a:t>
            </a:r>
          </a:p>
          <a:p/>
          <a:p>
            <a:r>
              <a:t>6. Kdor je nalogo oddal pravočasno, lahko prebere komentar, ki ga je poslala mentorica, in pripravi dopolnitev. Prva vejica loči začetni osebkov odvisnik od nadrednega stavka. Drugi dve zamejujeta prilastkov odvisnik, ki določa komentar. Vejica pred in zapira ta odvisnik. Po njegovi odstranitvi dobimo Kdor je nalogo oddal pravočasno, lahko prebere komentar in pripravi dopolnitev.</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Vaja 7</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naloga 7</a:t>
            </a:r>
          </a:p>
          <a:p/>
          <a:p>
            <a:r>
              <a:t>NALOGE</a:t>
            </a:r>
          </a:p>
          <a:p/>
          <a:p>
            <a:r>
              <a:t>7. Primerjanje. Primerjajte Piše kot urednica in Piše kot piše urednica. Uredite ločila ter razložite skladenjsko razliko in možen pomen prve povedi.</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7</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rešitev 7</a:t>
            </a:r>
          </a:p>
          <a:p/>
          <a:p>
            <a:r>
              <a:t>REŠITVE Z RAZLAGO</a:t>
            </a:r>
          </a:p>
          <a:p/>
          <a:p>
            <a:r>
              <a:t>7. Piše kot urednica. / Piše, kot piše urednica. V prvi povedi za kot ni razvite stavčne zgradbe. Zveza lahko izraža vlogo ali primerjavo glede na sobesedilo. V drugi imamo primerjalni odvisnik z izraženim povedkom, zato ga ločimo z vejico. Zgolj pojav besede kot ne določa ločila.</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Vaja 8</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naloga 8</a:t>
            </a:r>
          </a:p>
          <a:p/>
          <a:p>
            <a:r>
              <a:t>NALOGE</a:t>
            </a:r>
          </a:p>
          <a:p/>
          <a:p>
            <a:r>
              <a:t>8. Navedek. Uredite zapis: Urednica je povedala »Članek bomo objavili jutri«. Nato isto vsebino izrazite v odvisnem govoru in opišite razliko v zgradbi.</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8</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rešitev 8</a:t>
            </a:r>
          </a:p>
          <a:p/>
          <a:p>
            <a:r>
              <a:t>REŠITVE Z RAZLAGO</a:t>
            </a:r>
          </a:p>
          <a:p/>
          <a:p>
            <a:r>
              <a:t>8. Urednica je povedala: »Članek bomo objavili jutri.« Spremni stavek napoveduje dobesedni navedek, zato mu sledi dvopičje. Končna pika je del citirane povedi in stoji pred zaklepnim narekovajem. Odvisni govor: Urednica je povedala, da bomo članek objavili jutri. V drugem zapisu vsebino vključimo kot odvisnik; če se spremeni čas ali položaj poročanja, po potrebi prilagodimo tudi časovne in osebne izraze.</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Vaji 9 in 10</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nalogi 9 in 10</a:t>
            </a:r>
          </a:p>
          <a:p/>
          <a:p>
            <a:r>
              <a:t>NALOGE</a:t>
            </a:r>
          </a:p>
          <a:p/>
          <a:p>
            <a:r>
              <a:t>9. Poseg v besedilo. V povedi Prosimo za odgovor do petka presodite, ali je potrebna notranja vejica. Ob predpostavki običajnega vljudnega poziva dodajte končno ločilo in utemeljite rešitev.</a:t>
            </a:r>
          </a:p>
          <a:p/>
          <a:p>
            <a:r>
              <a:t>10. Delo z virom. Pri neki obliki najdete starejše pravopisno pravilo, novejši svetovalni odgovor in predlagano novo pravilo, ki se med seboj deloma razlikujejo. Opišite, katere podatke bi navedli v strokovnem odgovoru. Ne izmišljajte si vsebine nespecificiranih virov.</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Rešitvi 9 in 10</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rešitvi 9 in 10</a:t>
            </a:r>
          </a:p>
          <a:p/>
          <a:p>
            <a:r>
              <a:t>REŠITVE Z RAZLAGO</a:t>
            </a:r>
          </a:p>
          <a:p/>
          <a:p>
            <a:r>
              <a:t>9. Prosimo za odgovor do petka. Notranje vejice ne potrebujemo: glagol je povezan s predložno zvezo za odgovor, zveza do petka pa izraža rok. Pika ustreza običajnemu nevtralnemu zapisu poziva. Vejice ne dodajamo samo zato, ker bi po prosimo pri branju lahko naredili premor.</a:t>
            </a:r>
          </a:p>
          <a:p/>
          <a:p>
            <a:r>
              <a:t>10. Navedemo naslov in različico vsakega vira, datum relevantnega odgovora ali objave, področje neskladja ter razlog za svojo priporočeno rešitev. Jasno ločimo sprejeto kodifikacijo, strokovno razlago in predlog prenove. Preverimo, ali vsi viri res obravnavajo isti pomen oziroma isto skupino oblik. Če razlika ostaja, jo opredelimo; starejšega pravila ne predstavimo kot novega in predloga ne kot že sprejetega.</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Vaja 11</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naloga 11</a:t>
            </a:r>
          </a:p>
          <a:p/>
          <a:p>
            <a:r>
              <a:t>NALOGE</a:t>
            </a:r>
          </a:p>
          <a:p/>
          <a:p>
            <a:r>
              <a:t>11. Primerjava virov. Stara rešitev navaja aixenprovenški, eP 2025 pa aix-en-provenški. Napišite kratek odgovor uredniku, ki vpraša, ali je bila prva oblika zato že v starem izpitu napačna. V odgovoru navedite normativni okvir, datum oziroma vir in razliko med oceno stare rešitve ter sedanjo uredniško izbiro.</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11</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rešitev 11</a:t>
            </a:r>
          </a:p>
          <a:p/>
          <a:p>
            <a:r>
              <a:t>REŠITVE Z RAZLAGO</a:t>
            </a:r>
          </a:p>
          <a:p/>
          <a:p>
            <a:r>
              <a:t>11. Iz poznejšega predloga ne sledi, da je bila rešitev, utemeljena v SP 2001, napačna že v svojem okviru. Aixenprovenški navedemo kot obliko starega slovarja, aix-en-provenški pa kot predlog eP 2025, str. 14. Pri sedanjem besedilu povemo, kateremu okviru sledimo, in ga uporabljamo dosledno. Razlika je v ohranjanju vezajev iz večbesednega imena; ni zgolj tiskarska različica, ki bi jo brez pojasnila pripisali istemu viru.</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12</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naloga 12</a:t>
            </a:r>
          </a:p>
          <a:p/>
          <a:p>
            <a:r>
              <a:t>NALOGE</a:t>
            </a:r>
          </a:p>
          <a:p/>
          <a:p>
            <a:r>
              <a:t>12. Zahtevnejša naloga: presoja pretvorbe. Izhodišče se glasi Po uredničini potrditvi prevoda je avtor, utrujen od pogajanj, poslal datoteko založbi. Napišite analizo z najmanj tremi razločenimi predikacijskimi vsebinami. Nato presodite predlog Ker je urednica prevedla besedilo, je utrujeni avtor poslal datoteko založbi. Kateri podatki so dodani, izgubljeni ali drugače organizirani? Uporabite pojme vršilec, predmet, nominalizacija in razmerje med dogodkoma.</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12</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rešitev 12</a:t>
            </a:r>
          </a:p>
          <a:p/>
          <a:p>
            <a:r>
              <a:t>REŠITVE Z RAZLAGO</a:t>
            </a:r>
          </a:p>
          <a:p/>
          <a:p>
            <a:r>
              <a:t>12. V izhodišču urednica potrdi prevod, avtor pošlje datoteko založbi in je ob tem utrujen od pogajanj. Prva vsebina je poimenovana s samostalnikom, druga ima osebni povedek, tretja je dodatno prisojeno stanje. Predlog zamenja potrditi prevod s prevesti besedilo, zato urednici pripiše drugo dejanje. Časovno zaporedje spremeni v izrecno vzročno razmerje. Izpusti tudi podatek, da je utrujenost povezana s pogajanji. Zveza utrujeni avtor stanje vključi v samostalniško zvezo kot levi prilastek, medtem ko ga izhodišče dodaja odmaknjeno. Končni pošiljatelj, poslano in prejemnik ostanejo enaki, kar pa ne zadošča za pomensko enakovrednost celotne povedi. (Toporišič 2004: 491–492; Vidovič Muha 2013: 386–389.)</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13</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naloga 13</a:t>
            </a:r>
          </a:p>
          <a:p/>
          <a:p>
            <a:r>
              <a:t>NALOGE</a:t>
            </a:r>
          </a:p>
          <a:p/>
          <a:p>
            <a:r>
              <a:t>13. Zahtevnejša naloga: razlaga za dva naslovnika. Za zvezo Anino prevajanje romana napišite (a) analitični odgovor za seminar z navedbo teoretičnega vira in (b) največ pet povedi dolg odgovor uredniku, ki sprašuje, ali lahko Anino pomeni samo lastništvo. V obeh ohranite isto pomensko analizo. Ni treba prepisati razvrstitve vseh svojilnih pridevnikov.</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13</a:t>
            </a:r>
          </a:p>
          <a:p/>
          <a:p>
            <a:r>
              <a:t>Povezava s skripto: 8.8</a:t>
            </a:r>
          </a:p>
          <a:p/>
          <a:p>
            <a:r>
              <a:t>ZA IZVEDBO</a:t>
            </a:r>
          </a:p>
          <a:p>
            <a:r>
              <a:t>Primerjajte razlago s postopkom študentov. Naj označijo, kaj so dokazali in katera predpostavka je odločilna. Alternative sprejmite v mejah, navedenih v skripti. Daljša razlaga je razdeljena na dva dela; to je del 1.</a:t>
            </a:r>
          </a:p>
          <a:p/>
          <a:p>
            <a:r>
              <a:t>VIRI</a:t>
            </a:r>
          </a:p>
          <a:p>
            <a:r>
              <a:t>Skripta 3.0, 8.8; rešitev 13</a:t>
            </a:r>
          </a:p>
          <a:p/>
          <a:p>
            <a:r>
              <a:t>REŠITVE Z RAZLAGO</a:t>
            </a:r>
          </a:p>
          <a:p/>
          <a:p>
            <a:r>
              <a:t>13. (a) Samostalnik prevajanje poimenuje dejanje. Zvezo v podanem branju razvijemo v Ana prevaja roman: Anino izraža vršilko, romana pa predmet prevajanja v rodilniški obliki ob samostalniku. Ujemanje pridevnika z jedrom in razmerje do glagolske predloge analiziramo ločeno. Besedotvorni pomen dejanja je povezan s popredmetenjem povedja (Vidovič Muha 2011: 83–85); razlaga pridevnika ob dogodkovnem jedru pa s pretvorbenim razlikovanjem svojilnih razmerij (Vidovič Muha 2013: 386–389). (b) Možen uredniški odgovor: »V zvezi Anino prevajanje romana pridevnik pove, da roman prevaja Ana. Ne govori o tem, da bi bilo prevajanje njena last. Pridevnik ohrani veliko začetnico kot individualni svojilni pridevnik iz osebnega imena. Če želite pomen razviti v stavek, lahko napišete Ana prevaja roman.« Razlika med odgovoroma je v obsegu pojasnila, ne v tem, kdo opravlja dejanje.</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13 (nadaljevanje)</a:t>
            </a:r>
          </a:p>
          <a:p/>
          <a:p>
            <a:r>
              <a:t>Povezava s skripto: 8.8</a:t>
            </a:r>
          </a:p>
          <a:p/>
          <a:p>
            <a:r>
              <a:t>ZA IZVEDBO</a:t>
            </a:r>
          </a:p>
          <a:p>
            <a:r>
              <a:t>Primerjajte razlago s postopkom študentov. Naj označijo, kaj so dokazali in katera predpostavka je odločilna. Alternative sprejmite v mejah, navedenih v skripti. Daljša razlaga je razdeljena na dva dela; to je del 2.</a:t>
            </a:r>
          </a:p>
          <a:p/>
          <a:p>
            <a:r>
              <a:t>VIRI</a:t>
            </a:r>
          </a:p>
          <a:p>
            <a:r>
              <a:t>Skripta 3.0, 8.8; rešitev 13</a:t>
            </a:r>
          </a:p>
          <a:p/>
          <a:p>
            <a:r>
              <a:t>REŠITVE Z RAZLAGO</a:t>
            </a:r>
          </a:p>
          <a:p/>
          <a:p>
            <a:r>
              <a:t>13. (a) Samostalnik prevajanje poimenuje dejanje. Zvezo v podanem branju razvijemo v Ana prevaja roman: Anino izraža vršilko, romana pa predmet prevajanja v rodilniški obliki ob samostalniku. Ujemanje pridevnika z jedrom in razmerje do glagolske predloge analiziramo ločeno. Besedotvorni pomen dejanja je povezan s popredmetenjem povedja (Vidovič Muha 2011: 83–85); razlaga pridevnika ob dogodkovnem jedru pa s pretvorbenim razlikovanjem svojilnih razmerij (Vidovič Muha 2013: 386–389). (b) Možen uredniški odgovor: »V zvezi Anino prevajanje romana pridevnik pove, da roman prevaja Ana. Ne govori o tem, da bi bilo prevajanje njena last. Pridevnik ohrani veliko začetnico kot individualni svojilni pridevnik iz osebnega imena. Če želite pomen razviti v stavek, lahko napišete Ana prevaja roman.« Razlika med odgovoroma je v obsegu pojasnila, ne v tem, kdo opravlja dejanje.</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14</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naloga 14</a:t>
            </a:r>
          </a:p>
          <a:p/>
          <a:p>
            <a:r>
              <a:t>NALOGE</a:t>
            </a:r>
          </a:p>
          <a:p/>
          <a:p>
            <a:r>
              <a:t>14. Zahtevnejša naloga: ocena napačnega dokaza. Študent zapiše: »Minigolf je zloženka, zato SP 2001 ne more dopuščati mini golf. Utrujen v Avtor se je vrnil utrujen je pridevnik, zato ne izraža predikacije. Anin prevod vsebuje svojilni pridevnik, zato je Ana gotovo lastnica.« Za vsak sklep napišite: uporabljeno merilo, preskok med ravnema, popravljeno trditev in vir oziroma poglavje, kjer bi jo preverili.</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14</a:t>
            </a:r>
          </a:p>
          <a:p/>
          <a:p>
            <a:r>
              <a:t>Povezava s skripto: 8.8</a:t>
            </a:r>
          </a:p>
          <a:p/>
          <a:p>
            <a:r>
              <a:t>ZA IZVEDBO</a:t>
            </a:r>
          </a:p>
          <a:p>
            <a:r>
              <a:t>Primerjajte razlago s postopkom študentov. Naj označijo, kaj so dokazali in katera predpostavka je odločilna. Alternative sprejmite v mejah, navedenih v skripti.</a:t>
            </a:r>
          </a:p>
          <a:p/>
          <a:p>
            <a:r>
              <a:t>VIRI</a:t>
            </a:r>
          </a:p>
          <a:p>
            <a:r>
              <a:t>Skripta 3.0, 8.8; rešitev 14</a:t>
            </a:r>
          </a:p>
          <a:p/>
          <a:p>
            <a:r>
              <a:t>REŠITVE Z RAZLAGO</a:t>
            </a:r>
          </a:p>
          <a:p/>
          <a:p>
            <a:r>
              <a:t>14. Prvi sklep zamenja besedotvorno zgradbo s konkretnim pravilom o zapisu; dopustni obliki preverimo v SP 2001, § 487 in 499, ne izpeljemo ju samo iz oznake zloženka. Drugi sklep zamenja izvorno besedno vrsto s predikacijsko vlogo: utrujen ob vrnitvi dodatno pripiše stanje osebku. Tretji enači svojilno obliko s samo eno vrsto pomenskega razmerja; ob rezultatu dejanja je možna npr. razlaga avtorstva. Popravljeni odgovori morajo po vrsti ločiti zgradbo in zapis, besedno vrsto in funkcijo ter obliko in pomen zveze. Primerjajte 3., 4., 5. in 7. poglavje ter tam navedene vire.</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Zahtevnejša vaja 15</a:t>
            </a:r>
          </a:p>
          <a:p/>
          <a:p>
            <a:r>
              <a:t>Povezava s skripto: 8.7</a:t>
            </a:r>
          </a:p>
          <a:p/>
          <a:p>
            <a:r>
              <a:t>ZA IZVEDBO</a:t>
            </a:r>
          </a:p>
          <a:p>
            <a:r>
              <a:t>Najprej omogočite samostojen poskus. Zahtevajte rešitev in odločilni razlog. Pri več mogočih analizah naj študent izrecno navede predpostavko. Razlaga je na naslednji prosojnici.</a:t>
            </a:r>
          </a:p>
          <a:p/>
          <a:p>
            <a:r>
              <a:t>VIRI</a:t>
            </a:r>
          </a:p>
          <a:p>
            <a:r>
              <a:t>Skripta 3.0, 8.7; naloga 15</a:t>
            </a:r>
          </a:p>
          <a:p/>
          <a:p>
            <a:r>
              <a:t>NALOGE</a:t>
            </a:r>
          </a:p>
          <a:p/>
          <a:p>
            <a:r>
              <a:t>15. Zahtevnejša naloga: sestavite raziskovalno vprašanje. Izberite poimenovanje ali skladenjsko zgradbo iz katere koli vaje. Oblikujte dve mogoči analizi, navedite podatek, ki ju razločuje, in predvidite, kateri rezultat preverjanja bi spremenil vašo začetno odločitev. Nato ločite (a) teoretični vir za merilo, (b) vir za konkretni pomen ali rabo in (c) normativni vir, če je vprašanje pravopisno. Naloga zahteva načrt preverjanja; izmišljenih korpusnih zadetkov ali slovarskih podatkov ne navajajte.</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15</a:t>
            </a:r>
          </a:p>
          <a:p/>
          <a:p>
            <a:r>
              <a:t>Povezava s skripto: 8.8</a:t>
            </a:r>
          </a:p>
          <a:p/>
          <a:p>
            <a:r>
              <a:t>ZA IZVEDBO</a:t>
            </a:r>
          </a:p>
          <a:p>
            <a:r>
              <a:t>Primerjajte razlago s postopkom študentov. Naj označijo, kaj so dokazali in katera predpostavka je odločilna. Alternative sprejmite v mejah, navedenih v skripti. Daljša razlaga je razdeljena na dva dela; to je del 1.</a:t>
            </a:r>
          </a:p>
          <a:p/>
          <a:p>
            <a:r>
              <a:t>VIRI</a:t>
            </a:r>
          </a:p>
          <a:p>
            <a:r>
              <a:t>Skripta 3.0, 8.8; rešitev 15</a:t>
            </a:r>
          </a:p>
          <a:p/>
          <a:p>
            <a:r>
              <a:t>REŠITVE Z RAZLAGO</a:t>
            </a:r>
          </a:p>
          <a:p/>
          <a:p>
            <a:r>
              <a:t>15. Možen načrt: primerjamo Urednik je pregledal članek, in da je vsebina primerna, je povedal avtorici. Prva hipoteza je, da in povezuje enakovredna vsebinska odvisnika; druga, da povezuje povedkovni zgradbi, pri čemer je vsebinski odvisnik v drugem delu postavljen naprej. Razločuje ju skladenjska nadrejenost glagolov: pregledati je tu povezano s samostalniškim predmetom, povedati pa s stavčnim. Pregled celotne povedi potrdi drugo analizo; stik veznikov presodimo po SP 2001, § 328, in po postopkih iz 6.6 in 7.4. Zapis lahko za bolj običajen vrstni red uredimo v Urednik je pregledal članek in avtorici povedal, da je vsebina primerna. Če bi izhodišče namesto pregledal članek imelo povedal, da je članek pregledan, bi morali preveriti prvo hipotezo. Teoretično merilo iščemo v skladnji predmetnih odvisnikov in priredja, konkretno glagolsko vezljivost v razlagalnem oziroma vezljivostnem viru, ločila pa v pravopisnih pravilih. To je zgled načrta na podlagi dane povedi; ne predstavlja poročila o opravljenem korpusnem iskanju.</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Rešitev 15 (nadaljevanje)</a:t>
            </a:r>
          </a:p>
          <a:p/>
          <a:p>
            <a:r>
              <a:t>Povezava s skripto: 8.8</a:t>
            </a:r>
          </a:p>
          <a:p/>
          <a:p>
            <a:r>
              <a:t>ZA IZVEDBO</a:t>
            </a:r>
          </a:p>
          <a:p>
            <a:r>
              <a:t>Primerjajte razlago s postopkom študentov. Naj označijo, kaj so dokazali in katera predpostavka je odločilna. Alternative sprejmite v mejah, navedenih v skripti. Daljša razlaga je razdeljena na dva dela; to je del 2.</a:t>
            </a:r>
          </a:p>
          <a:p/>
          <a:p>
            <a:r>
              <a:t>VIRI</a:t>
            </a:r>
          </a:p>
          <a:p>
            <a:r>
              <a:t>Skripta 3.0, 8.8; rešitev 15</a:t>
            </a:r>
          </a:p>
          <a:p/>
          <a:p>
            <a:r>
              <a:t>REŠITVE Z RAZLAGO</a:t>
            </a:r>
          </a:p>
          <a:p/>
          <a:p>
            <a:r>
              <a:t>15. Možen načrt: primerjamo Urednik je pregledal članek, in da je vsebina primerna, je povedal avtorici. Prva hipoteza je, da in povezuje enakovredna vsebinska odvisnika; druga, da povezuje povedkovni zgradbi, pri čemer je vsebinski odvisnik v drugem delu postavljen naprej. Razločuje ju skladenjska nadrejenost glagolov: pregledati je tu povezano s samostalniškim predmetom, povedati pa s stavčnim. Pregled celotne povedi potrdi drugo analizo; stik veznikov presodimo po SP 2001, § 328, in po postopkih iz 6.6 in 7.4. Zapis lahko za bolj običajen vrstni red uredimo v Urednik je pregledal članek in avtorici povedal, da je vsebina primerna. Če bi izhodišče namesto pregledal članek imelo povedal, da je članek pregledan, bi morali preveriti prvo hipotezo. Teoretično merilo iščemo v skladnji predmetnih odvisnikov in priredja, konkretno glagolsko vezljivost v razlagalnem oziroma vezljivostnem viru, ločila pa v pravopisnih pravilih. To je zgled načrta na podlagi dane povedi; ne predstavlja poročila o opravljenem korpusnem iskanju.</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Povzetek</a:t>
            </a:r>
          </a:p>
          <a:p/>
          <a:p>
            <a:r>
              <a:t>ZA IZVEDBO</a:t>
            </a:r>
          </a:p>
          <a:p>
            <a:r>
              <a:t>Pred prehodom na novo enoto naj študenti za vsako ugotovitev navedejo svoj primer. Nato preverimo, kaj bi moralo biti drugače, da bi se spremenila rešitev.</a:t>
            </a:r>
          </a:p>
          <a:p/>
          <a:p>
            <a:r>
              <a:t>VIRI</a:t>
            </a:r>
          </a:p>
          <a:p>
            <a:r>
              <a:t>Skripta3.0, poglavje8</a:t>
            </a:r>
          </a:p>
          <a:p/>
          <a:p>
            <a:r>
              <a:t>RAZLAGA IZ SKRIPTE · 8.9 Samostojna priprava</a:t>
            </a:r>
          </a:p>
          <a:p>
            <a:r>
              <a:t>Za ponavljanje izberite po en primer iz vsakega poglavja. Rešite ga brez vpogleda v razlago, nato svoj odgovor primerjajte z njo. Na kratko zapišite, kateri korak je manjkal: določitev pomena, skladenjske funkcije, izgovora, obsega sestavine ali statusa vira.</a:t>
            </a:r>
          </a:p>
          <a:p/>
          <a:p>
            <a:r>
              <a:t>Naslednji primer naj bo nekoliko drugačen. Spremenite odnosnico, obseg odvisnika, spol imena, izgovor ali sobesedilo in ponovno presodite rešitev. Tako preverite, ali razumete postopek in pogoje njegove uporabe. Pri daljšem besedilu poleg popravkov označite tudi mesta, ki ste jih zavestno ohranili, ter svojo odločitev utemeljite.</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Pripomočki za ponavljanje</a:t>
            </a:r>
          </a:p>
          <a:p/>
          <a:p>
            <a:r>
              <a:t>ZA IZVEDBO</a:t>
            </a:r>
          </a:p>
          <a:p>
            <a:r>
              <a:t>Dodatki so namenjeni ponavljanju in sprotnemu vračanju k pojmom. Lahko jih uporabite ob posamezni enoti ali na koncu. Ob kratki definiciji vedno zahtevajte konkreten zgled.</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Besedna oblika | Konkretna oblikovna različica leksema, npr. knjigi. | 1, 4</a:t>
            </a:r>
          </a:p>
          <a:p>
            <a:r>
              <a:t>Leksem | Enota besedišča, povezana z izrazno in pomensko identiteto; lahko je tudi večbesedna. | 1, 2</a:t>
            </a:r>
          </a:p>
          <a:p>
            <a:r>
              <a:t>Pomen in pomenje | Pomen (semem) je posamezni pomen; pomenje (semantem) je v modelu Ade Vidovič Muha celota povezanih pomenov leksema. | 1, 2</a:t>
            </a:r>
          </a:p>
          <a:p>
            <a:r>
              <a:t>Sem | Najmanjša pomenska sestavina; semem je posamezni pomen, semantem pa pomenje leksema. | 2</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Semaziologija in onomaziologija | Prva izhaja iz izraza in sprašuje po pomenu; druga iz poimenovalne potrebe oziroma predstave in sprašuje po izrazu. | 2</a:t>
            </a:r>
          </a:p>
          <a:p>
            <a:r>
              <a:t>Morfem | Najmanjša enota s slovničnim ali leksikalnim pomenom oziroma funkcijo. | 3</a:t>
            </a:r>
          </a:p>
          <a:p>
            <a:r>
              <a:t>Morf in alomorf | Konkretna izrazna uresničitev morfema oziroma njegova izrazna različica. | 3</a:t>
            </a:r>
          </a:p>
          <a:p>
            <a:r>
              <a:t>Osnova in končnica | Pri pregibanju razločujemo osnovo in del, ki izraža ustrezne slovnične kategorije. | 1, 3, 4</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Besedotvorna podstava (BPo) | V modelu Vidovič Muha del tvorjenke iz sestavin SPo, ki se ne pretvorijo v obrazilo. Toporišič isti termin v algoritmu uporablja za izhodiščno zvezo; pri branju določimo model. | 3</a:t>
            </a:r>
          </a:p>
          <a:p>
            <a:r>
              <a:t>Skladenjska podstava (SPo) | V skladenjskem besedotvorju strukturno določena zveza, katere sestavine in razmerja se pretvorijo v tvorjenko. Poljubna smiselna razlaga še ni ustrezna SPo. | 3</a:t>
            </a:r>
          </a:p>
          <a:p>
            <a:r>
              <a:t>Obrazilo in obrazilni morfem | Obrazilo je celota obrazilnih morfemov obravnavane tvorbene stopnje. V modelu Ade Vidovič Muha priponsko obrazilo vključuje tudi končnico; natančnejša morfemska členitev jo loči od pripone. | 3, 5</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Izpeljava | Tvorjenje s priponskim obrazilom. V modelu Vidovič Muha ločimo navadno in modifikacijsko izpeljavo glede na sestavino SPo, ki se pretvori v obrazilo. | 3, 5</a:t>
            </a:r>
          </a:p>
          <a:p>
            <a:r>
              <a:t>Zlaganje | Tvorjenje zloženk; njihova podstava vključuje več korenskih sestavin. Pri pretvorbeni analizi določimo tudi vrsto medponskega oziroma medponsko-priponskega obrazila in njegovo skladenjsko podstavo. | 3</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Pregibanje | Spreminjanje slovničnih oblik istega leksema. | 3, 4</a:t>
            </a:r>
          </a:p>
          <a:p>
            <a:r>
              <a:t>Navadna in modifikacijska izpeljava | Pri prvi se v priponsko obrazilo pretvarja jedro SPo s slovničnim razmerjem, pri drugi odvisni del, ki spreminja pomen ohranjenega jedra. | 3</a:t>
            </a:r>
          </a:p>
          <a:p>
            <a:r>
              <a:t>Tvorjenka iz predložne zveze | V modelu Vidovič Muha tip s predponsko-priponskim obrazilom, npr. brezdomec. Pri analizi zajamemo oba obrazilna dela. | 3</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Medponsko-priponska in medponskoobrazilna zloženka | Prva ima na obravnavani stopnji medpono in pripono, druga samo medponsko obrazilo; primerjamo vrvohodec in zobozdravnik. | 3</a:t>
            </a:r>
          </a:p>
          <a:p>
            <a:r>
              <a:t>Besedotvorni pomen | Pomen, določen s tvorbenim razmerjem; pri nekaterih tipih izhaja iz propozicijske sestavine. Ne izčrpa nujno konkretnega slovarskega pomena. | 3</a:t>
            </a:r>
          </a:p>
          <a:p>
            <a:r>
              <a:t>Tvorbena stopnja | Korak v nizu motivirajočih in motiviranih besed; obrazilo prejšnje stopnje postane del podstave naslednje. | 3</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Sinhrona motiviranost | Razložljivost tvorbenega razmerja v obravnavanem jezikovnem sistemu, ki je ne enačimo avtomatično z zgodovinskim izvorom besede. | 3</a:t>
            </a:r>
          </a:p>
          <a:p>
            <a:r>
              <a:t>Denotativni in konotativni pomen | Denotativna sestavina omogoča prepoznavanje poimenovane predmetnosti, konotativna pa dodaja vrednotenje oziroma zaznamovanost. | 2</a:t>
            </a:r>
          </a:p>
          <a:p>
            <a:r>
              <a:t>Leksikalizirani pragmatični pomen | Ustaljeno govorno dejanje z značilnimi okoliščinami rabe; ločimo ga od sprotnega sklepanja o namenu poljubne izjave. | 2</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Kategorialni pomen in KPS | Kategorialne pomenske sestavine so lastnosti, ki določajo temeljno skladenjsko vedenje leksema; niso zgolj seznam lastnosti poimenovanega predmeta ali vseh pregibnih podatkov konkretne oblike. | 2, 4</a:t>
            </a:r>
          </a:p>
          <a:p>
            <a:r>
              <a:t>Denotat | Poimenovana predmetnost oziroma razred, na katerega je vezan denotativni pomen; razločujemo ga od konkretnega nanosnika v besedilu. | 2, 5</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Uvrščevalna pomenska sestavina (UPS) | V strukturni analizi denotativnega pomena nadrejena sestavina, ki pomen umesti v ustrezni razred. | 2, 3</a:t>
            </a:r>
          </a:p>
          <a:p>
            <a:r>
              <a:t>Razločevalne pomenske sestavine (RPS) | Sestavine, ki pomen znotraj obsega UPS razlikujejo od drugih pomenov; niso vsi znani podatki o posameznem nanosniku. | 2, 3</a:t>
            </a:r>
          </a:p>
          <a:p>
            <a:r>
              <a:t>Endogeni in eksogeni leksemi | V modelu Ade Vidovič Muha imajo prvi notranjo hierarhijo UPS in RPS, drugi pa pomensko razvijajo zunanjo jedrno besedo; eksogenost zato ni isto kot pomenska poljubnost. | 2</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Večpomenskost | En leksem ima več povezanih pomenov. | 2</a:t>
            </a:r>
          </a:p>
          <a:p>
            <a:r>
              <a:t>Pomenska vsebovanost | Razmerje med pomeni istega leksema, pri katerem ožji pomen ohrani izhodiščne lastnosti in jih dopolni; ločimo ga od pomenskega prenosa ter od nadpomenskosti med leksemi. | 2</a:t>
            </a:r>
          </a:p>
          <a:p>
            <a:r>
              <a:t>Homonimija | Različni leksemi imajo enako izrazno podobo. | 2</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Metafora | Pomenski prenos, pri katerem je pomembna podobnost oziroma primerljivost. | 2</a:t>
            </a:r>
          </a:p>
          <a:p>
            <a:r>
              <a:t>Metonimija | Pomenski prenos na podlagi povezanosti pojavov. | 2</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Sinekdoha | V modelu Ade Vidovič Muha poseben tip metonimičnega prenosa s preureditvijo razmerja med konstitutivnim delom in celoto; poimenovanje samo ne nadomesti analize izhodiščnega in novega pomena. | 2</a:t>
            </a:r>
          </a:p>
          <a:p>
            <a:r>
              <a:t>Sopomenskost | Razmerje pomenske istosti med pomeni različnih leksemov; enakost denotativnega pomena ne zagotavlja enake konotacije, povezovalnosti ali zamenljivosti v vsaki rabi. | 2</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Protipomenskost | Pomensko nasprotje, katerega tip določi veljavne sklepe: komplementarno, polarno s stopnjevalnim podtipom, konverzivno ali vektorsko razmerje. | 2</a:t>
            </a:r>
          </a:p>
          <a:p>
            <a:r>
              <a:t>Paronimija | Izrazna podobnost različnih besed, ki lahko povzroča zamenjave. | 2</a:t>
            </a:r>
          </a:p>
          <a:p>
            <a:r>
              <a:t>Nadpomenskost in podpomenskost | Razmerje med širšim razredom in njegovim ožjim členom. | 2</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Kolokacija | Značilna, ustaljena sopojavitev besed v določenem pomenu. | 2</a:t>
            </a:r>
          </a:p>
          <a:p>
            <a:r>
              <a:t>Frazem | Ustaljena zveza s posebnimi pomenskimi in oblikovnimi lastnostmi; pomen pogosto presega seštevek sestavin. | 2</a:t>
            </a:r>
          </a:p>
          <a:p>
            <a:r>
              <a:t>Termin | Poimenovanje pojma znotraj določenega strokovnega področja. | 2</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Terminologizacija in determinologizacija | Pridobivanje strokovne poimenovalne naloge oziroma prehajanje strokovnega pojma in izraza v splošno rabo; postopka nista nujno zrcalna. | 2</a:t>
            </a:r>
          </a:p>
          <a:p>
            <a:r>
              <a:t>Register in zaznamovanost | Povezanost izraza z okoliščinami rabe ter njegovimi slogovnimi ali vrednotenjskimi lastnostmi. | 2, 8</a:t>
            </a:r>
          </a:p>
          <a:p>
            <a:r>
              <a:t>Leksikalizacija | Ustalitev izraza oziroma pomena kot enote besedišča; razumljivost posamičnega novega zgleda še ni zadosten dokaz zanjo. | 2, 5</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Iztočnica | Beseda ali zveza, pod katero je urejen slovarski sestavek; pri branju upoštevamo tudi razločevanje pomenov in enakopisnih iztočnic. | 1, 2</a:t>
            </a:r>
          </a:p>
          <a:p>
            <a:r>
              <a:t>Sklon | Slovnična kategorija, ki sodeluje pri izražanju razmerij v zgradbi. | 1, 4</a:t>
            </a:r>
          </a:p>
          <a:p>
            <a:r>
              <a:t>Ujemanje | Oblikovno prilagajanje odvisne sestavine nadrejeni v ustreznih kategorijah. | 1, 4</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Vezava | Zahteva nadrejene besede ali konstrukcije po določeni obliki dopolnila. | 1, 4</a:t>
            </a:r>
          </a:p>
          <a:p>
            <a:r>
              <a:t>Primik | Povezovanje odvisne sestavine z jedrom brez oblikovnega ujemanja ali sklonovne vezave, npr. pozorno brati. | 1, 3, 4</a:t>
            </a:r>
          </a:p>
          <a:p>
            <a:r>
              <a:t>Vezljivost | Zmožnost besede, da odpira skladenjska mesta za določila. | 2, 4, 6</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Intenčnost | V modelu Ade Vidovič Muha pomenska zmožnost glagola za odpiranje udeleženskih mest; s skladenjsko uresničitvijo jo povezuje vezljivost. | 2, 6</a:t>
            </a:r>
          </a:p>
          <a:p>
            <a:r>
              <a:t>Inherentne in odvisne kategorije | Inherentne so lastnost nosilca, npr. slovnični spol samostalnika; odvisne se v zvezi določajo glede na drugo sestavino, npr. spol ujemalnega pridevnika. | 4, 5</a:t>
            </a:r>
          </a:p>
          <a:p>
            <a:r>
              <a:t>Lastnostni, vrstni in svojilni pridevnik | Pomenske vloge, povezane z lastnostjo, vrsto in svojino; obrazil ne presojamo ločeno od pomena. | 2, 4, 5</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Snovni pridevnik | Pridevnik, ki izraža snov, npr. steklen. Njegovo pomensko razvrstitev, določnost in skladenjsko vlogo obravnavamo kot povezana, vendar različna vprašanja. | 4</a:t>
            </a:r>
          </a:p>
          <a:p>
            <a:r>
              <a:t>Določnost | Kategorija, ki jo razločujemo na oblikovni, poimenovalni in besedilni ravni. Prepoznavnost konkretnega nanosnika, določna pridevniška oblika in vrstnost se ne prekrivajo samodejno. | 2, 4</a:t>
            </a:r>
          </a:p>
          <a:p>
            <a:r>
              <a:t>Nanosnik | Oseba, predmet ali druga pojavnost, na katero se izraz nanaša. | 4, 8</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Odnosnica | Besedna sestavina, ki jo druga sestavina določa oziroma se nanjo navezuje. | 4, 6, 7</a:t>
            </a:r>
          </a:p>
          <a:p>
            <a:r>
              <a:t>Glagolski vid | Način slovnične predstavitve poteka oziroma celovitosti dejanja; ni isto kot čas. | 4</a:t>
            </a:r>
          </a:p>
          <a:p>
            <a:r>
              <a:t>Nedoločnik in namenilnik | Neosebni glagolski obliki z različnima značilnima rabama, npr. želi brati in gre brat. Obliko presojamo v povezavi z nadrejenim glagolom in pomenom zveze. | 4, 6</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Lastno ime | Poimenovanje, ki identificira posameznega. V modelu Ade Vidovič Muha nima enako strukturiranega slovarskega denotativnega pomena kot občni leksemi; identifikacija, kategorialne lastnosti in asociacije ostajajo različna vprašanja. | 2, 5</a:t>
            </a:r>
          </a:p>
          <a:p>
            <a:r>
              <a:t>Apelativizacija | Prehod od lastnega imena k občnemu poimenovanju na podlagi pomenske značilnosti; posamezni besedilni prenos še ne dokazuje leksikalizacije. | 2, 5</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Govorjena in pisna osnova | Glasovna in zapisna podoba osnove, ki se pri prevzetih imenih lahko razlikujeta. | 5</a:t>
            </a:r>
          </a:p>
          <a:p>
            <a:r>
              <a:t>Končaj | Končni niz glasov ali črk, poimenovan brez vnaprejšnje določitve njegove slovnične vloge; ne enačimo ga s končnico. | 4, 5</a:t>
            </a:r>
          </a:p>
          <a:p>
            <a:r>
              <a:t>Izglasje | Končni glasovni del besede oziroma osnove; ne določamo ga samo po zadnji zapisani črki. | 5</a:t>
            </a:r>
          </a:p>
          <a:p>
            <a:r>
              <a:t>Preglas | Ustrezna zamenjava o z e v določenih glasovnih in oblikovnih okoljih. | 3, 5</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Stavek | Slovnična zgradba s predikacijskim razmerjem; pri običajni analizi je ključna povedkova zgradba. | 1, 6</a:t>
            </a:r>
          </a:p>
          <a:p>
            <a:r>
              <a:t>Poved | Samostojna sporočilna enota. Toporišič poleg običajnih osebnih stavčnih vzorcev obravnava tudi ustreznike stavkov in pastavčne tvorbe. | 1, 6</a:t>
            </a:r>
          </a:p>
          <a:p>
            <a:r>
              <a:t>Stavčni člen | Funkcija sestavine v stavku; opravlja jo lahko beseda, zveza ali odvisnik. | 1, 6</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Propozicija | Pomenska podstava, razčlenjena na povedje in udeležence; njena konkretna skladenjska uresničitev je predmet upovedovanja. | 1, 3, 6, 8</a:t>
            </a:r>
          </a:p>
          <a:p>
            <a:r>
              <a:t>Povedje oziroma predikat | V pomenski razčlenitvi sestavina, ki organizira vsebino in udeleženska razmerja; razlikujemo jo od stavčnega člena povedka. Večrabni izraz predikat pri branju vira opredelimo v kontekstu. | 1, 3, 6</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Upovedovanje | Oblikovanje konkretne skladenjske uresničitve pomenske podstave s časovnimi, naklonskimi in drugimi določitvami. | 1, 6, 8</a:t>
            </a:r>
          </a:p>
          <a:p>
            <a:r>
              <a:t>Predikacija | Prisojanje dejanja, stanja ali lastnosti; dodatna predikacija se lahko izrazi tudi brez nove osebne glagolske oblike. | 1, 6, 7, 8</a:t>
            </a:r>
          </a:p>
          <a:p>
            <a:r>
              <a:t>Delovalnik in okoliščina | Udeleženski razčlenitvi pomenske podstave; pomenske vloge in konkreten stavčni izraz določimo ločeno. Delovalnik ni nujno osebek. | 2, 6</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Nominalizacija | Samostalniško oziroma imensko poimenovanje vsebine, ki je lahko izražena stavčno; pri pretvorbi preverimo ohranjanje udeležencev in izgubo časovnih ali drugih določitev. | 3, 6, 8</a:t>
            </a:r>
          </a:p>
          <a:p>
            <a:r>
              <a:t>Povedkovo določilo | Sestavina ob pomensko nepopolnem glagolu, ki skupaj z njim tvori povedek, npr. zanimiva v Knjiga je zanimiva. | 1, 4, 6</a:t>
            </a:r>
          </a:p>
          <a:p>
            <a:r>
              <a:t>Povedkovnik | V Toporišičevem funkcijskem modelu in modelu Vidovič Muha besednovrstna kategorija za povedkovodoločilno rabo; ločimo izvorno besedno vrsto, konkretno funkcijo in razlago prehoda. | 4, 6</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Povedkov prilastek | Dodatna predikacija o osebku ali predmetu ob polnopomenskem povedku, npr. utrujena v Maja se je vrnila utrujena. | 4, 7</a:t>
            </a:r>
          </a:p>
          <a:p>
            <a:r>
              <a:t>Priredje | Razmerje med sestavinami na isti skladenjski ravni. | 1, 6</a:t>
            </a:r>
          </a:p>
          <a:p>
            <a:r>
              <a:t>Podredje | Razmerje, v katerem ena sestavina zavzema odvisno mesto glede na drugo. | 1, 6</a:t>
            </a:r>
          </a:p>
          <a:p>
            <a:r>
              <a:t>Odvisnik | Stavek, vključen v drugo stavčno zgradbo kot njena odvisna sestavina. | 6</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Vmesni stavek | Odvisnik, umeščen med dele nadrednega stavka. | 6, 7</a:t>
            </a:r>
          </a:p>
          <a:p>
            <a:r>
              <a:t>Vrinjeni stavek | Skladenjsko razmeroma samostojen komentar ali druga vstavljena vsebina. | 7</a:t>
            </a:r>
          </a:p>
          <a:p>
            <a:r>
              <a:t>Pristavek | Dodatno poimenovanje istega nanosnika. | 7</a:t>
            </a:r>
          </a:p>
          <a:p>
            <a:r>
              <a:t>Dostavek | Naknadno dodana sestavina, ki dopolni ali natančneje opredeli sporočilo. | 7</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Polstavek | Zgoščena, stavku sorodna zgradba, pogosto z neosebno glagolsko obliko; njeno ločevanje je odvisno od tipa in vključenosti. | 7</a:t>
            </a:r>
          </a:p>
          <a:p>
            <a:r>
              <a:t>Nagovor oziroma zvalniški pastavek | Nagovorna sestavina, s katero se obrnemo na naslovnika. | 7</a:t>
            </a:r>
          </a:p>
          <a:p>
            <a:r>
              <a:t>Elipsa | Izpust sestavine, ki jo lahko razberemo iz zgradbe ali sobesedila. | 6</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Členitev po aktualnosti | Ureditev sporočila glede na to, iz česa izhajamo in kaj o tem povemo; vpliva na besedni red in izbiro zgradbe. | 6, 8</a:t>
            </a:r>
          </a:p>
          <a:p>
            <a:r>
              <a:t>Izhodišče in jedro sporočila | Tematski in rematski del sporočila; nista stalni sopomenki za osebek in povedek. Razberemo ju iz sobesedila. | 6</a:t>
            </a:r>
          </a:p>
          <a:p>
            <a:r>
              <a:t>Naslonka | Kratka nenaglašena oblika z določenimi možnostmi povezovanja in razvrščanja; vrstni red preverjamo znotraj niza in glede na zgradbo povedi. | 6</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Spremni stavek | Stavek, ki navedek predstavi kot govor oziroma izjavo in opredeli govorca ali okoliščine izjavljanja. | 7</a:t>
            </a:r>
          </a:p>
          <a:p>
            <a:r>
              <a:t>Delni navedek | Del izvorne povedi, dobesedno vključen kot sestavina avtorjeve okvirne povedi. | 7</a:t>
            </a:r>
          </a:p>
          <a:p>
            <a:r>
              <a:t>Stičnost | Način, kako se pisno znamenje brez presledka stika z besedilom na levi, desni ali obeh straneh. | 3, 7</a:t>
            </a:r>
          </a:p>
          <a:p>
            <a:r>
              <a:t>Norma | Ustaljene in družbeno sprejete jezikovne konvencije; pri knjižnem jeziku jih normativni priročniki izbirajo, opisujejo in urejajo. | 1, 8</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Pojmovni pregled</a:t>
            </a:r>
          </a:p>
          <a:p/>
          <a:p>
            <a:r>
              <a:t>ZA IZVEDBO</a:t>
            </a:r>
          </a:p>
          <a:p>
            <a:r>
              <a:t>Definicije so orientacija za ponavljanje. Izberite pojem, povejte zgled in pokažite mejo njegove uporabe. Pri teoretično odvisnih pojmih navedite model. Poglavja za nadaljnje branje so v izvirnih vrsticah spodaj.</a:t>
            </a:r>
          </a:p>
          <a:p/>
          <a:p>
            <a:r>
              <a:t>VIRI</a:t>
            </a:r>
          </a:p>
          <a:p>
            <a:r>
              <a:t>Skripta 3.0, dodatek A</a:t>
            </a:r>
          </a:p>
          <a:p/>
          <a:p>
            <a:r>
              <a:t>BESEDILO IZ SKRIPTE</a:t>
            </a:r>
          </a:p>
          <a:p>
            <a:r>
              <a:t>Kodifikacija | Opis in določitev norme v ustreznem normativnem priročniku. | 1, 8</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besedi in besedni zvezi</a:t>
            </a:r>
          </a:p>
          <a:p/>
          <a:p>
            <a:r>
              <a:t>ZA IZVEDBO</a:t>
            </a:r>
          </a:p>
          <a:p>
            <a:r>
              <a:t>To je seznam vprašanj za ponavljanje, ne nadomestilo za razčlenitev. Pri novem primeru izberite odločilni korak in pojasnite, kateri podatek potrebujete.</a:t>
            </a:r>
          </a:p>
          <a:p/>
          <a:p>
            <a:r>
              <a:t>VIRI</a:t>
            </a:r>
          </a:p>
          <a:p>
            <a:r>
              <a:t>Skripta 3.0, dodatek B.1</a:t>
            </a:r>
          </a:p>
          <a:p/>
          <a:p>
            <a:r>
              <a:t>BESEDILO IZ SKRIPTE</a:t>
            </a:r>
          </a:p>
          <a:p>
            <a:r>
              <a:t>1. Razberem pomen v sobesedilu.</a:t>
            </a:r>
          </a:p>
          <a:p>
            <a:r>
              <a:t>2. Določim, ali gre za prosto zvezo, ustaljeno poimenovanje ali tvorjenko.</a:t>
            </a:r>
          </a:p>
          <a:p>
            <a:r>
              <a:t>3. Pokažem jedro in odvisne oziroma priredne sestavine.</a:t>
            </a:r>
          </a:p>
          <a:p>
            <a:r>
              <a:t>4. Pri obliki ločim pregibanje od besedotvorja; pri tvorjenki ločim morfemsko členitev, SPo, BPo in obrazilo zadnje stopnje.</a:t>
            </a:r>
          </a:p>
          <a:p>
            <a:r>
              <a:t>5. Določim vrsto zgradbe: pomenska razveza z in sama še ne določa zapisa.</a:t>
            </a:r>
          </a:p>
          <a:p>
            <a:r>
              <a:t>6. Iz razmerij izpeljem rešitev ter preverim posebnosti in normativni okvir v ustreznem viru.</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besedi in besedni zvezi (nadaljevanje)</a:t>
            </a:r>
          </a:p>
          <a:p/>
          <a:p>
            <a:r>
              <a:t>ZA IZVEDBO</a:t>
            </a:r>
          </a:p>
          <a:p>
            <a:r>
              <a:t>To je seznam vprašanj za ponavljanje, ne nadomestilo za razčlenitev. Pri novem primeru izberite odločilni korak in pojasnite, kateri podatek potrebujete.</a:t>
            </a:r>
          </a:p>
          <a:p/>
          <a:p>
            <a:r>
              <a:t>VIRI</a:t>
            </a:r>
          </a:p>
          <a:p>
            <a:r>
              <a:t>Skripta 3.0, dodatek B.1</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lastnem imenu</a:t>
            </a:r>
          </a:p>
          <a:p/>
          <a:p>
            <a:r>
              <a:t>ZA IZVEDBO</a:t>
            </a:r>
          </a:p>
          <a:p>
            <a:r>
              <a:t>To je seznam vprašanj za ponavljanje, ne nadomestilo za razčlenitev. Pri novem primeru izberite odločilni korak in pojasnite, kateri podatek potrebujete.</a:t>
            </a:r>
          </a:p>
          <a:p/>
          <a:p>
            <a:r>
              <a:t>VIRI</a:t>
            </a:r>
          </a:p>
          <a:p>
            <a:r>
              <a:t>Skripta 3.0, dodatek B.2</a:t>
            </a:r>
          </a:p>
          <a:p/>
          <a:p>
            <a:r>
              <a:t>BESEDILO IZ SKRIPTE</a:t>
            </a:r>
          </a:p>
          <a:p>
            <a:r>
              <a:t>1. Določim, koga ali kaj ime poimenuje.</a:t>
            </a:r>
          </a:p>
          <a:p>
            <a:r>
              <a:t>2. Preverim izgovor, spol in zgradbo imena.</a:t>
            </a:r>
          </a:p>
          <a:p>
            <a:r>
              <a:t>3. Razločim govorjeno in pisno osnovo.</a:t>
            </a:r>
          </a:p>
          <a:p>
            <a:r>
              <a:t>4. Ugotovim, ali ime pregibam ali iz njega tvorim novo besedo.</a:t>
            </a:r>
          </a:p>
          <a:p>
            <a:r>
              <a:t>5. Uporabim ustrezen postopek, upoštevam premene in preverim različice.</a:t>
            </a:r>
          </a:p>
          <a:p>
            <a:r>
              <a:t>6. Začetnico utemeljim glede na nastalo obliko in njen pomen.</a:t>
            </a:r>
          </a:p>
          <a:p>
            <a:r>
              <a:t>7. Pri različicah povem, ali gre za drug izgovor, drug način pregibanja ali drugačen zapis v drugem viru.</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lastnem imenu (nadaljevanje)</a:t>
            </a:r>
          </a:p>
          <a:p/>
          <a:p>
            <a:r>
              <a:t>ZA IZVEDBO</a:t>
            </a:r>
          </a:p>
          <a:p>
            <a:r>
              <a:t>To je seznam vprašanj za ponavljanje, ne nadomestilo za razčlenitev. Pri novem primeru izberite odločilni korak in pojasnite, kateri podatek potrebujete.</a:t>
            </a:r>
          </a:p>
          <a:p/>
          <a:p>
            <a:r>
              <a:t>VIRI</a:t>
            </a:r>
          </a:p>
          <a:p>
            <a:r>
              <a:t>Skripta 3.0, dodatek B.2</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vejici in drugih ločilih</a:t>
            </a:r>
          </a:p>
          <a:p/>
          <a:p>
            <a:r>
              <a:t>ZA IZVEDBO</a:t>
            </a:r>
          </a:p>
          <a:p>
            <a:r>
              <a:t>To je seznam vprašanj za ponavljanje, ne nadomestilo za razčlenitev. Pri novem primeru izberite odločilni korak in pojasnite, kateri podatek potrebujete.</a:t>
            </a:r>
          </a:p>
          <a:p/>
          <a:p>
            <a:r>
              <a:t>VIRI</a:t>
            </a:r>
          </a:p>
          <a:p>
            <a:r>
              <a:t>Skripta 3.0, dodatek B.3</a:t>
            </a:r>
          </a:p>
          <a:p/>
          <a:p>
            <a:r>
              <a:t>BESEDILO IZ SKRIPTE</a:t>
            </a:r>
          </a:p>
          <a:p>
            <a:r>
              <a:t>1. Poiščem povedkove zgradbe in osnovno sporočilo; ločeno preverim nominalizirane in dodatne predikacijske vsebine.</a:t>
            </a:r>
          </a:p>
          <a:p>
            <a:r>
              <a:t>2. Določim, katera sestavina je odvisna od katere in kaj povezujejo povezovalci.</a:t>
            </a:r>
          </a:p>
          <a:p>
            <a:r>
              <a:t>3. Označim začetek in konec vključenih odvisnikov.</a:t>
            </a:r>
          </a:p>
          <a:p>
            <a:r>
              <a:t>4. Ločeno prepoznam vrinjene komentarje, pristavke, nagovore in navedke.</a:t>
            </a:r>
          </a:p>
          <a:p>
            <a:r>
              <a:t>5. Ločila dodam, odstranim ali ohranim na podlagi teh odnosov.</a:t>
            </a:r>
          </a:p>
          <a:p>
            <a:r>
              <a:t>6. Preberem celoto in preverim, ali rešitev ohranja nameravani pomen, udeležence ter razmerja med dejanji in stanji.</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vejici in drugih ločilih (nadaljevanje)</a:t>
            </a:r>
          </a:p>
          <a:p/>
          <a:p>
            <a:r>
              <a:t>ZA IZVEDBO</a:t>
            </a:r>
          </a:p>
          <a:p>
            <a:r>
              <a:t>To je seznam vprašanj za ponavljanje, ne nadomestilo za razčlenitev. Pri novem primeru izberite odločilni korak in pojasnite, kateri podatek potrebujete.</a:t>
            </a:r>
          </a:p>
          <a:p/>
          <a:p>
            <a:r>
              <a:t>VIRI</a:t>
            </a:r>
          </a:p>
          <a:p>
            <a:r>
              <a:t>Skripta 3.0, dodatek B.3</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pisnem odgovoru</a:t>
            </a:r>
          </a:p>
          <a:p/>
          <a:p>
            <a:r>
              <a:t>ZA IZVEDBO</a:t>
            </a:r>
          </a:p>
          <a:p>
            <a:r>
              <a:t>To je seznam vprašanj za ponavljanje, ne nadomestilo za razčlenitev. Pri novem primeru izberite odločilni korak in pojasnite, kateri podatek potrebujete.</a:t>
            </a:r>
          </a:p>
          <a:p/>
          <a:p>
            <a:r>
              <a:t>VIRI</a:t>
            </a:r>
          </a:p>
          <a:p>
            <a:r>
              <a:t>Skripta 3.0, dodatek B.4</a:t>
            </a:r>
          </a:p>
          <a:p/>
          <a:p>
            <a:r>
              <a:t>BESEDILO IZ SKRIPTE</a:t>
            </a:r>
          </a:p>
          <a:p>
            <a:r>
              <a:t>1. Navedem uporabno rešitev.</a:t>
            </a:r>
          </a:p>
          <a:p>
            <a:r>
              <a:t>2. Opišem odločilno razliko v konkretnem primeru.</a:t>
            </a:r>
          </a:p>
          <a:p>
            <a:r>
              <a:t>3. Povežem analizo s pravilom ali ustreznim virom; ob teoriji navedem merilo in stran, ob normi tudi izbrani okvir.</a:t>
            </a:r>
          </a:p>
          <a:p>
            <a:r>
              <a:t>4. Opredelim pomenske različice, kadar vplivajo na odgovor.</a:t>
            </a:r>
          </a:p>
          <a:p>
            <a:r>
              <a:t>5. Pri primerjavi virov navedem, ali opisujem veljavno kodifikacijo, zgodovinsko rešitev ali predlog spremembe.</a:t>
            </a:r>
          </a:p>
          <a:p>
            <a:r>
              <a:t>6. Odstranim razlage, ki ne pomagajo utemeljiti te odločitve.</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Pri pisnem odgovoru (nadaljevanje)</a:t>
            </a:r>
          </a:p>
          <a:p/>
          <a:p>
            <a:r>
              <a:t>ZA IZVEDBO</a:t>
            </a:r>
          </a:p>
          <a:p>
            <a:r>
              <a:t>To je seznam vprašanj za ponavljanje, ne nadomestilo za razčlenitev. Pri novem primeru izberite odločilni korak in pojasnite, kateri podatek potrebujete.</a:t>
            </a:r>
          </a:p>
          <a:p/>
          <a:p>
            <a:r>
              <a:t>VIRI</a:t>
            </a:r>
          </a:p>
          <a:p>
            <a:r>
              <a:t>Skripta 3.0, dodatek B.4</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Izpitni problemi</a:t>
            </a:r>
          </a:p>
          <a:p/>
          <a:p>
            <a:r>
              <a:t>ZA IZVEDBO</a:t>
            </a:r>
          </a:p>
          <a:p>
            <a:r>
              <a:t>Pregled arhiva usmerja izbor družin problemov. Ne gre za uradni točkovnik ali napoved konkretnega izpita. Prenos pokažemo s spremenjenim primerom, ne s ponavljanjem istega odgovora.</a:t>
            </a:r>
          </a:p>
          <a:p/>
          <a:p>
            <a:r>
              <a:t>VIRI</a:t>
            </a:r>
          </a:p>
          <a:p>
            <a:r>
              <a:t>Skripta 3.0, dodatek C</a:t>
            </a:r>
          </a:p>
          <a:p/>
          <a:p>
            <a:r>
              <a:t>BESEDILO IZ SKRIPTE</a:t>
            </a:r>
          </a:p>
          <a:p>
            <a:r>
              <a:t>Pregled arhiva kaže, da so bile že starejše naloge problemske: študent je moral izbrati obliko, urediti besedilo, pojasniti dvojničnost ali ovrednotiti tujo razlago. Preglednice besednih vrst in besedotvornih postopkov so podlaga za takšno delo. Težišče skripte je zato na uporabi pojmov ob odločitvah, ki se ponavljajo skozi različne roke.</a:t>
            </a:r>
          </a:p>
          <a:p/>
          <a:p>
            <a:r>
              <a:t>| Družina izpitnih problemov | Odločilno vprašanje | Kje sestavimo razlago? |</a:t>
            </a:r>
          </a:p>
          <a:p>
            <a:r>
              <a:t>|---|---|---|</a:t>
            </a:r>
          </a:p>
          <a:p>
            <a:r>
              <a:t>| Slovarski podatek, črkovalnikov predlog, jezikovni nasvet | Ali vir opisuje isti pomen in isti problem? Ali predlaga obliko, izkazuje rabo ali podaja pravilo? | 1. poglavje vzpostavi način branja virov; 8. ga uporabi pri strokovnem odgovoru. |</a:t>
            </a:r>
          </a:p>
          <a:p>
            <a:r>
              <a:t>| Lastno in občno, znamka in izdelek, opis in poimenovanje | Kaj izraz v tej povedi poimenuje in kako se njegov pomen razlikuje od druge rabe? | 2. poglavje razčleni pomen; 5. iz tega izpelje začetnico in obliko imena. |</a:t>
            </a:r>
          </a:p>
          <a:p>
            <a:r>
              <a:t>| Pisanje skupaj, narazen in z vezajem | Ali analiziramo tvorjenko, prosto zvezo, neujemalni prilastek, kratico ali simbolno oznako? | 3. poglavje poveže podstavo, vrsto tvorbe in zapis. |</a:t>
            </a:r>
          </a:p>
          <a:p>
            <a:r>
              <a:t>| Oblika pridevnika, zaimek, predlog, neosebna glagolska oblika | Katera vloga, navezava ali pomenska razlika zahteva to obliko? | 4. poglavje poveže obliko s sobesedilom. |</a:t>
            </a:r>
          </a:p>
          <a:p>
            <a:r>
              <a:t>| Tuja imena in njihove izpeljanke | Kakšna sta izgovor in govorjena osnova; kaj se ohrani v pisni podobi; katero izdajo uporabljamo? | 5. poglavje združi pomen, tvorjenje, pregibanje in primerjavo virov. |</a:t>
            </a:r>
          </a:p>
          <a:p>
            <a:r>
              <a:t>| Vejica ob in, ali, kot, ki, da, ker | Kaj je povezano, na kateri ravni in kje se vključena sestavina konča? | 6. poglavje razčleni osnovno zgradbo; 7. dodaja posebne načine vključevanja. |</a:t>
            </a:r>
          </a:p>
          <a:p>
            <a:r>
              <a:t>| Deležijska zveza, pristavek, vrivek, navedek | Ali gre za sestavino stavka, dodatno predikacijo, komentar ali dobesedno vključene besede? | 7. poglavje poveže funkcijo sestavine in izbiro ločil. |</a:t>
            </a:r>
          </a:p>
          <a:p>
            <a:r>
              <a:t>| Kritika nasveta in celovito urejanje besedila | Ali predlagani popravek ohrani pomen in ali njegova utemeljitev res velja za ta primer? | 8. poglavje poveže celoten postopek. |</a:t>
            </a:r>
          </a:p>
          <a:p/>
          <a:p>
            <a:r>
              <a:t>Ob ponavljanju zato istega vprašanja ne obravnavamo vsakič kot novo izjemo. Iz TV-hiše in A4-formata preidemo k vrsti zgradbe; iz različnih oblik imena Guy k razmerju med črko in glasom; iz različnih zapisov in da k hierarhiji sestavin. Prenos pokažemo tako, da pri novem primeru najprej prepoznamo skupni problem, nato preverimo podatek, po katerem se primera razlikujeta.</a:t>
            </a:r>
          </a:p>
          <a:p/>
          <a:p>
            <a:r>
              <a:t>Primerjanje starih in novih rešitev je posebna učna naloga. Ne vpraša samo, katero obliko bomo izbrali danes. Zahteva tudi razlago, zakaj je bila neka oblika pričakovana v starejšem normativnem okviru, ali novi vir res predlaga spremembo in ali oba vira sploh obravnavata isti izgovor, pomen in vrsto besedila.</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Izpitni problemi</a:t>
            </a:r>
          </a:p>
          <a:p/>
          <a:p>
            <a:r>
              <a:t>ZA IZVEDBO</a:t>
            </a:r>
          </a:p>
          <a:p>
            <a:r>
              <a:t>Pregled arhiva usmerja izbor družin problemov. Ne gre za uradni točkovnik ali napoved konkretnega izpita. Prenos pokažemo s spremenjenim primerom, ne s ponavljanjem istega odgovora.</a:t>
            </a:r>
          </a:p>
          <a:p/>
          <a:p>
            <a:r>
              <a:t>VIRI</a:t>
            </a:r>
          </a:p>
          <a:p>
            <a:r>
              <a:t>Skripta 3.0, dodatek C</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Jezikovna odločitev</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1. Jezikovna odločitev | Toporišič 2004: 103–106, 488–492, 833–834; Vidovič Muha 2013: 17–22. | Kaj v viru pomeni beseda, kaj leksem in kaj stavek? Katere trditve pojasnjujejo zgradbo in katere imajo normativni doseg?</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Pomen in poimenovanje</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2. Pomen in poimenovanje | Vidovič Muha 2013: 35–44, 58–68, 130–157, 172–199. | Katere pomenske sestavine so za izbrani pomen razločevalne? Kako bi dokazali razmerje med pomenoma, če bi odmislili že pripisano slovarsko oznako?</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Zgradba tvorjenke</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3. Zgradba tvorjenke | Vidovič Muha 2011: 23–36, 82–103; Toporišič 2004: 149–160. | Katere sestavine SPo se pretvorijo v obrazilo? Kaj isti termin besedotvorna podstava označuje v obeh delih?</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Oblike v sobesedilu</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4. Oblike v sobesedilu | Toporišič 2004: 255–268, 317–329, 399–405; Vidovič Muha 2013: 78–89, 365–371, 385–389. | Kako ločimo pregibni podatek, besedno vrsto, skladenjsko funkcijo in pomen? Zakaj oblika na -i sama ne razreši vseh vprašanj določnosti in vrstnosti?</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Lastna imena</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5. Lastna imena | Vidovič Muha 2013: 92–94, 386–389; Toporišič 2004: 274–277, 284, 296. | Kaj pri imenu določa slovnica in kaj prepoznamo šele v besedilu? Kako se razlikujejo lastnina, sorodstvo in vršilec dejanja v svojilni zvezi?</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Poved in vejica</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6. Poved in vejica | Toporišič 2004: 491–492, 575–576, 606–618, 660–663. | Kako ločimo udeležensko vlogo od stavčnega člena, vezljivostno mesto od izrečenega dopolnila ter osebno povedkovo zgradbo od širše predikacijske vsebine?</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Posebne vključene zgradbe</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7. Posebne vključene zgradbe | Toporišič 2004: 588–591, 632–634, 657–659; nato primerjava s SP 2001, § 333–337. | Katero razmerje ohrani razvitje polstavka? Kateri podatki se spremenijo pri poročanju o govoru in zakaj slovnična razvrstitev sama še ne določi vseh ločil?</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Branje: Jezikovni nasvet</a:t>
            </a:r>
          </a:p>
          <a:p/>
          <a:p>
            <a:r>
              <a:t>ZA IZVEDBO</a:t>
            </a:r>
          </a:p>
          <a:p>
            <a:r>
              <a:t>Preberite navedeni odlomek, izpišite merilo in preverite en avtorjev ter en lasten zgled. Pri dopolnjenih izdajah vključite opombe. Razpon je načrt problemskega branja, ne obveza, da vsakokrat preberete vse strani v enem zamahu.</a:t>
            </a:r>
          </a:p>
          <a:p/>
          <a:p>
            <a:r>
              <a:t>VIRI</a:t>
            </a:r>
          </a:p>
          <a:p>
            <a:r>
              <a:t>Skripta 3.0, dodatek D</a:t>
            </a:r>
          </a:p>
          <a:p/>
          <a:p>
            <a:r>
              <a:t>BESEDILO IZ SKRIPTE</a:t>
            </a:r>
          </a:p>
          <a:p>
            <a:r>
              <a:t>8. Jezikovni nasvet | Ponovno Toporišič 2004: 491–492; Vidovič Muha 2011: 100–103; Vidovič Muha 2013: 17–18, 386–389. | Kaj lahko izrazimo s stavkom, tvorjenko ali imensko zvezo in kaj pri pretvorbi izgubimo? Kako isto analizo pojasnimo strokovnjaku in uporabniku?</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Bralni zapis: od navedbe do dokaza</a:t>
            </a:r>
          </a:p>
          <a:p/>
          <a:p>
            <a:r>
              <a:t>ZA IZVEDBO</a:t>
            </a:r>
          </a:p>
          <a:p>
            <a:r>
              <a:t>V paru preverita, katera trditev v zapisu je prepis kategorije in katera je že razčlenitev. Izberita protiprimer, ki pokaže mejo uporabe merila.</a:t>
            </a:r>
          </a:p>
          <a:p/>
          <a:p>
            <a:r>
              <a:t>VIRI</a:t>
            </a:r>
          </a:p>
          <a:p>
            <a:r>
              <a:t>Skripta 3.0, dodatek D.1</a:t>
            </a:r>
          </a:p>
          <a:p/>
          <a:p>
            <a:r>
              <a:t>BESEDILO IZ SKRIPTE</a:t>
            </a:r>
          </a:p>
          <a:p>
            <a:r>
              <a:t> D.1 Bralni zapis: od navedbe do dokaza</a:t>
            </a:r>
          </a:p>
          <a:p/>
          <a:p>
            <a:r>
              <a:t>Bralni zapis naj bo kratek, vendar preverljiv:</a:t>
            </a:r>
          </a:p>
          <a:p/>
          <a:p>
            <a:r>
              <a:t>1. Trditev iz vira: s svojimi besedami zapišemo avtorjevo merilo in navedemo natančno stran.</a:t>
            </a:r>
          </a:p>
          <a:p>
            <a:r>
              <a:t>2. Avtorjev zgled: pokažemo, katera lastnost zgleda podpira merilo; zgleda ne nadomestimo zgolj z njegovim prepisom.</a:t>
            </a:r>
          </a:p>
          <a:p>
            <a:r>
              <a:t>3. Lastna uporaba: analiziramo nov zgled iz skripte ali besedila.</a:t>
            </a:r>
          </a:p>
          <a:p>
            <a:r>
              <a:t>4. Meja prenosa: navedemo podatek, zaradi katerega istega postopka ne bi mogli uporabiti brez spremembe.</a:t>
            </a:r>
          </a:p>
          <a:p>
            <a:r>
              <a:t>5. Praktična posledica: povemo, ali analiza vpliva na pomen, obliko, zapis ali samo na terminološko razvrstitev.</a:t>
            </a:r>
          </a:p>
          <a:p/>
          <a:p>
            <a:r>
              <a:t>Pri seminarju je posebej koristno primerjati najmočnejši in najšibkejši dokaz za svojo rešitev. Razvezava tvorjenke lahko dobro pokaže, kam se pretvori slovnično razmerje, vendar sama ne dokazuje ustaljenega strokovnega pomena. Izpustljivost sestavine lahko pokaže njeno besedilno predvidljivost, vendar še ne izključi vezljivostnega mesta. Enolična identifikacija konkretnega človeka lahko uspe z občnim opisom, zato sama ne dokazuje lastnega imena. Te omejitve niso dodatek k znanju; so del pravilne uporabe merila.</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Tri temeljna dela</a:t>
            </a:r>
          </a:p>
          <a:p/>
          <a:p>
            <a:r>
              <a:t>ZA IZVEDBO</a:t>
            </a:r>
          </a:p>
          <a:p>
            <a:r>
              <a:t>Toporišič 2004 je drugi natis četrte izdaje iz leta 2000. Knjižni sklici uporabljajo natisnjene strani. Celotna bibliografija skripte je spodaj.</a:t>
            </a:r>
          </a:p>
          <a:p/>
          <a:p>
            <a:r>
              <a:t>VIRI</a:t>
            </a:r>
          </a:p>
          <a:p>
            <a:r>
              <a:t>Navedbe sledijo navedenim izdajam in natisu.</a:t>
            </a:r>
          </a:p>
          <a:p/>
          <a:p>
            <a:r>
              <a:t>BESEDILO IZ SKRIPTE</a:t>
            </a:r>
          </a:p>
          <a:p/>
          <a:p/>
          <a:p>
            <a:r>
              <a:t> Izhodiščna učna in izpitna gradiva</a:t>
            </a:r>
          </a:p>
          <a:p/>
          <a:p>
            <a:r>
              <a:t>- Leksika in slovnica slovenskega jezika: predavateljevo gradivo skripta_lssj.pptx, 309 prosojnic. Pojmovne razlage so preurejene in povezane z nalogami; skripta ne ohranja zaporedja vseh prosojnic.</a:t>
            </a:r>
          </a:p>
          <a:p>
            <a:r>
              <a:t>- Test.zip: izpitne pole, različice, rešitve in primeri za študijska leta 2010/11, 2011/12, 2012/13, 2013/14, 2014/15, 2015/16, 2016/17 in 2017/18. Upoštevani so tudi slikovni deli nalog in vsebina gnezdenega arhiva. Enako poimenovani različici DOC/DOCX in PDF sta obravnavani ločeno, kadar vsebujeta različna vprašanja; identične kopije niso štete kot dodatni izpiti.</a:t>
            </a:r>
          </a:p>
          <a:p>
            <a:r>
              <a:t>- Izpit LSSJ, predrok 2026.</a:t>
            </a:r>
          </a:p>
          <a:p>
            <a:r>
              <a:t>- Izpit LSSJ, prvi rok 2026.</a:t>
            </a:r>
          </a:p>
          <a:p>
            <a:r>
              <a:t>- Izpit LSSJ, drugi rok 2026.</a:t>
            </a:r>
          </a:p>
          <a:p>
            <a:r>
              <a:t>- Izpit LSSJ, tretji rok 2026.</a:t>
            </a:r>
          </a:p>
          <a:p/>
          <a:p>
            <a:r>
              <a:t>Izpitna gradiva so izhodišče za izbor vprašanj, nekaterih označenih zgledov in vrste argumentacije. Rešitve v tej skripti so učne razlage; ne predstavljajo uradnega točkovnika izpitov.</a:t>
            </a:r>
          </a:p>
          <a:p/>
          <a:p>
            <a:r>
              <a:t>Arhiv je usmerjal izbor družin problemov: pomenska razmejitev poimenovanj, slovarsko branje, zapis tvorjenk in zvez, pregibanje, tuja imena, razmerja med stavčnimi in nestavčnimi sestavinami, posebne vključene zgradbe ter kritično svetovanje. Namen skripte je usposobiti za prenos postopka na nov primer. Zato ne prepisuje vseh pol in ne povezuje vsake stare rešitve samodejno z današnjim predlogom norme.</a:t>
            </a:r>
          </a:p>
          <a:p/>
          <a:p>
            <a:r>
              <a:t>| Del izhodiščnih prosojnic | Uporaba v skripti |</a:t>
            </a:r>
          </a:p>
          <a:p>
            <a:r>
              <a:t>|---|---|</a:t>
            </a:r>
          </a:p>
          <a:p>
            <a:r>
              <a:t>| 4–50: morfemika in besedotvorje | Osnovni pojmi v 1. poglavju; tvorjenje in zapis v 3. poglavju; uporaba pri imenih v 5. poglavju. |</a:t>
            </a:r>
          </a:p>
          <a:p>
            <a:r>
              <a:t>| 51–98: leksika in pomenoslovje | Pomen, poimenovanje, pomenska razmerja in ustaljene zveze v 2. poglavju. |</a:t>
            </a:r>
          </a:p>
          <a:p>
            <a:r>
              <a:t>| 99–232: oblikoslovje in besedne vrste | Oblike v sobesedilu v 4. poglavju; pregibanje in tvorjenje imen v 5. poglavju. |</a:t>
            </a:r>
          </a:p>
          <a:p>
            <a:r>
              <a:t>| 233–309: skladnja | Začetni pojmi v 1. poglavju; zgradba povedi v 6. poglavju; posebne zgradbe v 7. poglavju. |</a:t>
            </a:r>
          </a:p>
          <a:p/>
          <a:p>
            <a:r>
              <a:t> Temeljna slovnična in leksikološka literatura</a:t>
            </a:r>
          </a:p>
          <a:p/>
          <a:p>
            <a:r>
              <a:t>- Toporišič 2004. Toporišič, Jože. Slovenska slovnica. 4., prenovljena in razširjena izdaja, 2. natis. Maribor: Obzorja, 2004. ISBN 961-230-171-9. Uporabljen je drugi natis iz leta 2004; četrta izdaja je iz leta 2000. Navedba 2004 sledi bibliografskim podatkom uporabljenega natisa. Temelj za razlago besednih vrst, morfematike in oblikoslovnih kategorij, predikacije, upovedovanja, skladenjskih zvez, stavčnih členov ter členitve po aktualnosti.</a:t>
            </a:r>
          </a:p>
          <a:p>
            <a:r>
              <a:t>- Vidovič Muha 2011. Vidovič Muha, Ada. Slovensko skladenjsko besedotvorje. 2., razširjena in dopolnjena izdaja. Ljubljana: Znanstvena založba Filozofske fakultete Univerze v Ljubljani, 2011. Zbirka Razprave FF. ISBN 978-961-237-483-9. Uporabljeno je glavno teoretično besedilo druge, razširjene in dopolnjene izdaje, zlasti razmerje med skladenjsko podstavo, besedotvorno podstavo in obrazilom, pretvorbena delitev tvorjenk, propozicijski besedotvorni pomen ter razmerje med besedotvornim in slovarskim pomenom.</a:t>
            </a:r>
          </a:p>
          <a:p>
            <a:r>
              <a:t>- Vidovič Muha 2013. Vidovič Muha, Ada. Slovensko leksikalno pomenoslovje. 2., dopolnjena izdaja. Ljubljana: Znanstvena založba Filozofske fakultete Univerze v Ljubljani, 2013. Zbirka Razprave FF. ISBN 978-961-237-572-0. Uporabljena je druga, dopolnjena izdaja: leksem in pomenje, vrste leksikalnega pomena, pomenske sestavine in prenosi, medleksemska razmerja, lastna imena, pridevniški pomen in izbrane razprave v dodatku.</a:t>
            </a:r>
          </a:p>
          <a:p/>
          <a:p>
            <a:r>
              <a:t>Sklici ob razlagah uporabljajo avtorja, letnico in natisnjeno stran, ne zaporedne strani pregledovalnika. Razpon strani označuje odlomek, na katerega se opira konkretna razlaga; ne pomeni, da vsi zgledi skripte izvirajo iz knjige. Novi učni zgledi in razčlenitve so didaktične uporabe predstavljenih meril.</a:t>
            </a:r>
          </a:p>
          <a:p/>
          <a:p>
            <a:r>
              <a:t>Razlikovanje modelov je del študijskega cilja. Posebej označujemo različno rabo izraza besedotvorna podstava, razmerje med povedkovnikom in povedkovim določilom, merila pridevniških pomenskih skupin ter obseg strukturne analize leksikalnega pomena. Pri ponatisnjenih starejših razpravah v dodatkih upoštevamo avtoricine poznejše opombe in dopolnitve; starejšega terminološkega stanja ne izenačujemo brez pojasnila z glavnim besedilom dopolnjene izdaje. Natančne razlike so pojasnjene ob ustreznih zgledih, pregled bralnih nalog pa je v dodatku D.</a:t>
            </a:r>
          </a:p>
          <a:p/>
          <a:p>
            <a:r>
              <a:t> Pravopisni viri in način navajanja</a:t>
            </a:r>
          </a:p>
          <a:p/>
          <a:p>
            <a:r>
              <a:t>- SP 2001 – pravila. Slovenski pravopis 2001: Pravila, spletna izdaja pravil na portalu Fran. Sklici navajajo člen z znakom § in po potrebi stran. Spletni dostop do pravil — https://www.fran.si/134/slovenski-pravopis/datoteke/Pravopis_Pravila.pdf. Slovarski sestavki SP 2001 so posebej navedeni in povezani; niso del besedila pravil.</a:t>
            </a:r>
          </a:p>
          <a:p>
            <a:r>
              <a:t>- eP 2025. Černivec, Manca, Helena Dobrovoljc, Tina Lengar Verovnik, Pia Rednak, Urška Vranjek Ošlak in Peter Weiss, ur. ePravopis 2025. Ljubljana: Založba ZRC, 2026. Elektronski slovarski zvezek, 212 strani. DOI: 10.3986/9789610511366 — https://doi.org/10.3986/9789610511366. Sklici navajajo iztočnico oziroma uvod in stran. Letnica v naslovu označuje slovarsko izdajo, kolofon pa leto objave; gre za slovarsko gradivo s pojasnjenim statusom, ne za celotno besedilo novih pravil.</a:t>
            </a:r>
          </a:p>
          <a:p>
            <a:r>
              <a:t>- P8 – dodatno spletno gradivo. Pravopis 8.0: Predlog, zbrano besedilo z dne 22. junija 2026 — https://slovenski-pravopis.si/wp-content/uploads/2026/06/2026-06-22_SP8.pdf. Uporabljeni so izbrani členi, relevantni za primerjavo. Sklic vsebuje ime poglavja, člen v zavitih oklepajih in PDF-stran, saj se številčenje členov po poglavjih začne znova.</a:t>
            </a:r>
          </a:p>
          <a:p/>
          <a:p>
            <a:r>
              <a:t>Status prenove je preverjen na uradnem spletišču 6. oktobra 2026. Ob tej primerjavi je SP 2001 veljavni pravopis; Pravopis 8.0 je predlog v končni redakciji. ePravopis 2025 na str. 6 in 10 pojasnjuje povezavo slovarskega predloga s potrjevanjem pravil. Ta časovna opredelitev je del skripte in jo je treba ob prihodnji posodobitvi znova preveriti.</a:t>
            </a:r>
          </a:p>
          <a:p/>
          <a:p>
            <a:r>
              <a:t> Temeljni spletni priročniki</a:t>
            </a:r>
          </a:p>
          <a:p/>
          <a:p>
            <a:r>
              <a:t>- Slovar slovenskega knjižnega jezika, druga izdaja — SSKJ² — https://fran.si/133/sskj2-slovar-slovenskega-knjiznega-jezika-2.</a:t>
            </a:r>
          </a:p>
          <a:p>
            <a:r>
              <a:t>- Slovenski pravopis 2001: slovar na Franu — https://fran.si/134/slovenski-pravopis.</a:t>
            </a:r>
          </a:p>
          <a:p>
            <a:r>
              <a:t>- Slovenski pravopis 2001: pravila — https://www.fran.si/134/slovenski-pravopis/datoteke/Pravopis_Pravila.pdf.</a:t>
            </a:r>
          </a:p>
          <a:p>
            <a:r>
              <a:t>- Slovenski pravopis: uradno spletišče in status prenove — https://slovenski-pravopis.si/.</a:t>
            </a:r>
          </a:p>
          <a:p>
            <a:r>
              <a:t>- Jezikovna svetovalnica Inštituta za slovenski jezik Frana Ramovša ZRC SAZU — https://svetovalnica.zrc-sazu.si/.</a:t>
            </a:r>
          </a:p>
          <a:p>
            <a:r>
              <a:t>- Gigafida: opis korpusa — https://viri.cjvt.si/gigafida/about/corpus.</a:t>
            </a:r>
          </a:p>
          <a:p/>
          <a:p>
            <a:r>
              <a:t>Spletni viri so bili preverjeni 6. oktobra 2026. Sestavki ePravopisa in predlog Pravopisa 8.0 imajo v gradivu označen status. Pri odgovoru navedemo konkretni slovar ali strokovno obravnavo, ne samo portala, na katerem je objavljena.</a:t>
            </a:r>
          </a:p>
          <a:p/>
          <a:p>
            <a:r>
              <a:t> Strokovne obravnave in konkretni slovarski sestavki</a:t>
            </a:r>
          </a:p>
          <a:p/>
          <a:p>
            <a:r>
              <a:t>Seznam sledi vsebinskemu zaporedju skripte. Povezave so dodane tudi ob razlagah, ki se nanje opirajo.</a:t>
            </a:r>
          </a:p>
          <a:p/>
          <a:p>
            <a:r>
              <a:t>- Inštitut za slovenski jezik Frana Ramovša ZRC SAZU. SSKJ²: iztočnice boks — https://fran.si/iskanje?Query=boks&amp;View=1.</a:t>
            </a:r>
          </a:p>
          <a:p>
            <a:r>
              <a:t>- Helena Dobrovoljc. »Sodoben« ali »sodobni« ples? — https://svetovalnica.zrc-sazu.si/topic/7570/sodoben-ali-sodobni-ples/1 (november 2025).</a:t>
            </a:r>
          </a:p>
          <a:p>
            <a:r>
              <a:t>- Helena Dobrovoljc. Ali je prav pisati »avto bomba« ali »avtobomba«? — https://svetovalnica.zrc-sazu.si/topic/194/ali-je-prav-pisati-avto-bomba-ali-avtobomba (marec 2013; dopolnjeno junija 2026).</a:t>
            </a:r>
          </a:p>
          <a:p>
            <a:r>
              <a:t>- Tina Lengar Verovnik. Kako zapisati »varnostno-obveščevalna služba«? — https://svetovalnica.zrc-sazu.si/topic/1377/kako-zapisati-varnostno-obve%C5%A1%C4%8Devalna-slu%C5%BEba (julij 2016).</a:t>
            </a:r>
          </a:p>
          <a:p>
            <a:r>
              <a:t>- Helena Dobrovoljc. Kako prevesti »Barents Euro-Arctic Council«? — https://svetovalnica.zrc-sazu.si/topic/1310/kako-prevesti-barents-euro-arctic-council (maj 2016).</a:t>
            </a:r>
          </a:p>
          <a:p>
            <a:r>
              <a:t>- Domen Krvina. »Nacionalnovarnostni« ali »nacionalno varnostni« ali »nacionalni varnostni« svet? — https://svetovalnica.zrc-sazu.si/topic/7618/nacionalnovarnostni-ali-nacionalno-varnostni-ali-nacionalni-varnostni-svet (december 2025).</a:t>
            </a:r>
          </a:p>
          <a:p>
            <a:r>
              <a:t>- Domen Krvina. Ali je pravilno »vojaško zdravstvena« ali »vojaška zdravstvena enota« (VZE)? — https://svetovalnica.zrc-sazu.si/topic/7526/ali-je-pravilno-voja%C5%A1ko-zdravstvena-ali-voja%C5%A1ka-zdravstvena-enota-vze (november 2025).</a:t>
            </a:r>
          </a:p>
          <a:p>
            <a:r>
              <a:t>- Helena Dobrovoljc. Obletnica ustanovitve in n-letnica delovanja — https://svetovalnica.zrc-sazu.si/topic/1112/obletnica-ustanovitve-in-n-letnica-delovanja/1 (december 2015).</a:t>
            </a:r>
          </a:p>
          <a:p>
            <a:r>
              <a:t>- Alenka Jelovšek. Napake pri sklanjanju pridevnika v dajalniku in mestniku: »v virtualnem« in ne »v virtualnemu svetu« — https://svetovalnica.zrc-sazu.si/topic/7776/napake-pri-sklanjanju-pridevnika-v-dajalniku-in-mestniku-v-virtualnem-in-ne-v-virtualnemu-svetu (junij 2026).</a:t>
            </a:r>
          </a:p>
          <a:p>
            <a:r>
              <a:t>- Tanja Mirtič. »Na/v Japonsko« in »iz/z Japonske« — https://svetovalnica.zrc-sazu.si/topic/1734/na-v-japonsko-in-iz-z-japonske/1 (december 2016).</a:t>
            </a:r>
          </a:p>
          <a:p>
            <a:r>
              <a:t>- Inštitut za slovenski jezik Frana Ramovša ZRC SAZU. ePravopis: Japonska — https://www.fran.si/ext/SPT/006236 (dostop 6. oktobra 2026).</a:t>
            </a:r>
          </a:p>
          <a:p>
            <a:r>
              <a:t>- Zvonka Praznik. Ali je kozarec »steklen« ali »stekleni«? — https://svetovalnica.zrc-sazu.si/topic/25/ali-je-kozarec-steklen-ali-stekleni/1 (september 2014).</a:t>
            </a:r>
          </a:p>
          <a:p>
            <a:r>
              <a:t>- Dejan Gabrovšek. Jezikovna (ne)pravilnost slogana »Kaj je notri, šteje« — https://svetovalnica.zrc-sazu.si/topic/7309/jezikovna-ne-pravilnost-slogana-kaj-je-notri-%C5%A1teje (marec 2025).</a:t>
            </a:r>
          </a:p>
          <a:p>
            <a:r>
              <a:t>- Helena Dobrovoljc in Tina Lengar Verovnik. Sv. Primož nad Kamnikom – velika začetnica — https://svetovalnica.zrc-sazu.si/topic/7362/sv-primo%C5%BE-nad-kamnikom-velika-za%C4%8Detnica (april 2025).</a:t>
            </a:r>
          </a:p>
          <a:p>
            <a:r>
              <a:t>- Tina Lengar Verovnik. Ali se »jabolko navdiha« zapisuje z veliko ali malo začetnico? — https://svetovalnica.zrc-sazu.si/topic/7571/ali-se-jabolko-navdiha-zapisuje-z-veliko-ali-malo-za%C4%8Detnico (november 2025).</a:t>
            </a:r>
          </a:p>
          <a:p>
            <a:r>
              <a:t>- Urška Vranjek Ošlak. Zapis kratic: »FIFA« ali »Fifa« — https://svetovalnica.zrc-sazu.si/topic/6531/zapis-kratic-fifa-ali-fifa (april 2023).</a:t>
            </a:r>
          </a:p>
          <a:p>
            <a:r>
              <a:t>- Urška Vranjek Ošlak in Tina Lengar Verovnik. Sklanjanje priimkov »Locke« in »Moore« — https://svetovalnica.zrc-sazu.si/topic/5586/sklanjanje-priimkov-locke-in-moore (december 2021).</a:t>
            </a:r>
          </a:p>
          <a:p>
            <a:r>
              <a:t>- Beatrice — https://fran.si/135/epravopis-slovenski-pravopis/4578435/beatrice.</a:t>
            </a:r>
          </a:p>
          <a:p>
            <a:r>
              <a:t>- Helena Dobrovoljc. Sklanjanje imen s predimki: »Jean Guyot de Châtelet« — https://svetovalnica.zrc-sazu.si/topic/7588/sklanjanje-imen-s-predimki-jean-guyot-de-ch%C3%A2telet (december 2025).</a:t>
            </a:r>
          </a:p>
          <a:p>
            <a:r>
              <a:t>- Tina Lengar Verovnik in Helena Dobrovoljc. Tuja osebna imena in njihovi svojilni pridevniki — https://svetovalnica.zrc-sazu.si/topic/71/tuja-osebna-imena-in-njihovi-svojilni-pridevniki (oktober 2014).</a:t>
            </a:r>
          </a:p>
          <a:p>
            <a:r>
              <a:t>- Tanja Mirtič. Svojilni pridevniki iz lastnih imen: »Edijev«, »Tinetov« in »Gregorjev« — https://svetovalnica.zrc-sazu.si/topic/2046/svojilni-pridevniki-iz-lastnih-imen-edijev-tinetov-in-gregorjev (april 2017).</a:t>
            </a:r>
          </a:p>
          <a:p>
            <a:r>
              <a:t>- Helena Dobrovoljc. Kakšen je svojilni pridevnik iz priimka »Nye«? — https://svetovalnica.zrc-sazu.si/topic/1197/kak%C5%A1en-je-svojilni-pridevnik-iz-priimka-nye (februar 2016).</a:t>
            </a:r>
          </a:p>
          <a:p>
            <a:r>
              <a:t>- Urška Vranjek Ošlak. Svojilni pridevnik iz imena »Renault« — https://svetovalnica.zrc-sazu.si/topic/4330/svojilni-pridevnik-iz-imena-renault (april 2020).</a:t>
            </a:r>
          </a:p>
          <a:p>
            <a:r>
              <a:t>- Helena Dobrovoljc. Svojilni pridevnik iz francoskega priimka »Lavoisier« — https://svetovalnica.zrc-sazu.si/topic/2898/svojilni-pridevnik-iz-francoskega-priimka-lavoisier/1 (marec 2018).</a:t>
            </a:r>
          </a:p>
          <a:p>
            <a:r>
              <a:t>- Helena Dobrovoljc, Peter Weiss in Urška Vranjek Ošlak. Sklanjanje imena »Franz Liszt« — https://svetovalnica.zrc-sazu.si/topic/5691/sklanjanje-imena-franz-liszt (februar 2022).</a:t>
            </a:r>
          </a:p>
          <a:p>
            <a:r>
              <a:t>- Beatricin — https://fran.si/135/epravopis-slovenski-pravopis/4578436/beatricin.</a:t>
            </a:r>
          </a:p>
          <a:p>
            <a:r>
              <a:t>- Helena Dobrovoljc in Tina Lengar Verovnik. Unikatna, tuja in večbesedna ženska rojstna imena v slovenščini ter z njimi povezana pravopisna problematika — https://omp.zrc-sazu.si/zalozba/catalog/download/1219/5156/1254-1?inline=1 (2015).</a:t>
            </a:r>
          </a:p>
          <a:p>
            <a:r>
              <a:t>- New York — https://fran.si/134/slovenski-pravopis/3765925/new-york?AllNoHeadword=nju&amp;Query=nju&amp;View=1 (2001).</a:t>
            </a:r>
          </a:p>
          <a:p>
            <a:r>
              <a:t>- Urška Vranjek Ošlak. Tvorba pridevnika na -ski iz zemljepisnega imena, ki se konča na -i: »Frascati« – »frascatijski« ali »frascatski« — https://svetovalnica.zrc-sazu.si/topic/4730/tvorba-pridevnika-na-ski-iz-zemljepisnega-imena-ki-se-kon%C4%8Da-na-i-frascati-frascatijski-ali-frascatski (november 2020).</a:t>
            </a:r>
          </a:p>
          <a:p>
            <a:r>
              <a:t>- Nataša Gliha Komac, Manca Černivec in Helena Dobrovoljc. Pridevnik iz imen »Trenta« in »Mojstrana« – trentski ali trentarski, mojstranski ali mojstranški — https://svetovalnica.zrc-sazu.si/topic/6258/pridevnik-iz-imen-trenta-in-mojstrana-trentski-ali-trentarski-mojstranski-ali-mojstran%C5%A1ki (december 2022).</a:t>
            </a:r>
          </a:p>
          <a:p>
            <a:r>
              <a:t>- Aix-en-Provence — https://fran.si/134/slovenski-pravopis/3723360/aix-en-provence?AllNoHeadword=mesto&amp;FilteredDictionaryIds=134&amp;Query=mesto (2001).</a:t>
            </a:r>
          </a:p>
          <a:p>
            <a:r>
              <a:t>- Peter Weiss. Sklanjanje tujih zemljepisnih imen: »Southend-on-Sea« — https://svetovalnica.zrc-sazu.si/topic/3753/sklanjanje-tujih-zemljepisnih-imen-southend-on-sea (maj 2019).</a:t>
            </a:r>
          </a:p>
          <a:p>
            <a:r>
              <a:t>- Tina Lengar Verovnik. Vejica pred »in to« — https://svetovalnica.zrc-sazu.si/topic/1329/vejica-pred-in-to (maj 2016).</a:t>
            </a:r>
          </a:p>
          <a:p>
            <a:r>
              <a:t>- Tina Lengar Verovnik. Vejica in vezniški »zakaj« v odvisnikih — https://svetovalnica.zrc-sazu.si/topic/596/vejica-in-vezni%C5%A1ki-zakaj-v-odvisnikih (julij 2014).</a:t>
            </a:r>
          </a:p>
          <a:p>
            <a:r>
              <a:t>- Tina Lengar Verovnik, Domen Krvina, Dejan Gabrovšek in Manca Černivec. Vejica na meji med skladenjsko raznorodnimi enotami – težji primeri — https://svetovalnica.zrc-sazu.si/topic/7654/vejica-na-meji-med-skladenjsko-raznorodnimi-enotami-te%C5%BEji-primeri (januar 2026).</a:t>
            </a:r>
          </a:p>
          <a:p>
            <a:r>
              <a:t>- Tina Lengar Verovnik. Vejica pred »kot že dolgo ne« — https://svetovalnica.zrc-sazu.si/topic/4788/vejica-pred-kot-%C5%BEe-dolgo-ne (december 2020).</a:t>
            </a:r>
          </a:p>
          <a:p>
            <a:r>
              <a:t>- Tina Lengar Verovnik. Vrinjeni stavek »kot bi mignil« in vejica — https://svetovalnica.zrc-sazu.si/topic/3668/vrinjeni-stavek-kot-bi-mignil-in-vejica.</a:t>
            </a:r>
          </a:p>
          <a:p>
            <a:r>
              <a:t>- Barbara Benčina, Ivana Vekjet in Franc Marušič. Vejica med pridevniki — https://dariah-si.github.io/suss/suss-arhiv-000505.html (januar 2008).</a:t>
            </a:r>
          </a:p>
          <a:p>
            <a:r>
              <a:t>- Peter Weiss. Besedna zveza »z drugimi besedami« in raba ločil — https://svetovalnica.zrc-sazu.si/topic/1399/besedna-zveza-z-drugimi-besedami-in-raba-lo%C4%8Dil (julij 2016).</a:t>
            </a:r>
          </a:p>
          <a:p>
            <a:r>
              <a:t>- Polona Gantar. Vejica in večbesedni vezniki: »in ker« — https://svetovalnica.zrc-sazu.si/topic/421/vejica-in-ve%C4%8Dbesedni-vezniki-in-ker (januar 2014).</a:t>
            </a:r>
          </a:p>
          <a:p>
            <a:r>
              <a:t>- Manca Černivec. Vejica ali ne pri igri »človek(,) ne jezi se« — https://svetovalnica.zrc-sazu.si/topic/7595/vejica-ali-ne-pri-igri-%C4%8Dlovek-ne-jezi-se (december 2025).</a:t>
            </a:r>
          </a:p>
          <a:p>
            <a:r>
              <a:t>- Tina Lengar Verovnik. Povedkovo določilo znotraj narekovajev in vprašanje vejice, dvopičja, začetnice ... — https://svetovalnica.zrc-sazu.si/topic/7862/povedkovo-dolo%C4%8Dilo-znotraj-narekovajev-in-vpra%C5%A1anje-vejice-dvopi%C4%8Dja-za%C4%8Detnice-.../1 (september 2026).</a:t>
            </a:r>
          </a:p>
          <a:p>
            <a:r>
              <a:t>- Tina Lengar Verovnik. Manj tipični primeri zapisa premega govora: ločila — https://svetovalnica.zrc-sazu.si/topic/7544/manj-tipi%C4%8Dni-primeri-zapisa-premega-govora-lo%C4%8Dila (november 2025).</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Pravopisni viri</a:t>
            </a:r>
          </a:p>
          <a:p/>
          <a:p>
            <a:r>
              <a:t>ZA IZVEDBO</a:t>
            </a:r>
          </a:p>
          <a:p>
            <a:r>
              <a:t>SP2001, predlagane slovarske rešitve in predlog pravil imajo v skripti jasno razmejen status. Predloga ne predstavimo kot že sprejetega pravila; staro rešitev ocenimo tudi v njenem takratnem okviru.</a:t>
            </a:r>
          </a:p>
          <a:p/>
          <a:p>
            <a:r>
              <a:t>VIRI</a:t>
            </a:r>
          </a:p>
          <a:p>
            <a:r>
              <a:t>Skripta 3.0: normativni okvir preverjen 6. oktobra 2026.</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Inštitut za slovenski jezik Frana Ramovša ZRC SAZU. SSKJ²: iztočnice boks.</a:t>
            </a:r>
          </a:p>
          <a:p>
            <a:r>
              <a:t>https://fran.si/iskanje?Query=boks&amp;View=1</a:t>
            </a:r>
          </a:p>
          <a:p>
            <a:r>
              <a:t>Helena Dobrovoljc. »Sodoben« ali »sodobni« ples? (november 2025).</a:t>
            </a:r>
          </a:p>
          <a:p>
            <a:r>
              <a:t>https://svetovalnica.zrc-sazu.si/topic/7570/sodoben-ali-sodobni-ples/1</a:t>
            </a:r>
          </a:p>
          <a:p>
            <a:r>
              <a:t>Helena Dobrovoljc. Ali je prav pisati »avto bomba« ali »avtobomba«? (marec 2013; dopolnjeno junija 2026).</a:t>
            </a:r>
          </a:p>
          <a:p>
            <a:r>
              <a:t>https://svetovalnica.zrc-sazu.si/topic/194/ali-je-prav-pisati-avto-bomba-ali-avtobomba</a:t>
            </a:r>
          </a:p>
          <a:p>
            <a:r>
              <a:t>Tina Lengar Verovnik. Kako zapisati »varnostno-obveščevalna služba«? (julij 2016).</a:t>
            </a:r>
          </a:p>
          <a:p>
            <a:r>
              <a:t>https://svetovalnica.zrc-sazu.si/topic/1377/kako-zapisati-varnostno-obve%C5%A1%C4%8Devalna-slu%C5%BEba</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Helena Dobrovoljc. Kako prevesti »Barents Euro-Arctic Council«? (maj 2016).</a:t>
            </a:r>
          </a:p>
          <a:p>
            <a:r>
              <a:t>https://svetovalnica.zrc-sazu.si/topic/1310/kako-prevesti-barents-euro-arctic-council</a:t>
            </a:r>
          </a:p>
          <a:p>
            <a:r>
              <a:t>Domen Krvina. »Nacionalnovarnostni« ali »nacionalno varnostni« ali »nacionalni varnostni« svet? (december 2025).</a:t>
            </a:r>
          </a:p>
          <a:p>
            <a:r>
              <a:t>https://svetovalnica.zrc-sazu.si/topic/7618/nacionalnovarnostni-ali-nacionalno-varnostni-ali-nacionalni-varnostni-svet</a:t>
            </a:r>
          </a:p>
          <a:p>
            <a:r>
              <a:t>Domen Krvina. Ali je pravilno »vojaško zdravstvena« ali »vojaška zdravstvena enota« (VZE)? (november 2025).</a:t>
            </a:r>
          </a:p>
          <a:p>
            <a:r>
              <a:t>https://svetovalnica.zrc-sazu.si/topic/7526/ali-je-pravilno-voja%C5%A1ko-zdravstvena-ali-voja%C5%A1ka-zdravstvena-enota-vze</a:t>
            </a:r>
          </a:p>
          <a:p>
            <a:r>
              <a:t>Helena Dobrovoljc. Obletnica ustanovitve in n-letnica delovanja (december 2015).</a:t>
            </a:r>
          </a:p>
          <a:p>
            <a:r>
              <a:t>https://svetovalnica.zrc-sazu.si/topic/1112/obletnica-ustanovitve-in-n-letnica-delovanja/1</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Alenka Jelovšek. Napake pri sklanjanju pridevnika v dajalniku in mestniku: »v virtualnem« in ne »v virtualnemu svetu« (junij 2026).</a:t>
            </a:r>
          </a:p>
          <a:p>
            <a:r>
              <a:t>https://svetovalnica.zrc-sazu.si/topic/7776/napake-pri-sklanjanju-pridevnika-v-dajalniku-in-mestniku-v-virtualnem-in-ne-v-virtualnemu-svetu</a:t>
            </a:r>
          </a:p>
          <a:p>
            <a:r>
              <a:t>Tanja Mirtič. »Na/v Japonsko« in »iz/z Japonske« (december 2016).</a:t>
            </a:r>
          </a:p>
          <a:p>
            <a:r>
              <a:t>https://svetovalnica.zrc-sazu.si/topic/1734/na-v-japonsko-in-iz-z-japonske/1</a:t>
            </a:r>
          </a:p>
          <a:p>
            <a:r>
              <a:t>Inštitut za slovenski jezik Frana Ramovša ZRC SAZU. ePravopis: Japonska (dostop 6. oktobra 2026).</a:t>
            </a:r>
          </a:p>
          <a:p>
            <a:r>
              <a:t>https://www.fran.si/ext/SPT/006236</a:t>
            </a:r>
          </a:p>
          <a:p>
            <a:r>
              <a:t>Zvonka Praznik. Ali je kozarec »steklen« ali »stekleni«? (september 2014).</a:t>
            </a:r>
          </a:p>
          <a:p>
            <a:r>
              <a:t>https://svetovalnica.zrc-sazu.si/topic/25/ali-je-kozarec-steklen-ali-stekleni/1</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Dejan Gabrovšek. Jezikovna (ne)pravilnost slogana »Kaj je notri, šteje« (marec 2025).</a:t>
            </a:r>
          </a:p>
          <a:p>
            <a:r>
              <a:t>https://svetovalnica.zrc-sazu.si/topic/7309/jezikovna-ne-pravilnost-slogana-kaj-je-notri-%C5%A1teje</a:t>
            </a:r>
          </a:p>
          <a:p>
            <a:r>
              <a:t>Helena Dobrovoljc in Tina Lengar Verovnik. Sv. Primož nad Kamnikom – velika začetnica (april 2025).</a:t>
            </a:r>
          </a:p>
          <a:p>
            <a:r>
              <a:t>https://svetovalnica.zrc-sazu.si/topic/7362/sv-primo%C5%BE-nad-kamnikom-velika-za%C4%8Detnica</a:t>
            </a:r>
          </a:p>
          <a:p>
            <a:r>
              <a:t>Tina Lengar Verovnik. Ali se »jabolko navdiha« zapisuje z veliko ali malo začetnico? (november 2025).</a:t>
            </a:r>
          </a:p>
          <a:p>
            <a:r>
              <a:t>https://svetovalnica.zrc-sazu.si/topic/7571/ali-se-jabolko-navdiha-zapisuje-z-veliko-ali-malo-za%C4%8Detnico</a:t>
            </a:r>
          </a:p>
          <a:p>
            <a:r>
              <a:t>Urška Vranjek Ošlak. Zapis kratic: »FIFA« ali »Fifa« (april 2023).</a:t>
            </a:r>
          </a:p>
          <a:p>
            <a:r>
              <a:t>https://svetovalnica.zrc-sazu.si/topic/6531/zapis-kratic-fifa-ali-fifa</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Urška Vranjek Ošlak in Tina Lengar Verovnik. Sklanjanje priimkov »Locke« in »Moore« (december 2021).</a:t>
            </a:r>
          </a:p>
          <a:p>
            <a:r>
              <a:t>https://svetovalnica.zrc-sazu.si/topic/5586/sklanjanje-priimkov-locke-in-moore</a:t>
            </a:r>
          </a:p>
          <a:p>
            <a:r>
              <a:t>Beatrice.</a:t>
            </a:r>
          </a:p>
          <a:p>
            <a:r>
              <a:t>https://fran.si/135/epravopis-slovenski-pravopis/4578435/beatrice</a:t>
            </a:r>
          </a:p>
          <a:p>
            <a:r>
              <a:t>Helena Dobrovoljc. Sklanjanje imen s predimki: »Jean Guyot de Châtelet« (december 2025).</a:t>
            </a:r>
          </a:p>
          <a:p>
            <a:r>
              <a:t>https://svetovalnica.zrc-sazu.si/topic/7588/sklanjanje-imen-s-predimki-jean-guyot-de-ch%C3%A2telet</a:t>
            </a:r>
          </a:p>
          <a:p>
            <a:r>
              <a:t>Tina Lengar Verovnik in Helena Dobrovoljc. Tuja osebna imena in njihovi svojilni pridevniki (oktober 2014).</a:t>
            </a:r>
          </a:p>
          <a:p>
            <a:r>
              <a:t>https://svetovalnica.zrc-sazu.si/topic/71/tuja-osebna-imena-in-njihovi-svojilni-pridevniki</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Tanja Mirtič. Svojilni pridevniki iz lastnih imen: »Edijev«, »Tinetov« in »Gregorjev« (april 2017).</a:t>
            </a:r>
          </a:p>
          <a:p>
            <a:r>
              <a:t>https://svetovalnica.zrc-sazu.si/topic/2046/svojilni-pridevniki-iz-lastnih-imen-edijev-tinetov-in-gregorjev</a:t>
            </a:r>
          </a:p>
          <a:p>
            <a:r>
              <a:t>Helena Dobrovoljc. Kakšen je svojilni pridevnik iz priimka »Nye«? (februar 2016).</a:t>
            </a:r>
          </a:p>
          <a:p>
            <a:r>
              <a:t>https://svetovalnica.zrc-sazu.si/topic/1197/kak%C5%A1en-je-svojilni-pridevnik-iz-priimka-nye</a:t>
            </a:r>
          </a:p>
          <a:p>
            <a:r>
              <a:t>Urška Vranjek Ošlak. Svojilni pridevnik iz imena »Renault« (april 2020).</a:t>
            </a:r>
          </a:p>
          <a:p>
            <a:r>
              <a:t>https://svetovalnica.zrc-sazu.si/topic/4330/svojilni-pridevnik-iz-imena-renault</a:t>
            </a:r>
          </a:p>
          <a:p>
            <a:r>
              <a:t>Helena Dobrovoljc. Svojilni pridevnik iz francoskega priimka »Lavoisier« (marec 2018).</a:t>
            </a:r>
          </a:p>
          <a:p>
            <a:r>
              <a:t>https://svetovalnica.zrc-sazu.si/topic/2898/svojilni-pridevnik-iz-francoskega-priimka-lavoisier/1</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Helena Dobrovoljc, Peter Weiss in Urška Vranjek Ošlak. Sklanjanje imena »Franz Liszt« (februar 2022).</a:t>
            </a:r>
          </a:p>
          <a:p>
            <a:r>
              <a:t>https://svetovalnica.zrc-sazu.si/topic/5691/sklanjanje-imena-franz-liszt</a:t>
            </a:r>
          </a:p>
          <a:p>
            <a:r>
              <a:t>Beatricin.</a:t>
            </a:r>
          </a:p>
          <a:p>
            <a:r>
              <a:t>https://fran.si/135/epravopis-slovenski-pravopis/4578436/beatricin</a:t>
            </a:r>
          </a:p>
          <a:p>
            <a:r>
              <a:t>Helena Dobrovoljc in Tina Lengar Verovnik. Unikatna, tuja in večbesedna ženska rojstna imena v slovenščini ter z njimi povezana pravopisna problematika (2015).</a:t>
            </a:r>
          </a:p>
          <a:p>
            <a:r>
              <a:t>https://omp.zrc-sazu.si/zalozba/catalog/download/1219/5156/1254-1?inline=1</a:t>
            </a:r>
          </a:p>
          <a:p>
            <a:r>
              <a:t>New York (2001).</a:t>
            </a:r>
          </a:p>
          <a:p>
            <a:r>
              <a:t>https://fran.si/134/slovenski-pravopis/3765925/new-york?AllNoHeadword=nju&amp;Query=nju&amp;View=1</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Urška Vranjek Ošlak. Tvorba pridevnika na -ski iz zemljepisnega imena, ki se konča na -i: »Frascati« – »frascatijski« ali »frascatski« (november 2020).</a:t>
            </a:r>
          </a:p>
          <a:p>
            <a:r>
              <a:t>https://svetovalnica.zrc-sazu.si/topic/4730/tvorba-pridevnika-na-ski-iz-zemljepisnega-imena-ki-se-kon%C4%8Da-na-i-frascati-frascatijski-ali-frascatski</a:t>
            </a:r>
          </a:p>
          <a:p>
            <a:r>
              <a:t>Nataša Gliha Komac, Manca Černivec in Helena Dobrovoljc. Pridevnik iz imen »Trenta« in »Mojstrana« – trentski ali trentarski, mojstranski ali mojstranški (december 2022).</a:t>
            </a:r>
          </a:p>
          <a:p>
            <a:r>
              <a:t>https://svetovalnica.zrc-sazu.si/topic/6258/pridevnik-iz-imen-trenta-in-mojstrana-trentski-ali-trentarski-mojstranski-ali-mojstran%C5%A1ki</a:t>
            </a:r>
          </a:p>
          <a:p>
            <a:r>
              <a:t>Aix-en-Provence (2001).</a:t>
            </a:r>
          </a:p>
          <a:p>
            <a:r>
              <a:t>https://fran.si/134/slovenski-pravopis/3723360/aix-en-provence?AllNoHeadword=mesto&amp;FilteredDictionaryIds=134&amp;Query=mesto</a:t>
            </a:r>
          </a:p>
          <a:p>
            <a:r>
              <a:t>Peter Weiss. Sklanjanje tujih zemljepisnih imen: »Southend-on-Sea« (maj 2019).</a:t>
            </a:r>
          </a:p>
          <a:p>
            <a:r>
              <a:t>https://svetovalnica.zrc-sazu.si/topic/3753/sklanjanje-tujih-zemljepisnih-imen-southend-on-sea</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Tina Lengar Verovnik. Vejica pred »in to« (maj 2016).</a:t>
            </a:r>
          </a:p>
          <a:p>
            <a:r>
              <a:t>https://svetovalnica.zrc-sazu.si/topic/1329/vejica-pred-in-to</a:t>
            </a:r>
          </a:p>
          <a:p>
            <a:r>
              <a:t>Tina Lengar Verovnik. Vejica in vezniški »zakaj« v odvisnikih (julij 2014).</a:t>
            </a:r>
          </a:p>
          <a:p>
            <a:r>
              <a:t>https://svetovalnica.zrc-sazu.si/topic/596/vejica-in-vezni%C5%A1ki-zakaj-v-odvisnikih</a:t>
            </a:r>
          </a:p>
          <a:p>
            <a:r>
              <a:t>Tina Lengar Verovnik, Domen Krvina, Dejan Gabrovšek in Manca Černivec. Vejica na meji med skladenjsko raznorodnimi enotami – težji primeri (januar 2026).</a:t>
            </a:r>
          </a:p>
          <a:p>
            <a:r>
              <a:t>https://svetovalnica.zrc-sazu.si/topic/7654/vejica-na-meji-med-skladenjsko-raznorodnimi-enotami-te%C5%BEji-primeri</a:t>
            </a:r>
          </a:p>
          <a:p>
            <a:r>
              <a:t>Tina Lengar Verovnik. Vejica pred »kot že dolgo ne« (december 2020).</a:t>
            </a:r>
          </a:p>
          <a:p>
            <a:r>
              <a:t>https://svetovalnica.zrc-sazu.si/topic/4788/vejica-pred-kot-%C5%BEe-dolgo-ne</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Tina Lengar Verovnik. Vrinjeni stavek »kot bi mignil« in vejica.</a:t>
            </a:r>
          </a:p>
          <a:p>
            <a:r>
              <a:t>https://svetovalnica.zrc-sazu.si/topic/3668/vrinjeni-stavek-kot-bi-mignil-in-vejica</a:t>
            </a:r>
          </a:p>
          <a:p>
            <a:r>
              <a:t>Barbara Benčina, Ivana Vekjet in Franc Marušič. Vejica med pridevniki (januar 2008).</a:t>
            </a:r>
          </a:p>
          <a:p>
            <a:r>
              <a:t>https://dariah-si.github.io/suss/suss-arhiv-000505.html</a:t>
            </a:r>
          </a:p>
          <a:p>
            <a:r>
              <a:t>Peter Weiss. Besedna zveza »z drugimi besedami« in raba ločil (julij 2016).</a:t>
            </a:r>
          </a:p>
          <a:p>
            <a:r>
              <a:t>https://svetovalnica.zrc-sazu.si/topic/1399/besedna-zveza-z-drugimi-besedami-in-raba-lo%C4%8Dil</a:t>
            </a:r>
          </a:p>
          <a:p>
            <a:r>
              <a:t>Polona Gantar. Vejica in večbesedni vezniki: »in ker« (januar 2014).</a:t>
            </a:r>
          </a:p>
          <a:p>
            <a:r>
              <a:t>https://svetovalnica.zrc-sazu.si/topic/421/vejica-in-ve%C4%8Dbesedni-vezniki-in-ker</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LSSJ · Spletni viri</a:t>
            </a:r>
          </a:p>
          <a:p/>
          <a:p>
            <a:r>
              <a:t>ZA IZVEDBO</a:t>
            </a:r>
          </a:p>
          <a:p>
            <a:r>
              <a:t>Odprite naslov za konkretni vir. Pri odgovoru preverite, ali vir obravnava isti pomen, zgradbo in normativni okvir.</a:t>
            </a:r>
          </a:p>
          <a:p/>
          <a:p>
            <a:r>
              <a:t>VIRI</a:t>
            </a:r>
          </a:p>
          <a:p>
            <a:r>
              <a:t>Povezave so klikljive; polne navedbe so tudi v opombah.</a:t>
            </a:r>
          </a:p>
          <a:p/>
          <a:p>
            <a:r>
              <a:t>BESEDILO IZ SKRIPTE</a:t>
            </a:r>
          </a:p>
          <a:p>
            <a:r>
              <a:t>Manca Černivec. Vejica ali ne pri igri »človek(,) ne jezi se« (december 2025).</a:t>
            </a:r>
          </a:p>
          <a:p>
            <a:r>
              <a:t>https://svetovalnica.zrc-sazu.si/topic/7595/vejica-ali-ne-pri-igri-%C4%8Dlovek-ne-jezi-se</a:t>
            </a:r>
          </a:p>
          <a:p>
            <a:r>
              <a:t>Tina Lengar Verovnik. Povedkovo določilo znotraj narekovajev in vprašanje vejice, dvopičja, začetnice ... (september 2026).</a:t>
            </a:r>
          </a:p>
          <a:p>
            <a:r>
              <a:t>https://svetovalnica.zrc-sazu.si/topic/7862/povedkovo-dolo%C4%8Dilo-znotraj-narekovajev-in-vpra%C5%A1anje-vejice-dvopi%C4%8Dja-za%C4%8Detnice-.../1</a:t>
            </a:r>
          </a:p>
          <a:p>
            <a:r>
              <a:t>Tina Lengar Verovnik. Manj tipični primeri zapisa premega govora: ločila (november 2025).</a:t>
            </a:r>
          </a:p>
          <a:p>
            <a:r>
              <a:t>https://svetovalnica.zrc-sazu.si/topic/7544/manj-tipi%C4%8Dni-primeri-zapisa-premega-govora-lo%C4%8Dila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ran.si/134/slovenski-pravopis/datoteke/Pravopis_Pravila.pdf" TargetMode="External"/><Relationship Id="rId3" Type="http://schemas.openxmlformats.org/officeDocument/2006/relationships/hyperlink" Target="https://doi.org/10.3986/9789610511366" TargetMode="External"/><Relationship Id="rId4" Type="http://schemas.openxmlformats.org/officeDocument/2006/relationships/hyperlink" Target="https://slovenski-pravopis.si/wp-content/uploads/2026/06/2026-06-22_SP8.pdf" TargetMode="External"/><Relationship Id="rId5"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ran.si/iskanje?Query=boks&amp;View=1" TargetMode="External"/><Relationship Id="rId3" Type="http://schemas.openxmlformats.org/officeDocument/2006/relationships/hyperlink" Target="https://svetovalnica.zrc-sazu.si/topic/7570/sodoben-ali-sodobni-ples/1" TargetMode="External"/><Relationship Id="rId4" Type="http://schemas.openxmlformats.org/officeDocument/2006/relationships/hyperlink" Target="https://svetovalnica.zrc-sazu.si/topic/194/ali-je-prav-pisati-avto-bomba-ali-avtobomba" TargetMode="External"/><Relationship Id="rId5" Type="http://schemas.openxmlformats.org/officeDocument/2006/relationships/hyperlink" Target="https://svetovalnica.zrc-sazu.si/topic/1377/kako-zapisati-varnostno-obve%C5%A1%C4%8Devalna-slu%C5%BEba" TargetMode="External"/><Relationship Id="rId6"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1310/kako-prevesti-barents-euro-arctic-council" TargetMode="External"/><Relationship Id="rId3" Type="http://schemas.openxmlformats.org/officeDocument/2006/relationships/hyperlink" Target="https://svetovalnica.zrc-sazu.si/topic/7618/nacionalnovarnostni-ali-nacionalno-varnostni-ali-nacionalni-varnostni-svet" TargetMode="External"/><Relationship Id="rId4" Type="http://schemas.openxmlformats.org/officeDocument/2006/relationships/hyperlink" Target="https://svetovalnica.zrc-sazu.si/topic/7526/ali-je-pravilno-voja%C5%A1ko-zdravstvena-ali-voja%C5%A1ka-zdravstvena-enota-vze" TargetMode="External"/><Relationship Id="rId5" Type="http://schemas.openxmlformats.org/officeDocument/2006/relationships/hyperlink" Target="https://svetovalnica.zrc-sazu.si/topic/1112/obletnica-ustanovitve-in-n-letnica-delovanja/1" TargetMode="External"/><Relationship Id="rId6"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7776/napake-pri-sklanjanju-pridevnika-v-dajalniku-in-mestniku-v-virtualnem-in-ne-v-virtualnemu-svetu" TargetMode="External"/><Relationship Id="rId3" Type="http://schemas.openxmlformats.org/officeDocument/2006/relationships/hyperlink" Target="https://svetovalnica.zrc-sazu.si/topic/1734/na-v-japonsko-in-iz-z-japonske/1" TargetMode="External"/><Relationship Id="rId4" Type="http://schemas.openxmlformats.org/officeDocument/2006/relationships/hyperlink" Target="https://www.fran.si/ext/SPT/006236" TargetMode="External"/><Relationship Id="rId5" Type="http://schemas.openxmlformats.org/officeDocument/2006/relationships/hyperlink" Target="https://svetovalnica.zrc-sazu.si/topic/25/ali-je-kozarec-steklen-ali-stekleni/1" TargetMode="External"/><Relationship Id="rId6"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7309/jezikovna-ne-pravilnost-slogana-kaj-je-notri-%C5%A1teje" TargetMode="External"/><Relationship Id="rId3" Type="http://schemas.openxmlformats.org/officeDocument/2006/relationships/hyperlink" Target="https://svetovalnica.zrc-sazu.si/topic/7362/sv-primo%C5%BE-nad-kamnikom-velika-za%C4%8Detnica" TargetMode="External"/><Relationship Id="rId4" Type="http://schemas.openxmlformats.org/officeDocument/2006/relationships/hyperlink" Target="https://svetovalnica.zrc-sazu.si/topic/7571/ali-se-jabolko-navdiha-zapisuje-z-veliko-ali-malo-za%C4%8Detnico" TargetMode="External"/><Relationship Id="rId5" Type="http://schemas.openxmlformats.org/officeDocument/2006/relationships/hyperlink" Target="https://svetovalnica.zrc-sazu.si/topic/6531/zapis-kratic-fifa-ali-fifa" TargetMode="External"/><Relationship Id="rId6"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5586/sklanjanje-priimkov-locke-in-moore" TargetMode="External"/><Relationship Id="rId3" Type="http://schemas.openxmlformats.org/officeDocument/2006/relationships/hyperlink" Target="https://fran.si/135/epravopis-slovenski-pravopis/4578435/beatrice" TargetMode="External"/><Relationship Id="rId4" Type="http://schemas.openxmlformats.org/officeDocument/2006/relationships/hyperlink" Target="https://svetovalnica.zrc-sazu.si/topic/7588/sklanjanje-imen-s-predimki-jean-guyot-de-ch%C3%A2telet" TargetMode="External"/><Relationship Id="rId5" Type="http://schemas.openxmlformats.org/officeDocument/2006/relationships/hyperlink" Target="https://svetovalnica.zrc-sazu.si/topic/71/tuja-osebna-imena-in-njihovi-svojilni-pridevniki" TargetMode="External"/><Relationship Id="rId6"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2046/svojilni-pridevniki-iz-lastnih-imen-edijev-tinetov-in-gregorjev" TargetMode="External"/><Relationship Id="rId3" Type="http://schemas.openxmlformats.org/officeDocument/2006/relationships/hyperlink" Target="https://svetovalnica.zrc-sazu.si/topic/1197/kak%C5%A1en-je-svojilni-pridevnik-iz-priimka-nye" TargetMode="External"/><Relationship Id="rId4" Type="http://schemas.openxmlformats.org/officeDocument/2006/relationships/hyperlink" Target="https://svetovalnica.zrc-sazu.si/topic/4330/svojilni-pridevnik-iz-imena-renault" TargetMode="External"/><Relationship Id="rId5" Type="http://schemas.openxmlformats.org/officeDocument/2006/relationships/hyperlink" Target="https://svetovalnica.zrc-sazu.si/topic/2898/svojilni-pridevnik-iz-francoskega-priimka-lavoisier/1" TargetMode="External"/><Relationship Id="rId6"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5691/sklanjanje-imena-franz-liszt" TargetMode="External"/><Relationship Id="rId3" Type="http://schemas.openxmlformats.org/officeDocument/2006/relationships/hyperlink" Target="https://fran.si/135/epravopis-slovenski-pravopis/4578436/beatricin" TargetMode="External"/><Relationship Id="rId4" Type="http://schemas.openxmlformats.org/officeDocument/2006/relationships/hyperlink" Target="https://omp.zrc-sazu.si/zalozba/catalog/download/1219/5156/1254-1?inline=1" TargetMode="External"/><Relationship Id="rId5" Type="http://schemas.openxmlformats.org/officeDocument/2006/relationships/hyperlink" Target="https://fran.si/134/slovenski-pravopis/3765925/new-york?AllNoHeadword=nju&amp;Query=nju&amp;View=1" TargetMode="External"/><Relationship Id="rId6"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4730/tvorba-pridevnika-na-ski-iz-zemljepisnega-imena-ki-se-kon%C4%8Da-na-i-frascati-frascatijski-ali-frascatski" TargetMode="External"/><Relationship Id="rId3" Type="http://schemas.openxmlformats.org/officeDocument/2006/relationships/hyperlink" Target="https://svetovalnica.zrc-sazu.si/topic/6258/pridevnik-iz-imen-trenta-in-mojstrana-trentski-ali-trentarski-mojstranski-ali-mojstran%C5%A1ki" TargetMode="External"/><Relationship Id="rId4" Type="http://schemas.openxmlformats.org/officeDocument/2006/relationships/hyperlink" Target="https://fran.si/134/slovenski-pravopis/3723360/aix-en-provence?AllNoHeadword=mesto&amp;FilteredDictionaryIds=134&amp;Query=mesto" TargetMode="External"/><Relationship Id="rId5" Type="http://schemas.openxmlformats.org/officeDocument/2006/relationships/hyperlink" Target="https://svetovalnica.zrc-sazu.si/topic/3753/sklanjanje-tujih-zemljepisnih-imen-southend-on-sea" TargetMode="External"/><Relationship Id="rId6"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1329/vejica-pred-in-to" TargetMode="External"/><Relationship Id="rId3" Type="http://schemas.openxmlformats.org/officeDocument/2006/relationships/hyperlink" Target="https://svetovalnica.zrc-sazu.si/topic/596/vejica-in-vezni%C5%A1ki-zakaj-v-odvisnikih" TargetMode="External"/><Relationship Id="rId4" Type="http://schemas.openxmlformats.org/officeDocument/2006/relationships/hyperlink" Target="https://svetovalnica.zrc-sazu.si/topic/7654/vejica-na-meji-med-skladenjsko-raznorodnimi-enotami-te%C5%BEji-primeri" TargetMode="External"/><Relationship Id="rId5" Type="http://schemas.openxmlformats.org/officeDocument/2006/relationships/hyperlink" Target="https://svetovalnica.zrc-sazu.si/topic/4788/vejica-pred-kot-%C5%BEe-dolgo-ne" TargetMode="External"/><Relationship Id="rId6"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3668/vrinjeni-stavek-kot-bi-mignil-in-vejica" TargetMode="External"/><Relationship Id="rId3" Type="http://schemas.openxmlformats.org/officeDocument/2006/relationships/hyperlink" Target="https://dariah-si.github.io/suss/suss-arhiv-000505.html" TargetMode="External"/><Relationship Id="rId4" Type="http://schemas.openxmlformats.org/officeDocument/2006/relationships/hyperlink" Target="https://svetovalnica.zrc-sazu.si/topic/1399/besedna-zveza-z-drugimi-besedami-in-raba-lo%C4%8Dil" TargetMode="External"/><Relationship Id="rId5" Type="http://schemas.openxmlformats.org/officeDocument/2006/relationships/hyperlink" Target="https://svetovalnica.zrc-sazu.si/topic/421/vejica-in-ve%C4%8Dbesedni-vezniki-in-ker" TargetMode="External"/><Relationship Id="rId6"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vetovalnica.zrc-sazu.si/topic/7595/vejica-ali-ne-pri-igri-%C4%8Dlovek-ne-jezi-se" TargetMode="External"/><Relationship Id="rId3" Type="http://schemas.openxmlformats.org/officeDocument/2006/relationships/hyperlink" Target="https://svetovalnica.zrc-sazu.si/topic/7862/povedkovo-dolo%C4%8Dilo-znotraj-narekovajev-in-vpra%C5%A1anje-vejice-dvopi%C4%8Dja-za%C4%8Detnice-.../1" TargetMode="External"/><Relationship Id="rId4" Type="http://schemas.openxmlformats.org/officeDocument/2006/relationships/hyperlink" Target="https://svetovalnica.zrc-sazu.si/topic/7544/manj-tipi%C4%8Dni-primeri-zapisa-premega-govora-lo%C4%8Dila" TargetMode="External"/><Relationship Id="rId5" Type="http://schemas.openxmlformats.org/officeDocument/2006/relationships/notesSlide" Target="../notesSlides/notesSlide36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76656" y="1389888"/>
            <a:ext cx="10789920" cy="1554480"/>
          </a:xfrm>
          <a:prstGeom prst="rect">
            <a:avLst/>
          </a:prstGeom>
          <a:noFill/>
        </p:spPr>
        <p:txBody>
          <a:bodyPr wrap="square" lIns="0" rIns="0" tIns="0" bIns="0" anchor="t">
            <a:noAutofit/>
          </a:bodyPr>
          <a:lstStyle/>
          <a:p>
            <a:pPr rtl="0">
              <a:lnSpc>
                <a:spcPct val="110000"/>
              </a:lnSpc>
              <a:spcBef>
                <a:spcPts val="0"/>
              </a:spcBef>
              <a:spcAft>
                <a:spcPts val="0"/>
              </a:spcAft>
            </a:pPr>
            <a:r>
              <a:rPr sz="4700" b="1" i="0">
                <a:solidFill>
                  <a:srgbClr val="182D3D"/>
                </a:solidFill>
                <a:latin typeface="Arial"/>
              </a:rPr>
              <a:t>Leksika in slovnica</a:t>
            </a:r>
          </a:p>
          <a:p>
            <a:pPr rtl="0">
              <a:lnSpc>
                <a:spcPct val="110000"/>
              </a:lnSpc>
              <a:spcBef>
                <a:spcPts val="0"/>
              </a:spcBef>
              <a:spcAft>
                <a:spcPts val="0"/>
              </a:spcAft>
            </a:pPr>
            <a:r>
              <a:rPr sz="4700" b="1" i="0">
                <a:solidFill>
                  <a:srgbClr val="182D3D"/>
                </a:solidFill>
                <a:latin typeface="Arial"/>
              </a:rPr>
              <a:t>slovenskega jezika</a:t>
            </a:r>
          </a:p>
        </p:txBody>
      </p:sp>
      <p:sp>
        <p:nvSpPr>
          <p:cNvPr id="3" name="TextBox 2"/>
          <p:cNvSpPr txBox="1"/>
          <p:nvPr/>
        </p:nvSpPr>
        <p:spPr>
          <a:xfrm>
            <a:off x="713232" y="3319272"/>
            <a:ext cx="10716768" cy="1097280"/>
          </a:xfrm>
          <a:prstGeom prst="rect">
            <a:avLst/>
          </a:prstGeom>
          <a:noFill/>
        </p:spPr>
        <p:txBody>
          <a:bodyPr wrap="square" lIns="0" rIns="0" tIns="0" bIns="0" anchor="t">
            <a:noAutofit/>
          </a:bodyPr>
          <a:lstStyle/>
          <a:p>
            <a:pPr rtl="0">
              <a:lnSpc>
                <a:spcPct val="110000"/>
              </a:lnSpc>
              <a:spcBef>
                <a:spcPts val="0"/>
              </a:spcBef>
              <a:spcAft>
                <a:spcPts val="0"/>
              </a:spcAft>
            </a:pPr>
            <a:r>
              <a:rPr sz="3000" b="0" i="0">
                <a:solidFill>
                  <a:srgbClr val="546674"/>
                </a:solidFill>
                <a:latin typeface="Arial"/>
              </a:rPr>
              <a:t>Od poimenovanja in zgradbe</a:t>
            </a:r>
          </a:p>
          <a:p>
            <a:pPr rtl="0">
              <a:lnSpc>
                <a:spcPct val="110000"/>
              </a:lnSpc>
              <a:spcBef>
                <a:spcPts val="0"/>
              </a:spcBef>
              <a:spcAft>
                <a:spcPts val="0"/>
              </a:spcAft>
            </a:pPr>
            <a:r>
              <a:rPr sz="3000" b="0" i="0">
                <a:solidFill>
                  <a:srgbClr val="546674"/>
                </a:solidFill>
                <a:latin typeface="Arial"/>
              </a:rPr>
              <a:t>do utemeljenega jezikovnega nasveta</a:t>
            </a:r>
          </a:p>
        </p:txBody>
      </p:sp>
      <p:sp>
        <p:nvSpPr>
          <p:cNvPr id="4" name="TextBox 3"/>
          <p:cNvSpPr txBox="1"/>
          <p:nvPr/>
        </p:nvSpPr>
        <p:spPr>
          <a:xfrm>
            <a:off x="713232" y="5897880"/>
            <a:ext cx="10607040" cy="365760"/>
          </a:xfrm>
          <a:prstGeom prst="rect">
            <a:avLst/>
          </a:prstGeom>
          <a:noFill/>
        </p:spPr>
        <p:txBody>
          <a:bodyPr wrap="square" lIns="0" rIns="0" tIns="0" bIns="0" anchor="t">
            <a:noAutofit/>
          </a:bodyPr>
          <a:lstStyle/>
          <a:p>
            <a:pPr rtl="0">
              <a:lnSpc>
                <a:spcPct val="110000"/>
              </a:lnSpc>
              <a:spcBef>
                <a:spcPts val="0"/>
              </a:spcBef>
              <a:spcAft>
                <a:spcPts val="0"/>
              </a:spcAft>
            </a:pPr>
            <a:r>
              <a:rPr sz="1800" b="0" i="0">
                <a:solidFill>
                  <a:srgbClr val="546674"/>
                </a:solidFill>
                <a:latin typeface="Arial"/>
              </a:rPr>
              <a:t>Damjan Popič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Vsebina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a:t>
            </a:r>
          </a:p>
        </p:txBody>
      </p:sp>
      <p:sp>
        <p:nvSpPr>
          <p:cNvPr id="4" name="TextBox 3"/>
          <p:cNvSpPr txBox="1"/>
          <p:nvPr/>
        </p:nvSpPr>
        <p:spPr>
          <a:xfrm>
            <a:off x="667512" y="1984248"/>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1.</a:t>
            </a:r>
          </a:p>
        </p:txBody>
      </p:sp>
      <p:sp>
        <p:nvSpPr>
          <p:cNvPr id="5" name="TextBox 4"/>
          <p:cNvSpPr txBox="1"/>
          <p:nvPr/>
        </p:nvSpPr>
        <p:spPr>
          <a:xfrm>
            <a:off x="1353312" y="1965960"/>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Jezikovna odločitev</a:t>
            </a:r>
          </a:p>
        </p:txBody>
      </p:sp>
      <p:sp>
        <p:nvSpPr>
          <p:cNvPr id="6" name="TextBox 5"/>
          <p:cNvSpPr txBox="1"/>
          <p:nvPr/>
        </p:nvSpPr>
        <p:spPr>
          <a:xfrm>
            <a:off x="667512" y="2935224"/>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2.</a:t>
            </a:r>
          </a:p>
        </p:txBody>
      </p:sp>
      <p:sp>
        <p:nvSpPr>
          <p:cNvPr id="7" name="TextBox 6"/>
          <p:cNvSpPr txBox="1"/>
          <p:nvPr/>
        </p:nvSpPr>
        <p:spPr>
          <a:xfrm>
            <a:off x="1353312" y="2916936"/>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Pomen in poimenovanje</a:t>
            </a:r>
          </a:p>
        </p:txBody>
      </p:sp>
      <p:sp>
        <p:nvSpPr>
          <p:cNvPr id="8" name="TextBox 7"/>
          <p:cNvSpPr txBox="1"/>
          <p:nvPr/>
        </p:nvSpPr>
        <p:spPr>
          <a:xfrm>
            <a:off x="667512" y="3886200"/>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3.</a:t>
            </a:r>
          </a:p>
        </p:txBody>
      </p:sp>
      <p:sp>
        <p:nvSpPr>
          <p:cNvPr id="9" name="TextBox 8"/>
          <p:cNvSpPr txBox="1"/>
          <p:nvPr/>
        </p:nvSpPr>
        <p:spPr>
          <a:xfrm>
            <a:off x="1353312" y="3867912"/>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Beseda in besedna zveza</a:t>
            </a:r>
          </a:p>
        </p:txBody>
      </p:sp>
      <p:sp>
        <p:nvSpPr>
          <p:cNvPr id="10" name="TextBox 9"/>
          <p:cNvSpPr txBox="1"/>
          <p:nvPr/>
        </p:nvSpPr>
        <p:spPr>
          <a:xfrm>
            <a:off x="667512" y="4837176"/>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4.</a:t>
            </a:r>
          </a:p>
        </p:txBody>
      </p:sp>
      <p:sp>
        <p:nvSpPr>
          <p:cNvPr id="11" name="TextBox 10"/>
          <p:cNvSpPr txBox="1"/>
          <p:nvPr/>
        </p:nvSpPr>
        <p:spPr>
          <a:xfrm>
            <a:off x="1353312" y="4818888"/>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Oblike v sobesedilu</a:t>
            </a:r>
          </a:p>
        </p:txBody>
      </p:sp>
      <p:sp>
        <p:nvSpPr>
          <p:cNvPr id="12" name="TextBox 11"/>
          <p:cNvSpPr txBox="1"/>
          <p:nvPr/>
        </p:nvSpPr>
        <p:spPr>
          <a:xfrm>
            <a:off x="6245351" y="1984248"/>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5.</a:t>
            </a:r>
          </a:p>
        </p:txBody>
      </p:sp>
      <p:sp>
        <p:nvSpPr>
          <p:cNvPr id="13" name="TextBox 12"/>
          <p:cNvSpPr txBox="1"/>
          <p:nvPr/>
        </p:nvSpPr>
        <p:spPr>
          <a:xfrm>
            <a:off x="6931151" y="1965960"/>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Lastna imena</a:t>
            </a:r>
          </a:p>
        </p:txBody>
      </p:sp>
      <p:sp>
        <p:nvSpPr>
          <p:cNvPr id="14" name="TextBox 13"/>
          <p:cNvSpPr txBox="1"/>
          <p:nvPr/>
        </p:nvSpPr>
        <p:spPr>
          <a:xfrm>
            <a:off x="6245351" y="2935224"/>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6.</a:t>
            </a:r>
          </a:p>
        </p:txBody>
      </p:sp>
      <p:sp>
        <p:nvSpPr>
          <p:cNvPr id="15" name="TextBox 14"/>
          <p:cNvSpPr txBox="1"/>
          <p:nvPr/>
        </p:nvSpPr>
        <p:spPr>
          <a:xfrm>
            <a:off x="6931151" y="2916936"/>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Zgradba povedi</a:t>
            </a:r>
          </a:p>
        </p:txBody>
      </p:sp>
      <p:sp>
        <p:nvSpPr>
          <p:cNvPr id="16" name="TextBox 15"/>
          <p:cNvSpPr txBox="1"/>
          <p:nvPr/>
        </p:nvSpPr>
        <p:spPr>
          <a:xfrm>
            <a:off x="6245351" y="3886200"/>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7.</a:t>
            </a:r>
          </a:p>
        </p:txBody>
      </p:sp>
      <p:sp>
        <p:nvSpPr>
          <p:cNvPr id="17" name="TextBox 16"/>
          <p:cNvSpPr txBox="1"/>
          <p:nvPr/>
        </p:nvSpPr>
        <p:spPr>
          <a:xfrm>
            <a:off x="6931151" y="3867912"/>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Dodatki in navedki</a:t>
            </a:r>
          </a:p>
        </p:txBody>
      </p:sp>
      <p:sp>
        <p:nvSpPr>
          <p:cNvPr id="18" name="TextBox 17"/>
          <p:cNvSpPr txBox="1"/>
          <p:nvPr/>
        </p:nvSpPr>
        <p:spPr>
          <a:xfrm>
            <a:off x="6245351" y="4837176"/>
            <a:ext cx="548640" cy="43891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00695F"/>
                </a:solidFill>
                <a:latin typeface="Arial"/>
              </a:rPr>
              <a:t>8.</a:t>
            </a:r>
          </a:p>
        </p:txBody>
      </p:sp>
      <p:sp>
        <p:nvSpPr>
          <p:cNvPr id="19" name="TextBox 18"/>
          <p:cNvSpPr txBox="1"/>
          <p:nvPr/>
        </p:nvSpPr>
        <p:spPr>
          <a:xfrm>
            <a:off x="6931151" y="4818888"/>
            <a:ext cx="4480560" cy="594360"/>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Jezikovni nasvet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Kako bomo delali?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Jezikovno odločitev oblikujemo, pokažemo in preverimo.</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Razčlenimo</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Prepoznamo pomen, sestavine in odločilno razmerje.</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Utemeljimo</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Rešitev podpremo s postopkom in ustreznim virom.</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Prenesemo</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Spremenimo en podatek in preverimo, ali prejšnja razlaga še velja.</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 vajah primerjamo postopek, ne samo končnega zapisa.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1. Jezikovna odločitev</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Kateri podatek odloča o rešitvi jezikovnega problema?</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Natančno poimenujemo problem in raven analize.</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Razločimo pomen, zgradbo, kodifikacijo in ustreznost.</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Izberemo vir ter omejimo doseg svojega sklepa.</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Tisto, kar nas zmoti, še ni diagnoza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a:t>
            </a:r>
          </a:p>
        </p:txBody>
      </p:sp>
      <p:graphicFrame>
        <p:nvGraphicFramePr>
          <p:cNvPr id="4" name="Table 3"/>
          <p:cNvGraphicFramePr>
            <a:graphicFrameLocks noGrp="1"/>
          </p:cNvGraphicFramePr>
          <p:nvPr/>
        </p:nvGraphicFramePr>
        <p:xfrm>
          <a:off x="621792" y="1810512"/>
          <a:ext cx="10954511" cy="2976880"/>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Primer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Odločilno vprašanje</a:t>
                      </a:r>
                    </a:p>
                  </a:txBody>
                  <a:tcPr marL="137160" marR="137160" marT="73152" marB="73152" anchor="ctr">
                    <a:solidFill>
                      <a:srgbClr val="00695F"/>
                    </a:solidFill>
                  </a:tcPr>
                </a:tc>
              </a:tr>
              <a:tr h="880364">
                <a:tc>
                  <a:txBody>
                    <a:bodyPr wrap="square"/>
                    <a:lstStyle/>
                    <a:p>
                      <a:pPr>
                        <a:lnSpc>
                          <a:spcPct val="108000"/>
                        </a:lnSpc>
                        <a:spcAft>
                          <a:spcPts val="0"/>
                        </a:spcAft>
                      </a:pPr>
                      <a:r>
                        <a:rPr sz="2200" b="0" i="0">
                          <a:solidFill>
                            <a:srgbClr val="182D3D"/>
                          </a:solidFill>
                          <a:latin typeface="Arial"/>
                        </a:rPr>
                        <a:t>v novem poročilu / v novemu poročilu</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Kateri sklon zahteva zveza?</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nov slovar / novi slovar</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Kaj pomeni pridevnik v sobesedilu?</a:t>
                      </a:r>
                    </a:p>
                  </a:txBody>
                  <a:tcPr marL="137160" marR="137160" marT="73152" marB="73152" anchor="ctr">
                    <a:solidFill>
                      <a:srgbClr val="EDF1F2"/>
                    </a:solidFill>
                  </a:tcPr>
                </a:tc>
              </a:tr>
              <a:tr h="880364">
                <a:tc>
                  <a:txBody>
                    <a:bodyPr wrap="square"/>
                    <a:lstStyle/>
                    <a:p>
                      <a:pPr>
                        <a:lnSpc>
                          <a:spcPct val="108000"/>
                        </a:lnSpc>
                        <a:spcAft>
                          <a:spcPts val="0"/>
                        </a:spcAft>
                      </a:pPr>
                      <a:r>
                        <a:rPr sz="2200" b="0" i="0">
                          <a:solidFill>
                            <a:srgbClr val="182D3D"/>
                          </a:solidFill>
                          <a:latin typeface="Arial"/>
                        </a:rPr>
                        <a:t>Poročilo, ki ga je pripravila skupina, bomo objavili jutri.</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Kje se odvisnik začne in konča?</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Natančno vprašanje usmeri analizo in izbiro vira.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Štiri razsežnosti jezikovne presoje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a:t>
            </a:r>
          </a:p>
        </p:txBody>
      </p:sp>
      <p:graphicFrame>
        <p:nvGraphicFramePr>
          <p:cNvPr id="4" name="Table 3"/>
          <p:cNvGraphicFramePr>
            <a:graphicFrameLocks noGrp="1"/>
          </p:cNvGraphicFramePr>
          <p:nvPr/>
        </p:nvGraphicFramePr>
        <p:xfrm>
          <a:off x="621792" y="1810512"/>
          <a:ext cx="10954511" cy="3596132"/>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Razsežnost</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ugotavljamo?</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Pomen</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Kaj izraz sporoča in na kaj se nanaša?</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Slovnična zgradba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Kakšni odnosi povezujejo sestavine?</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Kodifikacija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Kako pojav obravnava določeni normativni priročnik?</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Sporazumevalna ustreznost</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Kako izbira deluje pri teh naslovnikih in v tej vrsti besedila?</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Povejmo, kaj naša utemeljitev dokazuje in kako daleč velja.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Teoretična analiza in pravopisna odločitev</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Teorija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Ta beseda je tvorjena iz predložne zveze.</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Razložimo zgradbo po določenem merilu in v imenovanem modelu.</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Kodifikacija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To obliko v izbranem priročniku pišemo z vezajem.</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Preverimo obseg pravila, konkretni primer in status normativnega vira.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Analiza pojasni zgradbo; normativno odločitev dodatno utemeljimo v izbranem okviru.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Dve obliki ali dva leksema?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Obliki istega leksema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Študent je študentu posodil knjigo.</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Študent in študentu pripadata istemu leksemu; v povedi imata različni nalogi.</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Večbesedni leksem</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sončna očala / nova očala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Ustaljeno poimenovanje primerjamo s prosto opisno zvezo.</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Vedno navedimo, ali analiziramo pojavitev, besedno obliko ali leksem.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Oblika, tvorjenka in pomen so različne ravni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a:t>
            </a:r>
          </a:p>
        </p:txBody>
      </p:sp>
      <p:graphicFrame>
        <p:nvGraphicFramePr>
          <p:cNvPr id="4" name="Table 3"/>
          <p:cNvGraphicFramePr>
            <a:graphicFrameLocks noGrp="1"/>
          </p:cNvGraphicFramePr>
          <p:nvPr/>
        </p:nvGraphicFramePr>
        <p:xfrm>
          <a:off x="621792" y="1810512"/>
          <a:ext cx="10954511" cy="3596132"/>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Primer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Raven analize</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knjig-a – knjig-e</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Osnova in sklonska končnica.</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gozd – gozdar</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Tvorjenje nove besede s pripono.</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miška – miški</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Različni slovnični obliki.</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miška: žival – računalniška naprava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Povezana pomena znotraj pomenja istega leksema.</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Oblikovne spremembe ne enačimo s tvorjenjem ali pomenskim razmerjem.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Besedna vrsta še ne določi stavčnega člena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Poved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Funkcija sestavine</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Knjiga je izšla.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Knjiga: osebek.</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Urednica bere knjigo.</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knjigo: predmet.</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Pogovarjali smo se o knjigi.</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o knjigi: predmetna predložna zveza.</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Knjiga je zanimiva.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zanimiva: povedkovo določilo; je zanimiva: povedek.</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Razločimo besedno vrsto, jedro sestavine in celotno stavčno funkcijo.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Tri načine povezovanja preverimo z zgledi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a:t>
            </a:r>
          </a:p>
        </p:txBody>
      </p:sp>
      <p:graphicFrame>
        <p:nvGraphicFramePr>
          <p:cNvPr id="4" name="Table 3"/>
          <p:cNvGraphicFramePr>
            <a:graphicFrameLocks noGrp="1"/>
          </p:cNvGraphicFramePr>
          <p:nvPr/>
        </p:nvGraphicFramePr>
        <p:xfrm>
          <a:off x="621792" y="1810512"/>
          <a:ext cx="10954511" cy="288925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Razmerje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Odločilna lastnost</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Ujemanje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zanimiva razprava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Prilagajanje po spolu, številu in sklonu.</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Vezava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razmišljati o razpravi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Dopolnilo v določeni obliki.</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Primik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pozorno brati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Določanje brez oblikovnega ujemanja ali sklonovne vezave.</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 vsaki zvezi ugotovimo, kako jedro omejuje oziroma povezuje odvisni 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Ista poved vsebuje prirednost in podrednost</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Bere članek in knjigo, ki jo je priporočila mentorica.</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Prirednost</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Članek in knjiga sta predmeta na isti skladenjski ravni.</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Podrednost</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Odvisnik ki jo je priporočila mentorica določa knjigo.</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Raven</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Odnose med stavki ločimo od odnosov v podstavi tvorjenke.</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Oznaka priredno sama še ne določi ločila ali zapisa tvorjenke.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Poved in stavek ne merita istega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Osebna stavčna zgradba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Ana hodi domov.</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Povedek ima osebno glagolsko obliko; poved je samostojno sporočilo.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Neosebni izraz</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Hoditi domov ob taki uri!</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Nedoločniška zgradba je lahko samostojno sporočilo brez osebne glagolske oblike.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Sporočilne samostojnosti ne določimo samo s štetjem osebnih glagolov.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Isto pomensko izhodišče različno upovedimo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a:t>
            </a:r>
          </a:p>
        </p:txBody>
      </p:sp>
      <p:graphicFrame>
        <p:nvGraphicFramePr>
          <p:cNvPr id="4" name="Table 3"/>
          <p:cNvGraphicFramePr>
            <a:graphicFrameLocks noGrp="1"/>
          </p:cNvGraphicFramePr>
          <p:nvPr/>
        </p:nvGraphicFramePr>
        <p:xfrm>
          <a:off x="621792" y="1810512"/>
          <a:ext cx="10954511" cy="2715768"/>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Način upovedovanja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Poved</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Trditev</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Urednica je avtorju poslala pripombe.</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Vprašanje</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Ali je urednica avtorju poslala pripombe?</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Poziv</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Naj urednica avtorju pošlje pripombe.</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Upovedovanje pomenski podstavi doda konkretno zgradbo, časovne določitve in sporočilno vlogo.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Povedek ne izčrpa vseh predikacijskih vsebin</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a:t>
            </a:r>
          </a:p>
        </p:txBody>
      </p:sp>
      <p:graphicFrame>
        <p:nvGraphicFramePr>
          <p:cNvPr id="4" name="Table 3"/>
          <p:cNvGraphicFramePr>
            <a:graphicFrameLocks noGrp="1"/>
          </p:cNvGraphicFramePr>
          <p:nvPr/>
        </p:nvGraphicFramePr>
        <p:xfrm>
          <a:off x="621792" y="1810512"/>
          <a:ext cx="10954511" cy="3596132"/>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moramo ločiti?</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Maja je oddala nalogo.</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Dve glagolski besedi; ena sestavljena osebna oblika.</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Maja želi oddati nalogo.</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Hotenje; oddaja še ni zatrjena kot izvršena.</a:t>
                      </a:r>
                    </a:p>
                  </a:txBody>
                  <a:tcPr marL="137160" marR="137160" marT="73152" marB="73152" anchor="ctr">
                    <a:solidFill>
                      <a:srgbClr val="EDF1F2"/>
                    </a:solidFill>
                  </a:tcPr>
                </a:tc>
              </a:tr>
              <a:tr h="880364">
                <a:tc>
                  <a:txBody>
                    <a:bodyPr wrap="square"/>
                    <a:lstStyle/>
                    <a:p>
                      <a:pPr>
                        <a:lnSpc>
                          <a:spcPct val="108000"/>
                        </a:lnSpc>
                        <a:spcAft>
                          <a:spcPts val="0"/>
                        </a:spcAft>
                      </a:pPr>
                      <a:r>
                        <a:rPr sz="2200" b="0" i="0">
                          <a:solidFill>
                            <a:srgbClr val="182D3D"/>
                          </a:solidFill>
                          <a:latin typeface="Arial"/>
                        </a:rPr>
                        <a:t>Maja je povedala, da bo oddala nalogo.</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Nadredni stavek in vsebinski odvisnik.</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Maja se je vrnila utrujena.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Vrnitev in dodatno prisojeno Majino stanje.</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Najprej razločimo vsebine in njihovo vključitev, nato štejemo ter poimenujemo zgradbe.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Zakaj stojita dve vejici?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Poročilo, ki ga je pripravila skupina, bomo objavili jutri.</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Osnova</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Poročilo bomo objavili jutri.</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Odnosnica</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Ki ga je pripravila skupina določa poročilo.</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Meji</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Prva vejica začne odvisnik; druga ga konča.</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Vejico pred bomo pojasni konec odvisnika, ne beseda, ki sledi.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Izberemo vir, ki odgovarja na naše vprašanje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a:t>
            </a:r>
          </a:p>
        </p:txBody>
      </p:sp>
      <p:graphicFrame>
        <p:nvGraphicFramePr>
          <p:cNvPr id="4" name="Table 3"/>
          <p:cNvGraphicFramePr>
            <a:graphicFrameLocks noGrp="1"/>
          </p:cNvGraphicFramePr>
          <p:nvPr/>
        </p:nvGraphicFramePr>
        <p:xfrm>
          <a:off x="621792" y="1810512"/>
          <a:ext cx="10954511" cy="381254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Vprašanje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Začetni vir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preberemo?</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Model ali kategorija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Slovnica, monografija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Merilo, dokazni zgled, meje analize.</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Pomen ali termin</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Razlagalni, terminološki slovar</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Pomen, področje, kvalifikatorji.</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Pravilo ali zadrega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Pravopis, Jezikovna svetovalnica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Obseg pravila, pogoji, status in datum.</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Besedilna raba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Korpus</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Celotno sobesedilo, žanr, ponovitve.</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 na portal še ne pove, kateri vir in kateri podatek uporabljamo.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Slovarski sestavek beremo po plasteh</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a:t>
            </a:r>
          </a:p>
        </p:txBody>
      </p:sp>
      <p:sp>
        <p:nvSpPr>
          <p:cNvPr id="4" name="TextBox 3"/>
          <p:cNvSpPr txBox="1"/>
          <p:nvPr/>
        </p:nvSpPr>
        <p:spPr>
          <a:xfrm>
            <a:off x="80467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1</a:t>
            </a:r>
          </a:p>
        </p:txBody>
      </p:sp>
      <p:sp>
        <p:nvSpPr>
          <p:cNvPr id="5" name="TextBox 4"/>
          <p:cNvSpPr txBox="1"/>
          <p:nvPr/>
        </p:nvSpPr>
        <p:spPr>
          <a:xfrm>
            <a:off x="152704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Iztočnica</a:t>
            </a:r>
          </a:p>
        </p:txBody>
      </p:sp>
      <p:sp>
        <p:nvSpPr>
          <p:cNvPr id="6" name="TextBox 5"/>
          <p:cNvSpPr txBox="1"/>
          <p:nvPr/>
        </p:nvSpPr>
        <p:spPr>
          <a:xfrm>
            <a:off x="83210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Prepoznamo enoto in morebitno številčenje enakopisnih sestavkov.</a:t>
            </a:r>
          </a:p>
        </p:txBody>
      </p:sp>
      <p:sp>
        <p:nvSpPr>
          <p:cNvPr id="7" name="TextBox 6"/>
          <p:cNvSpPr txBox="1"/>
          <p:nvPr/>
        </p:nvSpPr>
        <p:spPr>
          <a:xfrm>
            <a:off x="638251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2</a:t>
            </a:r>
          </a:p>
        </p:txBody>
      </p:sp>
      <p:sp>
        <p:nvSpPr>
          <p:cNvPr id="8" name="TextBox 7"/>
          <p:cNvSpPr txBox="1"/>
          <p:nvPr/>
        </p:nvSpPr>
        <p:spPr>
          <a:xfrm>
            <a:off x="710488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Izgovor in pregibanje</a:t>
            </a:r>
          </a:p>
        </p:txBody>
      </p:sp>
      <p:sp>
        <p:nvSpPr>
          <p:cNvPr id="9" name="TextBox 8"/>
          <p:cNvSpPr txBox="1"/>
          <p:nvPr/>
        </p:nvSpPr>
        <p:spPr>
          <a:xfrm>
            <a:off x="640994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Preberemo izgovor, paradigmo ter slovnično in pomensko uvrstitev.</a:t>
            </a:r>
          </a:p>
        </p:txBody>
      </p:sp>
      <p:sp>
        <p:nvSpPr>
          <p:cNvPr id="10" name="TextBox 9"/>
          <p:cNvSpPr txBox="1"/>
          <p:nvPr/>
        </p:nvSpPr>
        <p:spPr>
          <a:xfrm>
            <a:off x="80467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3</a:t>
            </a:r>
          </a:p>
        </p:txBody>
      </p:sp>
      <p:sp>
        <p:nvSpPr>
          <p:cNvPr id="11" name="TextBox 10"/>
          <p:cNvSpPr txBox="1"/>
          <p:nvPr/>
        </p:nvSpPr>
        <p:spPr>
          <a:xfrm>
            <a:off x="152704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Zgledi in tvorjenke</a:t>
            </a:r>
          </a:p>
        </p:txBody>
      </p:sp>
      <p:sp>
        <p:nvSpPr>
          <p:cNvPr id="12" name="TextBox 11"/>
          <p:cNvSpPr txBox="1"/>
          <p:nvPr/>
        </p:nvSpPr>
        <p:spPr>
          <a:xfrm>
            <a:off x="83210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Razločimo sklonsko obliko v zgledu, povezano tvorjenko in napotilo.</a:t>
            </a:r>
          </a:p>
        </p:txBody>
      </p:sp>
      <p:sp>
        <p:nvSpPr>
          <p:cNvPr id="13" name="TextBox 12"/>
          <p:cNvSpPr txBox="1"/>
          <p:nvPr/>
        </p:nvSpPr>
        <p:spPr>
          <a:xfrm>
            <a:off x="638251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4</a:t>
            </a:r>
          </a:p>
        </p:txBody>
      </p:sp>
      <p:sp>
        <p:nvSpPr>
          <p:cNvPr id="14" name="TextBox 13"/>
          <p:cNvSpPr txBox="1"/>
          <p:nvPr/>
        </p:nvSpPr>
        <p:spPr>
          <a:xfrm>
            <a:off x="710488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Navodila slovarja</a:t>
            </a:r>
          </a:p>
        </p:txBody>
      </p:sp>
      <p:sp>
        <p:nvSpPr>
          <p:cNvPr id="15" name="TextBox 14"/>
          <p:cNvSpPr txBox="1"/>
          <p:nvPr/>
        </p:nvSpPr>
        <p:spPr>
          <a:xfrm>
            <a:off x="640994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Preverimo kvalifikatorje, dvojnice in normativna pojasnila.</a:t>
            </a:r>
          </a:p>
        </p:txBody>
      </p:sp>
      <p:sp>
        <p:nvSpPr>
          <p:cNvPr id="16" name="TextBox 15"/>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Pravilno prebrani slovarski podatek je pogoj za pravilno uporabo splošnega pravila.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 2001, eP 2025 in P8 imajo različne vloge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a:t>
            </a:r>
          </a:p>
        </p:txBody>
      </p:sp>
      <p:graphicFrame>
        <p:nvGraphicFramePr>
          <p:cNvPr id="4" name="Table 3"/>
          <p:cNvGraphicFramePr>
            <a:graphicFrameLocks noGrp="1"/>
          </p:cNvGraphicFramePr>
          <p:nvPr/>
        </p:nvGraphicFramePr>
        <p:xfrm>
          <a:off x="621792" y="1810512"/>
          <a:ext cx="10954511" cy="288925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Vir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z njim utemeljujemo?</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Kako ga navedemo?</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SP 2001</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Pravilo v osnovnem normativnem okviru.</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Člen in po potrebi stran.</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ePravopis 2025</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Konkretni slovarski predlog in paradigmo.</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Iztočnica in stran.</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Pravopis 8.0 — predlog</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Predlagano splošno ureditev.</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Poglavje, člen {…}, različica.</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Različnih statusov virov ne združimo v neoznačeno zbirko novih pravil.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Razlika med odgovoroma ni vedno sprememba pravila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Položaj</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preverimo?</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Spremenjen predlog zapisa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Ali vir izrecno predlaga drugačno kodifikacijo?</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Natančnejša razmejitev</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Ali loči prej združene izgovore ali primere?</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Že obstoječa dvojnica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Ali smo staro navodilo prebrali v celoti?</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Drug pomen ali predmet</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Ali oba odgovora rešujeta isto vprašanje?</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Najprej zagotovimo primerljivost podatkov, nato poimenujemo razliko med viri.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Od korpusnega zadetka do preverljive utemeljitve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a:t>
            </a:r>
          </a:p>
        </p:txBody>
      </p:sp>
      <p:sp>
        <p:nvSpPr>
          <p:cNvPr id="4" name="TextBox 3"/>
          <p:cNvSpPr txBox="1"/>
          <p:nvPr/>
        </p:nvSpPr>
        <p:spPr>
          <a:xfrm>
            <a:off x="80467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1</a:t>
            </a:r>
          </a:p>
        </p:txBody>
      </p:sp>
      <p:sp>
        <p:nvSpPr>
          <p:cNvPr id="5" name="TextBox 4"/>
          <p:cNvSpPr txBox="1"/>
          <p:nvPr/>
        </p:nvSpPr>
        <p:spPr>
          <a:xfrm>
            <a:off x="152704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Vprašanje</a:t>
            </a:r>
          </a:p>
        </p:txBody>
      </p:sp>
      <p:sp>
        <p:nvSpPr>
          <p:cNvPr id="6" name="TextBox 5"/>
          <p:cNvSpPr txBox="1"/>
          <p:nvPr/>
        </p:nvSpPr>
        <p:spPr>
          <a:xfrm>
            <a:off x="83210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Določimo pomen, register ali pojav, ki ga preverjamo.</a:t>
            </a:r>
          </a:p>
        </p:txBody>
      </p:sp>
      <p:sp>
        <p:nvSpPr>
          <p:cNvPr id="7" name="TextBox 6"/>
          <p:cNvSpPr txBox="1"/>
          <p:nvPr/>
        </p:nvSpPr>
        <p:spPr>
          <a:xfrm>
            <a:off x="638251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2</a:t>
            </a:r>
          </a:p>
        </p:txBody>
      </p:sp>
      <p:sp>
        <p:nvSpPr>
          <p:cNvPr id="8" name="TextBox 7"/>
          <p:cNvSpPr txBox="1"/>
          <p:nvPr/>
        </p:nvSpPr>
        <p:spPr>
          <a:xfrm>
            <a:off x="710488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Podatki</a:t>
            </a:r>
          </a:p>
        </p:txBody>
      </p:sp>
      <p:sp>
        <p:nvSpPr>
          <p:cNvPr id="9" name="TextBox 8"/>
          <p:cNvSpPr txBox="1"/>
          <p:nvPr/>
        </p:nvSpPr>
        <p:spPr>
          <a:xfrm>
            <a:off x="640994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Zapišemo korpus, različico, poizvedbo in enoto štetja.</a:t>
            </a:r>
          </a:p>
        </p:txBody>
      </p:sp>
      <p:sp>
        <p:nvSpPr>
          <p:cNvPr id="10" name="TextBox 9"/>
          <p:cNvSpPr txBox="1"/>
          <p:nvPr/>
        </p:nvSpPr>
        <p:spPr>
          <a:xfrm>
            <a:off x="80467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3</a:t>
            </a:r>
          </a:p>
        </p:txBody>
      </p:sp>
      <p:sp>
        <p:nvSpPr>
          <p:cNvPr id="11" name="TextBox 10"/>
          <p:cNvSpPr txBox="1"/>
          <p:nvPr/>
        </p:nvSpPr>
        <p:spPr>
          <a:xfrm>
            <a:off x="152704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Presoja zadetkov</a:t>
            </a:r>
          </a:p>
        </p:txBody>
      </p:sp>
      <p:sp>
        <p:nvSpPr>
          <p:cNvPr id="12" name="TextBox 11"/>
          <p:cNvSpPr txBox="1"/>
          <p:nvPr/>
        </p:nvSpPr>
        <p:spPr>
          <a:xfrm>
            <a:off x="83210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Preberemo sobesedilo; razločimo pomene, žanre in ponovitve.</a:t>
            </a:r>
          </a:p>
        </p:txBody>
      </p:sp>
      <p:sp>
        <p:nvSpPr>
          <p:cNvPr id="13" name="TextBox 12"/>
          <p:cNvSpPr txBox="1"/>
          <p:nvPr/>
        </p:nvSpPr>
        <p:spPr>
          <a:xfrm>
            <a:off x="638251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4</a:t>
            </a:r>
          </a:p>
        </p:txBody>
      </p:sp>
      <p:sp>
        <p:nvSpPr>
          <p:cNvPr id="14" name="TextBox 13"/>
          <p:cNvSpPr txBox="1"/>
          <p:nvPr/>
        </p:nvSpPr>
        <p:spPr>
          <a:xfrm>
            <a:off x="710488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Omejen sklep</a:t>
            </a:r>
          </a:p>
        </p:txBody>
      </p:sp>
      <p:sp>
        <p:nvSpPr>
          <p:cNvPr id="15" name="TextBox 14"/>
          <p:cNvSpPr txBox="1"/>
          <p:nvPr/>
        </p:nvSpPr>
        <p:spPr>
          <a:xfrm>
            <a:off x="640994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Navedemo ugotovitev, datum dostopa in po potrebi normativno preverjanje.</a:t>
            </a:r>
          </a:p>
        </p:txBody>
      </p:sp>
      <p:sp>
        <p:nvSpPr>
          <p:cNvPr id="16" name="TextBox 15"/>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Korpus dokazuje izpričano rabo; obseg sklepa določimo z analizo podatkov.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povedi </a:t>
            </a:r>
            <a:r>
              <a:rPr sz="2300" b="0" i="1">
                <a:solidFill>
                  <a:srgbClr val="182D3D"/>
                </a:solidFill>
                <a:latin typeface="Arial"/>
              </a:rPr>
              <a:t>Knjiga je ležala ob knjigi</a:t>
            </a:r>
            <a:r>
              <a:rPr sz="2300" b="0" i="0">
                <a:solidFill>
                  <a:srgbClr val="182D3D"/>
                </a:solidFill>
                <a:latin typeface="Arial"/>
              </a:rPr>
              <a:t> primerjajte obliki </a:t>
            </a:r>
            <a:r>
              <a:rPr sz="2300" b="0" i="1">
                <a:solidFill>
                  <a:srgbClr val="182D3D"/>
                </a:solidFill>
                <a:latin typeface="Arial"/>
              </a:rPr>
              <a:t>knjiga</a:t>
            </a:r>
            <a:r>
              <a:rPr sz="2300" b="0" i="0">
                <a:solidFill>
                  <a:srgbClr val="182D3D"/>
                </a:solidFill>
                <a:latin typeface="Arial"/>
              </a:rPr>
              <a:t> in </a:t>
            </a:r>
            <a:r>
              <a:rPr sz="2300" b="0" i="1">
                <a:solidFill>
                  <a:srgbClr val="182D3D"/>
                </a:solidFill>
                <a:latin typeface="Arial"/>
              </a:rPr>
              <a:t>knjigi</a:t>
            </a:r>
            <a:r>
              <a:rPr sz="2300" b="0" i="0">
                <a:solidFill>
                  <a:srgbClr val="182D3D"/>
                </a:solidFill>
                <a:latin typeface="Arial"/>
              </a:rPr>
              <a:t>: ali pripadata istemu leksemu in ali imata isto stavčno funkcijo?</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zvezi </a:t>
            </a:r>
            <a:r>
              <a:rPr sz="2300" b="0" i="1">
                <a:solidFill>
                  <a:srgbClr val="182D3D"/>
                </a:solidFill>
                <a:latin typeface="Arial"/>
              </a:rPr>
              <a:t>nova knjiga o prevajanju</a:t>
            </a:r>
            <a:r>
              <a:rPr sz="2300" b="0" i="0">
                <a:solidFill>
                  <a:srgbClr val="182D3D"/>
                </a:solidFill>
                <a:latin typeface="Arial"/>
              </a:rPr>
              <a:t> določite jedro in odvisna dela. Nato celotno zvezo uporabite kot osebek in kot predmet.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Knjiga</a:t>
            </a:r>
            <a:r>
              <a:rPr sz="2300" b="0" i="0">
                <a:solidFill>
                  <a:srgbClr val="182D3D"/>
                </a:solidFill>
                <a:latin typeface="Arial"/>
              </a:rPr>
              <a:t> in </a:t>
            </a:r>
            <a:r>
              <a:rPr sz="2300" b="0" i="1">
                <a:solidFill>
                  <a:srgbClr val="182D3D"/>
                </a:solidFill>
                <a:latin typeface="Arial"/>
              </a:rPr>
              <a:t>knjigi</a:t>
            </a:r>
            <a:r>
              <a:rPr sz="2300" b="0" i="0">
                <a:solidFill>
                  <a:srgbClr val="182D3D"/>
                </a:solidFill>
                <a:latin typeface="Arial"/>
              </a:rPr>
              <a:t> sta obliki istega leksema </a:t>
            </a:r>
            <a:r>
              <a:rPr sz="2300" b="0" i="1">
                <a:solidFill>
                  <a:srgbClr val="182D3D"/>
                </a:solidFill>
                <a:latin typeface="Arial"/>
              </a:rPr>
              <a:t>knjiga</a:t>
            </a:r>
            <a:r>
              <a:rPr sz="2300" b="0" i="0">
                <a:solidFill>
                  <a:srgbClr val="182D3D"/>
                </a:solidFill>
                <a:latin typeface="Arial"/>
              </a:rPr>
              <a:t>. Prva je imenovalniška in nastopa kot osebek. Druga je v mestniku znotraj predložne zveze </a:t>
            </a:r>
            <a:r>
              <a:rPr sz="2300" b="0" i="1">
                <a:solidFill>
                  <a:srgbClr val="182D3D"/>
                </a:solidFill>
                <a:latin typeface="Arial"/>
              </a:rPr>
              <a:t>ob knjigi</a:t>
            </a:r>
            <a:r>
              <a:rPr sz="2300" b="0" i="0">
                <a:solidFill>
                  <a:srgbClr val="182D3D"/>
                </a:solidFill>
                <a:latin typeface="Arial"/>
              </a:rPr>
              <a:t>, ki v danem zgledu izraža kraj. Stavčno funkcijo tu določamo celotni predložni zvezi.</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Jedro je </a:t>
            </a:r>
            <a:r>
              <a:rPr sz="2300" b="0" i="1">
                <a:solidFill>
                  <a:srgbClr val="182D3D"/>
                </a:solidFill>
                <a:latin typeface="Arial"/>
              </a:rPr>
              <a:t>knjiga</a:t>
            </a:r>
            <a:r>
              <a:rPr sz="2300" b="0" i="0">
                <a:solidFill>
                  <a:srgbClr val="182D3D"/>
                </a:solidFill>
                <a:latin typeface="Arial"/>
              </a:rPr>
              <a:t>, odvisna dela pa </a:t>
            </a:r>
            <a:r>
              <a:rPr sz="2300" b="0" i="1">
                <a:solidFill>
                  <a:srgbClr val="182D3D"/>
                </a:solidFill>
                <a:latin typeface="Arial"/>
              </a:rPr>
              <a:t>nova</a:t>
            </a:r>
            <a:r>
              <a:rPr sz="2300" b="0" i="0">
                <a:solidFill>
                  <a:srgbClr val="182D3D"/>
                </a:solidFill>
                <a:latin typeface="Arial"/>
              </a:rPr>
              <a:t> in </a:t>
            </a:r>
            <a:r>
              <a:rPr sz="2300" b="0" i="1">
                <a:solidFill>
                  <a:srgbClr val="182D3D"/>
                </a:solidFill>
                <a:latin typeface="Arial"/>
              </a:rPr>
              <a:t>o prevajanju</a:t>
            </a:r>
            <a:r>
              <a:rPr sz="2300" b="0" i="0">
                <a:solidFill>
                  <a:srgbClr val="182D3D"/>
                </a:solidFill>
                <a:latin typeface="Arial"/>
              </a:rPr>
              <a:t>. Kot osebek: </a:t>
            </a:r>
            <a:r>
              <a:rPr sz="2300" b="0" i="1">
                <a:solidFill>
                  <a:srgbClr val="182D3D"/>
                </a:solidFill>
                <a:latin typeface="Arial"/>
              </a:rPr>
              <a:t>Nova knjiga o prevajanju je izšla včeraj.</a:t>
            </a:r>
            <a:r>
              <a:rPr sz="2300" b="0" i="0">
                <a:solidFill>
                  <a:srgbClr val="182D3D"/>
                </a:solidFill>
                <a:latin typeface="Arial"/>
              </a:rPr>
              <a:t> Kot predmet: </a:t>
            </a:r>
            <a:r>
              <a:rPr sz="2300" b="0" i="1">
                <a:solidFill>
                  <a:srgbClr val="182D3D"/>
                </a:solidFill>
                <a:latin typeface="Arial"/>
              </a:rPr>
              <a:t>Urednica je prebrala novo knjigo o prevajanju.</a:t>
            </a:r>
            <a:r>
              <a:rPr sz="2300" b="0" i="0">
                <a:solidFill>
                  <a:srgbClr val="182D3D"/>
                </a:solidFill>
                <a:latin typeface="Arial"/>
              </a:rPr>
              <a:t> Ob spremembi vloge se ustrezno spremenita obliki samostalnika in pridevnika.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Pojasnite razliko med trditvama </a:t>
            </a:r>
            <a:r>
              <a:rPr sz="2300" b="0" i="1">
                <a:solidFill>
                  <a:srgbClr val="182D3D"/>
                </a:solidFill>
                <a:latin typeface="Arial"/>
              </a:rPr>
              <a:t>to je pridevnik</a:t>
            </a:r>
            <a:r>
              <a:rPr sz="2300" b="0" i="0">
                <a:solidFill>
                  <a:srgbClr val="182D3D"/>
                </a:solidFill>
                <a:latin typeface="Arial"/>
              </a:rPr>
              <a:t> in </a:t>
            </a:r>
            <a:r>
              <a:rPr sz="2300" b="0" i="1">
                <a:solidFill>
                  <a:srgbClr val="182D3D"/>
                </a:solidFill>
                <a:latin typeface="Arial"/>
              </a:rPr>
              <a:t>to je prilastek</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Razčlenite poved </a:t>
            </a:r>
            <a:r>
              <a:rPr sz="2300" b="0" i="1">
                <a:solidFill>
                  <a:srgbClr val="182D3D"/>
                </a:solidFill>
                <a:latin typeface="Arial"/>
              </a:rPr>
              <a:t>Študentka je povedala, da potrebuje slovar in priročnik</a:t>
            </a:r>
            <a:r>
              <a:rPr sz="2300" b="0" i="0">
                <a:solidFill>
                  <a:srgbClr val="182D3D"/>
                </a:solidFill>
                <a:latin typeface="Arial"/>
              </a:rPr>
              <a:t>. Kaj povezuje </a:t>
            </a:r>
            <a:r>
              <a:rPr sz="2300" b="0" i="1">
                <a:solidFill>
                  <a:srgbClr val="182D3D"/>
                </a:solidFill>
                <a:latin typeface="Arial"/>
              </a:rPr>
              <a:t>in</a:t>
            </a:r>
            <a:r>
              <a:rPr sz="2300" b="0" i="0">
                <a:solidFill>
                  <a:srgbClr val="182D3D"/>
                </a:solidFill>
                <a:latin typeface="Arial"/>
              </a:rPr>
              <a:t>? Kaj uvaja </a:t>
            </a:r>
            <a:r>
              <a:rPr sz="2300" b="0" i="1">
                <a:solidFill>
                  <a:srgbClr val="182D3D"/>
                </a:solidFill>
                <a:latin typeface="Arial"/>
              </a:rPr>
              <a:t>da</a:t>
            </a:r>
            <a:r>
              <a:rPr sz="2300" b="0" i="0">
                <a:solidFill>
                  <a:srgbClr val="182D3D"/>
                </a:solidFill>
                <a:latin typeface="Arial"/>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100" b="0" i="0">
                <a:solidFill>
                  <a:srgbClr val="182D3D"/>
                </a:solidFill>
                <a:latin typeface="Arial"/>
              </a:rPr>
              <a:t>S prvo trditvijo določimo izhodiščno besedno vrsto, z drugo skladenjsko funkcijo. Pridevnik je lahko prilastek, npr. </a:t>
            </a:r>
            <a:r>
              <a:rPr sz="2100" b="0" i="1">
                <a:solidFill>
                  <a:srgbClr val="182D3D"/>
                </a:solidFill>
                <a:latin typeface="Arial"/>
              </a:rPr>
              <a:t>zanimiva knjiga</a:t>
            </a:r>
            <a:r>
              <a:rPr sz="2100" b="0" i="0">
                <a:solidFill>
                  <a:srgbClr val="182D3D"/>
                </a:solidFill>
                <a:latin typeface="Arial"/>
              </a:rPr>
              <a:t>, v povedi </a:t>
            </a:r>
            <a:r>
              <a:rPr sz="2100" b="0" i="1">
                <a:solidFill>
                  <a:srgbClr val="182D3D"/>
                </a:solidFill>
                <a:latin typeface="Arial"/>
              </a:rPr>
              <a:t>Knjiga je zanimiva</a:t>
            </a:r>
            <a:r>
              <a:rPr sz="2100" b="0" i="0">
                <a:solidFill>
                  <a:srgbClr val="182D3D"/>
                </a:solidFill>
                <a:latin typeface="Arial"/>
              </a:rPr>
              <a:t> pa sodeluje v povedku kot povedkovo določilo. Pri modelu, ki to rabo razloži kot prehod v povedkovnik, dodamo še to besednovrstno opredelitev; funkcija in teoretična razvrstitev ostajata ločena podatka (1.4 in 6.1).</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In</a:t>
            </a:r>
            <a:r>
              <a:rPr sz="2300" b="0" i="0">
                <a:solidFill>
                  <a:srgbClr val="182D3D"/>
                </a:solidFill>
                <a:latin typeface="Arial"/>
              </a:rPr>
              <a:t> povezuje samostalniška predmeta </a:t>
            </a:r>
            <a:r>
              <a:rPr sz="2300" b="0" i="1">
                <a:solidFill>
                  <a:srgbClr val="182D3D"/>
                </a:solidFill>
                <a:latin typeface="Arial"/>
              </a:rPr>
              <a:t>slovar</a:t>
            </a:r>
            <a:r>
              <a:rPr sz="2300" b="0" i="0">
                <a:solidFill>
                  <a:srgbClr val="182D3D"/>
                </a:solidFill>
                <a:latin typeface="Arial"/>
              </a:rPr>
              <a:t> in </a:t>
            </a:r>
            <a:r>
              <a:rPr sz="2300" b="0" i="1">
                <a:solidFill>
                  <a:srgbClr val="182D3D"/>
                </a:solidFill>
                <a:latin typeface="Arial"/>
              </a:rPr>
              <a:t>priročnik</a:t>
            </a:r>
            <a:r>
              <a:rPr sz="2300" b="0" i="0">
                <a:solidFill>
                  <a:srgbClr val="182D3D"/>
                </a:solidFill>
                <a:latin typeface="Arial"/>
              </a:rPr>
              <a:t>. </a:t>
            </a:r>
            <a:r>
              <a:rPr sz="2300" b="0" i="1">
                <a:solidFill>
                  <a:srgbClr val="182D3D"/>
                </a:solidFill>
                <a:latin typeface="Arial"/>
              </a:rPr>
              <a:t>Da</a:t>
            </a:r>
            <a:r>
              <a:rPr sz="2300" b="0" i="0">
                <a:solidFill>
                  <a:srgbClr val="182D3D"/>
                </a:solidFill>
                <a:latin typeface="Arial"/>
              </a:rPr>
              <a:t> uvaja vsebinski odvisnik, ki dopolnjuje glagol </a:t>
            </a:r>
            <a:r>
              <a:rPr sz="2300" b="0" i="1">
                <a:solidFill>
                  <a:srgbClr val="182D3D"/>
                </a:solidFill>
                <a:latin typeface="Arial"/>
              </a:rPr>
              <a:t>je povedala</a:t>
            </a:r>
            <a:r>
              <a:rPr sz="2300" b="0" i="0">
                <a:solidFill>
                  <a:srgbClr val="182D3D"/>
                </a:solidFill>
                <a:latin typeface="Arial"/>
              </a:rPr>
              <a:t>. Veznik </a:t>
            </a:r>
            <a:r>
              <a:rPr sz="2300" b="0" i="1">
                <a:solidFill>
                  <a:srgbClr val="182D3D"/>
                </a:solidFill>
                <a:latin typeface="Arial"/>
              </a:rPr>
              <a:t>in</a:t>
            </a:r>
            <a:r>
              <a:rPr sz="2300" b="0" i="0">
                <a:solidFill>
                  <a:srgbClr val="182D3D"/>
                </a:solidFill>
                <a:latin typeface="Arial"/>
              </a:rPr>
              <a:t> v tem primeru ne povezuje dveh samostojnih stavkov.</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Presodite utemeljitev: »Vejica je potrebna, ker pri branju naredim premor.« Kateri podatki v njej manjkajo?</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Izberite začetni vir za preverjanje pomena izraza, zapisa večbesednega imena in pogostnosti kolokacije. Utemeljite izbor.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Govorni premor je odvisen tudi od tempa, poudarka in načina branja. Za utemeljitev potrebujemo podatek o zgradbi: med katerima enotama je meja, kakšno razmerje ju povezuje in katero pravopisno pravilo je s tem povezano.</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 pomen začnemo z ustreznim razlagalnim ali terminološkim slovarjem. Za zapis imena s pravopisnim virom in po potrebi strokovno obravnavo vrste imena. Za pogostnost kolokacije s korpusom, v katerem preverimo posamezne zadetke in njihove pomene. Odgovori se lahko dopolnjujejo z drugimi viri.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Napišite kratek odgovor na vprašanje, zakaj je v povedi </a:t>
            </a:r>
            <a:r>
              <a:rPr sz="2300" b="0" i="1">
                <a:solidFill>
                  <a:srgbClr val="182D3D"/>
                </a:solidFill>
                <a:latin typeface="Arial"/>
              </a:rPr>
              <a:t>Članek, ki ga beremo, obravnava prevajanje</a:t>
            </a:r>
            <a:r>
              <a:rPr sz="2300" b="0" i="0">
                <a:solidFill>
                  <a:srgbClr val="182D3D"/>
                </a:solidFill>
                <a:latin typeface="Arial"/>
              </a:rPr>
              <a:t> vejica pred </a:t>
            </a:r>
            <a:r>
              <a:rPr sz="2300" b="0" i="1">
                <a:solidFill>
                  <a:srgbClr val="182D3D"/>
                </a:solidFill>
                <a:latin typeface="Arial"/>
              </a:rPr>
              <a:t>obravnava</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dveh virih najdete različni obliki pridevnika. Katere podatke morate preveriti, preden razliko razglasite za spremembo pravila? Pojasnite tudi, zakaj eP 2025 in predlog pravil Pravopisa 8.0 nista isti dokument.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Vejica pred </a:t>
            </a:r>
            <a:r>
              <a:rPr sz="2300" b="0" i="1">
                <a:solidFill>
                  <a:srgbClr val="182D3D"/>
                </a:solidFill>
                <a:latin typeface="Arial"/>
              </a:rPr>
              <a:t>obravnava</a:t>
            </a:r>
            <a:r>
              <a:rPr sz="2300" b="0" i="0">
                <a:solidFill>
                  <a:srgbClr val="182D3D"/>
                </a:solidFill>
                <a:latin typeface="Arial"/>
              </a:rPr>
              <a:t> zapira prilastkov odvisnik </a:t>
            </a:r>
            <a:r>
              <a:rPr sz="2300" b="0" i="1">
                <a:solidFill>
                  <a:srgbClr val="182D3D"/>
                </a:solidFill>
                <a:latin typeface="Arial"/>
              </a:rPr>
              <a:t>ki ga beremo</a:t>
            </a:r>
            <a:r>
              <a:rPr sz="2300" b="0" i="0">
                <a:solidFill>
                  <a:srgbClr val="182D3D"/>
                </a:solidFill>
                <a:latin typeface="Arial"/>
              </a:rPr>
              <a:t>. Ta določa </a:t>
            </a:r>
            <a:r>
              <a:rPr sz="2300" b="0" i="1">
                <a:solidFill>
                  <a:srgbClr val="182D3D"/>
                </a:solidFill>
                <a:latin typeface="Arial"/>
              </a:rPr>
              <a:t>članek</a:t>
            </a:r>
            <a:r>
              <a:rPr sz="2300" b="0" i="0">
                <a:solidFill>
                  <a:srgbClr val="182D3D"/>
                </a:solidFill>
                <a:latin typeface="Arial"/>
              </a:rPr>
              <a:t> in je umeščen med osebek in povedek osnovne povedi </a:t>
            </a:r>
            <a:r>
              <a:rPr sz="2300" b="0" i="1">
                <a:solidFill>
                  <a:srgbClr val="182D3D"/>
                </a:solidFill>
                <a:latin typeface="Arial"/>
              </a:rPr>
              <a:t>Članek obravnava prevajanje</a:t>
            </a:r>
            <a:r>
              <a:rPr sz="2300" b="0" i="0">
                <a:solidFill>
                  <a:srgbClr val="182D3D"/>
                </a:solidFill>
                <a:latin typeface="Arial"/>
              </a:rPr>
              <a:t>. Meje torej ne določa beseda </a:t>
            </a:r>
            <a:r>
              <a:rPr sz="2300" b="0" i="1">
                <a:solidFill>
                  <a:srgbClr val="182D3D"/>
                </a:solidFill>
                <a:latin typeface="Arial"/>
              </a:rPr>
              <a:t>obravnava</a:t>
            </a:r>
            <a:r>
              <a:rPr sz="2300" b="0" i="0">
                <a:solidFill>
                  <a:srgbClr val="182D3D"/>
                </a:solidFill>
                <a:latin typeface="Arial"/>
              </a:rPr>
              <a:t>, ampak konec odvisnika.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Preverimo, ali primerjamo isto ime, izgovor, pomen, slovnično obliko in časovni oziroma normativni okvir. Razlika je lahko nova rešitev, natančnejša razčlenitev, že obstoječa dvojnica ali posledica drugega izhodišča. eP 2025 je slovarski zvezek s konkretnimi sestavki; Pravopis 8.0 je predlog splošnih pravil, ki se z njimi povezuje. Podatek iz enega zato ne sme dobiti napačne navedbe drugega.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9</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ravni opisa.</a:t>
            </a:r>
            <a:r>
              <a:rPr sz="2500" b="0" i="0">
                <a:solidFill>
                  <a:srgbClr val="182D3D"/>
                </a:solidFill>
                <a:latin typeface="Arial"/>
              </a:rPr>
              <a:t> Razvrstite naslednje trditve in za vsako določite potreben dokaz: (a) </a:t>
            </a:r>
            <a:r>
              <a:rPr sz="2500" b="0" i="1">
                <a:solidFill>
                  <a:srgbClr val="182D3D"/>
                </a:solidFill>
                <a:latin typeface="Arial"/>
              </a:rPr>
              <a:t>sončna očala</a:t>
            </a:r>
            <a:r>
              <a:rPr sz="2500" b="0" i="0">
                <a:solidFill>
                  <a:srgbClr val="182D3D"/>
                </a:solidFill>
                <a:latin typeface="Arial"/>
              </a:rPr>
              <a:t> so ustaljena poimenovalna enota; (b) </a:t>
            </a:r>
            <a:r>
              <a:rPr sz="2500" b="0" i="1">
                <a:solidFill>
                  <a:srgbClr val="182D3D"/>
                </a:solidFill>
                <a:latin typeface="Arial"/>
              </a:rPr>
              <a:t>očala</a:t>
            </a:r>
            <a:r>
              <a:rPr sz="2500" b="0" i="0">
                <a:solidFill>
                  <a:srgbClr val="182D3D"/>
                </a:solidFill>
                <a:latin typeface="Arial"/>
              </a:rPr>
              <a:t> so v povedi </a:t>
            </a:r>
            <a:r>
              <a:rPr sz="2500" b="0" i="1">
                <a:solidFill>
                  <a:srgbClr val="182D3D"/>
                </a:solidFill>
                <a:latin typeface="Arial"/>
              </a:rPr>
              <a:t>Očala so se zlomila</a:t>
            </a:r>
            <a:r>
              <a:rPr sz="2500" b="0" i="0">
                <a:solidFill>
                  <a:srgbClr val="182D3D"/>
                </a:solidFill>
                <a:latin typeface="Arial"/>
              </a:rPr>
              <a:t> osebek; (c) pridevnik v </a:t>
            </a:r>
            <a:r>
              <a:rPr sz="2500" b="0" i="1">
                <a:solidFill>
                  <a:srgbClr val="182D3D"/>
                </a:solidFill>
                <a:latin typeface="Arial"/>
              </a:rPr>
              <a:t>o Markovem prevodu</a:t>
            </a:r>
            <a:r>
              <a:rPr sz="2500" b="0" i="0">
                <a:solidFill>
                  <a:srgbClr val="182D3D"/>
                </a:solidFill>
                <a:latin typeface="Arial"/>
              </a:rPr>
              <a:t> vsebuje besedotvorni in oblikoslovni del; (č) neko izdajo zavezuje zapis </a:t>
            </a:r>
            <a:r>
              <a:rPr sz="2500" b="0" i="1">
                <a:solidFill>
                  <a:srgbClr val="182D3D"/>
                </a:solidFill>
                <a:latin typeface="Arial"/>
              </a:rPr>
              <a:t>Novo mesto</a:t>
            </a:r>
            <a:r>
              <a:rPr sz="2500" b="0" i="0">
                <a:solidFill>
                  <a:srgbClr val="182D3D"/>
                </a:solidFill>
                <a:latin typeface="Arial"/>
              </a:rPr>
              <a:t> po SP 2001. Ali ena vrsta vira zadostuje za vse štiri?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9</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 Zahteva leksikalno presojo: ali zveza ohranja poimenovalno identiteto kot del leksike; izhodišče daje Vidovič Muha (2013: 17, 29–32), konkretno rabo pa preverjamo tudi v slovarju. (b) Zahteva skladenjsko analizo dane povedi, ne definicije predmeta iz stvarnosti. (c) Zahteva razlikovanje tvorjenke </a:t>
            </a:r>
            <a:r>
              <a:rPr sz="2500" b="0" i="1">
                <a:solidFill>
                  <a:srgbClr val="182D3D"/>
                </a:solidFill>
                <a:latin typeface="Arial"/>
              </a:rPr>
              <a:t>Markov</a:t>
            </a:r>
            <a:r>
              <a:rPr sz="2500" b="0" i="0">
                <a:solidFill>
                  <a:srgbClr val="182D3D"/>
                </a:solidFill>
                <a:latin typeface="Arial"/>
              </a:rPr>
              <a:t> od njene mestniške oblike </a:t>
            </a:r>
            <a:r>
              <a:rPr sz="2500" b="0" i="1">
                <a:solidFill>
                  <a:srgbClr val="182D3D"/>
                </a:solidFill>
                <a:latin typeface="Arial"/>
              </a:rPr>
              <a:t>Markovem</a:t>
            </a:r>
            <a:r>
              <a:rPr sz="2500" b="0" i="0">
                <a:solidFill>
                  <a:srgbClr val="182D3D"/>
                </a:solidFill>
                <a:latin typeface="Arial"/>
              </a:rPr>
              <a:t>: </a:t>
            </a:r>
            <a:r>
              <a:rPr sz="2500" b="0" i="1">
                <a:solidFill>
                  <a:srgbClr val="182D3D"/>
                </a:solidFill>
                <a:latin typeface="Arial"/>
              </a:rPr>
              <a:t>-ov-</a:t>
            </a:r>
            <a:r>
              <a:rPr sz="2500" b="0" i="0">
                <a:solidFill>
                  <a:srgbClr val="182D3D"/>
                </a:solidFill>
                <a:latin typeface="Arial"/>
              </a:rPr>
              <a:t> sodeluje pri tvorbi pridevnika, </a:t>
            </a:r>
            <a:r>
              <a:rPr sz="2500" b="0" i="1">
                <a:solidFill>
                  <a:srgbClr val="182D3D"/>
                </a:solidFill>
                <a:latin typeface="Arial"/>
              </a:rPr>
              <a:t>-em</a:t>
            </a:r>
            <a:r>
              <a:rPr sz="2500" b="0" i="0">
                <a:solidFill>
                  <a:srgbClr val="182D3D"/>
                </a:solidFill>
                <a:latin typeface="Arial"/>
              </a:rPr>
              <a:t> pri pregibanju. (č) Je normativna odločitev v izrecno določenem okviru. Teoretična knjiga pomaga pojasniti kategorijo imena, zapis sestavin pa utemeljimo s pravopisnim členom. Prepričljiva rešitev navede raven in dokaz za vsako trditev.</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pomen in upovedovanje.</a:t>
            </a:r>
            <a:r>
              <a:rPr sz="2500" b="0" i="0">
                <a:solidFill>
                  <a:srgbClr val="182D3D"/>
                </a:solidFill>
                <a:latin typeface="Arial"/>
              </a:rPr>
              <a:t> Primerjajte </a:t>
            </a:r>
            <a:r>
              <a:rPr sz="2500" b="0" i="1">
                <a:solidFill>
                  <a:srgbClr val="182D3D"/>
                </a:solidFill>
                <a:latin typeface="Arial"/>
              </a:rPr>
              <a:t>Urednica je poslala pripombe avtorju</a:t>
            </a:r>
            <a:r>
              <a:rPr sz="2500" b="0" i="0">
                <a:solidFill>
                  <a:srgbClr val="182D3D"/>
                </a:solidFill>
                <a:latin typeface="Arial"/>
              </a:rPr>
              <a:t>, </a:t>
            </a:r>
            <a:r>
              <a:rPr sz="2500" b="0" i="1">
                <a:solidFill>
                  <a:srgbClr val="182D3D"/>
                </a:solidFill>
                <a:latin typeface="Arial"/>
              </a:rPr>
              <a:t>Ali je urednica poslala pripombe avtorju?</a:t>
            </a:r>
            <a:r>
              <a:rPr sz="2500" b="0" i="0">
                <a:solidFill>
                  <a:srgbClr val="182D3D"/>
                </a:solidFill>
                <a:latin typeface="Arial"/>
              </a:rPr>
              <a:t> in </a:t>
            </a:r>
            <a:r>
              <a:rPr sz="2500" b="0" i="1">
                <a:solidFill>
                  <a:srgbClr val="182D3D"/>
                </a:solidFill>
                <a:latin typeface="Arial"/>
              </a:rPr>
              <a:t>uredničino pošiljanje pripomb avtorju</a:t>
            </a:r>
            <a:r>
              <a:rPr sz="2500" b="0" i="0">
                <a:solidFill>
                  <a:srgbClr val="182D3D"/>
                </a:solidFill>
                <a:latin typeface="Arial"/>
              </a:rPr>
              <a:t>. Pokažite skupno dogodkovno vsebino, udeležence in razliko med trditvijo, vprašanjem ter imenskim poimenovanjem. Ali iz zadnje zveze izvemo, da je bilo dejanje končano?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50" b="0" i="0">
                <a:solidFill>
                  <a:srgbClr val="182D3D"/>
                </a:solidFill>
                <a:latin typeface="Arial"/>
              </a:rPr>
              <a:t>Skupna vsebina povezuje pošiljanje, urednico kot vršilko, pripombe kot poslano ter avtorja kot prejemnika. Prva poved zatrjuje dogodek v preteklosti, druga po njem sprašuje. Imenska zveza poimenuje pošiljanje ter udeleženska razmerja izrazi drugače: </a:t>
            </a:r>
            <a:r>
              <a:rPr sz="2450" b="0" i="1">
                <a:solidFill>
                  <a:srgbClr val="182D3D"/>
                </a:solidFill>
                <a:latin typeface="Arial"/>
              </a:rPr>
              <a:t>uredničino</a:t>
            </a:r>
            <a:r>
              <a:rPr sz="2450" b="0" i="0">
                <a:solidFill>
                  <a:srgbClr val="182D3D"/>
                </a:solidFill>
                <a:latin typeface="Arial"/>
              </a:rPr>
              <a:t> kot levi prilastek, </a:t>
            </a:r>
            <a:r>
              <a:rPr sz="2450" b="0" i="1">
                <a:solidFill>
                  <a:srgbClr val="182D3D"/>
                </a:solidFill>
                <a:latin typeface="Arial"/>
              </a:rPr>
              <a:t>pripomb</a:t>
            </a:r>
            <a:r>
              <a:rPr sz="2450" b="0" i="0">
                <a:solidFill>
                  <a:srgbClr val="182D3D"/>
                </a:solidFill>
                <a:latin typeface="Arial"/>
              </a:rPr>
              <a:t> v rodilniku, </a:t>
            </a:r>
            <a:r>
              <a:rPr sz="2450" b="0" i="1">
                <a:solidFill>
                  <a:srgbClr val="182D3D"/>
                </a:solidFill>
                <a:latin typeface="Arial"/>
              </a:rPr>
              <a:t>avtorju</a:t>
            </a:r>
            <a:r>
              <a:rPr sz="2450" b="0" i="0">
                <a:solidFill>
                  <a:srgbClr val="182D3D"/>
                </a:solidFill>
                <a:latin typeface="Arial"/>
              </a:rPr>
              <a:t> v dajalniku. Sama ne poda osebne časovne in naklonske določitve, zato iz nje ne moremo sklepati, kdaj se dogajanje odvija ali ali je končano. Prehod od </a:t>
            </a:r>
            <a:r>
              <a:rPr sz="2450" b="0" i="1">
                <a:solidFill>
                  <a:srgbClr val="182D3D"/>
                </a:solidFill>
                <a:latin typeface="Arial"/>
              </a:rPr>
              <a:t>poslala</a:t>
            </a:r>
            <a:r>
              <a:rPr sz="2450" b="0" i="0">
                <a:solidFill>
                  <a:srgbClr val="182D3D"/>
                </a:solidFill>
                <a:latin typeface="Arial"/>
              </a:rPr>
              <a:t> k </a:t>
            </a:r>
            <a:r>
              <a:rPr sz="2450" b="0" i="1">
                <a:solidFill>
                  <a:srgbClr val="182D3D"/>
                </a:solidFill>
                <a:latin typeface="Arial"/>
              </a:rPr>
              <a:t>pošiljanju</a:t>
            </a:r>
            <a:r>
              <a:rPr sz="2450" b="0" i="0">
                <a:solidFill>
                  <a:srgbClr val="182D3D"/>
                </a:solidFill>
                <a:latin typeface="Arial"/>
              </a:rPr>
              <a:t> poleg skladenjske zgradbe spremeni tudi vidsko predstavitev; pretvorbe zato ne razglasimo za popolnoma pomensko enakovredno. (Toporišič 2004: 275–276, 491–492.)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Ista površinska težava lahko zahteva različne vrste dokazov.</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450" b="0" i="0">
                <a:solidFill>
                  <a:srgbClr val="182D3D"/>
                </a:solidFill>
                <a:latin typeface="Arial"/>
              </a:rPr>
              <a:t>Besedna vrsta, stavčna funkcija in pomenska vloga so različne analize.</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Vir uporabljamo z njegovim merilom, obsegom in statusom.</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Pred izbiro oblike zdaj podrobneje ugotovimo, kaj izraz poimenuje.</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50" b="0" i="0">
                <a:solidFill>
                  <a:srgbClr val="546674"/>
                </a:solidFill>
                <a:latin typeface="Arial"/>
              </a:rPr>
              <a:t>Branje: Toporišič 2004: 103–106, 488–492, 833–834; Vidovič Muha 2013: 17–22.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2. Pomen in poimenovanje</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Kako dokažemo, kaj izraz poimenuje in kako je povezan z drugimi?</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Razločimo leksem, pomen, pomensko sestavino in nanosnik.</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Utemeljimo pomensko razmerje z analizo in preizkusom.</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Povežemo poimenovanje z obliko, vezljivostjo in okoliščinami.</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Izraz, pomen in konkretni termometer</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36</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Ta termometer se je pokvaril.</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Izraz</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Glasovi oziroma črke besede termometer.</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Sistemska raven</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Pomen povezuje poimenovanje s posplošeno predmetnostjo, ne z vsemi podatki o primerku.</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Besedilni nanosnik</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Določeni termometer; njegova barva in mesto nakupa nista zato sestavini slovarskega pomena.</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Razlikujemo jezikovni znak, poimenovano predmetnost in konkretno nanašanje.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Sem, semem in pomenje niso sopomenke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37</a:t>
            </a:r>
          </a:p>
        </p:txBody>
      </p:sp>
      <p:graphicFrame>
        <p:nvGraphicFramePr>
          <p:cNvPr id="4" name="Table 3"/>
          <p:cNvGraphicFramePr>
            <a:graphicFrameLocks noGrp="1"/>
          </p:cNvGraphicFramePr>
          <p:nvPr/>
        </p:nvGraphicFramePr>
        <p:xfrm>
          <a:off x="621792" y="1810512"/>
          <a:ext cx="10954511" cy="2975991"/>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Pojem</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označuje?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Opora v zgledu</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Sem</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Pomenska sestavina.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Sodeluje pri razločevanju posameznega pomena.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Semem</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Posamezni pomen.</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Miška kot žival; miška kot naprava.</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Pomenje / semantem</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Celota povezanih pomenov leksema.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Povezana pomena istega leksema miška.</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Oblikovna različica ni nov pomen; pomenska sestavina ni celotno pomenje.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Štiri razsežnosti slovarskega pomena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38</a:t>
            </a:r>
          </a:p>
        </p:txBody>
      </p:sp>
      <p:graphicFrame>
        <p:nvGraphicFramePr>
          <p:cNvPr id="4" name="Table 3"/>
          <p:cNvGraphicFramePr>
            <a:graphicFrameLocks noGrp="1"/>
          </p:cNvGraphicFramePr>
          <p:nvPr/>
        </p:nvGraphicFramePr>
        <p:xfrm>
          <a:off x="621792" y="1810512"/>
          <a:ext cx="10954511" cy="381254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Razsežnost</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razložimo?</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 oziroma preizkus</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Kategorialna (obvezna)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Lastnosti za skladenjsko vedenje.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knjiga: ženski spol; mestnik določi konkretna zveza.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Širša denotativna (obvezna)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Kaj izraz poimenuje.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Vrsta denotata usmeri način razlage.</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Konotativna (obvezno izbirna)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Dodatno vrednotenje ali zaznamovanost.</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pes / kuža: mogoča razlika v naklonjenosti.</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Sporočanjsko-pragmatična (obvezno izbirna)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Leksikalizirano govorno dejanje in okoliščine.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Dober dan kot pozdrav.</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Slovnične lastnosti, poimenovalno vsebino, vrednotenje in govorno dejanje analiziramo razločeno.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Pozdrav in namig zahtevata različni razlagi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39</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Leksikalizirano govorno dejanje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Dober dan.</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Razlaga pove, da izraz uporabljamo za pozdravljanje in v katerih okoliščinah.</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Sklepanje iz položaja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Tukaj je slab zrak.</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546674"/>
                </a:solidFill>
                <a:latin typeface="Arial"/>
              </a:rPr>
              <a:t>Željo po odprtem oknu lahko razberemo iz situacije; nov pomen besede zrak ni dokazan.</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Sporočanjskega učinka ne vpišemo avtomatično v slovarski pomen posamezne besede.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Pomenska razlaga izbere razločevalne podatke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40</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Termometer: merilna naprava za merjenje temperature.</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UPS</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Merilna naprava: uvrstitev v neposredno širši razred.</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RPS</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Merjenje temperature: razločevanje od drugih merilnih naprav.</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Meja razlage</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Rdeča naprava, ki jo je učitelj kupil včeraj, opisuje primerek.</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Razlaga potrebuje pomensko razločevalnost, ne vseh podatkov o predmetnosti.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Zakaj globok ne razlagamo kakor vodnjak?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41</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Endogeni leksemi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vodnjak</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Pomenska zgradba ima notranjo hierarhijo uvrščevalne in razločevalnih sestavin.</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Eksogeni leksemi</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globok vodnjak / globoka misel / globok glas</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Pomen pridevnika razvijamo ob pomensko ustrezni zunanji jedrni besedi.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Samostalnik ob pridevniku ni njegova nadpomenka; preverimo pomensko družljivost.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Več pomenov: povezanost še potrebuje razlago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42</a:t>
            </a:r>
          </a:p>
        </p:txBody>
      </p:sp>
      <p:graphicFrame>
        <p:nvGraphicFramePr>
          <p:cNvPr id="4" name="Table 3"/>
          <p:cNvGraphicFramePr>
            <a:graphicFrameLocks noGrp="1"/>
          </p:cNvGraphicFramePr>
          <p:nvPr/>
        </p:nvGraphicFramePr>
        <p:xfrm>
          <a:off x="621792" y="1810512"/>
          <a:ext cx="10954511" cy="3275393"/>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Primer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Razmerje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pojasnimo?</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mož: odrasli moški / zakonski mož</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Vsebovanost pomenov.</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Ožji pomen ohrani in dopolni izhodiščne lastnosti.</a:t>
                      </a:r>
                    </a:p>
                  </a:txBody>
                  <a:tcPr marL="137160" marR="137160" marT="73152" marB="73152" anchor="ctr">
                    <a:solidFill>
                      <a:srgbClr val="FFFFFF"/>
                    </a:solidFill>
                  </a:tcPr>
                </a:tc>
              </a:tr>
              <a:tr h="1135951">
                <a:tc>
                  <a:txBody>
                    <a:bodyPr wrap="square"/>
                    <a:lstStyle/>
                    <a:p>
                      <a:pPr>
                        <a:lnSpc>
                          <a:spcPct val="108000"/>
                        </a:lnSpc>
                        <a:spcAft>
                          <a:spcPts val="0"/>
                        </a:spcAft>
                      </a:pPr>
                      <a:r>
                        <a:rPr sz="2050" b="0" i="0">
                          <a:solidFill>
                            <a:srgbClr val="182D3D"/>
                          </a:solidFill>
                          <a:latin typeface="Arial"/>
                        </a:rPr>
                        <a:t>miška: žival / naprava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Pomenski prenos.</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Naprava ni vrsta živali; pokažemo motivacijsko povezavo.</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boks: šport / ograjeni prostor</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Homonimija.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Različna leksema z enako izrazno podobo.</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Pomensko vsebovanost, prenos in homonimijo utemeljimo z različnimi merili.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prenosu pokažemo, kaj povezuje pomena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43</a:t>
            </a:r>
          </a:p>
        </p:txBody>
      </p:sp>
      <p:graphicFrame>
        <p:nvGraphicFramePr>
          <p:cNvPr id="4" name="Table 3"/>
          <p:cNvGraphicFramePr>
            <a:graphicFrameLocks noGrp="1"/>
          </p:cNvGraphicFramePr>
          <p:nvPr/>
        </p:nvGraphicFramePr>
        <p:xfrm>
          <a:off x="621792" y="1810512"/>
          <a:ext cx="10954511" cy="3275393"/>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Prenos</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Razmerje med pomenoma</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Metafora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živalska / računalniška miška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Predstavi poveže podobnost, zlasti oblika.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Metonimija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Popil je skodelico čaja.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Poimenovanje posode se nanaša na vsebino.</a:t>
                      </a:r>
                    </a:p>
                  </a:txBody>
                  <a:tcPr marL="137160" marR="137160" marT="73152" marB="73152" anchor="ctr">
                    <a:solidFill>
                      <a:srgbClr val="EDF1F2"/>
                    </a:solidFill>
                  </a:tcPr>
                </a:tc>
              </a:tr>
              <a:tr h="1135951">
                <a:tc>
                  <a:txBody>
                    <a:bodyPr wrap="square"/>
                    <a:lstStyle/>
                    <a:p>
                      <a:pPr>
                        <a:lnSpc>
                          <a:spcPct val="108000"/>
                        </a:lnSpc>
                        <a:spcAft>
                          <a:spcPts val="0"/>
                        </a:spcAft>
                      </a:pPr>
                      <a:r>
                        <a:rPr sz="2050" b="0" i="0">
                          <a:solidFill>
                            <a:srgbClr val="182D3D"/>
                          </a:solidFill>
                          <a:latin typeface="Arial"/>
                        </a:rPr>
                        <a:t>Sinekdoha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hruška: drevo / sadež</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Sadež postane uvrščevalen; drevo ostane razločevalna povezava.</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Oznako prenosa podprejo izhodiščni pomen, novi pomen in dokazano razmerje.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Ime identificira; opis in vrsta uvrščata drugače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44</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Poimenovalna funkcija je pogoj za presojo začetnice.</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Identifikacija</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Ana lahko identificira različni osebi; ime zato ne postane občno.</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Podjetje in znamka</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Toyota je predstavila nov model. / avtomobil znamke Toyota</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Opis in ime</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majhna dvorana / Mala dvorana</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Najprej določimo, kaj izraz poimenuje, nato uporabimo pravopisno pravilo.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Isti nanosnik še ne pomeni sopomenskosti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45</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Ustrezna pomena različnih leksemov</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pes / kuža</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546674"/>
                </a:solidFill>
                <a:latin typeface="Arial"/>
              </a:rPr>
              <a:t>Možno je prekrivanje denotativnega pomena ob različni zaznamovanosti in omejitvah rabe.</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Isto nanašanje v besedilu</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profesor / sosed</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Izraza lahko označujeta istega človeka, vendar ga različno pomensko opredelita.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Sopomensko zamenjavo preverimo v konkretnem pomenu, registru in besedni zvezi.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Različna nasprotja omogočajo različne sklepe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46</a:t>
            </a:r>
          </a:p>
        </p:txBody>
      </p:sp>
      <p:graphicFrame>
        <p:nvGraphicFramePr>
          <p:cNvPr id="4" name="Table 3"/>
          <p:cNvGraphicFramePr>
            <a:graphicFrameLocks noGrp="1"/>
          </p:cNvGraphicFramePr>
          <p:nvPr/>
        </p:nvGraphicFramePr>
        <p:xfrm>
          <a:off x="621792" y="1810512"/>
          <a:ext cx="10954511" cy="381254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Tip</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Preizkus</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Dopolnjevalno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prisoten / odsoten</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V omejenem dvodelnem polju izključitev enega potrdi drugo.</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Skrajnostno; stopnjevalni podtip</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velik / majhen; vroč – topel – hladen – mrzel</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Zanikanje ene možnosti ne izbere nujno njene nasprotnosti.</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Zamenjavno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Ana je Boru prodala kolo. / Bor je od Ane kupil kolo.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Isti odnos zahteva preureditev udeležencev.</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Usmerjeno</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odpreti / zapreti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Dejanji sta nasprotno usmerjeni in povezani s stanjem.</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Protipomenskost poimenujemo šele po preverjanju razmerja in mogočih sklepov.</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Razmerje dokažemo s smerjo sklepa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47</a:t>
            </a:r>
          </a:p>
        </p:txBody>
      </p:sp>
      <p:graphicFrame>
        <p:nvGraphicFramePr>
          <p:cNvPr id="4" name="Table 3"/>
          <p:cNvGraphicFramePr>
            <a:graphicFrameLocks noGrp="1"/>
          </p:cNvGraphicFramePr>
          <p:nvPr/>
        </p:nvGraphicFramePr>
        <p:xfrm>
          <a:off x="621792" y="1810512"/>
          <a:ext cx="10954511" cy="2975991"/>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Razmerje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Dovoljen ali nedovoljen sklep</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Podpomenskost</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breza → drevo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Vsaka breza je drevo; vsako drevo ni breza.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Vzporedna podpomenskost</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breza / bukev</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Izberemo skupno neposredno nadpomenko: listnato drevo.</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Paronimija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delaven človek / delovni prostor</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Podobnost izraza ne dovoljuje pomenske zamenjave.</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Posploševanje, vzporednost v polju in izrazna podobnost so različna razmerja.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Pomen odpira mesta za druge sestavine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48</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Predstavniki se pogajajo z upravo o delovnem času.</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Vezljivostni vzorec</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Nekdo se pogaja z nekom o nečem.</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Intenčnost</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Glagol s pomenom prinaša potencial za udeleženska mesta.</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Izrečenost</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Znana tema lahko ostane neizražena; to samo ne odpravi vezljivostnega mesta.</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Pomensko vlogo, stavčno funkcijo in slovnično obliko vodimo kot povezane, različne podatke.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Večbesedni leksem je lahko pomensko razviden</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49</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Tip</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Razmerje pomenov sestavin</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Sestava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Pomeni sestavin se ohranijo.</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Skup</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Pomensko se preoblikuje ena sestavina.</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Sklop</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Pomensko se preoblikujeta oba dela zveze.</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Zraslek</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Pomena celote iz sestavin ne moremo več razbrati.</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Ustaljenost ne zahteva popolne pomenske neprosojnosti ali nespremenljivosti oblik.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Frazem, termin in register odgovarjajo različno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50</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Ustaljen izraz presojamo po pomenu, strokovni nalogi in okoliščinah.</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Frazem</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Metati polena pod noge pomeni oviranje; razlaga posameznih besed ne zadošča.</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Termin</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Koren poimenuje različna pojma v jezikoslovju in matematiki; področje je del presoje.</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Register</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Za uradno obvestilo lahko priporočamo nevtralni izraz, ne da zavrnemo pogovorno rabo nasploh.</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Pojmovne doslednosti, frazeološkega pomena in situacijske ustreznosti ne enačimo.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Sodobni ples poimenuje zvrst</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51</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Strokovno poimenovanje zvrsti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Predstava vključuje sodobni ples.</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546674"/>
                </a:solidFill>
                <a:latin typeface="Arial"/>
              </a:rPr>
              <a:t>Pridevnik opredeli vrsto; odločitev utemeljimo s terminološkim pomenom celotne zveze.</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Pripisovanje lastnosti</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sodoben ples</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Ob ustreznem sobesedilu ocenjujemo sodobnost določenega plesa.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Poimenovalni namen usmeri izbiro oblike; določni i sam ne dokazuje vrstnosti.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Nov predlog preverimo na treh različnih ravneh</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52</a:t>
            </a:r>
          </a:p>
        </p:txBody>
      </p:sp>
      <p:sp>
        <p:nvSpPr>
          <p:cNvPr id="4" name="TextBox 3"/>
          <p:cNvSpPr txBox="1"/>
          <p:nvPr/>
        </p:nvSpPr>
        <p:spPr>
          <a:xfrm>
            <a:off x="832104" y="2011679"/>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1</a:t>
            </a:r>
          </a:p>
        </p:txBody>
      </p:sp>
      <p:sp>
        <p:nvSpPr>
          <p:cNvPr id="5" name="TextBox 4"/>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Tvorbena možnost</a:t>
            </a:r>
          </a:p>
        </p:txBody>
      </p:sp>
      <p:sp>
        <p:nvSpPr>
          <p:cNvPr id="6" name="TextBox 5"/>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Ali je predlog razložljiv in povezan z jezikovnim vzorcem?</a:t>
            </a:r>
          </a:p>
        </p:txBody>
      </p:sp>
      <p:sp>
        <p:nvSpPr>
          <p:cNvPr id="7" name="TextBox 6"/>
          <p:cNvSpPr txBox="1"/>
          <p:nvPr/>
        </p:nvSpPr>
        <p:spPr>
          <a:xfrm>
            <a:off x="832104" y="326136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2</a:t>
            </a:r>
          </a:p>
        </p:txBody>
      </p:sp>
      <p:sp>
        <p:nvSpPr>
          <p:cNvPr id="8" name="TextBox 7"/>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Ustaljena raba</a:t>
            </a:r>
          </a:p>
        </p:txBody>
      </p:sp>
      <p:sp>
        <p:nvSpPr>
          <p:cNvPr id="9" name="TextBox 8"/>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Ali ga neodvisno uporabljajo različni govorci, v katerih pomenih in besedilih?</a:t>
            </a:r>
          </a:p>
        </p:txBody>
      </p:sp>
      <p:sp>
        <p:nvSpPr>
          <p:cNvPr id="10" name="TextBox 9"/>
          <p:cNvSpPr txBox="1"/>
          <p:nvPr/>
        </p:nvSpPr>
        <p:spPr>
          <a:xfrm>
            <a:off x="832104" y="451104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3</a:t>
            </a:r>
          </a:p>
        </p:txBody>
      </p:sp>
      <p:sp>
        <p:nvSpPr>
          <p:cNvPr id="11" name="TextBox 10"/>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Slovarska vključitev</a:t>
            </a:r>
          </a:p>
        </p:txBody>
      </p:sp>
      <p:sp>
        <p:nvSpPr>
          <p:cNvPr id="12" name="TextBox 11"/>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Ali ustreza namenu in merilom konkretnega slovarja?</a:t>
            </a:r>
          </a:p>
        </p:txBody>
      </p:sp>
      <p:sp>
        <p:nvSpPr>
          <p:cNvPr id="13" name="TextBox 12"/>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Razumljivost, ustaljenost in slovarska vključitev potrebujejo različne dokaze.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 izrazih </a:t>
            </a:r>
            <a:r>
              <a:rPr sz="2300" b="0" i="1">
                <a:solidFill>
                  <a:srgbClr val="182D3D"/>
                </a:solidFill>
                <a:latin typeface="Arial"/>
              </a:rPr>
              <a:t>knjiga, knjigi, knjigarna</a:t>
            </a:r>
            <a:r>
              <a:rPr sz="2300" b="0" i="0">
                <a:solidFill>
                  <a:srgbClr val="182D3D"/>
                </a:solidFill>
                <a:latin typeface="Arial"/>
              </a:rPr>
              <a:t> razločite spreminjanje oblike in nastanek drugega leksema.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Primerjajte </a:t>
            </a:r>
            <a:r>
              <a:rPr sz="2300" b="0" i="1">
                <a:solidFill>
                  <a:srgbClr val="182D3D"/>
                </a:solidFill>
                <a:latin typeface="Arial"/>
              </a:rPr>
              <a:t>Miška je stekla pod omaro</a:t>
            </a:r>
            <a:r>
              <a:rPr sz="2300" b="0" i="0">
                <a:solidFill>
                  <a:srgbClr val="182D3D"/>
                </a:solidFill>
                <a:latin typeface="Arial"/>
              </a:rPr>
              <a:t> in </a:t>
            </a:r>
            <a:r>
              <a:rPr sz="2300" b="0" i="1">
                <a:solidFill>
                  <a:srgbClr val="182D3D"/>
                </a:solidFill>
                <a:latin typeface="Arial"/>
              </a:rPr>
              <a:t>Miška je priključena na računalnik</a:t>
            </a:r>
            <a:r>
              <a:rPr sz="2300" b="0" i="0">
                <a:solidFill>
                  <a:srgbClr val="182D3D"/>
                </a:solidFill>
                <a:latin typeface="Arial"/>
              </a:rPr>
              <a:t>. Ali razlika nastane samo zaradi drugačnega sklona? Kako se ta primer razlikuje od homonimije pri </a:t>
            </a:r>
            <a:r>
              <a:rPr sz="2300" b="0" i="1">
                <a:solidFill>
                  <a:srgbClr val="182D3D"/>
                </a:solidFill>
                <a:latin typeface="Arial"/>
              </a:rPr>
              <a:t>boksu</a:t>
            </a:r>
            <a:r>
              <a:rPr sz="2300" b="0" i="0">
                <a:solidFill>
                  <a:srgbClr val="182D3D"/>
                </a:solidFill>
                <a:latin typeface="Arial"/>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Knjiga</a:t>
            </a:r>
            <a:r>
              <a:rPr sz="2300" b="0" i="0">
                <a:solidFill>
                  <a:srgbClr val="182D3D"/>
                </a:solidFill>
                <a:latin typeface="Arial"/>
              </a:rPr>
              <a:t> in </a:t>
            </a:r>
            <a:r>
              <a:rPr sz="2300" b="0" i="1">
                <a:solidFill>
                  <a:srgbClr val="182D3D"/>
                </a:solidFill>
                <a:latin typeface="Arial"/>
              </a:rPr>
              <a:t>knjigi</a:t>
            </a:r>
            <a:r>
              <a:rPr sz="2300" b="0" i="0">
                <a:solidFill>
                  <a:srgbClr val="182D3D"/>
                </a:solidFill>
                <a:latin typeface="Arial"/>
              </a:rPr>
              <a:t> sta obliki istega leksema; brez sobesedila lahko ima druga oblika več slovničnih razlag. </a:t>
            </a:r>
            <a:r>
              <a:rPr sz="2300" b="0" i="1">
                <a:solidFill>
                  <a:srgbClr val="182D3D"/>
                </a:solidFill>
                <a:latin typeface="Arial"/>
              </a:rPr>
              <a:t>Knjigarna</a:t>
            </a:r>
            <a:r>
              <a:rPr sz="2300" b="0" i="0">
                <a:solidFill>
                  <a:srgbClr val="182D3D"/>
                </a:solidFill>
                <a:latin typeface="Arial"/>
              </a:rPr>
              <a:t> je drug leksem z drugim poimenovalnim pomenom. Sorodna osnova ne odpravlja te razlike.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V obeh povedih je </a:t>
            </a:r>
            <a:r>
              <a:rPr sz="2200" b="0" i="1">
                <a:solidFill>
                  <a:srgbClr val="182D3D"/>
                </a:solidFill>
                <a:latin typeface="Arial"/>
              </a:rPr>
              <a:t>miška</a:t>
            </a:r>
            <a:r>
              <a:rPr sz="2200" b="0" i="0">
                <a:solidFill>
                  <a:srgbClr val="182D3D"/>
                </a:solidFill>
                <a:latin typeface="Arial"/>
              </a:rPr>
              <a:t> v imenovalniku ednine. Razlika je pomenska: prvič gre za žival, drugič za napravo. Sobesedilo izbere ustaljeni pomen; sklon ga v tem paru ne razločuje. Pri </a:t>
            </a:r>
            <a:r>
              <a:rPr sz="2200" b="0" i="1">
                <a:solidFill>
                  <a:srgbClr val="182D3D"/>
                </a:solidFill>
                <a:latin typeface="Arial"/>
              </a:rPr>
              <a:t>miški</a:t>
            </a:r>
            <a:r>
              <a:rPr sz="2200" b="0" i="0">
                <a:solidFill>
                  <a:srgbClr val="182D3D"/>
                </a:solidFill>
                <a:latin typeface="Arial"/>
              </a:rPr>
              <a:t> prepoznamo povezavo med pomenoma, pri obravnavanih </a:t>
            </a:r>
            <a:r>
              <a:rPr sz="2200" b="0" i="1">
                <a:solidFill>
                  <a:srgbClr val="182D3D"/>
                </a:solidFill>
                <a:latin typeface="Arial"/>
              </a:rPr>
              <a:t>boksih</a:t>
            </a:r>
            <a:r>
              <a:rPr sz="2200" b="0" i="0">
                <a:solidFill>
                  <a:srgbClr val="182D3D"/>
                </a:solidFill>
                <a:latin typeface="Arial"/>
              </a:rPr>
              <a:t> pa razločujemo različna leksema z enako izrazno podobo.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55</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Razložite poved </a:t>
            </a:r>
            <a:r>
              <a:rPr sz="2300" b="0" i="1">
                <a:solidFill>
                  <a:srgbClr val="182D3D"/>
                </a:solidFill>
                <a:latin typeface="Arial"/>
              </a:rPr>
              <a:t>Oddelek je zavrnil predlog</a:t>
            </a:r>
            <a:r>
              <a:rPr sz="2300" b="0" i="0">
                <a:solidFill>
                  <a:srgbClr val="182D3D"/>
                </a:solidFill>
                <a:latin typeface="Arial"/>
              </a:rPr>
              <a:t>. Ali jo nujno razumemo kot dejanje fizičnega prostora?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Zakaj </a:t>
            </a:r>
            <a:r>
              <a:rPr sz="2300" b="0" i="1">
                <a:solidFill>
                  <a:srgbClr val="182D3D"/>
                </a:solidFill>
                <a:latin typeface="Arial"/>
              </a:rPr>
              <a:t>delaven urnik</a:t>
            </a:r>
            <a:r>
              <a:rPr sz="2300" b="0" i="0">
                <a:solidFill>
                  <a:srgbClr val="182D3D"/>
                </a:solidFill>
                <a:latin typeface="Arial"/>
              </a:rPr>
              <a:t> ni ustrezna zamenjava za </a:t>
            </a:r>
            <a:r>
              <a:rPr sz="2300" b="0" i="1">
                <a:solidFill>
                  <a:srgbClr val="182D3D"/>
                </a:solidFill>
                <a:latin typeface="Arial"/>
              </a:rPr>
              <a:t>delovni urnik</a:t>
            </a:r>
            <a:r>
              <a:rPr sz="2300" b="0" i="0">
                <a:solidFill>
                  <a:srgbClr val="182D3D"/>
                </a:solidFill>
                <a:latin typeface="Arial"/>
              </a:rPr>
              <a:t>? Kaj bi poimenovali z zvezo </a:t>
            </a:r>
            <a:r>
              <a:rPr sz="2300" b="0" i="1">
                <a:solidFill>
                  <a:srgbClr val="182D3D"/>
                </a:solidFill>
                <a:latin typeface="Arial"/>
              </a:rPr>
              <a:t>delaven sodelavec</a:t>
            </a:r>
            <a:r>
              <a:rPr sz="2300" b="0" i="0">
                <a:solidFill>
                  <a:srgbClr val="182D3D"/>
                </a:solidFill>
                <a:latin typeface="Arial"/>
              </a:rP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56</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Oddelek</a:t>
            </a:r>
            <a:r>
              <a:rPr sz="2300" b="0" i="0">
                <a:solidFill>
                  <a:srgbClr val="182D3D"/>
                </a:solidFill>
                <a:latin typeface="Arial"/>
              </a:rPr>
              <a:t> razumemo kot ljudi oziroma pristojni organ v organizacijski enoti. Gre za metonimično razmerje med ustanovo ali njenim delom in njenimi člani. V konkretnem poročilu lahko zaradi odgovornosti natančneje navedemo, kdo je odločil.</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Deloven</a:t>
            </a:r>
            <a:r>
              <a:rPr sz="2300" b="0" i="0">
                <a:solidFill>
                  <a:srgbClr val="182D3D"/>
                </a:solidFill>
                <a:latin typeface="Arial"/>
              </a:rPr>
              <a:t> se nanaša na delo; urnik lahko določa delovni čas. </a:t>
            </a:r>
            <a:r>
              <a:rPr sz="2300" b="0" i="1">
                <a:solidFill>
                  <a:srgbClr val="182D3D"/>
                </a:solidFill>
                <a:latin typeface="Arial"/>
              </a:rPr>
              <a:t>Delaven</a:t>
            </a:r>
            <a:r>
              <a:rPr sz="2300" b="0" i="0">
                <a:solidFill>
                  <a:srgbClr val="182D3D"/>
                </a:solidFill>
                <a:latin typeface="Arial"/>
              </a:rPr>
              <a:t> pripisuje pripravljenost za delo oziroma prizadevnost. Zato lahko opisuje sodelavca, ne poimenuje pa vrste urnika.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Ali iz </a:t>
            </a:r>
            <a:r>
              <a:rPr sz="2300" b="0" i="1">
                <a:solidFill>
                  <a:srgbClr val="182D3D"/>
                </a:solidFill>
                <a:latin typeface="Arial"/>
              </a:rPr>
              <a:t>Ta napitek ni vroč</a:t>
            </a:r>
            <a:r>
              <a:rPr sz="2300" b="0" i="0">
                <a:solidFill>
                  <a:srgbClr val="182D3D"/>
                </a:solidFill>
                <a:latin typeface="Arial"/>
              </a:rPr>
              <a:t> sledi </a:t>
            </a:r>
            <a:r>
              <a:rPr sz="2300" b="0" i="1">
                <a:solidFill>
                  <a:srgbClr val="182D3D"/>
                </a:solidFill>
                <a:latin typeface="Arial"/>
              </a:rPr>
              <a:t>Ta napitek je hladen</a:t>
            </a:r>
            <a:r>
              <a:rPr sz="2300" b="0" i="0">
                <a:solidFill>
                  <a:srgbClr val="182D3D"/>
                </a:solidFill>
                <a:latin typeface="Arial"/>
              </a:rPr>
              <a:t>? Utemeljite.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povedi </a:t>
            </a:r>
            <a:r>
              <a:rPr sz="2300" b="0" i="1">
                <a:solidFill>
                  <a:srgbClr val="182D3D"/>
                </a:solidFill>
                <a:latin typeface="Arial"/>
              </a:rPr>
              <a:t>Odbor se je z izvajalcem pogajal o roku</a:t>
            </a:r>
            <a:r>
              <a:rPr sz="2300" b="0" i="0">
                <a:solidFill>
                  <a:srgbClr val="182D3D"/>
                </a:solidFill>
                <a:latin typeface="Arial"/>
              </a:rPr>
              <a:t> določite sogovornika in temo. Zapišite osnovni vezljivostni vzorec.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Ne. Med vročim in hladnim so vmesne stopnje, denimo mlačno. Zanikanje ene lastnosti ne potrdi samodejno njene skrajne nasprotnosti.</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Sogovornik je </a:t>
            </a:r>
            <a:r>
              <a:rPr sz="2300" b="0" i="1">
                <a:solidFill>
                  <a:srgbClr val="182D3D"/>
                </a:solidFill>
                <a:latin typeface="Arial"/>
              </a:rPr>
              <a:t>izvajalec</a:t>
            </a:r>
            <a:r>
              <a:rPr sz="2300" b="0" i="0">
                <a:solidFill>
                  <a:srgbClr val="182D3D"/>
                </a:solidFill>
                <a:latin typeface="Arial"/>
              </a:rPr>
              <a:t>, tema je </a:t>
            </a:r>
            <a:r>
              <a:rPr sz="2300" b="0" i="1">
                <a:solidFill>
                  <a:srgbClr val="182D3D"/>
                </a:solidFill>
                <a:latin typeface="Arial"/>
              </a:rPr>
              <a:t>rok</a:t>
            </a:r>
            <a:r>
              <a:rPr sz="2300" b="0" i="0">
                <a:solidFill>
                  <a:srgbClr val="182D3D"/>
                </a:solidFill>
                <a:latin typeface="Arial"/>
              </a:rPr>
              <a:t>. Vzorec je </a:t>
            </a:r>
            <a:r>
              <a:rPr sz="2300" b="0" i="1">
                <a:solidFill>
                  <a:srgbClr val="182D3D"/>
                </a:solidFill>
                <a:latin typeface="Arial"/>
              </a:rPr>
              <a:t>nekdo se pogaja z nekom o nečem</a:t>
            </a:r>
            <a:r>
              <a:rPr sz="2300" b="0" i="0">
                <a:solidFill>
                  <a:srgbClr val="182D3D"/>
                </a:solidFill>
                <a:latin typeface="Arial"/>
              </a:rPr>
              <a:t>. Predloga nista zamenljiva brez spremembe razmerja med udeleženci.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59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Primerjajte </a:t>
            </a:r>
            <a:r>
              <a:rPr sz="2300" b="0" i="1">
                <a:solidFill>
                  <a:srgbClr val="182D3D"/>
                </a:solidFill>
                <a:latin typeface="Arial"/>
              </a:rPr>
              <a:t>računalniška miška, poškodovana miška</a:t>
            </a:r>
            <a:r>
              <a:rPr sz="2300" b="0" i="0">
                <a:solidFill>
                  <a:srgbClr val="182D3D"/>
                </a:solidFill>
                <a:latin typeface="Arial"/>
              </a:rPr>
              <a:t> in </a:t>
            </a:r>
            <a:r>
              <a:rPr sz="2300" b="0" i="1">
                <a:solidFill>
                  <a:srgbClr val="182D3D"/>
                </a:solidFill>
                <a:latin typeface="Arial"/>
              </a:rPr>
              <a:t>metati polena pod noge</a:t>
            </a:r>
            <a:r>
              <a:rPr sz="2300" b="0" i="0">
                <a:solidFill>
                  <a:srgbClr val="182D3D"/>
                </a:solidFill>
                <a:latin typeface="Arial"/>
              </a:rPr>
              <a:t>. Kaj je pri vsakem primeru treba vedeti poleg pomena posameznih besed?</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Primerjajte </a:t>
            </a:r>
            <a:r>
              <a:rPr sz="2300" b="0" i="1">
                <a:solidFill>
                  <a:srgbClr val="182D3D"/>
                </a:solidFill>
                <a:latin typeface="Arial"/>
              </a:rPr>
              <a:t>Toyota je odprla nov obrat</a:t>
            </a:r>
            <a:r>
              <a:rPr sz="2300" b="0" i="0">
                <a:solidFill>
                  <a:srgbClr val="182D3D"/>
                </a:solidFill>
                <a:latin typeface="Arial"/>
              </a:rPr>
              <a:t> in </a:t>
            </a:r>
            <a:r>
              <a:rPr sz="2300" b="0" i="1">
                <a:solidFill>
                  <a:srgbClr val="182D3D"/>
                </a:solidFill>
                <a:latin typeface="Arial"/>
              </a:rPr>
              <a:t>avtomobil znamke Toyota</a:t>
            </a:r>
            <a:r>
              <a:rPr sz="2300" b="0" i="0">
                <a:solidFill>
                  <a:srgbClr val="182D3D"/>
                </a:solidFill>
                <a:latin typeface="Arial"/>
              </a:rPr>
              <a:t>. Kaj ime identificira? Ali napis z velikimi črkami na oglasu sam določa zapis vseh izrazov v tekočem besedilu?</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60</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Računalniška miška</a:t>
            </a:r>
            <a:r>
              <a:rPr sz="2300" b="0" i="0">
                <a:solidFill>
                  <a:srgbClr val="182D3D"/>
                </a:solidFill>
                <a:latin typeface="Arial"/>
              </a:rPr>
              <a:t> je ustaljeno poimenovanje naprave. </a:t>
            </a:r>
            <a:r>
              <a:rPr sz="2300" b="0" i="1">
                <a:solidFill>
                  <a:srgbClr val="182D3D"/>
                </a:solidFill>
                <a:latin typeface="Arial"/>
              </a:rPr>
              <a:t>Poškodovana miška</a:t>
            </a:r>
            <a:r>
              <a:rPr sz="2300" b="0" i="0">
                <a:solidFill>
                  <a:srgbClr val="182D3D"/>
                </a:solidFill>
                <a:latin typeface="Arial"/>
              </a:rPr>
              <a:t> opisuje njeno stanje; ali gre za napravo ali žival, presodimo iz sobesedila. Pri frazemu </a:t>
            </a:r>
            <a:r>
              <a:rPr sz="2300" b="0" i="1">
                <a:solidFill>
                  <a:srgbClr val="182D3D"/>
                </a:solidFill>
                <a:latin typeface="Arial"/>
              </a:rPr>
              <a:t>metati polena pod noge</a:t>
            </a:r>
            <a:r>
              <a:rPr sz="2300" b="0" i="0">
                <a:solidFill>
                  <a:srgbClr val="182D3D"/>
                </a:solidFill>
                <a:latin typeface="Arial"/>
              </a:rPr>
              <a:t> potrebujemo njegov ustaljeni preneseni pomen, saj zgolj razlaga samostalnikov in glagola ne pojasni pomena oviranja.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Prvič ime identificira podjetje, drugič znamko vozila, ki jo izrecno uvaja občno poimenovanje </a:t>
            </a:r>
            <a:r>
              <a:rPr sz="2300" b="0" i="1">
                <a:solidFill>
                  <a:srgbClr val="182D3D"/>
                </a:solidFill>
                <a:latin typeface="Arial"/>
              </a:rPr>
              <a:t>znamka</a:t>
            </a:r>
            <a:r>
              <a:rPr sz="2300" b="0" i="0">
                <a:solidFill>
                  <a:srgbClr val="182D3D"/>
                </a:solidFill>
                <a:latin typeface="Arial"/>
              </a:rPr>
              <a:t>. Oglasna grafika ne nadomesti pomenske in slovnične analize. Pri prenosu v tekoče besedilo določimo poimenovalno vlogo in uporabimo ustrezno pravopisno pravilo.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Vaja 9</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Nov glagol zmaga na natečaju in se pojavi v petdesetih ponatisih iste novice. Kaj lahko iz tega sklepamo o njegovi tvorljivosti, ustaljenosti in primernosti za vključitev v splošni slovar?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9</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Natečaj potrjuje, da je bil predlog izbran, ponatisi pa razširjanje novice. Tvorbeno ustreznost preverimo z analizo besede, ustaljenost z neodvisnimi rabami, slovarsko vključitev pa glede na namen in merila slovarja. Število zadetkov samo ne odgovori na vsa tri vprašanja.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štiri ravni podatkov.</a:t>
            </a:r>
            <a:r>
              <a:rPr sz="2500" b="0" i="0">
                <a:solidFill>
                  <a:srgbClr val="182D3D"/>
                </a:solidFill>
                <a:latin typeface="Arial"/>
              </a:rPr>
              <a:t> Ob besedi </a:t>
            </a:r>
            <a:r>
              <a:rPr sz="2500" b="0" i="1">
                <a:solidFill>
                  <a:srgbClr val="182D3D"/>
                </a:solidFill>
                <a:latin typeface="Arial"/>
              </a:rPr>
              <a:t>termometer</a:t>
            </a:r>
            <a:r>
              <a:rPr sz="2500" b="0" i="0">
                <a:solidFill>
                  <a:srgbClr val="182D3D"/>
                </a:solidFill>
                <a:latin typeface="Arial"/>
              </a:rPr>
              <a:t> imamo podatke: moški spol; merilna naprava; merjenje temperature; tožilnik množine v </a:t>
            </a:r>
            <a:r>
              <a:rPr sz="2500" b="0" i="1">
                <a:solidFill>
                  <a:srgbClr val="182D3D"/>
                </a:solidFill>
                <a:latin typeface="Arial"/>
              </a:rPr>
              <a:t>kupili smo termometre</a:t>
            </a:r>
            <a:r>
              <a:rPr sz="2500" b="0" i="0">
                <a:solidFill>
                  <a:srgbClr val="182D3D"/>
                </a:solidFill>
                <a:latin typeface="Arial"/>
              </a:rPr>
              <a:t>; rdeče ohišje učiteljevega primerka; nakup tega primerka lani. Razvrstite jih med kategorialne slovarske lastnosti, sestavine denotativnega pomena, stavčno uresničene kategorije in podatke o nanosniku. Določite UPS in RPS. Nato pojasnite, zakaj </a:t>
            </a:r>
            <a:r>
              <a:rPr sz="2500" b="0" i="1">
                <a:solidFill>
                  <a:srgbClr val="182D3D"/>
                </a:solidFill>
                <a:latin typeface="Arial"/>
              </a:rPr>
              <a:t>Dober dan</a:t>
            </a:r>
            <a:r>
              <a:rPr sz="2500" b="0" i="0">
                <a:solidFill>
                  <a:srgbClr val="182D3D"/>
                </a:solidFill>
                <a:latin typeface="Arial"/>
              </a:rPr>
              <a:t> kot pozdrav in </a:t>
            </a:r>
            <a:r>
              <a:rPr sz="2500" b="0" i="1">
                <a:solidFill>
                  <a:srgbClr val="182D3D"/>
                </a:solidFill>
                <a:latin typeface="Arial"/>
              </a:rPr>
              <a:t>Tukaj je slab zrak</a:t>
            </a:r>
            <a:r>
              <a:rPr sz="2500" b="0" i="0">
                <a:solidFill>
                  <a:srgbClr val="182D3D"/>
                </a:solidFill>
                <a:latin typeface="Arial"/>
              </a:rPr>
              <a:t> kot namig za odpiranje okna ne zahtevata povsem enake razlage pragmatičnega pomena.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64</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Moški spol je slovarska kategorialna lastnost samostalnika; </a:t>
            </a:r>
            <a:r>
              <a:rPr sz="2500" b="0" i="1">
                <a:solidFill>
                  <a:srgbClr val="182D3D"/>
                </a:solidFill>
                <a:latin typeface="Arial"/>
              </a:rPr>
              <a:t>merilna naprava</a:t>
            </a:r>
            <a:r>
              <a:rPr sz="2500" b="0" i="0">
                <a:solidFill>
                  <a:srgbClr val="182D3D"/>
                </a:solidFill>
                <a:latin typeface="Arial"/>
              </a:rPr>
              <a:t> je UPS, </a:t>
            </a:r>
            <a:r>
              <a:rPr sz="2500" b="0" i="1">
                <a:solidFill>
                  <a:srgbClr val="182D3D"/>
                </a:solidFill>
                <a:latin typeface="Arial"/>
              </a:rPr>
              <a:t>merjenje temperature</a:t>
            </a:r>
            <a:r>
              <a:rPr sz="2500" b="0" i="0">
                <a:solidFill>
                  <a:srgbClr val="182D3D"/>
                </a:solidFill>
                <a:latin typeface="Arial"/>
              </a:rPr>
              <a:t> pa razločevalna vsebina glede na druge merilne naprave. UPS ostaja ena, čeprav je ubesedena z dvema besedama. Tožilnik množine razložimo iz konkretne povedi in oblikovne uresničitve. Barva in čas nakupa sta v nalogi podatka o posameznem nanosniku, ne definicijska podatka o termometru.</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10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Ta razvrstitev pokaže razliko med KPS in RPS: obe sta pomensko pomembni, vendar opravljata različni nalogi. </a:t>
            </a:r>
            <a:r>
              <a:rPr sz="2500" b="0" i="1">
                <a:solidFill>
                  <a:srgbClr val="182D3D"/>
                </a:solidFill>
                <a:latin typeface="Arial"/>
              </a:rPr>
              <a:t>Dober dan</a:t>
            </a:r>
            <a:r>
              <a:rPr sz="2500" b="0" i="0">
                <a:solidFill>
                  <a:srgbClr val="182D3D"/>
                </a:solidFill>
                <a:latin typeface="Arial"/>
              </a:rPr>
              <a:t> je ustaljeni jezikovnovedenjski obrazec, zato njegovo razlago oblikujemo kot pojasnilo pozdravljanja in okoliščin rabe. Pri slabem zraku pa željo po odprtem oknu sklepamo iz konkretnega položaja; leksikaliziranost takega pomena besede </a:t>
            </a:r>
            <a:r>
              <a:rPr sz="2500" b="0" i="1">
                <a:solidFill>
                  <a:srgbClr val="182D3D"/>
                </a:solidFill>
                <a:latin typeface="Arial"/>
              </a:rPr>
              <a:t>zrak</a:t>
            </a:r>
            <a:r>
              <a:rPr sz="2500" b="0" i="0">
                <a:solidFill>
                  <a:srgbClr val="182D3D"/>
                </a:solidFill>
                <a:latin typeface="Arial"/>
              </a:rPr>
              <a:t> s tem ni dokazana. Uporabljeni razlikovanji izhajata iz Vidovič Muha (2013: 33–40, 59–66, 97–102).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66</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trije pomeni hrasta.</a:t>
            </a:r>
            <a:r>
              <a:rPr sz="2500" b="0" i="0">
                <a:solidFill>
                  <a:srgbClr val="182D3D"/>
                </a:solidFill>
                <a:latin typeface="Arial"/>
              </a:rPr>
              <a:t> Primerjajte </a:t>
            </a:r>
            <a:r>
              <a:rPr sz="2500" b="0" i="1">
                <a:solidFill>
                  <a:srgbClr val="182D3D"/>
                </a:solidFill>
                <a:latin typeface="Arial"/>
              </a:rPr>
              <a:t>Na robu vrta raste hrast; Mizar suši hrast; Sobo so opremili s hrastom</a:t>
            </a:r>
            <a:r>
              <a:rPr sz="2500" b="0" i="0">
                <a:solidFill>
                  <a:srgbClr val="182D3D"/>
                </a:solidFill>
                <a:latin typeface="Arial"/>
              </a:rPr>
              <a:t>. Pri zadnji povedi predpostavite, da je mišljeno pohištvo. Za vsako rabo opredelite razred poimenovanega; nato po avtoričinem modelu razlikujte prenos drevo – les od prenosa les – pohištvo. Zakaj nobenega ne razložimo samo z oznako »metafora«? Dodajte povezovalno lastnost, ki utemelji metaforo pri računalniški miški.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67</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50" b="0" i="0">
                <a:solidFill>
                  <a:srgbClr val="182D3D"/>
                </a:solidFill>
                <a:latin typeface="Arial"/>
              </a:rPr>
              <a:t>Prvič poimenujemo drevo, drugič njegov les, tretjič pohištvo iz tega lesa. V avtoričini analizi je drevo – les sinekdoha: konstitutivni del drevesa postane razred, v katerega uvrstimo drugi pomen; drevo se ohrani kot razločevalna povezava. Pri lesu – pohištvu gre za metonimijo snov – izdelek: pohištvo kot nova UPS ni samo del rastočega drevesa, ampak rezultat izdelave iz lesa. Celotna veriga zato ni en sam nerazčlenjeni prenos (Vidovič Muha 2013: 146, 150). Metaforična miška pa ni niti del živali niti izdelek iz nje. Povezuje ju predstavna podobnost, zlasti oblike; novi denotat spada med naprave. Odgovor, ki samo našteje tri trope, ne pokaže razloga za razvrstitev.</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68</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razmerje dokažite s sklepom.</a:t>
            </a:r>
            <a:r>
              <a:rPr sz="2500" b="0" i="0">
                <a:solidFill>
                  <a:srgbClr val="182D3D"/>
                </a:solidFill>
                <a:latin typeface="Arial"/>
              </a:rPr>
              <a:t> Za pare </a:t>
            </a:r>
            <a:r>
              <a:rPr sz="2500" b="0" i="1">
                <a:solidFill>
                  <a:srgbClr val="182D3D"/>
                </a:solidFill>
                <a:latin typeface="Arial"/>
              </a:rPr>
              <a:t>oče – ata, breza – drevo, breza – bukev, vroč – hladen</a:t>
            </a:r>
            <a:r>
              <a:rPr sz="2500" b="0" i="0">
                <a:solidFill>
                  <a:srgbClr val="182D3D"/>
                </a:solidFill>
                <a:latin typeface="Arial"/>
              </a:rPr>
              <a:t> določite razmerje v ustreznem pomenu in navedite dovoljen oziroma nedovoljen sklep. Nato poved </a:t>
            </a:r>
            <a:r>
              <a:rPr sz="2500" b="0" i="1">
                <a:solidFill>
                  <a:srgbClr val="182D3D"/>
                </a:solidFill>
                <a:latin typeface="Arial"/>
              </a:rPr>
              <a:t>Ana je Boru prodala kolo</a:t>
            </a:r>
            <a:r>
              <a:rPr sz="2500" b="0" i="0">
                <a:solidFill>
                  <a:srgbClr val="182D3D"/>
                </a:solidFill>
                <a:latin typeface="Arial"/>
              </a:rPr>
              <a:t> preoblikujte z glagolom </a:t>
            </a:r>
            <a:r>
              <a:rPr sz="2500" b="0" i="1">
                <a:solidFill>
                  <a:srgbClr val="182D3D"/>
                </a:solidFill>
                <a:latin typeface="Arial"/>
              </a:rPr>
              <a:t>kupiti</a:t>
            </a:r>
            <a:r>
              <a:rPr sz="2500" b="0" i="0">
                <a:solidFill>
                  <a:srgbClr val="182D3D"/>
                </a:solidFill>
                <a:latin typeface="Arial"/>
              </a:rPr>
              <a:t>. Označite kupca, prodajalca in predmet menjave v obeh povedih. Ali je </a:t>
            </a:r>
            <a:r>
              <a:rPr sz="2500" b="0" i="1">
                <a:solidFill>
                  <a:srgbClr val="182D3D"/>
                </a:solidFill>
                <a:latin typeface="Arial"/>
              </a:rPr>
              <a:t>kupiti</a:t>
            </a:r>
            <a:r>
              <a:rPr sz="2500" b="0" i="0">
                <a:solidFill>
                  <a:srgbClr val="182D3D"/>
                </a:solidFill>
                <a:latin typeface="Arial"/>
              </a:rPr>
              <a:t> zato sopomenka </a:t>
            </a:r>
            <a:r>
              <a:rPr sz="2500" b="0" i="1">
                <a:solidFill>
                  <a:srgbClr val="182D3D"/>
                </a:solidFill>
                <a:latin typeface="Arial"/>
              </a:rPr>
              <a:t>prodati</a:t>
            </a:r>
            <a:r>
              <a:rPr sz="2500" b="0" i="0">
                <a:solidFill>
                  <a:srgbClr val="182D3D"/>
                </a:solidFill>
                <a:latin typeface="Arial"/>
              </a:rPr>
              <a:t> na istem skladenjskem mestu?</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69</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Oče – ata</a:t>
            </a:r>
            <a:r>
              <a:rPr sz="2500" b="0" i="0">
                <a:solidFill>
                  <a:srgbClr val="182D3D"/>
                </a:solidFill>
                <a:latin typeface="Arial"/>
              </a:rPr>
              <a:t> sta v obravnavanem družinskem pomenu sopomenki z različno zaznamovanostjo; denotativni sklep deluje obojestransko, ton pa ni nujno ohranjen. </a:t>
            </a:r>
            <a:r>
              <a:rPr sz="2500" b="0" i="1">
                <a:solidFill>
                  <a:srgbClr val="182D3D"/>
                </a:solidFill>
                <a:latin typeface="Arial"/>
              </a:rPr>
              <a:t>Breza – drevo</a:t>
            </a:r>
            <a:r>
              <a:rPr sz="2500" b="0" i="0">
                <a:solidFill>
                  <a:srgbClr val="182D3D"/>
                </a:solidFill>
                <a:latin typeface="Arial"/>
              </a:rPr>
              <a:t> je podpomensko–nadpomensko razmerje: vsaka breza je drevo, vsako drevo pa ni breza. </a:t>
            </a:r>
            <a:r>
              <a:rPr sz="2500" b="0" i="1">
                <a:solidFill>
                  <a:srgbClr val="182D3D"/>
                </a:solidFill>
                <a:latin typeface="Arial"/>
              </a:rPr>
              <a:t>Breza – bukev</a:t>
            </a:r>
            <a:r>
              <a:rPr sz="2500" b="0" i="0">
                <a:solidFill>
                  <a:srgbClr val="182D3D"/>
                </a:solidFill>
                <a:latin typeface="Arial"/>
              </a:rPr>
              <a:t> sta vzporedni podpomenki skupne neposredne nadpomenke, če za polje izberemo listnata drevesa; nista protipomenki samo zato, ker sta različni vrsti. Pri </a:t>
            </a:r>
            <a:r>
              <a:rPr sz="2500" b="0" i="1">
                <a:solidFill>
                  <a:srgbClr val="182D3D"/>
                </a:solidFill>
                <a:latin typeface="Arial"/>
              </a:rPr>
              <a:t>vroč – hladen</a:t>
            </a:r>
            <a:r>
              <a:rPr sz="2500" b="0" i="0">
                <a:solidFill>
                  <a:srgbClr val="182D3D"/>
                </a:solidFill>
                <a:latin typeface="Arial"/>
              </a:rPr>
              <a:t> nasprotje dopušča vmesne vrednosti, zato negacija prvega člena ne potrdi drugega.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70</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Preoblikovana poved je </a:t>
            </a:r>
            <a:r>
              <a:rPr sz="2500" b="0" i="1">
                <a:solidFill>
                  <a:srgbClr val="182D3D"/>
                </a:solidFill>
                <a:latin typeface="Arial"/>
              </a:rPr>
              <a:t>Bor je od Ane kupil kolo</a:t>
            </a:r>
            <a:r>
              <a:rPr sz="2500" b="0" i="0">
                <a:solidFill>
                  <a:srgbClr val="182D3D"/>
                </a:solidFill>
                <a:latin typeface="Arial"/>
              </a:rPr>
              <a:t>. Ana ostane prodajalka, Bor kupec in kolo predmet menjave; spremeni se njihova skladenjska razporeditev, zlasti osebek in predložna zveza. Če v prvotni povedi zgolj zamenjamo glagol in pustimo udeležence v istih vlogah, ne ohranimo istega odnosa. Zato gre za konverzivno protipomenskost, ne za navadno sopomensko zamenjavo (Vidovič Muha 2013: 173–175, 184–188, 189–193).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poimenovanje v širši zvezi.</a:t>
            </a:r>
            <a:r>
              <a:rPr sz="2500" b="0" i="0">
                <a:solidFill>
                  <a:srgbClr val="182D3D"/>
                </a:solidFill>
                <a:latin typeface="Arial"/>
              </a:rPr>
              <a:t> Primerjajte </a:t>
            </a:r>
            <a:r>
              <a:rPr sz="2500" b="0" i="1">
                <a:solidFill>
                  <a:srgbClr val="182D3D"/>
                </a:solidFill>
                <a:latin typeface="Arial"/>
              </a:rPr>
              <a:t>mlad črni bor</a:t>
            </a:r>
            <a:r>
              <a:rPr sz="2500" b="0" i="0">
                <a:solidFill>
                  <a:srgbClr val="182D3D"/>
                </a:solidFill>
                <a:latin typeface="Arial"/>
              </a:rPr>
              <a:t> in </a:t>
            </a:r>
            <a:r>
              <a:rPr sz="2500" b="0" i="1">
                <a:solidFill>
                  <a:srgbClr val="182D3D"/>
                </a:solidFill>
                <a:latin typeface="Arial"/>
              </a:rPr>
              <a:t>zelo črn plašč</a:t>
            </a:r>
            <a:r>
              <a:rPr sz="2500" b="0" i="0">
                <a:solidFill>
                  <a:srgbClr val="182D3D"/>
                </a:solidFill>
                <a:latin typeface="Arial"/>
              </a:rPr>
              <a:t>. Določite ustaljeno poimenovalno jedro in sprotno dodani opis; pojasnite različno vlogo pridevnika </a:t>
            </a:r>
            <a:r>
              <a:rPr sz="2500" b="0" i="1">
                <a:solidFill>
                  <a:srgbClr val="182D3D"/>
                </a:solidFill>
                <a:latin typeface="Arial"/>
              </a:rPr>
              <a:t>črn</a:t>
            </a:r>
            <a:r>
              <a:rPr sz="2500" b="0" i="0">
                <a:solidFill>
                  <a:srgbClr val="182D3D"/>
                </a:solidFill>
                <a:latin typeface="Arial"/>
              </a:rPr>
              <a:t>. Ali zveza </a:t>
            </a:r>
            <a:r>
              <a:rPr sz="2500" b="0" i="1">
                <a:solidFill>
                  <a:srgbClr val="182D3D"/>
                </a:solidFill>
                <a:latin typeface="Arial"/>
              </a:rPr>
              <a:t>novi učbenik</a:t>
            </a:r>
            <a:r>
              <a:rPr sz="2500" b="0" i="0">
                <a:solidFill>
                  <a:srgbClr val="182D3D"/>
                </a:solidFill>
                <a:latin typeface="Arial"/>
              </a:rPr>
              <a:t> samo zaradi </a:t>
            </a:r>
            <a:r>
              <a:rPr sz="2500" b="0" i="1">
                <a:solidFill>
                  <a:srgbClr val="182D3D"/>
                </a:solidFill>
                <a:latin typeface="Arial"/>
              </a:rPr>
              <a:t>-i</a:t>
            </a:r>
            <a:r>
              <a:rPr sz="2500" b="0" i="0">
                <a:solidFill>
                  <a:srgbClr val="182D3D"/>
                </a:solidFill>
                <a:latin typeface="Arial"/>
              </a:rPr>
              <a:t> že poimenuje strokovno vrsto učbenika? Na koncu razložite, zakaj dejstvo, da je </a:t>
            </a:r>
            <a:r>
              <a:rPr sz="2500" b="0" i="1">
                <a:solidFill>
                  <a:srgbClr val="182D3D"/>
                </a:solidFill>
                <a:latin typeface="Arial"/>
              </a:rPr>
              <a:t>koren</a:t>
            </a:r>
            <a:r>
              <a:rPr sz="2500" b="0" i="0">
                <a:solidFill>
                  <a:srgbClr val="182D3D"/>
                </a:solidFill>
                <a:latin typeface="Arial"/>
              </a:rPr>
              <a:t> termin tako v matematiki kot v jezikoslovju, ne ovrže terminološkega načela enopomenskosti v izbranem pojmovnem sistemu.</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250" b="0" i="1">
                <a:solidFill>
                  <a:srgbClr val="182D3D"/>
                </a:solidFill>
                <a:latin typeface="Arial"/>
              </a:rPr>
              <a:t>Črni bor</a:t>
            </a:r>
            <a:r>
              <a:rPr sz="2250" b="0" i="0">
                <a:solidFill>
                  <a:srgbClr val="182D3D"/>
                </a:solidFill>
                <a:latin typeface="Arial"/>
              </a:rPr>
              <a:t> je ustaljeno poimenovanje vrste, </a:t>
            </a:r>
            <a:r>
              <a:rPr sz="2250" b="0" i="1">
                <a:solidFill>
                  <a:srgbClr val="182D3D"/>
                </a:solidFill>
                <a:latin typeface="Arial"/>
              </a:rPr>
              <a:t>mlad</a:t>
            </a:r>
            <a:r>
              <a:rPr sz="2250" b="0" i="0">
                <a:solidFill>
                  <a:srgbClr val="182D3D"/>
                </a:solidFill>
                <a:latin typeface="Arial"/>
              </a:rPr>
              <a:t> pa v nalogi dodatno opisuje primerek te vrste. Celotna razširjena zveza zato ne postane nov leksem samo zaradi dodanega pridevnika. V </a:t>
            </a:r>
            <a:r>
              <a:rPr sz="2250" b="0" i="1">
                <a:solidFill>
                  <a:srgbClr val="182D3D"/>
                </a:solidFill>
                <a:latin typeface="Arial"/>
              </a:rPr>
              <a:t>zelo črn plašč</a:t>
            </a:r>
            <a:r>
              <a:rPr sz="2250" b="0" i="0">
                <a:solidFill>
                  <a:srgbClr val="182D3D"/>
                </a:solidFill>
                <a:latin typeface="Arial"/>
              </a:rPr>
              <a:t> pridevnik pripisuje barvno lastnost, </a:t>
            </a:r>
            <a:r>
              <a:rPr sz="2250" b="0" i="1">
                <a:solidFill>
                  <a:srgbClr val="182D3D"/>
                </a:solidFill>
                <a:latin typeface="Arial"/>
              </a:rPr>
              <a:t>zelo</a:t>
            </a:r>
            <a:r>
              <a:rPr sz="2250" b="0" i="0">
                <a:solidFill>
                  <a:srgbClr val="182D3D"/>
                </a:solidFill>
                <a:latin typeface="Arial"/>
              </a:rPr>
              <a:t> pa jo stopnjuje. Stopnjevanje črnosti bora bi moralo biti posebej razumljeno kot opis videza, ne kot stopnja pripadnosti poimenovani vrsti. </a:t>
            </a:r>
            <a:r>
              <a:rPr sz="2250" b="0" i="1">
                <a:solidFill>
                  <a:srgbClr val="182D3D"/>
                </a:solidFill>
                <a:latin typeface="Arial"/>
              </a:rPr>
              <a:t>Novi učbenik</a:t>
            </a:r>
            <a:r>
              <a:rPr sz="2250" b="0" i="0">
                <a:solidFill>
                  <a:srgbClr val="182D3D"/>
                </a:solidFill>
                <a:latin typeface="Arial"/>
              </a:rPr>
              <a:t> je lahko zveza, v kateri določna oblika označuje že omenjeni novi primerek; sam </a:t>
            </a:r>
            <a:r>
              <a:rPr sz="2250" b="0" i="1">
                <a:solidFill>
                  <a:srgbClr val="182D3D"/>
                </a:solidFill>
                <a:latin typeface="Arial"/>
              </a:rPr>
              <a:t>-i</a:t>
            </a:r>
            <a:r>
              <a:rPr sz="2250" b="0" i="0">
                <a:solidFill>
                  <a:srgbClr val="182D3D"/>
                </a:solidFill>
                <a:latin typeface="Arial"/>
              </a:rPr>
              <a:t> ne dokazuje terminološkosti. Pri </a:t>
            </a:r>
            <a:r>
              <a:rPr sz="2250" b="0" i="1">
                <a:solidFill>
                  <a:srgbClr val="182D3D"/>
                </a:solidFill>
                <a:latin typeface="Arial"/>
              </a:rPr>
              <a:t>korenu</a:t>
            </a:r>
            <a:r>
              <a:rPr sz="2250" b="0" i="0">
                <a:solidFill>
                  <a:srgbClr val="182D3D"/>
                </a:solidFill>
                <a:latin typeface="Arial"/>
              </a:rPr>
              <a:t> ločimo dva strokovna pojmovna sistema: enopomenskost preverjamo v vsakem posebej. Avtorica načelo tudi sicer obravnava z omejitvami in izjemami, zato ga ne smemo spremeniti v trditev, da isti izraz nikoli nikjer nima več pomenov (Vidovič Muha 2013: 27, 30–31, 126–127).</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73</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Slovarski pomen ni seznam vseh podatkov o posameznem nanosniku.</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Razmerje dokažemo, preden mu pripišemo terminološko oznako.</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Pomen, oblika, raba in kodificirani zapis potrebujejo povezane, različne dokaze.</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Zdaj bomo preverili, kako se poimenovalno razmerje izrazi v notranji zgradbi tvorjenke.</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50" b="0" i="0">
                <a:solidFill>
                  <a:srgbClr val="546674"/>
                </a:solidFill>
                <a:latin typeface="Arial"/>
              </a:rPr>
              <a:t>Branje: Vidovič Muha 2013: 17–22, 33–40, 59–67, 76–79, 132–133, 144–156, 172–175, 184–193.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3. Beseda in besedna zveza</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Kako iz pomena in tvorbene zgradbe utemeljimo zapis?</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Ločim morfemsko sestavo, tvorbeno razmerje in pregibanje.</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Razložim SPo, BPo in celotno obrazilo izbrane stopnje.</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Utemeljim zapis ter navedem teoretični in normativni okvir.</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Nova oblika ali novo poimenovanje?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75</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Pregibanje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hiša → hiše</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Isti leksem dobi drugo slovnično obliko.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Besedotvorje</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hiša → hišica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Nastane nov leksem; dodan je lahko pomen majhnosti ali naklonjenosti.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Razvrščamo funkcijo spremembe, ne dolžine rezultata.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Ista beseda, dve ravni členitve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76</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Morfemska in besedotvorna členitev odgovarjata na različni vprašanji.</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Morfemska sestava</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hiš-ic-a: koren + besedotvorni morfem + končnica.</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Tvorbeno razmerje</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hiš-ica: besedotvorna podstava + obrazilo.</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Osnova pri pregibanju</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hišic-a → hišic-e: osnova hišic- vsebuje več morfemov.</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Pred členitvijo povejmo, katero raven analiziramo.</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Kako iz podstave razložimo besedo lovec?</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77</a:t>
            </a:r>
          </a:p>
        </p:txBody>
      </p:sp>
      <p:sp>
        <p:nvSpPr>
          <p:cNvPr id="4" name="TextBox 3"/>
          <p:cNvSpPr txBox="1"/>
          <p:nvPr/>
        </p:nvSpPr>
        <p:spPr>
          <a:xfrm>
            <a:off x="80467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1</a:t>
            </a:r>
          </a:p>
        </p:txBody>
      </p:sp>
      <p:sp>
        <p:nvSpPr>
          <p:cNvPr id="5" name="TextBox 4"/>
          <p:cNvSpPr txBox="1"/>
          <p:nvPr/>
        </p:nvSpPr>
        <p:spPr>
          <a:xfrm>
            <a:off x="152704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Skladenjska podstava: SPo</a:t>
            </a:r>
          </a:p>
        </p:txBody>
      </p:sp>
      <p:sp>
        <p:nvSpPr>
          <p:cNvPr id="6" name="TextBox 5"/>
          <p:cNvSpPr txBox="1"/>
          <p:nvPr/>
        </p:nvSpPr>
        <p:spPr>
          <a:xfrm>
            <a:off x="83210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tisti, ki lovi</a:t>
            </a:r>
          </a:p>
        </p:txBody>
      </p:sp>
      <p:sp>
        <p:nvSpPr>
          <p:cNvPr id="7" name="TextBox 6"/>
          <p:cNvSpPr txBox="1"/>
          <p:nvPr/>
        </p:nvSpPr>
        <p:spPr>
          <a:xfrm>
            <a:off x="638251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2</a:t>
            </a:r>
          </a:p>
        </p:txBody>
      </p:sp>
      <p:sp>
        <p:nvSpPr>
          <p:cNvPr id="8" name="TextBox 7"/>
          <p:cNvSpPr txBox="1"/>
          <p:nvPr/>
        </p:nvSpPr>
        <p:spPr>
          <a:xfrm>
            <a:off x="710488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Besedotvorna podstava: BPo</a:t>
            </a:r>
          </a:p>
        </p:txBody>
      </p:sp>
      <p:sp>
        <p:nvSpPr>
          <p:cNvPr id="9" name="TextBox 8"/>
          <p:cNvSpPr txBox="1"/>
          <p:nvPr/>
        </p:nvSpPr>
        <p:spPr>
          <a:xfrm>
            <a:off x="640994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lov- ohranja konkretni pomen podstavnega glagola.</a:t>
            </a:r>
          </a:p>
        </p:txBody>
      </p:sp>
      <p:sp>
        <p:nvSpPr>
          <p:cNvPr id="10" name="TextBox 9"/>
          <p:cNvSpPr txBox="1"/>
          <p:nvPr/>
        </p:nvSpPr>
        <p:spPr>
          <a:xfrm>
            <a:off x="80467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3</a:t>
            </a:r>
          </a:p>
        </p:txBody>
      </p:sp>
      <p:sp>
        <p:nvSpPr>
          <p:cNvPr id="11" name="TextBox 10"/>
          <p:cNvSpPr txBox="1"/>
          <p:nvPr/>
        </p:nvSpPr>
        <p:spPr>
          <a:xfrm>
            <a:off x="152704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Obrazilo: O</a:t>
            </a:r>
          </a:p>
        </p:txBody>
      </p:sp>
      <p:sp>
        <p:nvSpPr>
          <p:cNvPr id="12" name="TextBox 11"/>
          <p:cNvSpPr txBox="1"/>
          <p:nvPr/>
        </p:nvSpPr>
        <p:spPr>
          <a:xfrm>
            <a:off x="83210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-ec izraža zaimensko jedro s slovničnim razmerjem.</a:t>
            </a:r>
          </a:p>
        </p:txBody>
      </p:sp>
      <p:sp>
        <p:nvSpPr>
          <p:cNvPr id="13" name="TextBox 12"/>
          <p:cNvSpPr txBox="1"/>
          <p:nvPr/>
        </p:nvSpPr>
        <p:spPr>
          <a:xfrm>
            <a:off x="638251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4</a:t>
            </a:r>
          </a:p>
        </p:txBody>
      </p:sp>
      <p:sp>
        <p:nvSpPr>
          <p:cNvPr id="14" name="TextBox 13"/>
          <p:cNvSpPr txBox="1"/>
          <p:nvPr/>
        </p:nvSpPr>
        <p:spPr>
          <a:xfrm>
            <a:off x="710488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Tvorjenka</a:t>
            </a:r>
          </a:p>
        </p:txBody>
      </p:sp>
      <p:sp>
        <p:nvSpPr>
          <p:cNvPr id="15" name="TextBox 14"/>
          <p:cNvSpPr txBox="1"/>
          <p:nvPr/>
        </p:nvSpPr>
        <p:spPr>
          <a:xfrm>
            <a:off x="640994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lov- + -ec → lovec</a:t>
            </a:r>
          </a:p>
        </p:txBody>
      </p:sp>
      <p:sp>
        <p:nvSpPr>
          <p:cNvPr id="16" name="TextBox 15"/>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 tem modelu je tvorjenka celota BPo in obrazila.</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Sopomenski besedi nimata nujno iste podstave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zob-o-zdravnik</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zdravnik za zobe</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Obe polnopomenski sestavini se ohranita v besedotvorni podstavi.</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zob-ar</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tisti, ki je za zobe</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Zaimensko jedro se obrazili; poklicni pomen je konkretnejši slovarski podatek.</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Smiselna slovarska razlaga še ni dokaz skladenjske podstave.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Enak konec -ec, različna tvorbena vloga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79</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a1: navadna izpeljava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tisti, ki lovi → lov-ec</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 obrazilo se pretvori jedro s slovničnim razmerjem.</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c1: modifikacijska izpeljava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ljubek brat → brat-ec</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 obrazilo se pretvori odvisni del s pomenom naklonjenosti.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Glasovna enakost obrazila ne zagotavlja enakega besedotvornega pomena.</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Kateri deli tvorijo obrazilo zadnje stopnje?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80</a:t>
            </a:r>
          </a:p>
        </p:txBody>
      </p:sp>
      <p:graphicFrame>
        <p:nvGraphicFramePr>
          <p:cNvPr id="4" name="Table 3"/>
          <p:cNvGraphicFramePr>
            <a:graphicFrameLocks noGrp="1"/>
          </p:cNvGraphicFramePr>
          <p:nvPr/>
        </p:nvGraphicFramePr>
        <p:xfrm>
          <a:off x="621792" y="1810512"/>
          <a:ext cx="10954511" cy="288925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Tvorjenka in tip</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BPo</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Celotno obrazilo</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brez-dom-ec · a2</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-dom-</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brez- … -ec: predponsko-priponsko</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vrv-o-hod-ec · a3</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vrv- … -hod-</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-o- … -ec: medponsko-priponsko</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zob-o-zdravnik · b</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zob- … -zdravnik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 medponsko</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Štejemo sestavine obrazila obravnavane stopnje, ne vseh vidnih obrazilnih morfemov.</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Sestavljanje in zlaganje loči zgradba podstave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81</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Odločilni sta vrsta ohranjene podstave in vloga obrazila.</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c2: sestavljanje</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nekdanja domovina → pra-domovina; predponsko obrazilo.</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b: podredno zlaganje</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zdravnik za zobe → zob-o-zdravnik; dvokorenska podstava.</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č: priredno zlaganje</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slovenski in nemški → slovensk-o-nemški; enakovredni sestavini.</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Predpona, medpona in pripona so sestavine hierarhično razložljive zgradbe.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Kaj poimenujemo: dejanje, nosilca ali okoliščino?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82</a:t>
            </a:r>
          </a:p>
        </p:txBody>
      </p:sp>
      <p:graphicFrame>
        <p:nvGraphicFramePr>
          <p:cNvPr id="4" name="Table 3"/>
          <p:cNvGraphicFramePr>
            <a:graphicFrameLocks noGrp="1"/>
          </p:cNvGraphicFramePr>
          <p:nvPr/>
        </p:nvGraphicFramePr>
        <p:xfrm>
          <a:off x="621792" y="1810512"/>
          <a:ext cx="10954511" cy="3552317"/>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Sestavina SPo</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Besedotvorni pomen</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to, da …</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dejanje, lastnost, stanje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pisanje; belina</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tisti, ki …</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živi / neživi nosilec</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lovec / nosilec kot predmet</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to, kar … / to, s čimer …</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rezultat / sredstvo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odredba / cedilo</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tam, kjer … / tedaj, ko …</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mesto / čas</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gostilna / mladost (časovni pomen)</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Pregled velja za ustrezne tvorjenke tipa a v modelu Vidovič Muha.</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Listavec: tvorbena razlaga in slovarski pomen</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83</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Besedotvorni pomen</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listavec ← tisti, ki je listav</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Razlaga mora pojasniti motivacijo in sestavine tvorjenke.</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Slovarski pomen</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UPS: drevo; RPS: z listi</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Razlaga določi konkretnejšo poimenovano vrsto.</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Besedotvorna zgradba ne napove nujno celotnega ustaljenega pomena.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Vsaka tvorbena stopnja ima svojo neposredno podstavo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84</a:t>
            </a:r>
          </a:p>
        </p:txBody>
      </p:sp>
      <p:sp>
        <p:nvSpPr>
          <p:cNvPr id="4" name="TextBox 3"/>
          <p:cNvSpPr txBox="1"/>
          <p:nvPr/>
        </p:nvSpPr>
        <p:spPr>
          <a:xfrm>
            <a:off x="80467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1</a:t>
            </a:r>
          </a:p>
        </p:txBody>
      </p:sp>
      <p:sp>
        <p:nvSpPr>
          <p:cNvPr id="5" name="TextBox 4"/>
          <p:cNvSpPr txBox="1"/>
          <p:nvPr/>
        </p:nvSpPr>
        <p:spPr>
          <a:xfrm>
            <a:off x="152704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Izhodišče</a:t>
            </a:r>
          </a:p>
        </p:txBody>
      </p:sp>
      <p:sp>
        <p:nvSpPr>
          <p:cNvPr id="6" name="TextBox 5"/>
          <p:cNvSpPr txBox="1"/>
          <p:nvPr/>
        </p:nvSpPr>
        <p:spPr>
          <a:xfrm>
            <a:off x="83210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gozd</a:t>
            </a:r>
          </a:p>
        </p:txBody>
      </p:sp>
      <p:sp>
        <p:nvSpPr>
          <p:cNvPr id="7" name="TextBox 6"/>
          <p:cNvSpPr txBox="1"/>
          <p:nvPr/>
        </p:nvSpPr>
        <p:spPr>
          <a:xfrm>
            <a:off x="638251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2</a:t>
            </a:r>
          </a:p>
        </p:txBody>
      </p:sp>
      <p:sp>
        <p:nvSpPr>
          <p:cNvPr id="8" name="TextBox 7"/>
          <p:cNvSpPr txBox="1"/>
          <p:nvPr/>
        </p:nvSpPr>
        <p:spPr>
          <a:xfrm>
            <a:off x="710488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Prva tvorbena stopnja</a:t>
            </a:r>
          </a:p>
        </p:txBody>
      </p:sp>
      <p:sp>
        <p:nvSpPr>
          <p:cNvPr id="9" name="TextBox 8"/>
          <p:cNvSpPr txBox="1"/>
          <p:nvPr/>
        </p:nvSpPr>
        <p:spPr>
          <a:xfrm>
            <a:off x="640994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gozd- + -ar → gozdar</a:t>
            </a:r>
          </a:p>
        </p:txBody>
      </p:sp>
      <p:sp>
        <p:nvSpPr>
          <p:cNvPr id="10" name="TextBox 9"/>
          <p:cNvSpPr txBox="1"/>
          <p:nvPr/>
        </p:nvSpPr>
        <p:spPr>
          <a:xfrm>
            <a:off x="80467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3</a:t>
            </a:r>
          </a:p>
        </p:txBody>
      </p:sp>
      <p:sp>
        <p:nvSpPr>
          <p:cNvPr id="11" name="TextBox 10"/>
          <p:cNvSpPr txBox="1"/>
          <p:nvPr/>
        </p:nvSpPr>
        <p:spPr>
          <a:xfrm>
            <a:off x="152704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Druga tvorbena stopnja</a:t>
            </a:r>
          </a:p>
        </p:txBody>
      </p:sp>
      <p:sp>
        <p:nvSpPr>
          <p:cNvPr id="12" name="TextBox 11"/>
          <p:cNvSpPr txBox="1"/>
          <p:nvPr/>
        </p:nvSpPr>
        <p:spPr>
          <a:xfrm>
            <a:off x="83210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gozdar- + -ski → gozdarski</a:t>
            </a:r>
          </a:p>
        </p:txBody>
      </p:sp>
      <p:sp>
        <p:nvSpPr>
          <p:cNvPr id="13" name="TextBox 12"/>
          <p:cNvSpPr txBox="1"/>
          <p:nvPr/>
        </p:nvSpPr>
        <p:spPr>
          <a:xfrm>
            <a:off x="638251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4</a:t>
            </a:r>
          </a:p>
        </p:txBody>
      </p:sp>
      <p:sp>
        <p:nvSpPr>
          <p:cNvPr id="14" name="TextBox 13"/>
          <p:cNvSpPr txBox="1"/>
          <p:nvPr/>
        </p:nvSpPr>
        <p:spPr>
          <a:xfrm>
            <a:off x="710488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Pregibanje tvorjenke</a:t>
            </a:r>
          </a:p>
        </p:txBody>
      </p:sp>
      <p:sp>
        <p:nvSpPr>
          <p:cNvPr id="15" name="TextBox 14"/>
          <p:cNvSpPr txBox="1"/>
          <p:nvPr/>
        </p:nvSpPr>
        <p:spPr>
          <a:xfrm>
            <a:off x="640994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gozdarski → gozdarskega: isti leksem, druga oblika.</a:t>
            </a:r>
          </a:p>
        </p:txBody>
      </p:sp>
      <p:sp>
        <p:nvSpPr>
          <p:cNvPr id="16" name="TextBox 15"/>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Obrazilo prejšnje stopnje lahko postane del podstave naslednje.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Isti termin v dveh modelih</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85</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Kaj opisujemo?</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Vidovič Muha 2011</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Toporišič 2004</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Izhodiščno zvezo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skladenjska podstava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besedotvorna podstava</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Ohranjeni del tvorjenke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besedotvorna podstava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podstava tvorjenke</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Predložno podstavo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poseben tip a2</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izpeljava: Obsotelje</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Sklapljanje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obrobje sistemskih pretvorb</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ena štirih osnovnih vrst</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Pred primerjavo analiz določimo pomen uporabljenih terminov.</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Nespremenljiva sestavina še ne določi zapisa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86</a:t>
            </a:r>
          </a:p>
        </p:txBody>
      </p:sp>
      <p:graphicFrame>
        <p:nvGraphicFramePr>
          <p:cNvPr id="4" name="Table 3"/>
          <p:cNvGraphicFramePr>
            <a:graphicFrameLocks noGrp="1"/>
          </p:cNvGraphicFramePr>
          <p:nvPr/>
        </p:nvGraphicFramePr>
        <p:xfrm>
          <a:off x="621792" y="1810512"/>
          <a:ext cx="10954511" cy="3726688"/>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Zgled po SP 2001</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upoštevamo?</a:t>
                      </a:r>
                    </a:p>
                  </a:txBody>
                  <a:tcPr marL="137160" marR="137160" marT="73152" marB="73152" anchor="ctr">
                    <a:solidFill>
                      <a:srgbClr val="00695F"/>
                    </a:solidFill>
                  </a:tcPr>
                </a:tc>
              </a:tr>
              <a:tr h="880364">
                <a:tc>
                  <a:txBody>
                    <a:bodyPr wrap="square"/>
                    <a:lstStyle/>
                    <a:p>
                      <a:pPr>
                        <a:lnSpc>
                          <a:spcPct val="108000"/>
                        </a:lnSpc>
                        <a:spcAft>
                          <a:spcPts val="0"/>
                        </a:spcAft>
                      </a:pPr>
                      <a:r>
                        <a:rPr sz="2200" b="0" i="0">
                          <a:solidFill>
                            <a:srgbClr val="182D3D"/>
                          </a:solidFill>
                          <a:latin typeface="Arial"/>
                        </a:rPr>
                        <a:t>pešpot; pedenjčlovek; teleobjektiv</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Ustaljene zloženke pišemo skupaj.</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minigolf / mini golf</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Pri tej skupini sta dopuščena dva zapisa.</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alfažarki / alfa žarki</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Dvojnici; pravila priporočajo žarki alfa.</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lila krilo; poceni blago; žal beseda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Pridevniški prilastek in samostalniško jedro ostaneta ločena.</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Vrsta sestavine, pomen celote in kodifikacija odločajo skupaj.</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Razvezava mora ohraniti predvideni pomen</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87</a:t>
            </a:r>
          </a:p>
        </p:txBody>
      </p:sp>
      <p:graphicFrame>
        <p:nvGraphicFramePr>
          <p:cNvPr id="4" name="Table 3"/>
          <p:cNvGraphicFramePr>
            <a:graphicFrameLocks noGrp="1"/>
          </p:cNvGraphicFramePr>
          <p:nvPr/>
        </p:nvGraphicFramePr>
        <p:xfrm>
          <a:off x="621792" y="1810512"/>
          <a:ext cx="10954511" cy="3552317"/>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Izhodiščni pomen</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Razmerje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Zapis</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literarna zgodovina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podredno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literarnozgodovinski pregled</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slovenski in italijanski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priredno</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slovensko-italijanski projekt</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prevedeno strojno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prislov določa deležnik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strojno prevedeno besedilo</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nov učbenik za osnovno šolo</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dva pridevniška prilastka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nov osnovnošolski učbenik</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Možnost vstavitve in ni dovolj; preverimo pomensko enakovrednost.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Priredni pomen ne napove vedno istega vezaja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SP 2001</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kupo-prodajen</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Zapis, ki ga upoštevamo pri izrecnem navodilu po SP 2001.</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Novejša obravnava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kupoprodajen / kupoprodajni</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Prenova pravila upošteva okrnjeno prvo sestavino kupo-.</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Pomensko razmerje povežemo z obliko sestavin in izbranim normativnim virom.</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Kaj svet obravnava in kakšen svet 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89</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Področje nacionalne varnosti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nacionalnovarnostni svet</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Rodilnik: nacionalnovarnostnega sveta.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Nacionalni svet za varnost</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nacionalni varnostni svet</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Rodilnik: nacionalnega varnostnega sveta.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Pomenska analiza določi, ali pregibamo eno tvorjenko ali dva samostojna pridevnika.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Tri zgradbe zdravstvenega poimenovanja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90</a:t>
            </a:r>
          </a:p>
        </p:txBody>
      </p:sp>
      <p:graphicFrame>
        <p:nvGraphicFramePr>
          <p:cNvPr id="4" name="Table 3"/>
          <p:cNvGraphicFramePr>
            <a:graphicFrameLocks noGrp="1"/>
          </p:cNvGraphicFramePr>
          <p:nvPr/>
        </p:nvGraphicFramePr>
        <p:xfrm>
          <a:off x="621792" y="1810512"/>
          <a:ext cx="10954511" cy="2975991"/>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Zapis</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Pomenska podstava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Zgradba</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vojaška zdravstvena enota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zdravstvena enota znotraj vojske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dva ujemalna pridevnika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vojaškozdravstvena enota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vojaško zdravstvo</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pridevniška tvorjenka</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vojaško-zdravstvena enota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vojaška in zdravstvena sestavina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priredna povezava</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Presledek, zapis skupaj in vezaj tu izražajo različne analize.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Vezaj opravlja več različnih nalog</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91</a:t>
            </a:r>
          </a:p>
        </p:txBody>
      </p:sp>
      <p:graphicFrame>
        <p:nvGraphicFramePr>
          <p:cNvPr id="4" name="Table 3"/>
          <p:cNvGraphicFramePr>
            <a:graphicFrameLocks noGrp="1"/>
          </p:cNvGraphicFramePr>
          <p:nvPr/>
        </p:nvGraphicFramePr>
        <p:xfrm>
          <a:off x="621792" y="1810512"/>
          <a:ext cx="10954511" cy="3726688"/>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Naloga ali kontrast</a:t>
                      </a:r>
                    </a:p>
                  </a:txBody>
                  <a:tcPr marL="137160" marR="137160" marT="73152" marB="73152" anchor="ctr">
                    <a:solidFill>
                      <a:srgbClr val="00695F"/>
                    </a:solidFill>
                  </a:tcPr>
                </a:tc>
              </a:tr>
              <a:tr h="880364">
                <a:tc>
                  <a:txBody>
                    <a:bodyPr wrap="square"/>
                    <a:lstStyle/>
                    <a:p>
                      <a:pPr>
                        <a:lnSpc>
                          <a:spcPct val="108000"/>
                        </a:lnSpc>
                        <a:spcAft>
                          <a:spcPts val="0"/>
                        </a:spcAft>
                      </a:pPr>
                      <a:r>
                        <a:rPr sz="2200" b="0" i="0">
                          <a:solidFill>
                            <a:srgbClr val="182D3D"/>
                          </a:solidFill>
                          <a:latin typeface="Arial"/>
                        </a:rPr>
                        <a:t>C-vitamin; TV-program; A4-format</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Simbolna prva sestavina; nasproti vitamin C, program TV, format A 4.</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90. obletnica / 90-letnica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Vrstilni števnik / tvorjenka; zapis 90-obletnica je neustrezen.</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petlitrski / 5-litrski</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Način zapisa prve sestavine vpliva na povezavo.</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dvo- in večzložne besede</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Vezaj označuje izpuščeni skupni del -zložne.</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vezaj pojasnimo z njegovo nalogo v konkretni zgradbi.</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Pregibanje preveri doslednost naše razlage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92</a:t>
            </a:r>
          </a:p>
        </p:txBody>
      </p:sp>
      <p:sp>
        <p:nvSpPr>
          <p:cNvPr id="4" name="TextBox 3"/>
          <p:cNvSpPr txBox="1"/>
          <p:nvPr/>
        </p:nvSpPr>
        <p:spPr>
          <a:xfrm>
            <a:off x="80467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1</a:t>
            </a:r>
          </a:p>
        </p:txBody>
      </p:sp>
      <p:sp>
        <p:nvSpPr>
          <p:cNvPr id="5" name="TextBox 4"/>
          <p:cNvSpPr txBox="1"/>
          <p:nvPr/>
        </p:nvSpPr>
        <p:spPr>
          <a:xfrm>
            <a:off x="152704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Razložimo pomen</a:t>
            </a:r>
          </a:p>
        </p:txBody>
      </p:sp>
      <p:sp>
        <p:nvSpPr>
          <p:cNvPr id="6" name="TextBox 5"/>
          <p:cNvSpPr txBox="1"/>
          <p:nvPr/>
        </p:nvSpPr>
        <p:spPr>
          <a:xfrm>
            <a:off x="83210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Kaj želimo poimenovati?</a:t>
            </a:r>
          </a:p>
        </p:txBody>
      </p:sp>
      <p:sp>
        <p:nvSpPr>
          <p:cNvPr id="7" name="TextBox 6"/>
          <p:cNvSpPr txBox="1"/>
          <p:nvPr/>
        </p:nvSpPr>
        <p:spPr>
          <a:xfrm>
            <a:off x="638251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2</a:t>
            </a:r>
          </a:p>
        </p:txBody>
      </p:sp>
      <p:sp>
        <p:nvSpPr>
          <p:cNvPr id="8" name="TextBox 7"/>
          <p:cNvSpPr txBox="1"/>
          <p:nvPr/>
        </p:nvSpPr>
        <p:spPr>
          <a:xfrm>
            <a:off x="710488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Določimo zgradbo</a:t>
            </a:r>
          </a:p>
        </p:txBody>
      </p:sp>
      <p:sp>
        <p:nvSpPr>
          <p:cNvPr id="9" name="TextBox 8"/>
          <p:cNvSpPr txBox="1"/>
          <p:nvPr/>
        </p:nvSpPr>
        <p:spPr>
          <a:xfrm>
            <a:off x="640994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Ena tvorjenka, dva pridevnika ali prislov z deležnikom?</a:t>
            </a:r>
          </a:p>
        </p:txBody>
      </p:sp>
      <p:sp>
        <p:nvSpPr>
          <p:cNvPr id="10" name="TextBox 9"/>
          <p:cNvSpPr txBox="1"/>
          <p:nvPr/>
        </p:nvSpPr>
        <p:spPr>
          <a:xfrm>
            <a:off x="80467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3</a:t>
            </a:r>
          </a:p>
        </p:txBody>
      </p:sp>
      <p:sp>
        <p:nvSpPr>
          <p:cNvPr id="11" name="TextBox 10"/>
          <p:cNvSpPr txBox="1"/>
          <p:nvPr/>
        </p:nvSpPr>
        <p:spPr>
          <a:xfrm>
            <a:off x="152704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Primerjamo oblike</a:t>
            </a:r>
          </a:p>
        </p:txBody>
      </p:sp>
      <p:sp>
        <p:nvSpPr>
          <p:cNvPr id="12" name="TextBox 11"/>
          <p:cNvSpPr txBox="1"/>
          <p:nvPr/>
        </p:nvSpPr>
        <p:spPr>
          <a:xfrm>
            <a:off x="83210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literarnozgodovinskega; novega osnovnošolskega; strojno prevedenega.</a:t>
            </a:r>
          </a:p>
        </p:txBody>
      </p:sp>
      <p:sp>
        <p:nvSpPr>
          <p:cNvPr id="13" name="TextBox 12"/>
          <p:cNvSpPr txBox="1"/>
          <p:nvPr/>
        </p:nvSpPr>
        <p:spPr>
          <a:xfrm>
            <a:off x="638251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4</a:t>
            </a:r>
          </a:p>
        </p:txBody>
      </p:sp>
      <p:sp>
        <p:nvSpPr>
          <p:cNvPr id="14" name="TextBox 13"/>
          <p:cNvSpPr txBox="1"/>
          <p:nvPr/>
        </p:nvSpPr>
        <p:spPr>
          <a:xfrm>
            <a:off x="710488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Preverimo pravilo in rabo</a:t>
            </a:r>
          </a:p>
        </p:txBody>
      </p:sp>
      <p:sp>
        <p:nvSpPr>
          <p:cNvPr id="15" name="TextBox 14"/>
          <p:cNvSpPr txBox="1"/>
          <p:nvPr/>
        </p:nvSpPr>
        <p:spPr>
          <a:xfrm>
            <a:off x="640994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Dovoljene pisne variante in ustaljena poimenovanja upoštevamo posebej.</a:t>
            </a:r>
          </a:p>
        </p:txBody>
      </p:sp>
      <p:sp>
        <p:nvSpPr>
          <p:cNvPr id="16" name="TextBox 15"/>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Pregibanje je preizkus analize, ne nadomestilo pomenske in pravopisne presoje.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Ločite pregibanje od besedotvorja: </a:t>
            </a:r>
            <a:r>
              <a:rPr sz="2300" b="0" i="1">
                <a:solidFill>
                  <a:srgbClr val="182D3D"/>
                </a:solidFill>
                <a:latin typeface="Arial"/>
              </a:rPr>
              <a:t>miza – mize; miza – mizica; lep – lepega; lep – lepota</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členitvi </a:t>
            </a:r>
            <a:r>
              <a:rPr sz="2300" b="0" i="1">
                <a:solidFill>
                  <a:srgbClr val="182D3D"/>
                </a:solidFill>
                <a:latin typeface="Arial"/>
              </a:rPr>
              <a:t>hiš-ic-a</a:t>
            </a:r>
            <a:r>
              <a:rPr sz="2300" b="0" i="0">
                <a:solidFill>
                  <a:srgbClr val="182D3D"/>
                </a:solidFill>
                <a:latin typeface="Arial"/>
              </a:rPr>
              <a:t> določite koren, besedotvorno sestavino in končnico. Kako bi besedo zapisali v običajni povedi?</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Miza – mize</a:t>
            </a:r>
            <a:r>
              <a:rPr sz="2300" b="0" i="0">
                <a:solidFill>
                  <a:srgbClr val="182D3D"/>
                </a:solidFill>
                <a:latin typeface="Arial"/>
              </a:rPr>
              <a:t> in </a:t>
            </a:r>
            <a:r>
              <a:rPr sz="2300" b="0" i="1">
                <a:solidFill>
                  <a:srgbClr val="182D3D"/>
                </a:solidFill>
                <a:latin typeface="Arial"/>
              </a:rPr>
              <a:t>lep – lepega</a:t>
            </a:r>
            <a:r>
              <a:rPr sz="2300" b="0" i="0">
                <a:solidFill>
                  <a:srgbClr val="182D3D"/>
                </a:solidFill>
                <a:latin typeface="Arial"/>
              </a:rPr>
              <a:t> sta primera pregibanja. </a:t>
            </a:r>
            <a:r>
              <a:rPr sz="2300" b="0" i="1">
                <a:solidFill>
                  <a:srgbClr val="182D3D"/>
                </a:solidFill>
                <a:latin typeface="Arial"/>
              </a:rPr>
              <a:t>Miza – mizica</a:t>
            </a:r>
            <a:r>
              <a:rPr sz="2300" b="0" i="0">
                <a:solidFill>
                  <a:srgbClr val="182D3D"/>
                </a:solidFill>
                <a:latin typeface="Arial"/>
              </a:rPr>
              <a:t> in </a:t>
            </a:r>
            <a:r>
              <a:rPr sz="2300" b="0" i="1">
                <a:solidFill>
                  <a:srgbClr val="182D3D"/>
                </a:solidFill>
                <a:latin typeface="Arial"/>
              </a:rPr>
              <a:t>lep – lepota</a:t>
            </a:r>
            <a:r>
              <a:rPr sz="2300" b="0" i="0">
                <a:solidFill>
                  <a:srgbClr val="182D3D"/>
                </a:solidFill>
                <a:latin typeface="Arial"/>
              </a:rPr>
              <a:t> kažeta tvorjenje novega leksema. Pri zadnjem paru pridevnik poimenuje lastnost, tvorjeni samostalnik pa omogoči njeno samostalniško poimenovanje.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Koren je </a:t>
            </a:r>
            <a:r>
              <a:rPr sz="2300" b="0" i="1">
                <a:solidFill>
                  <a:srgbClr val="182D3D"/>
                </a:solidFill>
                <a:latin typeface="Arial"/>
              </a:rPr>
              <a:t>hiš-</a:t>
            </a:r>
            <a:r>
              <a:rPr sz="2300" b="0" i="0">
                <a:solidFill>
                  <a:srgbClr val="182D3D"/>
                </a:solidFill>
                <a:latin typeface="Arial"/>
              </a:rPr>
              <a:t>, besedotvorna sestavina </a:t>
            </a:r>
            <a:r>
              <a:rPr sz="2300" b="0" i="1">
                <a:solidFill>
                  <a:srgbClr val="182D3D"/>
                </a:solidFill>
                <a:latin typeface="Arial"/>
              </a:rPr>
              <a:t>-ic-</a:t>
            </a:r>
            <a:r>
              <a:rPr sz="2300" b="0" i="0">
                <a:solidFill>
                  <a:srgbClr val="182D3D"/>
                </a:solidFill>
                <a:latin typeface="Arial"/>
              </a:rPr>
              <a:t>, končnica </a:t>
            </a:r>
            <a:r>
              <a:rPr sz="2300" b="0" i="1">
                <a:solidFill>
                  <a:srgbClr val="182D3D"/>
                </a:solidFill>
                <a:latin typeface="Arial"/>
              </a:rPr>
              <a:t>-a</a:t>
            </a:r>
            <a:r>
              <a:rPr sz="2300" b="0" i="0">
                <a:solidFill>
                  <a:srgbClr val="182D3D"/>
                </a:solidFill>
                <a:latin typeface="Arial"/>
              </a:rPr>
              <a:t>. V besedilu pišemo </a:t>
            </a:r>
            <a:r>
              <a:rPr sz="2300" b="0" i="1">
                <a:solidFill>
                  <a:srgbClr val="182D3D"/>
                </a:solidFill>
                <a:latin typeface="Arial"/>
              </a:rPr>
              <a:t>hišica</a:t>
            </a:r>
            <a:r>
              <a:rPr sz="2300" b="0" i="0">
                <a:solidFill>
                  <a:srgbClr val="182D3D"/>
                </a:solidFill>
                <a:latin typeface="Arial"/>
              </a:rPr>
              <a:t>. Vezaji prikazujejo meje med sestavinami analize in niso del pravopisnega zapisa.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95</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Razložite zgradbo </a:t>
            </a:r>
            <a:r>
              <a:rPr sz="2300" b="0" i="1">
                <a:solidFill>
                  <a:srgbClr val="182D3D"/>
                </a:solidFill>
                <a:latin typeface="Arial"/>
              </a:rPr>
              <a:t>literarnozgodovinski priročnik</a:t>
            </a:r>
            <a:r>
              <a:rPr sz="2300" b="0" i="0">
                <a:solidFill>
                  <a:srgbClr val="182D3D"/>
                </a:solidFill>
                <a:latin typeface="Arial"/>
              </a:rPr>
              <a:t>. Zakaj razvezava z </a:t>
            </a:r>
            <a:r>
              <a:rPr sz="2300" b="0" i="1">
                <a:solidFill>
                  <a:srgbClr val="182D3D"/>
                </a:solidFill>
                <a:latin typeface="Arial"/>
              </a:rPr>
              <a:t>in</a:t>
            </a:r>
            <a:r>
              <a:rPr sz="2300" b="0" i="0">
                <a:solidFill>
                  <a:srgbClr val="182D3D"/>
                </a:solidFill>
                <a:latin typeface="Arial"/>
              </a:rPr>
              <a:t> ni enakovredna izhodiščni?</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Oblikujte pridevniško poimenovanje projekta, ki povezuje slovensko in italijansko stran. Nato zvezo postavite v rodilnik.</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96</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Priročnik obravnava literarno zgodovino, zato pridevnik izhaja iz podredne zveze. Razvezava </a:t>
            </a:r>
            <a:r>
              <a:rPr sz="2300" b="0" i="1">
                <a:solidFill>
                  <a:srgbClr val="182D3D"/>
                </a:solidFill>
                <a:latin typeface="Arial"/>
              </a:rPr>
              <a:t>literarni in zgodovinski</a:t>
            </a:r>
            <a:r>
              <a:rPr sz="2300" b="0" i="0">
                <a:solidFill>
                  <a:srgbClr val="182D3D"/>
                </a:solidFill>
                <a:latin typeface="Arial"/>
              </a:rPr>
              <a:t> bi pripisovala dve priredni opredelitvi, kar samo po sebi še ne poimenuje istega strokovnega področja.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Slovensko-italijanski projekt; slovensko-italijanskega projekta.</a:t>
            </a:r>
            <a:r>
              <a:rPr sz="2300" b="0" i="0">
                <a:solidFill>
                  <a:srgbClr val="182D3D"/>
                </a:solidFill>
                <a:latin typeface="Arial"/>
              </a:rPr>
              <a:t> Vezaj izraža priredno razmerje. Rodilniško končnico dobi pridevnik kot celota; na mestu prve sestavine ne ustvarimo samostojnega rodilnika.</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Popravite zapis </a:t>
            </a:r>
            <a:r>
              <a:rPr sz="2300" b="0" i="1">
                <a:solidFill>
                  <a:srgbClr val="182D3D"/>
                </a:solidFill>
                <a:latin typeface="Arial"/>
              </a:rPr>
              <a:t>strojno-prevedeno besedilo</a:t>
            </a:r>
            <a:r>
              <a:rPr sz="2300" b="0" i="0">
                <a:solidFill>
                  <a:srgbClr val="182D3D"/>
                </a:solidFill>
                <a:latin typeface="Arial"/>
              </a:rPr>
              <a:t> in pojasnite razmerje med prvima sestavinama.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Zapišite poimenovanje sveta za nacionalno varnost in njegov rodilnik. Navedite še drugo pomensko analizo, ki dopušča dva pridevnika.</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Strojno prevedeno besedilo.</a:t>
            </a:r>
            <a:r>
              <a:rPr sz="2300" b="0" i="0">
                <a:solidFill>
                  <a:srgbClr val="182D3D"/>
                </a:solidFill>
                <a:latin typeface="Arial"/>
              </a:rPr>
              <a:t> </a:t>
            </a:r>
            <a:r>
              <a:rPr sz="2300" b="0" i="1">
                <a:solidFill>
                  <a:srgbClr val="182D3D"/>
                </a:solidFill>
                <a:latin typeface="Arial"/>
              </a:rPr>
              <a:t>Strojno</a:t>
            </a:r>
            <a:r>
              <a:rPr sz="2300" b="0" i="0">
                <a:solidFill>
                  <a:srgbClr val="182D3D"/>
                </a:solidFill>
                <a:latin typeface="Arial"/>
              </a:rPr>
              <a:t> pojasnjuje način prevoda in je prislov, ki določa deležnik. Zato med sestavinama potrebujemo presledek, ne vezaja.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Nacionalnovarnostni svet; nacionalnovarnostnega sveta.</a:t>
            </a:r>
            <a:r>
              <a:rPr sz="2300" b="0" i="0">
                <a:solidFill>
                  <a:srgbClr val="182D3D"/>
                </a:solidFill>
                <a:latin typeface="Arial"/>
              </a:rPr>
              <a:t> Druga razlaga je </a:t>
            </a:r>
            <a:r>
              <a:rPr sz="2300" b="0" i="1">
                <a:solidFill>
                  <a:srgbClr val="182D3D"/>
                </a:solidFill>
                <a:latin typeface="Arial"/>
              </a:rPr>
              <a:t>nacionalni svet za varnost</a:t>
            </a:r>
            <a:r>
              <a:rPr sz="2300" b="0" i="0">
                <a:solidFill>
                  <a:srgbClr val="182D3D"/>
                </a:solidFill>
                <a:latin typeface="Arial"/>
              </a:rPr>
              <a:t>, iz katere dobimo </a:t>
            </a:r>
            <a:r>
              <a:rPr sz="2300" b="0" i="1">
                <a:solidFill>
                  <a:srgbClr val="182D3D"/>
                </a:solidFill>
                <a:latin typeface="Arial"/>
              </a:rPr>
              <a:t>nacionalni varnostni svet</a:t>
            </a:r>
            <a:r>
              <a:rPr sz="2300" b="0" i="0">
                <a:solidFill>
                  <a:srgbClr val="182D3D"/>
                </a:solidFill>
                <a:latin typeface="Arial"/>
              </a:rPr>
              <a:t>. Razlika v zapisu sledi različni skladenjski podstavi.</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99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Izberite zapis za zdravstveno enoto znotraj vojske: </a:t>
            </a:r>
            <a:r>
              <a:rPr sz="2300" b="0" i="1">
                <a:solidFill>
                  <a:srgbClr val="182D3D"/>
                </a:solidFill>
                <a:latin typeface="Arial"/>
              </a:rPr>
              <a:t>vojaška zdravstvena</a:t>
            </a:r>
            <a:r>
              <a:rPr sz="2300" b="0" i="0">
                <a:solidFill>
                  <a:srgbClr val="182D3D"/>
                </a:solidFill>
                <a:latin typeface="Arial"/>
              </a:rPr>
              <a:t>, </a:t>
            </a:r>
            <a:r>
              <a:rPr sz="2300" b="0" i="1">
                <a:solidFill>
                  <a:srgbClr val="182D3D"/>
                </a:solidFill>
                <a:latin typeface="Arial"/>
              </a:rPr>
              <a:t>vojaško zdravstvena</a:t>
            </a:r>
            <a:r>
              <a:rPr sz="2300" b="0" i="0">
                <a:solidFill>
                  <a:srgbClr val="182D3D"/>
                </a:solidFill>
                <a:latin typeface="Arial"/>
              </a:rPr>
              <a:t>. Pojasnite tudi, katera zveza bi bila podstava zapisa </a:t>
            </a:r>
            <a:r>
              <a:rPr sz="2300" b="0" i="1">
                <a:solidFill>
                  <a:srgbClr val="182D3D"/>
                </a:solidFill>
                <a:latin typeface="Arial"/>
              </a:rPr>
              <a:t>vojaškozdravstvena</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 SP 2001 presodite </a:t>
            </a:r>
            <a:r>
              <a:rPr sz="2300" b="0" i="1">
                <a:solidFill>
                  <a:srgbClr val="182D3D"/>
                </a:solidFill>
                <a:latin typeface="Arial"/>
              </a:rPr>
              <a:t>peš pot, žal beseda, mini golf</a:t>
            </a:r>
            <a:r>
              <a:rPr sz="2300" b="0" i="0">
                <a:solidFill>
                  <a:srgbClr val="182D3D"/>
                </a:solidFill>
                <a:latin typeface="Arial"/>
              </a:rPr>
              <a:t>. Nato primerjajte ujemanje v </a:t>
            </a:r>
            <a:r>
              <a:rPr sz="2300" b="0" i="1">
                <a:solidFill>
                  <a:srgbClr val="182D3D"/>
                </a:solidFill>
                <a:latin typeface="Arial"/>
              </a:rPr>
              <a:t>avtomobil bomba je eksplodiral</a:t>
            </a:r>
            <a:r>
              <a:rPr sz="2300" b="0" i="0">
                <a:solidFill>
                  <a:srgbClr val="182D3D"/>
                </a:solidFill>
                <a:latin typeface="Arial"/>
              </a:rPr>
              <a:t> in </a:t>
            </a:r>
            <a:r>
              <a:rPr sz="2300" b="0" i="1">
                <a:solidFill>
                  <a:srgbClr val="182D3D"/>
                </a:solidFill>
                <a:latin typeface="Arial"/>
              </a:rPr>
              <a:t>avtobomba je eksplodirala</a:t>
            </a:r>
            <a:r>
              <a:rPr sz="2300" b="0" i="0">
                <a:solidFill>
                  <a:srgbClr val="182D3D"/>
                </a:solidFill>
                <a:latin typeface="Arial"/>
              </a:rPr>
              <a: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100</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Vojaška zdravstvena enota</a:t>
            </a:r>
            <a:r>
              <a:rPr sz="2300" b="0" i="0">
                <a:solidFill>
                  <a:srgbClr val="182D3D"/>
                </a:solidFill>
                <a:latin typeface="Arial"/>
              </a:rPr>
              <a:t>: pridevnika se ujemata s samostalnikom. Podstava skupaj pisanega pridevnika je </a:t>
            </a:r>
            <a:r>
              <a:rPr sz="2300" b="0" i="1">
                <a:solidFill>
                  <a:srgbClr val="182D3D"/>
                </a:solidFill>
                <a:latin typeface="Arial"/>
              </a:rPr>
              <a:t>vojaško zdravstvo</a:t>
            </a:r>
            <a:r>
              <a:rPr sz="2300" b="0" i="0">
                <a:solidFill>
                  <a:srgbClr val="182D3D"/>
                </a:solidFill>
                <a:latin typeface="Arial"/>
              </a:rPr>
              <a:t>. Odločitev zato utemeljimo s pomenom poimenovanja, ne zgolj z dolžino zapisa.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Pešpot</a:t>
            </a:r>
            <a:r>
              <a:rPr sz="2300" b="0" i="0">
                <a:solidFill>
                  <a:srgbClr val="182D3D"/>
                </a:solidFill>
                <a:latin typeface="Arial"/>
              </a:rPr>
              <a:t> je skupaj pisana zloženka, </a:t>
            </a:r>
            <a:r>
              <a:rPr sz="2300" b="0" i="1">
                <a:solidFill>
                  <a:srgbClr val="182D3D"/>
                </a:solidFill>
                <a:latin typeface="Arial"/>
              </a:rPr>
              <a:t>žal beseda</a:t>
            </a:r>
            <a:r>
              <a:rPr sz="2300" b="0" i="0">
                <a:solidFill>
                  <a:srgbClr val="182D3D"/>
                </a:solidFill>
                <a:latin typeface="Arial"/>
              </a:rPr>
              <a:t> zveza s pridevniškim prilastkom; pri </a:t>
            </a:r>
            <a:r>
              <a:rPr sz="2300" b="0" i="1">
                <a:solidFill>
                  <a:srgbClr val="182D3D"/>
                </a:solidFill>
                <a:latin typeface="Arial"/>
              </a:rPr>
              <a:t>minigolf/mini golf</a:t>
            </a:r>
            <a:r>
              <a:rPr sz="2300" b="0" i="0">
                <a:solidFill>
                  <a:srgbClr val="182D3D"/>
                </a:solidFill>
                <a:latin typeface="Arial"/>
              </a:rPr>
              <a:t> sta dovoljeni obe pisavi. V prvem zgledu z avtomobilom je jedro moškega spola, v drugem je celotna zloženka ženskega spola. Povedek preverja našo analizo jedra.</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101</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Zakaj razlaga »nakup in prodaja, torej nujno vezaj v vseh virih« ni zadostna? Razločite zapis v SP 2001 od novejšega priporočila.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Pojasnite razlike: </a:t>
            </a:r>
            <a:r>
              <a:rPr sz="2300" b="0" i="1">
                <a:solidFill>
                  <a:srgbClr val="182D3D"/>
                </a:solidFill>
                <a:latin typeface="Arial"/>
              </a:rPr>
              <a:t>C-vitamin – vitamin C; 90. obletnica – 90-letnica – 90-obletnica; dvo- in večzložne besede</a:t>
            </a:r>
            <a:r>
              <a:rPr sz="2300" b="0" i="0">
                <a:solidFill>
                  <a:srgbClr val="182D3D"/>
                </a:solidFill>
                <a:latin typeface="Arial"/>
              </a:rPr>
              <a:t>. Pri vsakem vezaju poimenujte njegovo nalogo.</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102</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Poleg pomenske prirednosti moramo upoštevati obliko prve sestavine in normativni vir. SP 2001 ima </a:t>
            </a:r>
            <a:r>
              <a:rPr sz="2300" b="0" i="1">
                <a:solidFill>
                  <a:srgbClr val="182D3D"/>
                </a:solidFill>
                <a:latin typeface="Arial"/>
              </a:rPr>
              <a:t>kupo-prodajen</a:t>
            </a:r>
            <a:r>
              <a:rPr sz="2300" b="0" i="0">
                <a:solidFill>
                  <a:srgbClr val="182D3D"/>
                </a:solidFill>
                <a:latin typeface="Arial"/>
              </a:rPr>
              <a:t>, novejša obravnava z okrnjeno prvo sestavino utemeljuje </a:t>
            </a:r>
            <a:r>
              <a:rPr sz="2300" b="0" i="1">
                <a:solidFill>
                  <a:srgbClr val="182D3D"/>
                </a:solidFill>
                <a:latin typeface="Arial"/>
              </a:rPr>
              <a:t>kupoprodajen/kupoprodajni</a:t>
            </a:r>
            <a:r>
              <a:rPr sz="2300" b="0" i="0">
                <a:solidFill>
                  <a:srgbClr val="182D3D"/>
                </a:solidFill>
                <a:latin typeface="Arial"/>
              </a:rPr>
              <a:t>. Razlike med viroma ne smemo skriti.</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C-vitamin</a:t>
            </a:r>
            <a:r>
              <a:rPr sz="2300" b="0" i="0">
                <a:solidFill>
                  <a:srgbClr val="182D3D"/>
                </a:solidFill>
                <a:latin typeface="Arial"/>
              </a:rPr>
              <a:t> vsebuje začetno črkovno sestavino, </a:t>
            </a:r>
            <a:r>
              <a:rPr sz="2300" b="0" i="1">
                <a:solidFill>
                  <a:srgbClr val="182D3D"/>
                </a:solidFill>
                <a:latin typeface="Arial"/>
              </a:rPr>
              <a:t>vitamin C</a:t>
            </a:r>
            <a:r>
              <a:rPr sz="2300" b="0" i="0">
                <a:solidFill>
                  <a:srgbClr val="182D3D"/>
                </a:solidFill>
                <a:latin typeface="Arial"/>
              </a:rPr>
              <a:t> pa je zveza brez vezaja. </a:t>
            </a:r>
            <a:r>
              <a:rPr sz="2300" b="0" i="1">
                <a:solidFill>
                  <a:srgbClr val="182D3D"/>
                </a:solidFill>
                <a:latin typeface="Arial"/>
              </a:rPr>
              <a:t>90. obletnica</a:t>
            </a:r>
            <a:r>
              <a:rPr sz="2300" b="0" i="0">
                <a:solidFill>
                  <a:srgbClr val="182D3D"/>
                </a:solidFill>
                <a:latin typeface="Arial"/>
              </a:rPr>
              <a:t> vsebuje vrstilni števnik, </a:t>
            </a:r>
            <a:r>
              <a:rPr sz="2300" b="0" i="1">
                <a:solidFill>
                  <a:srgbClr val="182D3D"/>
                </a:solidFill>
                <a:latin typeface="Arial"/>
              </a:rPr>
              <a:t>90-letnica</a:t>
            </a:r>
            <a:r>
              <a:rPr sz="2300" b="0" i="0">
                <a:solidFill>
                  <a:srgbClr val="182D3D"/>
                </a:solidFill>
                <a:latin typeface="Arial"/>
              </a:rPr>
              <a:t> je tvorjenka s številčno prvo sestavino; </a:t>
            </a:r>
            <a:r>
              <a:rPr sz="2300" b="0" i="1">
                <a:solidFill>
                  <a:srgbClr val="182D3D"/>
                </a:solidFill>
                <a:latin typeface="Arial"/>
              </a:rPr>
              <a:t>90-obletnica</a:t>
            </a:r>
            <a:r>
              <a:rPr sz="2300" b="0" i="0">
                <a:solidFill>
                  <a:srgbClr val="182D3D"/>
                </a:solidFill>
                <a:latin typeface="Arial"/>
              </a:rPr>
              <a:t> je neustrezna. Pri </a:t>
            </a:r>
            <a:r>
              <a:rPr sz="2300" b="0" i="1">
                <a:solidFill>
                  <a:srgbClr val="182D3D"/>
                </a:solidFill>
                <a:latin typeface="Arial"/>
              </a:rPr>
              <a:t>dvo-</a:t>
            </a:r>
            <a:r>
              <a:rPr sz="2300" b="0" i="0">
                <a:solidFill>
                  <a:srgbClr val="182D3D"/>
                </a:solidFill>
                <a:latin typeface="Arial"/>
              </a:rPr>
              <a:t> vezaj označuje izpuščeni skupni del </a:t>
            </a:r>
            <a:r>
              <a:rPr sz="2300" b="0" i="1">
                <a:solidFill>
                  <a:srgbClr val="182D3D"/>
                </a:solidFill>
                <a:latin typeface="Arial"/>
              </a:rPr>
              <a:t>-zložne</a:t>
            </a:r>
            <a:r>
              <a:rPr sz="2300" b="0" i="0">
                <a:solidFill>
                  <a:srgbClr val="182D3D"/>
                </a:solidFill>
                <a:latin typeface="Arial"/>
              </a:rPr>
              <a:t>. Ti vezaji torej ne izražajo istega razmerja.</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enako obrazilo, različna vloga.</a:t>
            </a:r>
            <a:r>
              <a:rPr sz="2500" b="0" i="0">
                <a:solidFill>
                  <a:srgbClr val="182D3D"/>
                </a:solidFill>
                <a:latin typeface="Arial"/>
              </a:rPr>
              <a:t> Za </a:t>
            </a:r>
            <a:r>
              <a:rPr sz="2500" b="0" i="1">
                <a:solidFill>
                  <a:srgbClr val="182D3D"/>
                </a:solidFill>
                <a:latin typeface="Arial"/>
              </a:rPr>
              <a:t>lovec</a:t>
            </a:r>
            <a:r>
              <a:rPr sz="2500" b="0" i="0">
                <a:solidFill>
                  <a:srgbClr val="182D3D"/>
                </a:solidFill>
                <a:latin typeface="Arial"/>
              </a:rPr>
              <a:t> in </a:t>
            </a:r>
            <a:r>
              <a:rPr sz="2500" b="0" i="1">
                <a:solidFill>
                  <a:srgbClr val="182D3D"/>
                </a:solidFill>
                <a:latin typeface="Arial"/>
              </a:rPr>
              <a:t>bratec</a:t>
            </a:r>
            <a:r>
              <a:rPr sz="2500" b="0" i="0">
                <a:solidFill>
                  <a:srgbClr val="182D3D"/>
                </a:solidFill>
                <a:latin typeface="Arial"/>
              </a:rPr>
              <a:t> napišite SPo, določite BPo in obrazilo ter pojasnite razliko med navadno in modifikacijsko izpeljavo. Ali lahko iz konca </a:t>
            </a:r>
            <a:r>
              <a:rPr sz="2500" b="0" i="1">
                <a:solidFill>
                  <a:srgbClr val="182D3D"/>
                </a:solidFill>
                <a:latin typeface="Arial"/>
              </a:rPr>
              <a:t>-ec</a:t>
            </a:r>
            <a:r>
              <a:rPr sz="2500" b="0" i="0">
                <a:solidFill>
                  <a:srgbClr val="182D3D"/>
                </a:solidFill>
                <a:latin typeface="Arial"/>
              </a:rPr>
              <a:t> vedno sklepamo na vršilca dejanja?</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104</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Lovec</a:t>
            </a:r>
            <a:r>
              <a:rPr sz="2500" b="0" i="0">
                <a:solidFill>
                  <a:srgbClr val="182D3D"/>
                </a:solidFill>
                <a:latin typeface="Arial"/>
              </a:rPr>
              <a:t>: SPo </a:t>
            </a:r>
            <a:r>
              <a:rPr sz="2500" b="0" i="1">
                <a:solidFill>
                  <a:srgbClr val="182D3D"/>
                </a:solidFill>
                <a:latin typeface="Arial"/>
              </a:rPr>
              <a:t>tisti, ki lovi</a:t>
            </a:r>
            <a:r>
              <a:rPr sz="2500" b="0" i="0">
                <a:solidFill>
                  <a:srgbClr val="182D3D"/>
                </a:solidFill>
                <a:latin typeface="Arial"/>
              </a:rPr>
              <a:t>, BPo </a:t>
            </a:r>
            <a:r>
              <a:rPr sz="2500" b="0" i="1">
                <a:solidFill>
                  <a:srgbClr val="182D3D"/>
                </a:solidFill>
                <a:latin typeface="Arial"/>
              </a:rPr>
              <a:t>lov-</a:t>
            </a:r>
            <a:r>
              <a:rPr sz="2500" b="0" i="0">
                <a:solidFill>
                  <a:srgbClr val="182D3D"/>
                </a:solidFill>
                <a:latin typeface="Arial"/>
              </a:rPr>
              <a:t>, obrazilo </a:t>
            </a:r>
            <a:r>
              <a:rPr sz="2500" b="0" i="1">
                <a:solidFill>
                  <a:srgbClr val="182D3D"/>
                </a:solidFill>
                <a:latin typeface="Arial"/>
              </a:rPr>
              <a:t>-ec</a:t>
            </a:r>
            <a:r>
              <a:rPr sz="2500" b="0" i="0">
                <a:solidFill>
                  <a:srgbClr val="182D3D"/>
                </a:solidFill>
                <a:latin typeface="Arial"/>
              </a:rPr>
              <a:t>; v obrazilo se pretvori jedro s slovničnim razmerjem, zato gre za navadno izpeljavo. </a:t>
            </a:r>
            <a:r>
              <a:rPr sz="2500" b="0" i="1">
                <a:solidFill>
                  <a:srgbClr val="182D3D"/>
                </a:solidFill>
                <a:latin typeface="Arial"/>
              </a:rPr>
              <a:t>Bratec</a:t>
            </a:r>
            <a:r>
              <a:rPr sz="2500" b="0" i="0">
                <a:solidFill>
                  <a:srgbClr val="182D3D"/>
                </a:solidFill>
                <a:latin typeface="Arial"/>
              </a:rPr>
              <a:t>: SPo na primer </a:t>
            </a:r>
            <a:r>
              <a:rPr sz="2500" b="0" i="1">
                <a:solidFill>
                  <a:srgbClr val="182D3D"/>
                </a:solidFill>
                <a:latin typeface="Arial"/>
              </a:rPr>
              <a:t>ljubek brat</a:t>
            </a:r>
            <a:r>
              <a:rPr sz="2500" b="0" i="0">
                <a:solidFill>
                  <a:srgbClr val="182D3D"/>
                </a:solidFill>
                <a:latin typeface="Arial"/>
              </a:rPr>
              <a:t>, BPo </a:t>
            </a:r>
            <a:r>
              <a:rPr sz="2500" b="0" i="1">
                <a:solidFill>
                  <a:srgbClr val="182D3D"/>
                </a:solidFill>
                <a:latin typeface="Arial"/>
              </a:rPr>
              <a:t>brat-</a:t>
            </a:r>
            <a:r>
              <a:rPr sz="2500" b="0" i="0">
                <a:solidFill>
                  <a:srgbClr val="182D3D"/>
                </a:solidFill>
                <a:latin typeface="Arial"/>
              </a:rPr>
              <a:t>, obrazilo </a:t>
            </a:r>
            <a:r>
              <a:rPr sz="2500" b="0" i="1">
                <a:solidFill>
                  <a:srgbClr val="182D3D"/>
                </a:solidFill>
                <a:latin typeface="Arial"/>
              </a:rPr>
              <a:t>-ec</a:t>
            </a:r>
            <a:r>
              <a:rPr sz="2500" b="0" i="0">
                <a:solidFill>
                  <a:srgbClr val="182D3D"/>
                </a:solidFill>
                <a:latin typeface="Arial"/>
              </a:rPr>
              <a:t>; obrazili se odvisni del s pomenom naklonjenosti, zato gre za modifikacijsko izpeljavo. Glede na sobesedilo je mogoča tudi razlaga z majhnostjo. Enak glasovni konec ne zagotavlja enakega besedotvornega pomena; funkcijo ugotovimo s pretvorbo podstave.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dve zloženki in tvorjenka iz predložne zveze.</a:t>
            </a:r>
            <a:r>
              <a:rPr sz="2500" b="0" i="0">
                <a:solidFill>
                  <a:srgbClr val="182D3D"/>
                </a:solidFill>
                <a:latin typeface="Arial"/>
              </a:rPr>
              <a:t> Primerjajte </a:t>
            </a:r>
            <a:r>
              <a:rPr sz="2500" b="0" i="1">
                <a:solidFill>
                  <a:srgbClr val="182D3D"/>
                </a:solidFill>
                <a:latin typeface="Arial"/>
              </a:rPr>
              <a:t>brezdomec, vrvohodec, zobozdravnik</a:t>
            </a:r>
            <a:r>
              <a:rPr sz="2500" b="0" i="0">
                <a:solidFill>
                  <a:srgbClr val="182D3D"/>
                </a:solidFill>
                <a:latin typeface="Arial"/>
              </a:rPr>
              <a:t>. Pri vsaki besedi navedite SPo, BPo, vse dele obrazila zadnje stopnje in besedotvorno vrsto v modelu Ade Vidovič Muha. Pojasnite, zakaj </a:t>
            </a:r>
            <a:r>
              <a:rPr sz="2500" b="0" i="1">
                <a:solidFill>
                  <a:srgbClr val="182D3D"/>
                </a:solidFill>
                <a:latin typeface="Arial"/>
              </a:rPr>
              <a:t>-nik</a:t>
            </a:r>
            <a:r>
              <a:rPr sz="2500" b="0" i="0">
                <a:solidFill>
                  <a:srgbClr val="182D3D"/>
                </a:solidFill>
                <a:latin typeface="Arial"/>
              </a:rPr>
              <a:t> pri </a:t>
            </a:r>
            <a:r>
              <a:rPr sz="2500" b="0" i="1">
                <a:solidFill>
                  <a:srgbClr val="182D3D"/>
                </a:solidFill>
                <a:latin typeface="Arial"/>
              </a:rPr>
              <a:t>zobozdravniku</a:t>
            </a:r>
            <a:r>
              <a:rPr sz="2500" b="0" i="0">
                <a:solidFill>
                  <a:srgbClr val="182D3D"/>
                </a:solidFill>
                <a:latin typeface="Arial"/>
              </a:rPr>
              <a:t> ni del obrazila zadnje stopnje.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106</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Brezdomec</a:t>
            </a:r>
            <a:r>
              <a:rPr sz="2500" b="0" i="0">
                <a:solidFill>
                  <a:srgbClr val="182D3D"/>
                </a:solidFill>
                <a:latin typeface="Arial"/>
              </a:rPr>
              <a:t>: </a:t>
            </a:r>
            <a:r>
              <a:rPr sz="2500" b="0" i="1">
                <a:solidFill>
                  <a:srgbClr val="182D3D"/>
                </a:solidFill>
                <a:latin typeface="Arial"/>
              </a:rPr>
              <a:t>tisti, ki je brez doma</a:t>
            </a:r>
            <a:r>
              <a:rPr sz="2500" b="0" i="0">
                <a:solidFill>
                  <a:srgbClr val="182D3D"/>
                </a:solidFill>
                <a:latin typeface="Arial"/>
              </a:rPr>
              <a:t>; BPo </a:t>
            </a:r>
            <a:r>
              <a:rPr sz="2500" b="0" i="1">
                <a:solidFill>
                  <a:srgbClr val="182D3D"/>
                </a:solidFill>
                <a:latin typeface="Arial"/>
              </a:rPr>
              <a:t>-dom-</a:t>
            </a:r>
            <a:r>
              <a:rPr sz="2500" b="0" i="0">
                <a:solidFill>
                  <a:srgbClr val="182D3D"/>
                </a:solidFill>
                <a:latin typeface="Arial"/>
              </a:rPr>
              <a:t>; O </a:t>
            </a:r>
            <a:r>
              <a:rPr sz="2500" b="0" i="1">
                <a:solidFill>
                  <a:srgbClr val="182D3D"/>
                </a:solidFill>
                <a:latin typeface="Arial"/>
              </a:rPr>
              <a:t>brez- … -ec</a:t>
            </a:r>
            <a:r>
              <a:rPr sz="2500" b="0" i="0">
                <a:solidFill>
                  <a:srgbClr val="182D3D"/>
                </a:solidFill>
                <a:latin typeface="Arial"/>
              </a:rPr>
              <a:t>; tvorjenka iz predložne zveze, tip </a:t>
            </a:r>
            <a:r>
              <a:rPr sz="2500" b="0" i="1">
                <a:solidFill>
                  <a:srgbClr val="182D3D"/>
                </a:solidFill>
                <a:latin typeface="Arial"/>
              </a:rPr>
              <a:t>a2</a:t>
            </a:r>
            <a:r>
              <a:rPr sz="2500" b="0" i="0">
                <a:solidFill>
                  <a:srgbClr val="182D3D"/>
                </a:solidFill>
                <a:latin typeface="Arial"/>
              </a:rPr>
              <a:t>. </a:t>
            </a:r>
            <a:r>
              <a:rPr sz="2500" b="0" i="1">
                <a:solidFill>
                  <a:srgbClr val="182D3D"/>
                </a:solidFill>
                <a:latin typeface="Arial"/>
              </a:rPr>
              <a:t>Vrvohodec</a:t>
            </a:r>
            <a:r>
              <a:rPr sz="2500" b="0" i="0">
                <a:solidFill>
                  <a:srgbClr val="182D3D"/>
                </a:solidFill>
                <a:latin typeface="Arial"/>
              </a:rPr>
              <a:t>: </a:t>
            </a:r>
            <a:r>
              <a:rPr sz="2500" b="0" i="1">
                <a:solidFill>
                  <a:srgbClr val="182D3D"/>
                </a:solidFill>
                <a:latin typeface="Arial"/>
              </a:rPr>
              <a:t>tisti, ki hodi po vrvi</a:t>
            </a:r>
            <a:r>
              <a:rPr sz="2500" b="0" i="0">
                <a:solidFill>
                  <a:srgbClr val="182D3D"/>
                </a:solidFill>
                <a:latin typeface="Arial"/>
              </a:rPr>
              <a:t>; BPo </a:t>
            </a:r>
            <a:r>
              <a:rPr sz="2500" b="0" i="1">
                <a:solidFill>
                  <a:srgbClr val="182D3D"/>
                </a:solidFill>
                <a:latin typeface="Arial"/>
              </a:rPr>
              <a:t>vrv- … -hod-</a:t>
            </a:r>
            <a:r>
              <a:rPr sz="2500" b="0" i="0">
                <a:solidFill>
                  <a:srgbClr val="182D3D"/>
                </a:solidFill>
                <a:latin typeface="Arial"/>
              </a:rPr>
              <a:t>; O </a:t>
            </a:r>
            <a:r>
              <a:rPr sz="2500" b="0" i="1">
                <a:solidFill>
                  <a:srgbClr val="182D3D"/>
                </a:solidFill>
                <a:latin typeface="Arial"/>
              </a:rPr>
              <a:t>-o- … -ec</a:t>
            </a:r>
            <a:r>
              <a:rPr sz="2500" b="0" i="0">
                <a:solidFill>
                  <a:srgbClr val="182D3D"/>
                </a:solidFill>
                <a:latin typeface="Arial"/>
              </a:rPr>
              <a:t>; medponsko-priponska zloženka, tip </a:t>
            </a:r>
            <a:r>
              <a:rPr sz="2500" b="0" i="1">
                <a:solidFill>
                  <a:srgbClr val="182D3D"/>
                </a:solidFill>
                <a:latin typeface="Arial"/>
              </a:rPr>
              <a:t>a3</a:t>
            </a:r>
            <a:r>
              <a:rPr sz="2500" b="0" i="0">
                <a:solidFill>
                  <a:srgbClr val="182D3D"/>
                </a:solidFill>
                <a:latin typeface="Arial"/>
              </a:rPr>
              <a:t>. </a:t>
            </a:r>
            <a:r>
              <a:rPr sz="2500" b="0" i="1">
                <a:solidFill>
                  <a:srgbClr val="182D3D"/>
                </a:solidFill>
                <a:latin typeface="Arial"/>
              </a:rPr>
              <a:t>Zobozdravnik</a:t>
            </a:r>
            <a:r>
              <a:rPr sz="2500" b="0" i="0">
                <a:solidFill>
                  <a:srgbClr val="182D3D"/>
                </a:solidFill>
                <a:latin typeface="Arial"/>
              </a:rPr>
              <a:t>: </a:t>
            </a:r>
            <a:r>
              <a:rPr sz="2500" b="0" i="1">
                <a:solidFill>
                  <a:srgbClr val="182D3D"/>
                </a:solidFill>
                <a:latin typeface="Arial"/>
              </a:rPr>
              <a:t>zdravnik za zobe</a:t>
            </a:r>
            <a:r>
              <a:rPr sz="2500" b="0" i="0">
                <a:solidFill>
                  <a:srgbClr val="182D3D"/>
                </a:solidFill>
                <a:latin typeface="Arial"/>
              </a:rPr>
              <a:t>; BPo </a:t>
            </a:r>
            <a:r>
              <a:rPr sz="2500" b="0" i="1">
                <a:solidFill>
                  <a:srgbClr val="182D3D"/>
                </a:solidFill>
                <a:latin typeface="Arial"/>
              </a:rPr>
              <a:t>zob- … -zdravnik</a:t>
            </a:r>
            <a:r>
              <a:rPr sz="2500" b="0" i="0">
                <a:solidFill>
                  <a:srgbClr val="182D3D"/>
                </a:solidFill>
                <a:latin typeface="Arial"/>
              </a:rPr>
              <a:t>; O </a:t>
            </a:r>
            <a:r>
              <a:rPr sz="2500" b="0" i="1">
                <a:solidFill>
                  <a:srgbClr val="182D3D"/>
                </a:solidFill>
                <a:latin typeface="Arial"/>
              </a:rPr>
              <a:t>-o-</a:t>
            </a:r>
            <a:r>
              <a:rPr sz="2500" b="0" i="0">
                <a:solidFill>
                  <a:srgbClr val="182D3D"/>
                </a:solidFill>
                <a:latin typeface="Arial"/>
              </a:rPr>
              <a:t>; medponskoobrazilna zloženka, tip </a:t>
            </a:r>
            <a:r>
              <a:rPr sz="2500" b="0" i="1">
                <a:solidFill>
                  <a:srgbClr val="182D3D"/>
                </a:solidFill>
                <a:latin typeface="Arial"/>
              </a:rPr>
              <a:t>b</a:t>
            </a:r>
            <a:r>
              <a:rPr sz="2500" b="0" i="0">
                <a:solidFill>
                  <a:srgbClr val="182D3D"/>
                </a:solidFill>
                <a:latin typeface="Arial"/>
              </a:rPr>
              <a:t>. Pri prvih dveh se obrazili tudi zaimensko jedro, pri tretji pa je polnopomensko jedro </a:t>
            </a:r>
            <a:r>
              <a:rPr sz="2500" b="0" i="1">
                <a:solidFill>
                  <a:srgbClr val="182D3D"/>
                </a:solidFill>
                <a:latin typeface="Arial"/>
              </a:rPr>
              <a:t>zdravnik</a:t>
            </a:r>
            <a:r>
              <a:rPr sz="2500" b="0" i="0">
                <a:solidFill>
                  <a:srgbClr val="182D3D"/>
                </a:solidFill>
                <a:latin typeface="Arial"/>
              </a:rPr>
              <a:t> ohranjeno v BPo. Njegov </a:t>
            </a:r>
            <a:r>
              <a:rPr sz="2500" b="0" i="1">
                <a:solidFill>
                  <a:srgbClr val="182D3D"/>
                </a:solidFill>
                <a:latin typeface="Arial"/>
              </a:rPr>
              <a:t>-nik</a:t>
            </a:r>
            <a:r>
              <a:rPr sz="2500" b="0" i="0">
                <a:solidFill>
                  <a:srgbClr val="182D3D"/>
                </a:solidFill>
                <a:latin typeface="Arial"/>
              </a:rPr>
              <a:t> je del že tvorjene izhodiščne besede. Členitev zadnje stopnje zato ni seznam vseh besedotvornih morfemov, ki jih lahko prepoznamo v celotni besedi.</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107</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tvorbene stopnje.</a:t>
            </a:r>
            <a:r>
              <a:rPr sz="2500" b="0" i="0">
                <a:solidFill>
                  <a:srgbClr val="182D3D"/>
                </a:solidFill>
                <a:latin typeface="Arial"/>
              </a:rPr>
              <a:t> Razčlenite niz </a:t>
            </a:r>
            <a:r>
              <a:rPr sz="2500" b="0" i="1">
                <a:solidFill>
                  <a:srgbClr val="182D3D"/>
                </a:solidFill>
                <a:latin typeface="Arial"/>
              </a:rPr>
              <a:t>gozd → gozdar → gozdarski</a:t>
            </a:r>
            <a:r>
              <a:rPr sz="2500" b="0" i="0">
                <a:solidFill>
                  <a:srgbClr val="182D3D"/>
                </a:solidFill>
                <a:latin typeface="Arial"/>
              </a:rPr>
              <a:t>. Koliko tvorbenih korakov vsebuje prikazani niz? Kaj je neposredna BPo pridevnika? Pojasnite razliko med morfemsko členitvijo besede in določitvijo njenega zadnjega tvorbenega koraka.</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108</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 prikazanem nizu sta dva tvorbena koraka. Pri </a:t>
            </a:r>
            <a:r>
              <a:rPr sz="2500" b="0" i="1">
                <a:solidFill>
                  <a:srgbClr val="182D3D"/>
                </a:solidFill>
                <a:latin typeface="Arial"/>
              </a:rPr>
              <a:t>gozdarju</a:t>
            </a:r>
            <a:r>
              <a:rPr sz="2500" b="0" i="0">
                <a:solidFill>
                  <a:srgbClr val="182D3D"/>
                </a:solidFill>
                <a:latin typeface="Arial"/>
              </a:rPr>
              <a:t> sta BPo </a:t>
            </a:r>
            <a:r>
              <a:rPr sz="2500" b="0" i="1">
                <a:solidFill>
                  <a:srgbClr val="182D3D"/>
                </a:solidFill>
                <a:latin typeface="Arial"/>
              </a:rPr>
              <a:t>gozd-</a:t>
            </a:r>
            <a:r>
              <a:rPr sz="2500" b="0" i="0">
                <a:solidFill>
                  <a:srgbClr val="182D3D"/>
                </a:solidFill>
                <a:latin typeface="Arial"/>
              </a:rPr>
              <a:t> in O </a:t>
            </a:r>
            <a:r>
              <a:rPr sz="2500" b="0" i="1">
                <a:solidFill>
                  <a:srgbClr val="182D3D"/>
                </a:solidFill>
                <a:latin typeface="Arial"/>
              </a:rPr>
              <a:t>-ar</a:t>
            </a:r>
            <a:r>
              <a:rPr sz="2500" b="0" i="0">
                <a:solidFill>
                  <a:srgbClr val="182D3D"/>
                </a:solidFill>
                <a:latin typeface="Arial"/>
              </a:rPr>
              <a:t>, pri </a:t>
            </a:r>
            <a:r>
              <a:rPr sz="2500" b="0" i="1">
                <a:solidFill>
                  <a:srgbClr val="182D3D"/>
                </a:solidFill>
                <a:latin typeface="Arial"/>
              </a:rPr>
              <a:t>gozdarskem</a:t>
            </a:r>
            <a:r>
              <a:rPr sz="2500" b="0" i="0">
                <a:solidFill>
                  <a:srgbClr val="182D3D"/>
                </a:solidFill>
                <a:latin typeface="Arial"/>
              </a:rPr>
              <a:t> pa BPo </a:t>
            </a:r>
            <a:r>
              <a:rPr sz="2500" b="0" i="1">
                <a:solidFill>
                  <a:srgbClr val="182D3D"/>
                </a:solidFill>
                <a:latin typeface="Arial"/>
              </a:rPr>
              <a:t>gozdar-</a:t>
            </a:r>
            <a:r>
              <a:rPr sz="2500" b="0" i="0">
                <a:solidFill>
                  <a:srgbClr val="182D3D"/>
                </a:solidFill>
                <a:latin typeface="Arial"/>
              </a:rPr>
              <a:t> in O </a:t>
            </a:r>
            <a:r>
              <a:rPr sz="2500" b="0" i="1">
                <a:solidFill>
                  <a:srgbClr val="182D3D"/>
                </a:solidFill>
                <a:latin typeface="Arial"/>
              </a:rPr>
              <a:t>-ski</a:t>
            </a:r>
            <a:r>
              <a:rPr sz="2500" b="0" i="0">
                <a:solidFill>
                  <a:srgbClr val="182D3D"/>
                </a:solidFill>
                <a:latin typeface="Arial"/>
              </a:rPr>
              <a:t>. Pridevnik je glede na ta niz drugostopenjska tvorjenka. Podstava druge stopnje vsebuje obrazilo prve stopnje. Morfemska členitev lahko razpre tudi notranjo zgradbo </a:t>
            </a:r>
            <a:r>
              <a:rPr sz="2500" b="0" i="1">
                <a:solidFill>
                  <a:srgbClr val="182D3D"/>
                </a:solidFill>
                <a:latin typeface="Arial"/>
              </a:rPr>
              <a:t>gozdar-</a:t>
            </a:r>
            <a:r>
              <a:rPr sz="2500" b="0" i="0">
                <a:solidFill>
                  <a:srgbClr val="182D3D"/>
                </a:solidFill>
                <a:latin typeface="Arial"/>
              </a:rPr>
              <a:t>, toda neposredna tvorbena analiza pridevnika mora ohraniti podatek, da motivirajoča beseda že vsebuje </a:t>
            </a:r>
            <a:r>
              <a:rPr sz="2500" b="0" i="1">
                <a:solidFill>
                  <a:srgbClr val="182D3D"/>
                </a:solidFill>
                <a:latin typeface="Arial"/>
              </a:rPr>
              <a:t>-ar</a:t>
            </a:r>
            <a:r>
              <a:rPr sz="2500" b="0" i="0">
                <a:solidFill>
                  <a:srgbClr val="182D3D"/>
                </a:solidFill>
                <a:latin typeface="Arial"/>
              </a:rPr>
              <a:t>. Sklanjanje </a:t>
            </a:r>
            <a:r>
              <a:rPr sz="2500" b="0" i="1">
                <a:solidFill>
                  <a:srgbClr val="182D3D"/>
                </a:solidFill>
                <a:latin typeface="Arial"/>
              </a:rPr>
              <a:t>gozdarski – gozdarskega</a:t>
            </a:r>
            <a:r>
              <a:rPr sz="2500" b="0" i="0">
                <a:solidFill>
                  <a:srgbClr val="182D3D"/>
                </a:solidFill>
                <a:latin typeface="Arial"/>
              </a:rPr>
              <a:t> ni tretja tvorbena stopnja.</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109</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dobra razlaga še ni skladenjska podstava.</a:t>
            </a:r>
            <a:r>
              <a:rPr sz="2500" b="0" i="0">
                <a:solidFill>
                  <a:srgbClr val="182D3D"/>
                </a:solidFill>
                <a:latin typeface="Arial"/>
              </a:rPr>
              <a:t> Presodite trditev: »</a:t>
            </a:r>
            <a:r>
              <a:rPr sz="2500" b="0" i="1">
                <a:solidFill>
                  <a:srgbClr val="182D3D"/>
                </a:solidFill>
                <a:latin typeface="Arial"/>
              </a:rPr>
              <a:t>Zobar</a:t>
            </a:r>
            <a:r>
              <a:rPr sz="2500" b="0" i="0">
                <a:solidFill>
                  <a:srgbClr val="182D3D"/>
                </a:solidFill>
                <a:latin typeface="Arial"/>
              </a:rPr>
              <a:t> je zdravnik za zobe, zato sta </a:t>
            </a:r>
            <a:r>
              <a:rPr sz="2500" b="0" i="1">
                <a:solidFill>
                  <a:srgbClr val="182D3D"/>
                </a:solidFill>
                <a:latin typeface="Arial"/>
              </a:rPr>
              <a:t>zobar</a:t>
            </a:r>
            <a:r>
              <a:rPr sz="2500" b="0" i="0">
                <a:solidFill>
                  <a:srgbClr val="182D3D"/>
                </a:solidFill>
                <a:latin typeface="Arial"/>
              </a:rPr>
              <a:t> in </a:t>
            </a:r>
            <a:r>
              <a:rPr sz="2500" b="0" i="1">
                <a:solidFill>
                  <a:srgbClr val="182D3D"/>
                </a:solidFill>
                <a:latin typeface="Arial"/>
              </a:rPr>
              <a:t>zobozdravnik</a:t>
            </a:r>
            <a:r>
              <a:rPr sz="2500" b="0" i="0">
                <a:solidFill>
                  <a:srgbClr val="182D3D"/>
                </a:solidFill>
                <a:latin typeface="Arial"/>
              </a:rPr>
              <a:t> tvorjena iz iste SPo in z istim postopkom.« Nato pri </a:t>
            </a:r>
            <a:r>
              <a:rPr sz="2500" b="0" i="1">
                <a:solidFill>
                  <a:srgbClr val="182D3D"/>
                </a:solidFill>
                <a:latin typeface="Arial"/>
              </a:rPr>
              <a:t>listavcu</a:t>
            </a:r>
            <a:r>
              <a:rPr sz="2500" b="0" i="0">
                <a:solidFill>
                  <a:srgbClr val="182D3D"/>
                </a:solidFill>
                <a:latin typeface="Arial"/>
              </a:rPr>
              <a:t> primerjajte SPo in slovarsko UPS. Kaj smemo napovedati iz besedotvorne zgradbe in za kaj potrebujemo slovarski pomen?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110</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Trditev zamenjuje slovarski pomen s tvorbenim razmerjem. </a:t>
            </a:r>
            <a:r>
              <a:rPr sz="2500" b="0" i="1">
                <a:solidFill>
                  <a:srgbClr val="182D3D"/>
                </a:solidFill>
                <a:latin typeface="Arial"/>
              </a:rPr>
              <a:t>Zdravnik za zobe</a:t>
            </a:r>
            <a:r>
              <a:rPr sz="2500" b="0" i="0">
                <a:solidFill>
                  <a:srgbClr val="182D3D"/>
                </a:solidFill>
                <a:latin typeface="Arial"/>
              </a:rPr>
              <a:t> ustreza zgradbi </a:t>
            </a:r>
            <a:r>
              <a:rPr sz="2500" b="0" i="1">
                <a:solidFill>
                  <a:srgbClr val="182D3D"/>
                </a:solidFill>
                <a:latin typeface="Arial"/>
              </a:rPr>
              <a:t>zob-o-zdravnik</a:t>
            </a:r>
            <a:r>
              <a:rPr sz="2500" b="0" i="0">
                <a:solidFill>
                  <a:srgbClr val="182D3D"/>
                </a:solidFill>
                <a:latin typeface="Arial"/>
              </a:rPr>
              <a:t>, saj ima vsaka polnopomenska sestavina svoj del v BPo. Pri </a:t>
            </a:r>
            <a:r>
              <a:rPr sz="2500" b="0" i="1">
                <a:solidFill>
                  <a:srgbClr val="182D3D"/>
                </a:solidFill>
                <a:latin typeface="Arial"/>
              </a:rPr>
              <a:t>zob-ar</a:t>
            </a:r>
            <a:r>
              <a:rPr sz="2500" b="0" i="0">
                <a:solidFill>
                  <a:srgbClr val="182D3D"/>
                </a:solidFill>
                <a:latin typeface="Arial"/>
              </a:rPr>
              <a:t> ni dela za </a:t>
            </a:r>
            <a:r>
              <a:rPr sz="2500" b="0" i="1">
                <a:solidFill>
                  <a:srgbClr val="182D3D"/>
                </a:solidFill>
                <a:latin typeface="Arial"/>
              </a:rPr>
              <a:t>zdravnik</a:t>
            </a:r>
            <a:r>
              <a:rPr sz="2500" b="0" i="0">
                <a:solidFill>
                  <a:srgbClr val="182D3D"/>
                </a:solidFill>
                <a:latin typeface="Arial"/>
              </a:rPr>
              <a:t>: SPo s splošnim zaimenskim jedrom, denimo </a:t>
            </a:r>
            <a:r>
              <a:rPr sz="2500" b="0" i="1">
                <a:solidFill>
                  <a:srgbClr val="182D3D"/>
                </a:solidFill>
                <a:latin typeface="Arial"/>
              </a:rPr>
              <a:t>tisti, ki je za zobe</a:t>
            </a:r>
            <a:r>
              <a:rPr sz="2500" b="0" i="0">
                <a:solidFill>
                  <a:srgbClr val="182D3D"/>
                </a:solidFill>
                <a:latin typeface="Arial"/>
              </a:rPr>
              <a:t>, podpira navadno izpeljavo. Pri </a:t>
            </a:r>
            <a:r>
              <a:rPr sz="2500" b="0" i="1">
                <a:solidFill>
                  <a:srgbClr val="182D3D"/>
                </a:solidFill>
                <a:latin typeface="Arial"/>
              </a:rPr>
              <a:t>listavcu</a:t>
            </a:r>
            <a:r>
              <a:rPr sz="2500" b="0" i="0">
                <a:solidFill>
                  <a:srgbClr val="182D3D"/>
                </a:solidFill>
                <a:latin typeface="Arial"/>
              </a:rPr>
              <a:t> je SPo </a:t>
            </a:r>
            <a:r>
              <a:rPr sz="2500" b="0" i="1">
                <a:solidFill>
                  <a:srgbClr val="182D3D"/>
                </a:solidFill>
                <a:latin typeface="Arial"/>
              </a:rPr>
              <a:t>tisti, ki je listav</a:t>
            </a:r>
            <a:r>
              <a:rPr sz="2500" b="0" i="0">
                <a:solidFill>
                  <a:srgbClr val="182D3D"/>
                </a:solidFill>
                <a:latin typeface="Arial"/>
              </a:rPr>
              <a:t>, slovarska UPS pa </a:t>
            </a:r>
            <a:r>
              <a:rPr sz="2500" b="0" i="1">
                <a:solidFill>
                  <a:srgbClr val="182D3D"/>
                </a:solidFill>
                <a:latin typeface="Arial"/>
              </a:rPr>
              <a:t>drevo</a:t>
            </a:r>
            <a:r>
              <a:rPr sz="2500" b="0" i="0">
                <a:solidFill>
                  <a:srgbClr val="182D3D"/>
                </a:solidFill>
                <a:latin typeface="Arial"/>
              </a:rPr>
              <a:t>. Besedotvorje pojasni motivacijo in posplošeno kategorijo; leksikalizirani pomen določi konkretnejšo poimenovano vrsto. Iz pripone same zato ne izvemo celotne strokovne ali slovarske razlage.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15</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teorija, terminologija in norma.</a:t>
            </a:r>
            <a:r>
              <a:rPr sz="2500" b="0" i="0">
                <a:solidFill>
                  <a:srgbClr val="182D3D"/>
                </a:solidFill>
                <a:latin typeface="Arial"/>
              </a:rPr>
              <a:t> Študent napiše: »Če izraz razčlenim kot zloženko, je presledek vedno napačen; če lahko pomen razvežem z </a:t>
            </a:r>
            <a:r>
              <a:rPr sz="2500" b="0" i="1">
                <a:solidFill>
                  <a:srgbClr val="182D3D"/>
                </a:solidFill>
                <a:latin typeface="Arial"/>
              </a:rPr>
              <a:t>in</a:t>
            </a:r>
            <a:r>
              <a:rPr sz="2500" b="0" i="0">
                <a:solidFill>
                  <a:srgbClr val="182D3D"/>
                </a:solidFill>
                <a:latin typeface="Arial"/>
              </a:rPr>
              <a:t>, je vezaj obvezen.« Preverite sklep na primerih </a:t>
            </a:r>
            <a:r>
              <a:rPr sz="2500" b="0" i="1">
                <a:solidFill>
                  <a:srgbClr val="182D3D"/>
                </a:solidFill>
                <a:latin typeface="Arial"/>
              </a:rPr>
              <a:t>minigolf/mini golf</a:t>
            </a:r>
            <a:r>
              <a:rPr sz="2500" b="0" i="0">
                <a:solidFill>
                  <a:srgbClr val="182D3D"/>
                </a:solidFill>
                <a:latin typeface="Arial"/>
              </a:rPr>
              <a:t> in </a:t>
            </a:r>
            <a:r>
              <a:rPr sz="2500" b="0" i="1">
                <a:solidFill>
                  <a:srgbClr val="182D3D"/>
                </a:solidFill>
                <a:latin typeface="Arial"/>
              </a:rPr>
              <a:t>kupo-prodajen/kupoprodajen</a:t>
            </a:r>
            <a:r>
              <a:rPr sz="2500" b="0" i="0">
                <a:solidFill>
                  <a:srgbClr val="182D3D"/>
                </a:solidFill>
                <a:latin typeface="Arial"/>
              </a:rPr>
              <a:t>. Nato pojasnite, zakaj izraz </a:t>
            </a:r>
            <a:r>
              <a:rPr sz="2500" b="0" i="1">
                <a:solidFill>
                  <a:srgbClr val="182D3D"/>
                </a:solidFill>
                <a:latin typeface="Arial"/>
              </a:rPr>
              <a:t>besedotvorna podstava</a:t>
            </a:r>
            <a:r>
              <a:rPr sz="2500" b="0" i="0">
                <a:solidFill>
                  <a:srgbClr val="182D3D"/>
                </a:solidFill>
                <a:latin typeface="Arial"/>
              </a:rPr>
              <a:t> brez navedbe teoretičnega okvira ni povsem nedvoumen.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15</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182D3D"/>
                </a:solidFill>
                <a:latin typeface="Arial"/>
              </a:rPr>
              <a:t>Oba sklepa sta preširoka. SP 2001 pri </a:t>
            </a:r>
            <a:r>
              <a:rPr sz="2400" b="0" i="1">
                <a:solidFill>
                  <a:srgbClr val="182D3D"/>
                </a:solidFill>
                <a:latin typeface="Arial"/>
              </a:rPr>
              <a:t>minigolf/mini golf</a:t>
            </a:r>
            <a:r>
              <a:rPr sz="2400" b="0" i="0">
                <a:solidFill>
                  <a:srgbClr val="182D3D"/>
                </a:solidFill>
                <a:latin typeface="Arial"/>
              </a:rPr>
              <a:t> dovoljuje dva zapisa; jezikoslovna razčlenitev in meja med pisnimi enotami nista avtomatično ista stvar. Pri </a:t>
            </a:r>
            <a:r>
              <a:rPr sz="2400" b="0" i="1">
                <a:solidFill>
                  <a:srgbClr val="182D3D"/>
                </a:solidFill>
                <a:latin typeface="Arial"/>
              </a:rPr>
              <a:t>kupo-prodajen/kupoprodajen</a:t>
            </a:r>
            <a:r>
              <a:rPr sz="2400" b="0" i="0">
                <a:solidFill>
                  <a:srgbClr val="182D3D"/>
                </a:solidFill>
                <a:latin typeface="Arial"/>
              </a:rPr>
              <a:t> moramo poleg pomenskega razmerja upoštevati obliko sestavin in normativni vir: SP 2001 ima prvo možnost, novejša obravnava utemeljuje drugo. Novejšega predloga ne predstavimo kot že prvotno pravilo SP 2001. Terminološko pa Toporišič v algoritmu z </a:t>
            </a:r>
            <a:r>
              <a:rPr sz="2400" b="0" i="1">
                <a:solidFill>
                  <a:srgbClr val="182D3D"/>
                </a:solidFill>
                <a:latin typeface="Arial"/>
              </a:rPr>
              <a:t>besedotvorno podstavo</a:t>
            </a:r>
            <a:r>
              <a:rPr sz="2400" b="0" i="0">
                <a:solidFill>
                  <a:srgbClr val="182D3D"/>
                </a:solidFill>
                <a:latin typeface="Arial"/>
              </a:rPr>
              <a:t> poimenuje izhodiščno besedno zvezo; Vidovič Muha z istim izrazom poimenuje ohranjeni del tvorjenke, izhodiščno zvezo pa imenuje </a:t>
            </a:r>
            <a:r>
              <a:rPr sz="2400" b="0" i="1">
                <a:solidFill>
                  <a:srgbClr val="182D3D"/>
                </a:solidFill>
                <a:latin typeface="Arial"/>
              </a:rPr>
              <a:t>skladenjska podstava</a:t>
            </a:r>
            <a:r>
              <a:rPr sz="2400" b="0" i="0">
                <a:solidFill>
                  <a:srgbClr val="182D3D"/>
                </a:solidFill>
                <a:latin typeface="Arial"/>
              </a:rPr>
              <a:t>. Utemeljen odgovor zato navede, katero zgradbo, teoretični model in normativni vir uporablja.</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113</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Skladenjska podstava ni poljubna pomenska razlaga.</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Obrazilo določimo za konkretno tvorbeno stopnjo.</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Tvorbena analiza in pravopisna kodifikacija se dopolnjujeta.</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Besedo, ki jo izberemo ali tvorimo, moramo nato pravilno oblikovati v povedi.</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50" b="0" i="0">
                <a:solidFill>
                  <a:srgbClr val="546674"/>
                </a:solidFill>
                <a:latin typeface="Arial"/>
              </a:rPr>
              <a:t>Branje: Vidovič Muha 2011: 23–38, 82–89, 97–111, 331–335; Toporišič 2004: 149–160.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4. Oblike v sobesedilu</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Katero razmerje v povedi zahteva izbrano slovnično obliko?</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Določim sklon, osnovo in končnico iz primerjave oblik.</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Ločim pridevniški pomen, določnost in skladenjsko funkcijo.</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Utemeljim izbiro zaimka in glagolske oblike v sobesedilu.</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Oblika, besedna vrsta in funkcija so tri ravni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115</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Ista oblika lahko v različnih zgradbah opravlja različni nalogi.</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Prilastek</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mlado drevo: mlado določa samostalniško jedro.</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Povedkovo določilo</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Drevo je mlado: lastnost pripišemo osebku.</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Toporišičev širši pojem</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tiste tri mlade lipe: zaimenske, števniške in navadne pridevniške besede.</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Poimenovanje besedne vrste samo še ne pojasni oblike v povedi.</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Vezava določi obliko; ujemanje poveže kategorije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116</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Vezava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zaupati sodelavcu</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Glagol zahteva dajalniško določilo.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Ujemanje</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z novim sodelavcem</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Pridevnik in samostalnik: moški spol, ednina, orodnik; končnici sta različni.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Ujemanje je skladnost slovničnih kategorij, ne enakost zadnjih črk.</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Virtualnem in virtualnemu sta različna sklona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117</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Mestnik</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 virtualnem svetu</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Pridevnik moškega spola ednine ima končnico -em.</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Dajalnik</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Prilagaja se virtualnemu svetu.</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Glagolska vezava zahteva dajalnik in končnico -emu.</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Popravljamo neustrezno obliko v zvezi, ne končnice v vseh rabah.</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Osnovo ugotovimo s primerjavo oblik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118</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Primerjava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Ugotovitev</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veter → vetra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Neobstojni samoglasnik v osnovi; e ni končnica.</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taksi → taksija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Osnova se podaljša z j.</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čaj → čaja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j je že v imenovalniški osnovi.</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stric → s stricem</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V orodniški končnici nastopi preglas.</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Primerjamo oblike in funkcije; ne odrežemo samodejno zadnje črke.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Oblikotvorje ni drugo ime za besedotvorje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119</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V Toporišičevem modelu razlikujemo več vrst spreminjanja oblike.</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Oblikospreminjanje</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lep → lepega; sklanjanje in spreganje.</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Oblikotvorje</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lep → lepši; med drugim stopnjevanje, spolske, določne in glagolske oblike.</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Besedotvorje</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lep → lepota; razmerje med dvema leksemoma.</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 nalogi najprej določimo, kateri odnos med oblikami nas zanima.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Japonska in Japonsko: dva pregibna vzorca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120</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Izhodišče ali vir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Vzorec oziroma status</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Oblike</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Japonska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ženski samostalniški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Japonske; na Japonski</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Japonsko</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srednji pridevniški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Japonskega; na Japonskem</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Ustaljeno prepletanje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SP 2001, § 841</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na Japonsko; iz Japonske</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ePravopis: Japonska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slovarski predlog</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iz/z Japonske</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Predložni par ne nadomesti podatka o ustaljenih zemljepisnih zvezah.</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Pridevniški pomen razberemo v zvezi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121</a:t>
            </a:r>
          </a:p>
        </p:txBody>
      </p:sp>
      <p:graphicFrame>
        <p:nvGraphicFramePr>
          <p:cNvPr id="4" name="Table 3"/>
          <p:cNvGraphicFramePr>
            <a:graphicFrameLocks noGrp="1"/>
          </p:cNvGraphicFramePr>
          <p:nvPr/>
        </p:nvGraphicFramePr>
        <p:xfrm>
          <a:off x="621792" y="1810512"/>
          <a:ext cx="10954511" cy="2715768"/>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Pomen</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izrazimo?</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Lastnostni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zanimiv članek; visok zid</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Kakovost ali razsežnost.</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Vrstni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slovnični priročnik</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Vrsto oziroma področje.</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Svojilni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avtoričin rokopis</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Svojilno razmerje.</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Obrazilo je lahko namig; pomen in slovnično vedenje preverimo v zvezi.</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Določenost, določna oblika in vrstnost niso isto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122</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Pomensko prepoznavnost ločimo od dejanskega nasprotja oblik.</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Dve obliki</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Našli smo nov vir. Novi vir smo nato pregledali; ta novi vir.</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Brez takega nasprotja</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Rokopis je avtoričin: ne ustvarimo avtoričini po vzorcu nov–novi.</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Povedkovni položaj</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Vir je nov; Ta jezik je slovenski. Upoštevamo, katere oblike pridevnik ima.</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Oblikovne izbire ne izpeljemo neposredno iz ene pomenske ali skladenjske oznake.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Steklen: snovni pomen in različne skladenjske vloge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123</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Razvrstitev je odvisna od meril in teoretičnega okvira.</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Snovni pomen</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steklen kozarec; bombažne nogavice: opredelitev snovi.</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Različni vlogi</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steklen kozarec → Kozarec je steklen: prilastek in povedkovo določilo.</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Pretvorbeno merilo</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lesena žlica → žlica iz lesa; vprašalnica kakšen sama ne odloči.</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Skladenjska funkcija ni neposreden dokaz ene same pomenske razvrstitve.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Svoj in njen lahko spremenita lastnico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124</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Povratnosvojilni zaimek</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je Nini poslala svojo nalogo.</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 tej zgradbi je naloga Majina.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Osebnosvojilni zaimek</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je Nini poslala njeno nalogo.</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Lastnico razberemo iz sobesedila; če je to Nina, lahko zapišemo Ninino nalogo.</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Nanašanje preverimo znotraj konkretne stavčne zgradbe.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Ki in kateri ne delita ljudi od stvari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125</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Nespremenljivi ki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knjiga, ki jo berem</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Predmetno vlogo znotraj odvisnika izrazi tudi jo.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Kateri za predlogom</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knjiga, o kateri govorimo</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O kateri je mestnik zaradi razmerja znotraj odvisnika.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Odnosnica usmerja spol in število; sklon določi odvisnik.</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Kaj in kar usmerjata različno branje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126</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Kaj</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Povej, kaj si opazil.</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Vprašanje po vsebini opažanja.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Kar</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Povej, kar si opazil.</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Oziralna zgradba: posreduj opaženo.</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Pogostejša oblika ni samodejno edina pomensko utemeljena izbira.</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Osebna glagolska oblika je lahko večbesedna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127</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Število zapisanih glagolskih besed ni število osebnih povedkov.</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Enobesedna oblika</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pregledam: osebna glagolska oblika.</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Sestavljena oblika</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bom pregledala: pomožnik in deležnik tvorita celoto.</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Neosebne oblike</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pregledati, pregledat, pregledano: skladenjsko funkcijo ugotovimo v zvezi.</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Najprej določimo sestavljeno obliko, nato vlogo njenih delov.</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Nedoločnik in namenilnik nista poljubni dolžini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Nedoločnik</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Želim prebrati obvestilo.</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Neosebna oblika dopolnjuje glagol želje.</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Namenilnik</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Grem prebrat obvestilo.</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Premikanje z namenom branja.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Odločilna je skladenjska funkcija neosebne oblike v celotni zvezi.</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Deležnik ali deležje: primerjajmo funkcijo in pregibanje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129</a:t>
            </a:r>
          </a:p>
        </p:txBody>
      </p:sp>
      <p:graphicFrame>
        <p:nvGraphicFramePr>
          <p:cNvPr id="4" name="Table 3"/>
          <p:cNvGraphicFramePr>
            <a:graphicFrameLocks noGrp="1"/>
          </p:cNvGraphicFramePr>
          <p:nvPr/>
        </p:nvGraphicFramePr>
        <p:xfrm>
          <a:off x="621792" y="1810512"/>
          <a:ext cx="10954511" cy="3725799"/>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Analiza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primerjamo?</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Listi so padli.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Opisni deležnik na -l.</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Del sestavljene pretekle oblike.</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Pobirali smo padle liste.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Deležnik stanja na -l.</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Prilastek se ujema tudi v sklonu.</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smejoči se otroci → s smejočimi se otroki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Pregibni deležnik.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Sprememba oblike ob samostalniku.</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Smejoč se, je otrok odšel.</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Deležje.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Nepregibna oblika spremljajočega dogajanja.</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Podoben končaj ne zagotavlja enake funkcije ali enakega obsega pregibanja.</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Vid in čas opisujeta različni razmerji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130</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Dovršnost ni preteklost; sedanjik ni vedno sedanjost.</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Nedovršni pogled</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Jutri bom pisal poročilo: v ospredju je ukvarjanje s pisanjem.</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Dovršni pogled</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Jutri bom napisal poročilo: v ospredju je dokončanje celote.</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Časovna umestitev</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Jutri odpotujemo: sedanjik, prihodnji dogodek.</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Časovno in vidsko razlago utemeljimo iz celotne povedi.</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Besedni red še ne naredi trpnika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131</a:t>
            </a:r>
          </a:p>
        </p:txBody>
      </p:sp>
      <p:graphicFrame>
        <p:nvGraphicFramePr>
          <p:cNvPr id="4" name="Table 3"/>
          <p:cNvGraphicFramePr>
            <a:graphicFrameLocks noGrp="1"/>
          </p:cNvGraphicFramePr>
          <p:nvPr/>
        </p:nvGraphicFramePr>
        <p:xfrm>
          <a:off x="621792" y="1810512"/>
          <a:ext cx="10954511" cy="2975991"/>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Poved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Način</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Udeleženska razmerja</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Urednica je pregledala rokopis.</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Tvornik.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Urednica je osebek in vršilka.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Rokopis je pregledala urednica.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Tvornik.</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Besedni red se spremeni, razmerji ostaneta.</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Rokopis je bil pregledan.</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Trpnik.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Rokopis je osebek; vršilka ni izražena.</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 preoblikovanju preverimo način, vid, izražene udeležence in namen besedila.</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132</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Izberite in pojasnite: </a:t>
            </a:r>
            <a:r>
              <a:rPr sz="2300" b="0" i="1">
                <a:solidFill>
                  <a:srgbClr val="182D3D"/>
                </a:solidFill>
                <a:latin typeface="Arial"/>
              </a:rPr>
              <a:t>Govorimo o novem/novemu načrtu. Nasprotujemo novem/novemu načrtu.</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Popravite </a:t>
            </a:r>
            <a:r>
              <a:rPr sz="2300" b="0" i="1">
                <a:solidFill>
                  <a:srgbClr val="182D3D"/>
                </a:solidFill>
                <a:latin typeface="Arial"/>
              </a:rPr>
              <a:t>Sodelovali smo z novem prevajalcem</a:t>
            </a:r>
            <a:r>
              <a:rPr sz="2300" b="0" i="0">
                <a:solidFill>
                  <a:srgbClr val="182D3D"/>
                </a:solidFill>
                <a:latin typeface="Arial"/>
              </a:rPr>
              <a:t>. Zakaj pravilo o ujemanju ne zahteva enakih končnic?</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O novem načrtu</a:t>
            </a:r>
            <a:r>
              <a:rPr sz="2300" b="0" i="0">
                <a:solidFill>
                  <a:srgbClr val="182D3D"/>
                </a:solidFill>
                <a:latin typeface="Arial"/>
              </a:rPr>
              <a:t> je mestniška zveza; </a:t>
            </a:r>
            <a:r>
              <a:rPr sz="2300" b="0" i="1">
                <a:solidFill>
                  <a:srgbClr val="182D3D"/>
                </a:solidFill>
                <a:latin typeface="Arial"/>
              </a:rPr>
              <a:t>nasprotujemo novemu načrtu</a:t>
            </a:r>
            <a:r>
              <a:rPr sz="2300" b="0" i="0">
                <a:solidFill>
                  <a:srgbClr val="182D3D"/>
                </a:solidFill>
                <a:latin typeface="Arial"/>
              </a:rPr>
              <a:t> vsebuje dajalniško določilo. Samostalniška oblika </a:t>
            </a:r>
            <a:r>
              <a:rPr sz="2300" b="0" i="1">
                <a:solidFill>
                  <a:srgbClr val="182D3D"/>
                </a:solidFill>
                <a:latin typeface="Arial"/>
              </a:rPr>
              <a:t>načrtu</a:t>
            </a:r>
            <a:r>
              <a:rPr sz="2300" b="0" i="0">
                <a:solidFill>
                  <a:srgbClr val="182D3D"/>
                </a:solidFill>
                <a:latin typeface="Arial"/>
              </a:rPr>
              <a:t> je enaka, pridevnik pa sklona razločuje.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Z novim prevajalcem.</a:t>
            </a:r>
            <a:r>
              <a:rPr sz="2300" b="0" i="0">
                <a:solidFill>
                  <a:srgbClr val="182D3D"/>
                </a:solidFill>
                <a:latin typeface="Arial"/>
              </a:rPr>
              <a:t> Predlog uvaja orodniško zvezo. Pridevnik in samostalnik se ujemata v spolu, številu in sklonu, čeprav imata zaradi različnih pregibnih vzorcev različni končnici.</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Primerjajte </a:t>
            </a:r>
            <a:r>
              <a:rPr sz="2300" b="0" i="1">
                <a:solidFill>
                  <a:srgbClr val="182D3D"/>
                </a:solidFill>
                <a:latin typeface="Arial"/>
              </a:rPr>
              <a:t>Našli smo nov vir</a:t>
            </a:r>
            <a:r>
              <a:rPr sz="2300" b="0" i="0">
                <a:solidFill>
                  <a:srgbClr val="182D3D"/>
                </a:solidFill>
                <a:latin typeface="Arial"/>
              </a:rPr>
              <a:t> in </a:t>
            </a:r>
            <a:r>
              <a:rPr sz="2300" b="0" i="1">
                <a:solidFill>
                  <a:srgbClr val="182D3D"/>
                </a:solidFill>
                <a:latin typeface="Arial"/>
              </a:rPr>
              <a:t>Novi vir je že v bibliografiji</a:t>
            </a:r>
            <a:r>
              <a:rPr sz="2300" b="0" i="0">
                <a:solidFill>
                  <a:srgbClr val="182D3D"/>
                </a:solidFill>
                <a:latin typeface="Arial"/>
              </a:rPr>
              <a:t>. Kakšno vlogo ima lahko določna oblika?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Razložite lastništvo v povedih </a:t>
            </a:r>
            <a:r>
              <a:rPr sz="2300" b="0" i="1">
                <a:solidFill>
                  <a:srgbClr val="182D3D"/>
                </a:solidFill>
                <a:latin typeface="Arial"/>
              </a:rPr>
              <a:t>Ana je Maji vrnila svojo knjigo</a:t>
            </a:r>
            <a:r>
              <a:rPr sz="2300" b="0" i="0">
                <a:solidFill>
                  <a:srgbClr val="182D3D"/>
                </a:solidFill>
                <a:latin typeface="Arial"/>
              </a:rPr>
              <a:t> in </a:t>
            </a:r>
            <a:r>
              <a:rPr sz="2300" b="0" i="1">
                <a:solidFill>
                  <a:srgbClr val="182D3D"/>
                </a:solidFill>
                <a:latin typeface="Arial"/>
              </a:rPr>
              <a:t>Ana je Maji vrnila njeno knjigo</a:t>
            </a:r>
            <a:r>
              <a:rPr sz="2300" b="0" i="0">
                <a:solidFill>
                  <a:srgbClr val="182D3D"/>
                </a:solidFill>
                <a:latin typeface="Arial"/>
              </a:rPr>
              <a:t>. Drugo poved preoblikujte tako, da bo lastnica nedvomno Maja.</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135</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Prva poved uvaja vir in mu pripisuje novost. V drugi lahko določna oblika označuje že prepoznavni, prej omenjeni vir. Pri dejanski presoji preverimo predhodno besedilo; sama beseda </a:t>
            </a:r>
            <a:r>
              <a:rPr sz="2300" b="0" i="1">
                <a:solidFill>
                  <a:srgbClr val="182D3D"/>
                </a:solidFill>
                <a:latin typeface="Arial"/>
              </a:rPr>
              <a:t>novi</a:t>
            </a:r>
            <a:r>
              <a:rPr sz="2300" b="0" i="0">
                <a:solidFill>
                  <a:srgbClr val="182D3D"/>
                </a:solidFill>
                <a:latin typeface="Arial"/>
              </a:rPr>
              <a:t> ne dokazuje, kdaj je bil vir objavljen.</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Svojo</a:t>
            </a:r>
            <a:r>
              <a:rPr sz="2300" b="0" i="0">
                <a:solidFill>
                  <a:srgbClr val="182D3D"/>
                </a:solidFill>
                <a:latin typeface="Arial"/>
              </a:rPr>
              <a:t> v prvi povedi označuje Anino knjigo. </a:t>
            </a:r>
            <a:r>
              <a:rPr sz="2300" b="0" i="1">
                <a:solidFill>
                  <a:srgbClr val="182D3D"/>
                </a:solidFill>
                <a:latin typeface="Arial"/>
              </a:rPr>
              <a:t>Njeno</a:t>
            </a:r>
            <a:r>
              <a:rPr sz="2300" b="0" i="0">
                <a:solidFill>
                  <a:srgbClr val="182D3D"/>
                </a:solidFill>
                <a:latin typeface="Arial"/>
              </a:rPr>
              <a:t> v drugi zahteva drugo nanosnico iz sobesedila; Maja je možna, ni pa edina v vsakem širšem besedilu. Nedvoumna različica je </a:t>
            </a:r>
            <a:r>
              <a:rPr sz="2300" b="0" i="1">
                <a:solidFill>
                  <a:srgbClr val="182D3D"/>
                </a:solidFill>
                <a:latin typeface="Arial"/>
              </a:rPr>
              <a:t>Ana je Maji vrnila Majino knjigo</a:t>
            </a:r>
            <a:r>
              <a:rPr sz="2300" b="0" i="0">
                <a:solidFill>
                  <a:srgbClr val="182D3D"/>
                </a:solidFill>
                <a:latin typeface="Arial"/>
              </a:rPr>
              <a: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136</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Dopolnite: </a:t>
            </a:r>
            <a:r>
              <a:rPr sz="2300" b="0" i="1">
                <a:solidFill>
                  <a:srgbClr val="182D3D"/>
                </a:solidFill>
                <a:latin typeface="Arial"/>
              </a:rPr>
              <a:t>To je članek, o ___ smo govorili.</a:t>
            </a:r>
            <a:r>
              <a:rPr sz="2300" b="0" i="0">
                <a:solidFill>
                  <a:srgbClr val="182D3D"/>
                </a:solidFill>
                <a:latin typeface="Arial"/>
              </a:rPr>
              <a:t> Nato isto odnosnico povežite z odvisnikom z </a:t>
            </a:r>
            <a:r>
              <a:rPr sz="2300" b="0" i="1">
                <a:solidFill>
                  <a:srgbClr val="182D3D"/>
                </a:solidFill>
                <a:latin typeface="Arial"/>
              </a:rPr>
              <a:t>ki</a:t>
            </a:r>
            <a:r>
              <a:rPr sz="2300" b="0" i="0">
                <a:solidFill>
                  <a:srgbClr val="182D3D"/>
                </a:solidFill>
                <a:latin typeface="Arial"/>
              </a:rPr>
              <a:t> in glagolom </a:t>
            </a:r>
            <a:r>
              <a:rPr sz="2300" b="0" i="1">
                <a:solidFill>
                  <a:srgbClr val="182D3D"/>
                </a:solidFill>
                <a:latin typeface="Arial"/>
              </a:rPr>
              <a:t>prebrati</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Dopolnite z ustrezno obliko glagola: </a:t>
            </a:r>
            <a:r>
              <a:rPr sz="2300" b="0" i="1">
                <a:solidFill>
                  <a:srgbClr val="182D3D"/>
                </a:solidFill>
                <a:latin typeface="Arial"/>
              </a:rPr>
              <a:t>Želim ___ (pogledati) posnetek. Grem ___ (pogledati) posnetek.</a:t>
            </a:r>
            <a:r>
              <a:rPr sz="2300" b="0" i="0">
                <a:solidFill>
                  <a:srgbClr val="182D3D"/>
                </a:solidFill>
                <a:latin typeface="Arial"/>
              </a:rPr>
              <a:t> Pojasnite razliko.</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To je članek, o katerem smo govorili.</a:t>
            </a:r>
            <a:r>
              <a:rPr sz="2300" b="0" i="0">
                <a:solidFill>
                  <a:srgbClr val="182D3D"/>
                </a:solidFill>
                <a:latin typeface="Arial"/>
              </a:rPr>
              <a:t> Predlog </a:t>
            </a:r>
            <a:r>
              <a:rPr sz="2300" b="0" i="1">
                <a:solidFill>
                  <a:srgbClr val="182D3D"/>
                </a:solidFill>
                <a:latin typeface="Arial"/>
              </a:rPr>
              <a:t>o</a:t>
            </a:r>
            <a:r>
              <a:rPr sz="2300" b="0" i="0">
                <a:solidFill>
                  <a:srgbClr val="182D3D"/>
                </a:solidFill>
                <a:latin typeface="Arial"/>
              </a:rPr>
              <a:t> zahteva mestnik. Druga možnost je </a:t>
            </a:r>
            <a:r>
              <a:rPr sz="2300" b="0" i="1">
                <a:solidFill>
                  <a:srgbClr val="182D3D"/>
                </a:solidFill>
                <a:latin typeface="Arial"/>
              </a:rPr>
              <a:t>To je članek, ki smo ga prebrali</a:t>
            </a:r>
            <a:r>
              <a:rPr sz="2300" b="0" i="0">
                <a:solidFill>
                  <a:srgbClr val="182D3D"/>
                </a:solidFill>
                <a:latin typeface="Arial"/>
              </a:rPr>
              <a:t>: osebni zaimek </a:t>
            </a:r>
            <a:r>
              <a:rPr sz="2300" b="0" i="1">
                <a:solidFill>
                  <a:srgbClr val="182D3D"/>
                </a:solidFill>
                <a:latin typeface="Arial"/>
              </a:rPr>
              <a:t>ga</a:t>
            </a:r>
            <a:r>
              <a:rPr sz="2300" b="0" i="0">
                <a:solidFill>
                  <a:srgbClr val="182D3D"/>
                </a:solidFill>
                <a:latin typeface="Arial"/>
              </a:rPr>
              <a:t> izraža predmetno vlogo znotraj odvisnika.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Želim pogledati; grem pogledat.</a:t>
            </a:r>
            <a:r>
              <a:rPr sz="2300" b="0" i="0">
                <a:solidFill>
                  <a:srgbClr val="182D3D"/>
                </a:solidFill>
                <a:latin typeface="Arial"/>
              </a:rPr>
              <a:t> Prvič uporabljamo nedoločnik ob glagolu želje, drugič namenilnik ob glagolu premikanja. Ne gre za dve poljubni dolžini istega zapisa.</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Primerjajte </a:t>
            </a:r>
            <a:r>
              <a:rPr sz="2300" b="0" i="1">
                <a:solidFill>
                  <a:srgbClr val="182D3D"/>
                </a:solidFill>
                <a:latin typeface="Arial"/>
              </a:rPr>
              <a:t>Urednica bo popravljala besedilo</a:t>
            </a:r>
            <a:r>
              <a:rPr sz="2300" b="0" i="0">
                <a:solidFill>
                  <a:srgbClr val="182D3D"/>
                </a:solidFill>
                <a:latin typeface="Arial"/>
              </a:rPr>
              <a:t> in </a:t>
            </a:r>
            <a:r>
              <a:rPr sz="2300" b="0" i="1">
                <a:solidFill>
                  <a:srgbClr val="182D3D"/>
                </a:solidFill>
                <a:latin typeface="Arial"/>
              </a:rPr>
              <a:t>Besedilo bo popravljeno</a:t>
            </a:r>
            <a:r>
              <a:rPr sz="2300" b="0" i="0">
                <a:solidFill>
                  <a:srgbClr val="182D3D"/>
                </a:solidFill>
                <a:latin typeface="Arial"/>
              </a:rPr>
              <a:t>. Kaj poleg razporeditve udeležencev spremeni to preoblikovanje?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Zakaj </a:t>
            </a:r>
            <a:r>
              <a:rPr sz="2300" b="0" i="1">
                <a:solidFill>
                  <a:srgbClr val="182D3D"/>
                </a:solidFill>
                <a:latin typeface="Arial"/>
              </a:rPr>
              <a:t>j</a:t>
            </a:r>
            <a:r>
              <a:rPr sz="2300" b="0" i="0">
                <a:solidFill>
                  <a:srgbClr val="182D3D"/>
                </a:solidFill>
                <a:latin typeface="Arial"/>
              </a:rPr>
              <a:t> v </a:t>
            </a:r>
            <a:r>
              <a:rPr sz="2300" b="0" i="1">
                <a:solidFill>
                  <a:srgbClr val="182D3D"/>
                </a:solidFill>
                <a:latin typeface="Arial"/>
              </a:rPr>
              <a:t>čaja</a:t>
            </a:r>
            <a:r>
              <a:rPr sz="2300" b="0" i="0">
                <a:solidFill>
                  <a:srgbClr val="182D3D"/>
                </a:solidFill>
                <a:latin typeface="Arial"/>
              </a:rPr>
              <a:t> in </a:t>
            </a:r>
            <a:r>
              <a:rPr sz="2300" b="0" i="1">
                <a:solidFill>
                  <a:srgbClr val="182D3D"/>
                </a:solidFill>
                <a:latin typeface="Arial"/>
              </a:rPr>
              <a:t>taksija</a:t>
            </a:r>
            <a:r>
              <a:rPr sz="2300" b="0" i="0">
                <a:solidFill>
                  <a:srgbClr val="182D3D"/>
                </a:solidFill>
                <a:latin typeface="Arial"/>
              </a:rPr>
              <a:t> nima istega položaja v pregibnem postopku? Kaj v paru </a:t>
            </a:r>
            <a:r>
              <a:rPr sz="2300" b="0" i="1">
                <a:solidFill>
                  <a:srgbClr val="182D3D"/>
                </a:solidFill>
                <a:latin typeface="Arial"/>
              </a:rPr>
              <a:t>veter – vetra</a:t>
            </a:r>
            <a:r>
              <a:rPr sz="2300" b="0" i="0">
                <a:solidFill>
                  <a:srgbClr val="182D3D"/>
                </a:solidFill>
                <a:latin typeface="Arial"/>
              </a:rPr>
              <a:t> dokazuje, da </a:t>
            </a:r>
            <a:r>
              <a:rPr sz="2300" b="0" i="1">
                <a:solidFill>
                  <a:srgbClr val="182D3D"/>
                </a:solidFill>
                <a:latin typeface="Arial"/>
              </a:rPr>
              <a:t>e</a:t>
            </a:r>
            <a:r>
              <a:rPr sz="2300" b="0" i="0">
                <a:solidFill>
                  <a:srgbClr val="182D3D"/>
                </a:solidFill>
                <a:latin typeface="Arial"/>
              </a:rPr>
              <a:t> ni končnica?</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139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Poleg prehoda v trpnik in izpusta urednice smo nedovršni glagol </a:t>
            </a:r>
            <a:r>
              <a:rPr sz="2300" b="0" i="1">
                <a:solidFill>
                  <a:srgbClr val="182D3D"/>
                </a:solidFill>
                <a:latin typeface="Arial"/>
              </a:rPr>
              <a:t>popravljati</a:t>
            </a:r>
            <a:r>
              <a:rPr sz="2300" b="0" i="0">
                <a:solidFill>
                  <a:srgbClr val="182D3D"/>
                </a:solidFill>
                <a:latin typeface="Arial"/>
              </a:rPr>
              <a:t> zamenjali z dovršnim </a:t>
            </a:r>
            <a:r>
              <a:rPr sz="2300" b="0" i="1">
                <a:solidFill>
                  <a:srgbClr val="182D3D"/>
                </a:solidFill>
                <a:latin typeface="Arial"/>
              </a:rPr>
              <a:t>popraviti</a:t>
            </a:r>
            <a:r>
              <a:rPr sz="2300" b="0" i="0">
                <a:solidFill>
                  <a:srgbClr val="182D3D"/>
                </a:solidFill>
                <a:latin typeface="Arial"/>
              </a:rPr>
              <a:t>. Prva poved napoveduje potek dela, druga dokončan rezultat. Če želimo spreminjati samo način, moramo paziti, da pri preoblikovanju ne spremenimo še vida in s tem vsebinskega poudarka.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a:t>
            </a:r>
            <a:r>
              <a:rPr sz="2300" b="0" i="1">
                <a:solidFill>
                  <a:srgbClr val="182D3D"/>
                </a:solidFill>
                <a:latin typeface="Arial"/>
              </a:rPr>
              <a:t>čaj</a:t>
            </a:r>
            <a:r>
              <a:rPr sz="2300" b="0" i="0">
                <a:solidFill>
                  <a:srgbClr val="182D3D"/>
                </a:solidFill>
                <a:latin typeface="Arial"/>
              </a:rPr>
              <a:t> je </a:t>
            </a:r>
            <a:r>
              <a:rPr sz="2300" b="0" i="1">
                <a:solidFill>
                  <a:srgbClr val="182D3D"/>
                </a:solidFill>
                <a:latin typeface="Arial"/>
              </a:rPr>
              <a:t>j</a:t>
            </a:r>
            <a:r>
              <a:rPr sz="2300" b="0" i="0">
                <a:solidFill>
                  <a:srgbClr val="182D3D"/>
                </a:solidFill>
                <a:latin typeface="Arial"/>
              </a:rPr>
              <a:t> že del imenovalniške osnove; pri </a:t>
            </a:r>
            <a:r>
              <a:rPr sz="2300" b="0" i="1">
                <a:solidFill>
                  <a:srgbClr val="182D3D"/>
                </a:solidFill>
                <a:latin typeface="Arial"/>
              </a:rPr>
              <a:t>taksi</a:t>
            </a:r>
            <a:r>
              <a:rPr sz="2300" b="0" i="0">
                <a:solidFill>
                  <a:srgbClr val="182D3D"/>
                </a:solidFill>
                <a:latin typeface="Arial"/>
              </a:rPr>
              <a:t> ga osnova v imenovalniku nima in se z njim podaljša. Pri </a:t>
            </a:r>
            <a:r>
              <a:rPr sz="2300" b="0" i="1">
                <a:solidFill>
                  <a:srgbClr val="182D3D"/>
                </a:solidFill>
                <a:latin typeface="Arial"/>
              </a:rPr>
              <a:t>veter</a:t>
            </a:r>
            <a:r>
              <a:rPr sz="2300" b="0" i="0">
                <a:solidFill>
                  <a:srgbClr val="182D3D"/>
                </a:solidFill>
                <a:latin typeface="Arial"/>
              </a:rPr>
              <a:t> se </a:t>
            </a:r>
            <a:r>
              <a:rPr sz="2300" b="0" i="1">
                <a:solidFill>
                  <a:srgbClr val="182D3D"/>
                </a:solidFill>
                <a:latin typeface="Arial"/>
              </a:rPr>
              <a:t>e</a:t>
            </a:r>
            <a:r>
              <a:rPr sz="2300" b="0" i="0">
                <a:solidFill>
                  <a:srgbClr val="182D3D"/>
                </a:solidFill>
                <a:latin typeface="Arial"/>
              </a:rPr>
              <a:t> nahaja znotraj osnove, pred končnim </a:t>
            </a:r>
            <a:r>
              <a:rPr sz="2300" b="0" i="1">
                <a:solidFill>
                  <a:srgbClr val="182D3D"/>
                </a:solidFill>
                <a:latin typeface="Arial"/>
              </a:rPr>
              <a:t>r</a:t>
            </a:r>
            <a:r>
              <a:rPr sz="2300" b="0" i="0">
                <a:solidFill>
                  <a:srgbClr val="182D3D"/>
                </a:solidFill>
                <a:latin typeface="Arial"/>
              </a:rPr>
              <a:t>, v </a:t>
            </a:r>
            <a:r>
              <a:rPr sz="2300" b="0" i="1">
                <a:solidFill>
                  <a:srgbClr val="182D3D"/>
                </a:solidFill>
                <a:latin typeface="Arial"/>
              </a:rPr>
              <a:t>vetra</a:t>
            </a:r>
            <a:r>
              <a:rPr sz="2300" b="0" i="0">
                <a:solidFill>
                  <a:srgbClr val="182D3D"/>
                </a:solidFill>
                <a:latin typeface="Arial"/>
              </a:rPr>
              <a:t> pa izgine. Gre za neobstojni samoglasnik.</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140</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Pojasnite razliko med vzorcema </a:t>
            </a:r>
            <a:r>
              <a:rPr sz="2300" b="0" i="1">
                <a:solidFill>
                  <a:srgbClr val="182D3D"/>
                </a:solidFill>
                <a:latin typeface="Arial"/>
              </a:rPr>
              <a:t>Japonska – Japonske</a:t>
            </a:r>
            <a:r>
              <a:rPr sz="2300" b="0" i="0">
                <a:solidFill>
                  <a:srgbClr val="182D3D"/>
                </a:solidFill>
                <a:latin typeface="Arial"/>
              </a:rPr>
              <a:t> in </a:t>
            </a:r>
            <a:r>
              <a:rPr sz="2300" b="0" i="1">
                <a:solidFill>
                  <a:srgbClr val="182D3D"/>
                </a:solidFill>
                <a:latin typeface="Arial"/>
              </a:rPr>
              <a:t>Japonsko – Japonskega</a:t>
            </a:r>
            <a:r>
              <a:rPr sz="2300" b="0" i="0">
                <a:solidFill>
                  <a:srgbClr val="182D3D"/>
                </a:solidFill>
                <a:latin typeface="Arial"/>
              </a:rPr>
              <a:t>. Zakaj zveze </a:t>
            </a:r>
            <a:r>
              <a:rPr sz="2300" b="0" i="1">
                <a:solidFill>
                  <a:srgbClr val="182D3D"/>
                </a:solidFill>
                <a:latin typeface="Arial"/>
              </a:rPr>
              <a:t>iz Japonske</a:t>
            </a:r>
            <a:r>
              <a:rPr sz="2300" b="0" i="0">
                <a:solidFill>
                  <a:srgbClr val="182D3D"/>
                </a:solidFill>
                <a:latin typeface="Arial"/>
              </a:rPr>
              <a:t> ne zavrnemo zgolj s sklicem na </a:t>
            </a:r>
            <a:r>
              <a:rPr sz="2300" b="0" i="1">
                <a:solidFill>
                  <a:srgbClr val="182D3D"/>
                </a:solidFill>
                <a:latin typeface="Arial"/>
              </a:rPr>
              <a:t>na Japonsko</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Presodite trditev: »Pridevnik </a:t>
            </a:r>
            <a:r>
              <a:rPr sz="2300" b="0" i="1">
                <a:solidFill>
                  <a:srgbClr val="182D3D"/>
                </a:solidFill>
                <a:latin typeface="Arial"/>
              </a:rPr>
              <a:t>steklen</a:t>
            </a:r>
            <a:r>
              <a:rPr sz="2300" b="0" i="0">
                <a:solidFill>
                  <a:srgbClr val="182D3D"/>
                </a:solidFill>
                <a:latin typeface="Arial"/>
              </a:rPr>
              <a:t> je lahko povedkovo določilo, zato zagotovo ne izraža vrstnosti.« Kaj v trditvi zamenjujemo?</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141</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Prvi vzorec je ženski samostalniški, drugi srednji pridevniški. Pri tem zemljepisnem poimenovanju se raba vzorcev prepleta. Predložna shema ne nadomesti podatkov o ustaljenih zvezah; </a:t>
            </a:r>
            <a:r>
              <a:rPr sz="2300" b="0" i="1">
                <a:solidFill>
                  <a:srgbClr val="182D3D"/>
                </a:solidFill>
                <a:latin typeface="Arial"/>
              </a:rPr>
              <a:t>iz Japonske</a:t>
            </a:r>
            <a:r>
              <a:rPr sz="2300" b="0" i="0">
                <a:solidFill>
                  <a:srgbClr val="182D3D"/>
                </a:solidFill>
                <a:latin typeface="Arial"/>
              </a:rPr>
              <a:t> je izpričana in strokovno obravnavana možnost.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Trditev iz skladenjske funkcije neposredno sklepa na pomensko skupino. </a:t>
            </a:r>
            <a:r>
              <a:rPr sz="2300" b="0" i="1">
                <a:solidFill>
                  <a:srgbClr val="182D3D"/>
                </a:solidFill>
                <a:latin typeface="Arial"/>
              </a:rPr>
              <a:t>Steklen</a:t>
            </a:r>
            <a:r>
              <a:rPr sz="2300" b="0" i="0">
                <a:solidFill>
                  <a:srgbClr val="182D3D"/>
                </a:solidFill>
                <a:latin typeface="Arial"/>
              </a:rPr>
              <a:t> v obeh položajih lahko izraža snov. Za razvrstitev moramo izrecno določiti merila in upoštevati, da snovni pridevniki združujejo lastnosti, ki jih poenostavljena delitev ne zajame.</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tri ravni analize.</a:t>
            </a:r>
            <a:r>
              <a:rPr sz="2500" b="0" i="0">
                <a:solidFill>
                  <a:srgbClr val="182D3D"/>
                </a:solidFill>
                <a:latin typeface="Arial"/>
              </a:rPr>
              <a:t> V </a:t>
            </a:r>
            <a:r>
              <a:rPr sz="2500" b="0" i="1">
                <a:solidFill>
                  <a:srgbClr val="182D3D"/>
                </a:solidFill>
                <a:latin typeface="Arial"/>
              </a:rPr>
              <a:t>Z mizicami smo opremili igralnico</a:t>
            </a:r>
            <a:r>
              <a:rPr sz="2500" b="0" i="0">
                <a:solidFill>
                  <a:srgbClr val="182D3D"/>
                </a:solidFill>
                <a:latin typeface="Arial"/>
              </a:rPr>
              <a:t> razdelite </a:t>
            </a:r>
            <a:r>
              <a:rPr sz="2500" b="0" i="1">
                <a:solidFill>
                  <a:srgbClr val="182D3D"/>
                </a:solidFill>
                <a:latin typeface="Arial"/>
              </a:rPr>
              <a:t>mizicami</a:t>
            </a:r>
            <a:r>
              <a:rPr sz="2500" b="0" i="0">
                <a:solidFill>
                  <a:srgbClr val="182D3D"/>
                </a:solidFill>
                <a:latin typeface="Arial"/>
              </a:rPr>
              <a:t> na osnovo in končnico ter nato na morfeme. Pojasnite razliko med primerjavama </a:t>
            </a:r>
            <a:r>
              <a:rPr sz="2500" b="0" i="1">
                <a:solidFill>
                  <a:srgbClr val="182D3D"/>
                </a:solidFill>
                <a:latin typeface="Arial"/>
              </a:rPr>
              <a:t>mizica – mizicami</a:t>
            </a:r>
            <a:r>
              <a:rPr sz="2500" b="0" i="0">
                <a:solidFill>
                  <a:srgbClr val="182D3D"/>
                </a:solidFill>
                <a:latin typeface="Arial"/>
              </a:rPr>
              <a:t> in </a:t>
            </a:r>
            <a:r>
              <a:rPr sz="2500" b="0" i="1">
                <a:solidFill>
                  <a:srgbClr val="182D3D"/>
                </a:solidFill>
                <a:latin typeface="Arial"/>
              </a:rPr>
              <a:t>miza – mizica</a:t>
            </a:r>
            <a:r>
              <a:rPr sz="2500" b="0" i="0">
                <a:solidFill>
                  <a:srgbClr val="182D3D"/>
                </a:solidFill>
                <a:latin typeface="Arial"/>
              </a:rPr>
              <a:t>. Nato določite sklon in število oblike </a:t>
            </a:r>
            <a:r>
              <a:rPr sz="2500" b="0" i="1">
                <a:solidFill>
                  <a:srgbClr val="182D3D"/>
                </a:solidFill>
                <a:latin typeface="Arial"/>
              </a:rPr>
              <a:t>mize</a:t>
            </a:r>
            <a:r>
              <a:rPr sz="2500" b="0" i="0">
                <a:solidFill>
                  <a:srgbClr val="182D3D"/>
                </a:solidFill>
                <a:latin typeface="Arial"/>
              </a:rPr>
              <a:t> v </a:t>
            </a:r>
            <a:r>
              <a:rPr sz="2500" b="0" i="1">
                <a:solidFill>
                  <a:srgbClr val="182D3D"/>
                </a:solidFill>
                <a:latin typeface="Arial"/>
              </a:rPr>
              <a:t>Rob mize je poškodovan</a:t>
            </a:r>
            <a:r>
              <a:rPr sz="2500" b="0" i="0">
                <a:solidFill>
                  <a:srgbClr val="182D3D"/>
                </a:solidFill>
                <a:latin typeface="Arial"/>
              </a:rPr>
              <a:t> in </a:t>
            </a:r>
            <a:r>
              <a:rPr sz="2500" b="0" i="1">
                <a:solidFill>
                  <a:srgbClr val="182D3D"/>
                </a:solidFill>
                <a:latin typeface="Arial"/>
              </a:rPr>
              <a:t>Mize so poškodovane</a:t>
            </a:r>
            <a:r>
              <a:rPr sz="2500" b="0" i="0">
                <a:solidFill>
                  <a:srgbClr val="182D3D"/>
                </a:solidFill>
                <a:latin typeface="Arial"/>
              </a:rPr>
              <a:t>. Zakaj zapis sam ne zadošča?</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Pri sklanjatveni analizi dobimo </a:t>
            </a:r>
            <a:r>
              <a:rPr sz="2500" b="0" i="1">
                <a:solidFill>
                  <a:srgbClr val="182D3D"/>
                </a:solidFill>
                <a:latin typeface="Arial"/>
              </a:rPr>
              <a:t>mizic-ami</a:t>
            </a:r>
            <a:r>
              <a:rPr sz="2500" b="0" i="0">
                <a:solidFill>
                  <a:srgbClr val="182D3D"/>
                </a:solidFill>
                <a:latin typeface="Arial"/>
              </a:rPr>
              <a:t>, pri morfemski </a:t>
            </a:r>
            <a:r>
              <a:rPr sz="2500" b="0" i="1">
                <a:solidFill>
                  <a:srgbClr val="182D3D"/>
                </a:solidFill>
                <a:latin typeface="Arial"/>
              </a:rPr>
              <a:t>miz-ic-ami</a:t>
            </a:r>
            <a:r>
              <a:rPr sz="2500" b="0" i="0">
                <a:solidFill>
                  <a:srgbClr val="182D3D"/>
                </a:solidFill>
                <a:latin typeface="Arial"/>
              </a:rPr>
              <a:t>. Osnova torej vsebuje več morfemov. </a:t>
            </a:r>
            <a:r>
              <a:rPr sz="2500" b="0" i="1">
                <a:solidFill>
                  <a:srgbClr val="182D3D"/>
                </a:solidFill>
                <a:latin typeface="Arial"/>
              </a:rPr>
              <a:t>Mizica – mizicami</a:t>
            </a:r>
            <a:r>
              <a:rPr sz="2500" b="0" i="0">
                <a:solidFill>
                  <a:srgbClr val="182D3D"/>
                </a:solidFill>
                <a:latin typeface="Arial"/>
              </a:rPr>
              <a:t> sta obliki istega leksema, </a:t>
            </a:r>
            <a:r>
              <a:rPr sz="2500" b="0" i="1">
                <a:solidFill>
                  <a:srgbClr val="182D3D"/>
                </a:solidFill>
                <a:latin typeface="Arial"/>
              </a:rPr>
              <a:t>miza – mizica</a:t>
            </a:r>
            <a:r>
              <a:rPr sz="2500" b="0" i="0">
                <a:solidFill>
                  <a:srgbClr val="182D3D"/>
                </a:solidFill>
                <a:latin typeface="Arial"/>
              </a:rPr>
              <a:t> pa besedotvorno povezana leksema. </a:t>
            </a:r>
            <a:r>
              <a:rPr sz="2500" b="0" i="1">
                <a:solidFill>
                  <a:srgbClr val="182D3D"/>
                </a:solidFill>
                <a:latin typeface="Arial"/>
              </a:rPr>
              <a:t>Mize</a:t>
            </a:r>
            <a:r>
              <a:rPr sz="2500" b="0" i="0">
                <a:solidFill>
                  <a:srgbClr val="182D3D"/>
                </a:solidFill>
                <a:latin typeface="Arial"/>
              </a:rPr>
              <a:t> v prvi povedi izraža rodilnik ednine in je jedro desnega prilastka k </a:t>
            </a:r>
            <a:r>
              <a:rPr sz="2500" b="0" i="1">
                <a:solidFill>
                  <a:srgbClr val="182D3D"/>
                </a:solidFill>
                <a:latin typeface="Arial"/>
              </a:rPr>
              <a:t>rob</a:t>
            </a:r>
            <a:r>
              <a:rPr sz="2500" b="0" i="0">
                <a:solidFill>
                  <a:srgbClr val="182D3D"/>
                </a:solidFill>
                <a:latin typeface="Arial"/>
              </a:rPr>
              <a:t>; v drugi izraža imenovalnik množine in je osebek. Enak zapis ima različno vrednost v paradigmi, ki jo razkrijeta odvisnost in ujemanje.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144</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merila se ne prekrivajo.</a:t>
            </a:r>
            <a:r>
              <a:rPr sz="2500" b="0" i="0">
                <a:solidFill>
                  <a:srgbClr val="182D3D"/>
                </a:solidFill>
                <a:latin typeface="Arial"/>
              </a:rPr>
              <a:t> Analizirajte </a:t>
            </a:r>
            <a:r>
              <a:rPr sz="2500" b="0" i="1">
                <a:solidFill>
                  <a:srgbClr val="182D3D"/>
                </a:solidFill>
                <a:latin typeface="Arial"/>
              </a:rPr>
              <a:t>ta novi stol</a:t>
            </a:r>
            <a:r>
              <a:rPr sz="2500" b="0" i="0">
                <a:solidFill>
                  <a:srgbClr val="182D3D"/>
                </a:solidFill>
                <a:latin typeface="Arial"/>
              </a:rPr>
              <a:t>, </a:t>
            </a:r>
            <a:r>
              <a:rPr sz="2500" b="0" i="1">
                <a:solidFill>
                  <a:srgbClr val="182D3D"/>
                </a:solidFill>
                <a:latin typeface="Arial"/>
              </a:rPr>
              <a:t>lesen stol</a:t>
            </a:r>
            <a:r>
              <a:rPr sz="2500" b="0" i="0">
                <a:solidFill>
                  <a:srgbClr val="182D3D"/>
                </a:solidFill>
                <a:latin typeface="Arial"/>
              </a:rPr>
              <a:t>, </a:t>
            </a:r>
            <a:r>
              <a:rPr sz="2500" b="0" i="1">
                <a:solidFill>
                  <a:srgbClr val="182D3D"/>
                </a:solidFill>
                <a:latin typeface="Arial"/>
              </a:rPr>
              <a:t>Stol je lesen</a:t>
            </a:r>
            <a:r>
              <a:rPr sz="2500" b="0" i="0">
                <a:solidFill>
                  <a:srgbClr val="182D3D"/>
                </a:solidFill>
                <a:latin typeface="Arial"/>
              </a:rPr>
              <a:t> in </a:t>
            </a:r>
            <a:r>
              <a:rPr sz="2500" b="0" i="1">
                <a:solidFill>
                  <a:srgbClr val="182D3D"/>
                </a:solidFill>
                <a:latin typeface="Arial"/>
              </a:rPr>
              <a:t>Pobirali smo padle liste</a:t>
            </a:r>
            <a:r>
              <a:rPr sz="2500" b="0" i="0">
                <a:solidFill>
                  <a:srgbClr val="182D3D"/>
                </a:solidFill>
                <a:latin typeface="Arial"/>
              </a:rPr>
              <a:t>. Pri prvih treh primerih ločite določnost, snovni pomen in skladenjsko vlogo. Primerjajte poimenovanje snovnih pridevnikov v različnih obravnavah, ne da bi eno vprašalnico razglasili za odločilno. Zadnjo poved primerjajte z </a:t>
            </a:r>
            <a:r>
              <a:rPr sz="2500" b="0" i="1">
                <a:solidFill>
                  <a:srgbClr val="182D3D"/>
                </a:solidFill>
                <a:latin typeface="Arial"/>
              </a:rPr>
              <a:t>Listi so padli</a:t>
            </a:r>
            <a:r>
              <a:rPr sz="2500" b="0" i="0">
                <a:solidFill>
                  <a:srgbClr val="182D3D"/>
                </a:solidFill>
                <a:latin typeface="Arial"/>
              </a:rPr>
              <a:t>: kaj se spremeni pri oblikovni in skladenjski analizi?</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50" b="0" i="1">
                <a:solidFill>
                  <a:srgbClr val="182D3D"/>
                </a:solidFill>
                <a:latin typeface="Arial"/>
              </a:rPr>
              <a:t>Novi</a:t>
            </a:r>
            <a:r>
              <a:rPr sz="2450" b="0" i="0">
                <a:solidFill>
                  <a:srgbClr val="182D3D"/>
                </a:solidFill>
                <a:latin typeface="Arial"/>
              </a:rPr>
              <a:t> v zvezi s kazalnim </a:t>
            </a:r>
            <a:r>
              <a:rPr sz="2450" b="0" i="1">
                <a:solidFill>
                  <a:srgbClr val="182D3D"/>
                </a:solidFill>
                <a:latin typeface="Arial"/>
              </a:rPr>
              <a:t>ta</a:t>
            </a:r>
            <a:r>
              <a:rPr sz="2450" b="0" i="0">
                <a:solidFill>
                  <a:srgbClr val="182D3D"/>
                </a:solidFill>
                <a:latin typeface="Arial"/>
              </a:rPr>
              <a:t> je določna oblika lastnostnega pridevnika </a:t>
            </a:r>
            <a:r>
              <a:rPr sz="2450" b="0" i="1">
                <a:solidFill>
                  <a:srgbClr val="182D3D"/>
                </a:solidFill>
                <a:latin typeface="Arial"/>
              </a:rPr>
              <a:t>nov</a:t>
            </a:r>
            <a:r>
              <a:rPr sz="2450" b="0" i="0">
                <a:solidFill>
                  <a:srgbClr val="182D3D"/>
                </a:solidFill>
                <a:latin typeface="Arial"/>
              </a:rPr>
              <a:t>. </a:t>
            </a:r>
            <a:r>
              <a:rPr sz="2450" b="0" i="1">
                <a:solidFill>
                  <a:srgbClr val="182D3D"/>
                </a:solidFill>
                <a:latin typeface="Arial"/>
              </a:rPr>
              <a:t>Lesen</a:t>
            </a:r>
            <a:r>
              <a:rPr sz="2450" b="0" i="0">
                <a:solidFill>
                  <a:srgbClr val="182D3D"/>
                </a:solidFill>
                <a:latin typeface="Arial"/>
              </a:rPr>
              <a:t> izraža snov in je v </a:t>
            </a:r>
            <a:r>
              <a:rPr sz="2450" b="0" i="1">
                <a:solidFill>
                  <a:srgbClr val="182D3D"/>
                </a:solidFill>
                <a:latin typeface="Arial"/>
              </a:rPr>
              <a:t>lesen stol</a:t>
            </a:r>
            <a:r>
              <a:rPr sz="2450" b="0" i="0">
                <a:solidFill>
                  <a:srgbClr val="182D3D"/>
                </a:solidFill>
                <a:latin typeface="Arial"/>
              </a:rPr>
              <a:t> prilastek, v </a:t>
            </a:r>
            <a:r>
              <a:rPr sz="2450" b="0" i="1">
                <a:solidFill>
                  <a:srgbClr val="182D3D"/>
                </a:solidFill>
                <a:latin typeface="Arial"/>
              </a:rPr>
              <a:t>Stol je lesen</a:t>
            </a:r>
            <a:r>
              <a:rPr sz="2450" b="0" i="0">
                <a:solidFill>
                  <a:srgbClr val="182D3D"/>
                </a:solidFill>
                <a:latin typeface="Arial"/>
              </a:rPr>
              <a:t> pa povedkovo določilo. Njegova predikativna raba ni dokaz za stopnjevanje v snovnem pomenu. Utemeljena primerjava navede, da ga nekatere obravnave zaradi odnosa do snovi približujejo vrstnim, druge pa upoštevajo tudi njegovo določnost in skladenjsko polnofunkcionalnost. Pri Vidovič Muhi navedemo še časovni in terminološki položaj ponatisnjene študije. </a:t>
            </a:r>
            <a:r>
              <a:rPr sz="2450" b="0" i="1">
                <a:solidFill>
                  <a:srgbClr val="182D3D"/>
                </a:solidFill>
                <a:latin typeface="Arial"/>
              </a:rPr>
              <a:t>Padle</a:t>
            </a:r>
            <a:r>
              <a:rPr sz="2450" b="0" i="0">
                <a:solidFill>
                  <a:srgbClr val="182D3D"/>
                </a:solidFill>
                <a:latin typeface="Arial"/>
              </a:rPr>
              <a:t> je pregibni deležnik stanja v prilastku k tožilniku množine </a:t>
            </a:r>
            <a:r>
              <a:rPr sz="2450" b="0" i="1">
                <a:solidFill>
                  <a:srgbClr val="182D3D"/>
                </a:solidFill>
                <a:latin typeface="Arial"/>
              </a:rPr>
              <a:t>liste</a:t>
            </a:r>
            <a:r>
              <a:rPr sz="2450" b="0" i="0">
                <a:solidFill>
                  <a:srgbClr val="182D3D"/>
                </a:solidFill>
                <a:latin typeface="Arial"/>
              </a:rPr>
              <a:t>; </a:t>
            </a:r>
            <a:r>
              <a:rPr sz="2450" b="0" i="1">
                <a:solidFill>
                  <a:srgbClr val="182D3D"/>
                </a:solidFill>
                <a:latin typeface="Arial"/>
              </a:rPr>
              <a:t>padli</a:t>
            </a:r>
            <a:r>
              <a:rPr sz="2450" b="0" i="0">
                <a:solidFill>
                  <a:srgbClr val="182D3D"/>
                </a:solidFill>
                <a:latin typeface="Arial"/>
              </a:rPr>
              <a:t> v </a:t>
            </a:r>
            <a:r>
              <a:rPr sz="2450" b="0" i="1">
                <a:solidFill>
                  <a:srgbClr val="182D3D"/>
                </a:solidFill>
                <a:latin typeface="Arial"/>
              </a:rPr>
              <a:t>Listi so padli</a:t>
            </a:r>
            <a:r>
              <a:rPr sz="2450" b="0" i="0">
                <a:solidFill>
                  <a:srgbClr val="182D3D"/>
                </a:solidFill>
                <a:latin typeface="Arial"/>
              </a:rPr>
              <a:t> pa opisni deležnik v sestavljeni pretekli obliki. Podoben končaj ne zagotavlja enake funkcije ali enakega obsega pregibanja.</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146</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Oblika dobi razlago v konkretni zgradbi.</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Skladenjska vloga in pomenska skupina se ne prekrivata avtomatično.</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Pri pretvorbi ohranimo tudi vid in udeleženska razmerja.</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Pri lastnih imenih bomo tem postopkom dodali izgovor, poimenovalno vlogo in pravopisni vir.</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50" b="0" i="0">
                <a:solidFill>
                  <a:srgbClr val="546674"/>
                </a:solidFill>
                <a:latin typeface="Arial"/>
              </a:rPr>
              <a:t>Branje: Toporišič 2004: 255–262, 317–329, 403–405; Vidovič Muha 2013: 367–369, 385, 395–399.</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5. Lastna imena</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Katere podatke potrebujemo, da ime pravilno zapišemo, pregibamo in iz njega tvorimo pridevnik?</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Razločimo lastno ime, opis in preneseno poimenovanje.</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Povežemo izgovor, osnovo, pregibanje in tvorbo.</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Utemeljimo različice v izrecno navedenem normativnem okviru.</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Isti kraj: opis ali lastno ime?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Občno poimenovanje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 sestanku smo se sprehodili po mestu.</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Vemo lahko, za kateri kraj gre, vendar mesto ostaja opis.</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Lastno ime</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 Ljubljani smo ostali do večera.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Ljubljana identificira kraj z njegovim imenom.</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Enkratnost nanosnika sama ne določa velike začetnice.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Identifikacija ni poklicna ali slovarska definicija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149</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Ime identificira posameznega nosilca; podatki o njem niso samodejno pomen občnega leksema.</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Kovač je pek</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Priimek Kovač ne zagotavlja poklica. Občno poimenovanje kovač vključuje poklicno dejavnost.</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Več oseb z istim imenom</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Več oseb se imenuje Ana; konkretno nanosnico določimo v rabi.</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Apelativizacija</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donhuan, donkihot: iz imena se lahko razvije ustaljeno občno poimenovanje.</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Ločimo identifikacijo, slovarski pomen in vedenje o nosilcu.</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Začetnica lahko razlikuje poimenovalno vlogo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150</a:t>
            </a:r>
          </a:p>
        </p:txBody>
      </p:sp>
      <p:graphicFrame>
        <p:nvGraphicFramePr>
          <p:cNvPr id="4" name="Table 3"/>
          <p:cNvGraphicFramePr>
            <a:graphicFrameLocks noGrp="1"/>
          </p:cNvGraphicFramePr>
          <p:nvPr/>
        </p:nvGraphicFramePr>
        <p:xfrm>
          <a:off x="621792" y="1810512"/>
          <a:ext cx="10954511" cy="3596132"/>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Zapis</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izraz poimenuje?</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proti severu</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smer</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Sever in Jug</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nadomestni imeni skupin držav</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Norik / norik</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nekdanje kraljestvo oziroma provinca / noriški konj</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avtomobil znamke Renault / kupil je renault</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znamka / občno poimenovani izdelek</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Najprej določimo konkretni pomen in vlogo izraza.</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Zemljepisna začetnica: razvrstitev pred pravilom</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151</a:t>
            </a:r>
          </a:p>
        </p:txBody>
      </p:sp>
      <p:graphicFrame>
        <p:nvGraphicFramePr>
          <p:cNvPr id="4" name="Table 3"/>
          <p:cNvGraphicFramePr>
            <a:graphicFrameLocks noGrp="1"/>
          </p:cNvGraphicFramePr>
          <p:nvPr/>
        </p:nvGraphicFramePr>
        <p:xfrm>
          <a:off x="621792" y="1810512"/>
          <a:ext cx="10954511" cy="381254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Vrsta / okvir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Zapis</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Odločilno merilo</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SP 2001: naselbinsko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Škofja Loka; Most na Soči; Novo mesto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Posebno pravilo in izjeme.</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SP 2001: nenaselbinsko</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Bohinjsko jezero; Julijske Alpe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Prva sestavina in nadaljnja lastna imena.</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P8: predlog</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Novo Mesto; Gorenja Vas; Opatje Selo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Sprememba predlaganega pravila.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Identifikacijski dodatek</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Gradišče v Slovenskih goricah</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Notranji zapis dodatka ohranimo.</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Normativni okvir navedemo, preden obliko popravimo.</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Cerkev sv. Primoža ali Sv. Primož?</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152</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Opis s posvetitvijo</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cerkev sv. Primoža</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Cerkev označuje vrsto objekta; sv. je okrajšani pridevnik ob osebnem imenu.</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Imensko poimenovanje</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Sv. Primož; k Sv. Primožu</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Skrajšano ime poimenuje stavbo oziroma kompleks. Spremeni se obseg imena.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Pravilo je uporabno šele, ko vemo, kateri objekt poimenujemo.</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Slovesnost priznanja ne določa začetnice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153</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Prejemnica je dobila priznanje jabolko navdiha.</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Vrsta</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Zveza poimenuje priznanje.</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Sestavine</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Ne vsebuje osebnega imena ali iz njega tvorjenega svojilnega pridevnika.</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Primerjava</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nagrada Prešernovega sklada ohrani lastnoimensko sestavino.</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Pojasnimo poimenovalno zgradbo, ne pomembnosti dogodka.</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FIFA in Fifa: tri preverjene možnosti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154</a:t>
            </a:r>
          </a:p>
        </p:txBody>
      </p:sp>
      <p:graphicFrame>
        <p:nvGraphicFramePr>
          <p:cNvPr id="4" name="Table 3"/>
          <p:cNvGraphicFramePr>
            <a:graphicFrameLocks noGrp="1"/>
          </p:cNvGraphicFramePr>
          <p:nvPr/>
        </p:nvGraphicFramePr>
        <p:xfrm>
          <a:off x="621792" y="1810512"/>
          <a:ext cx="10954511" cy="2975991"/>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Način</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Imenovalnik</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Rodilnik</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Velike črke, glasovno pregibanje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FIFA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FIFE</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Velike črke, ničto pregibanje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FIFA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FIFA</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Navadna lastnoimenska pisava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Fifa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Fife</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Dopustno možnost izberemo in jo v besedilu uporabljamo dosledno.</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Tri različne spremembe ob pregibanju</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155</a:t>
            </a:r>
          </a:p>
        </p:txBody>
      </p:sp>
      <p:graphicFrame>
        <p:nvGraphicFramePr>
          <p:cNvPr id="4" name="Table 3"/>
          <p:cNvGraphicFramePr>
            <a:graphicFrameLocks noGrp="1"/>
          </p:cNvGraphicFramePr>
          <p:nvPr/>
        </p:nvGraphicFramePr>
        <p:xfrm>
          <a:off x="621792" y="1810512"/>
          <a:ext cx="10954511" cy="3552317"/>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Pojav</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Razlaga</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Menjava končnice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Marko → Marka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Osnova Mark- ostane.</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Daljšanje osnove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Dante → Danteja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Pred končnico se pojavi j.</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Pisno krajšanje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Locke → Locka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Nemi končni e odpade.</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Ohranjena nema črka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Wallace → Wallacea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E sodeluje pri označevanju izgovora c.</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Izgovor in funkcija črke predhajata odločitvi o zapisu.</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Guy: zapis je isti, postopek ni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156</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Francosko [gí]</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Guy → Guyja [gíja] → Guyjev</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Y označuje [i]. Osnovo podaljšamo z [j] in ga zapišemo.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Angleško [gáj]</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Guy → Guya [gája] → Guyev</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[j] je že del osnove; označuje ga y.</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Podatek o izgovoru je del slovničnega problema.</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Spol in sestavine večbesednega imena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157</a:t>
            </a:r>
          </a:p>
        </p:txBody>
      </p:sp>
      <p:graphicFrame>
        <p:nvGraphicFramePr>
          <p:cNvPr id="4" name="Table 3"/>
          <p:cNvGraphicFramePr>
            <a:graphicFrameLocks noGrp="1"/>
          </p:cNvGraphicFramePr>
          <p:nvPr/>
        </p:nvGraphicFramePr>
        <p:xfrm>
          <a:off x="621792" y="1810512"/>
          <a:ext cx="10954511" cy="3596132"/>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Primer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ugotovimo?</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Luka, Miha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Moški imeni kljub končnemu -a.</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z Beatrice; o Beatrice</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Ničto pregibanje ne pomeni odsotnosti sklona.</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Jean Guyot de Châtelet</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Ločimo ime, priimkovne sestavine in predimek.</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skladba Jeana Guyota de Châteleta</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Pregibamo Jean, Guyot, Châtelet; de ohranimo.</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Najprej določimo nosilca in notranjo zgradbo imena.</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Dvojno rojstno ime ni ime s priimkom</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SP 2001</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Franc Jožef → Francjožefov</a:t>
            </a:r>
          </a:p>
          <a:p>
            <a:pPr rtl="0">
              <a:lnSpc>
                <a:spcPct val="110000"/>
              </a:lnSpc>
              <a:spcBef>
                <a:spcPts val="0"/>
              </a:spcBef>
              <a:spcAft>
                <a:spcPts val="0"/>
              </a:spcAft>
            </a:pPr>
            <a:r>
              <a:rPr sz="2700" b="0" i="1">
                <a:solidFill>
                  <a:srgbClr val="182D3D"/>
                </a:solidFill>
                <a:latin typeface="Arial"/>
              </a:rPr>
              <a:t>Ana Marija → Anamarijin</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Pri dvojnem rojstnem imenu tvorjenko pišemo skupaj.</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Pravopis 8.0: predlog</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Franc Jožef → Franc Jožefov</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Predlog ohranja ločeni zapis; tega ne prenesemo avtomatično na ime in priimek.</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Ime in priimek: pesmi Franceta Prešerna.</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Svojilno obrazilo in sklonska končnica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159</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Izhodišče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Pridevnik</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Odločilno</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Marko</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Markov</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Osnova Mark- in -ov.</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Aleš</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Alešev</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Preglas za govorjenim š.</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Ana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Anin</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Osnova An- in -in.</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Mary, končni [i]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Maryjin</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Pred -in se pojavi j.</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 o Markovem prevodu ločimo tvorbo -ov- in sklon -em.</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Svojilna oblika ne pomeni samo lastnine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160</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Zveza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Razvita razlaga</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Anin zvezek: lastnina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Ana ima zvezek v lasti.</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Anin brat</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Ana ima brata; ne lastnine človeka.</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Anino prevajanje romana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Ana prevaja roman.</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Anin prevod: avtorstvo</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Ana je besedilo prevedla.</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Pomensko razmerje določimo ob jedru in v sobesedilu.</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Rodilnik razkrije osnovo za tvorjenje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161</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Ime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Rodilnik / osnova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Pridevnik</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Edi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Edija / Edij-</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Edijev</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Tine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Tineta / Tinet-</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Tinetov</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Gregor</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Gregorja / Gregorj-</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Gregorjev</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Peter</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Petra / Petr-</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Petrov</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Nye [naj] → Nya → Nyev: govorjeni [j] je že v osnovi.</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Dva zapisa, ista govorjena tvorjenka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162</a:t>
            </a:r>
          </a:p>
        </p:txBody>
      </p:sp>
      <p:graphicFrame>
        <p:nvGraphicFramePr>
          <p:cNvPr id="4" name="Table 3"/>
          <p:cNvGraphicFramePr>
            <a:graphicFrameLocks noGrp="1"/>
          </p:cNvGraphicFramePr>
          <p:nvPr/>
        </p:nvGraphicFramePr>
        <p:xfrm>
          <a:off x="621792" y="1810512"/>
          <a:ext cx="10954511" cy="2715768"/>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Ime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Pisni možnosti</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Govorjena podlaga</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Renault</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Renaultov / Renaultev</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Podaljšanje z j, preglašeni -ev.</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Dumas [dima]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Dumasov / Dumasev</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Osnova [dimaj-], preglašeni -ev.</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Lavoisier [lavoazje]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Lavoisierov / Lavoisierev</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Izgovor [lavoazjejev-].</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Pisna dvojnica ni nujno tudi izgovorna dvojnica.</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Dvojnice imajo različne razloge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163</a:t>
            </a:r>
          </a:p>
        </p:txBody>
      </p:sp>
      <p:graphicFrame>
        <p:nvGraphicFramePr>
          <p:cNvPr id="4" name="Table 3"/>
          <p:cNvGraphicFramePr>
            <a:graphicFrameLocks noGrp="1"/>
          </p:cNvGraphicFramePr>
          <p:nvPr/>
        </p:nvGraphicFramePr>
        <p:xfrm>
          <a:off x="621792" y="1810512"/>
          <a:ext cx="10954511" cy="2802509"/>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Izhodišče / vir</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Pridevnik</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se razlikuje?</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Franz: SP 2001</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Frančev, tudi Franzev</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Zapis; oba z govorjenim [č].</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Fritz: SP 2001</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Fričev, tudi Fritzev</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Zapis; oba z govorjenim [č].</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Auber: eP 2025, Predlog</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Auberjev / Auberov</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Tudi izgovor: [obêrjev-] / [obêrov-].</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Vedno povejmo: razlikuje se zapis, izgovor, pregibanje ali raba.</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Beatrice: ne združimo dveh jezikovnih izhodišč</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164</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Italijansko [beatríče]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Beatrice → Beatricin [beatríčin]</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Govorjeni končni e odpade; c pred i ohrani izgovor [č].</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Angleško, končni [s]</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Beatrice → Beatricein</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Nemi e ostane zaradi pisnega označevanja izgovora c.</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Ob obliki navedemo jezikovno izhodišče in konkretni vir.</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Zemljepisni pridevnik: osnova in stik z obrazilom</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165</a:t>
            </a:r>
          </a:p>
        </p:txBody>
      </p:sp>
      <p:graphicFrame>
        <p:nvGraphicFramePr>
          <p:cNvPr id="4" name="Table 3"/>
          <p:cNvGraphicFramePr>
            <a:graphicFrameLocks noGrp="1"/>
          </p:cNvGraphicFramePr>
          <p:nvPr/>
        </p:nvGraphicFramePr>
        <p:xfrm>
          <a:off x="621792" y="1810512"/>
          <a:ext cx="10954511" cy="3552317"/>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Ime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Pridevnik</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Postopek</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Celje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celjski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Odstranitev končnice -e.</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Ribnica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ribniški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Premena na meji z obrazilom.</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Tahiti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tahitijski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Podaljšanje osnove z j.</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New York</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newyorški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Združeni zapis in soglasniška premena.</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Produktivni vzorec preverimo ob izgovoru in ustaljeni tvorjenki.</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Podoben končaj ne pomeni iste podstave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166</a:t>
            </a:r>
          </a:p>
        </p:txBody>
      </p:sp>
      <p:graphicFrame>
        <p:nvGraphicFramePr>
          <p:cNvPr id="4" name="Table 3"/>
          <p:cNvGraphicFramePr>
            <a:graphicFrameLocks noGrp="1"/>
          </p:cNvGraphicFramePr>
          <p:nvPr/>
        </p:nvGraphicFramePr>
        <p:xfrm>
          <a:off x="621792" y="1810512"/>
          <a:ext cx="10954511" cy="3552317"/>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Izhodišče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Rezultat</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Razlog</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Tahiti → Tahitija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tahitijski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Podaljšana edninska osnova.</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Komori → Komorov</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komorski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Množinsko ime.</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Frascati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frascatijski / frascatski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Produktivni vzorec in ustaljena strokovna oblika.</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Trenta → Trentar</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trentarski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Podstava je prebivalsko ime.</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Ugotovimo pregibanje, dejansko podstavo in ustaljenost.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 2001 in eP 2025: razlike poimenujemo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167</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Ime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SP 2001 / starejša oblika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eP 2025: Predlog</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Aix-en-Provence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aixenprovenški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aix-en-provenški</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Dachau</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dachavski / dahavski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dachauski / dahavski</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Midway</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midwajski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midwayski</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Versailles</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versajski</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versajski tudi versailleski</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Ustaljeni zvezi ostajata versajski mir in versajska Evropa.</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Različice preverjamo za isto izhodišče in isti okvir</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168</a:t>
            </a:r>
          </a:p>
        </p:txBody>
      </p:sp>
      <p:sp>
        <p:nvSpPr>
          <p:cNvPr id="4" name="TextBox 3"/>
          <p:cNvSpPr txBox="1"/>
          <p:nvPr/>
        </p:nvSpPr>
        <p:spPr>
          <a:xfrm>
            <a:off x="80467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1</a:t>
            </a:r>
          </a:p>
        </p:txBody>
      </p:sp>
      <p:sp>
        <p:nvSpPr>
          <p:cNvPr id="5" name="TextBox 4"/>
          <p:cNvSpPr txBox="1"/>
          <p:nvPr/>
        </p:nvSpPr>
        <p:spPr>
          <a:xfrm>
            <a:off x="152704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Izhodišče</a:t>
            </a:r>
          </a:p>
        </p:txBody>
      </p:sp>
      <p:sp>
        <p:nvSpPr>
          <p:cNvPr id="6" name="TextBox 5"/>
          <p:cNvSpPr txBox="1"/>
          <p:nvPr/>
        </p:nvSpPr>
        <p:spPr>
          <a:xfrm>
            <a:off x="83210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Določimo ime, izgovor, pomen in obravnavano zvezo.</a:t>
            </a:r>
          </a:p>
        </p:txBody>
      </p:sp>
      <p:sp>
        <p:nvSpPr>
          <p:cNvPr id="7" name="TextBox 6"/>
          <p:cNvSpPr txBox="1"/>
          <p:nvPr/>
        </p:nvSpPr>
        <p:spPr>
          <a:xfrm>
            <a:off x="638251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2</a:t>
            </a:r>
          </a:p>
        </p:txBody>
      </p:sp>
      <p:sp>
        <p:nvSpPr>
          <p:cNvPr id="8" name="TextBox 7"/>
          <p:cNvSpPr txBox="1"/>
          <p:nvPr/>
        </p:nvSpPr>
        <p:spPr>
          <a:xfrm>
            <a:off x="710488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Vir</a:t>
            </a:r>
          </a:p>
        </p:txBody>
      </p:sp>
      <p:sp>
        <p:nvSpPr>
          <p:cNvPr id="9" name="TextBox 8"/>
          <p:cNvSpPr txBox="1"/>
          <p:nvPr/>
        </p:nvSpPr>
        <p:spPr>
          <a:xfrm>
            <a:off x="640994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Zapišemo priročnik, sestavek ali člen, različico in datum.</a:t>
            </a:r>
          </a:p>
        </p:txBody>
      </p:sp>
      <p:sp>
        <p:nvSpPr>
          <p:cNvPr id="10" name="TextBox 9"/>
          <p:cNvSpPr txBox="1"/>
          <p:nvPr/>
        </p:nvSpPr>
        <p:spPr>
          <a:xfrm>
            <a:off x="80467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3</a:t>
            </a:r>
          </a:p>
        </p:txBody>
      </p:sp>
      <p:sp>
        <p:nvSpPr>
          <p:cNvPr id="11" name="TextBox 10"/>
          <p:cNvSpPr txBox="1"/>
          <p:nvPr/>
        </p:nvSpPr>
        <p:spPr>
          <a:xfrm>
            <a:off x="152704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Status</a:t>
            </a:r>
          </a:p>
        </p:txBody>
      </p:sp>
      <p:sp>
        <p:nvSpPr>
          <p:cNvPr id="12" name="TextBox 11"/>
          <p:cNvSpPr txBox="1"/>
          <p:nvPr/>
        </p:nvSpPr>
        <p:spPr>
          <a:xfrm>
            <a:off x="83210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Ločimo veljavni SP 2001, svetovalno razlago in predlog.</a:t>
            </a:r>
          </a:p>
        </p:txBody>
      </p:sp>
      <p:sp>
        <p:nvSpPr>
          <p:cNvPr id="13" name="TextBox 12"/>
          <p:cNvSpPr txBox="1"/>
          <p:nvPr/>
        </p:nvSpPr>
        <p:spPr>
          <a:xfrm>
            <a:off x="638251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4</a:t>
            </a:r>
          </a:p>
        </p:txBody>
      </p:sp>
      <p:sp>
        <p:nvSpPr>
          <p:cNvPr id="14" name="TextBox 13"/>
          <p:cNvSpPr txBox="1"/>
          <p:nvPr/>
        </p:nvSpPr>
        <p:spPr>
          <a:xfrm>
            <a:off x="710488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Doseg dvojnic</a:t>
            </a:r>
          </a:p>
        </p:txBody>
      </p:sp>
      <p:sp>
        <p:nvSpPr>
          <p:cNvPr id="15" name="TextBox 14"/>
          <p:cNvSpPr txBox="1"/>
          <p:nvPr/>
        </p:nvSpPr>
        <p:spPr>
          <a:xfrm>
            <a:off x="640994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Pojasnimo, kaj se razlikuje in v kateri rabi sta možnosti dopustni.</a:t>
            </a:r>
          </a:p>
        </p:txBody>
      </p:sp>
      <p:sp>
        <p:nvSpPr>
          <p:cNvPr id="16" name="TextBox 15"/>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Dolg seznam nepreverjenih oblik ni natančnejši odgovor.</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169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Pojasnite razliko med zvezama </a:t>
            </a:r>
            <a:r>
              <a:rPr sz="2300" b="0" i="1">
                <a:solidFill>
                  <a:srgbClr val="182D3D"/>
                </a:solidFill>
                <a:latin typeface="Arial"/>
              </a:rPr>
              <a:t>cerkev sv. Primoža</a:t>
            </a:r>
            <a:r>
              <a:rPr sz="2300" b="0" i="0">
                <a:solidFill>
                  <a:srgbClr val="182D3D"/>
                </a:solidFill>
                <a:latin typeface="Arial"/>
              </a:rPr>
              <a:t> in </a:t>
            </a:r>
            <a:r>
              <a:rPr sz="2300" b="0" i="1">
                <a:solidFill>
                  <a:srgbClr val="182D3D"/>
                </a:solidFill>
                <a:latin typeface="Arial"/>
              </a:rPr>
              <a:t>pot k Sv. Primožu</a:t>
            </a:r>
            <a:r>
              <a:rPr sz="2300" b="0" i="0">
                <a:solidFill>
                  <a:srgbClr val="182D3D"/>
                </a:solidFill>
                <a:latin typeface="Arial"/>
              </a:rPr>
              <a:t>. Zakaj odsotnost uradnega imena hriba ne zadošča za zavrnitev velike začetnice?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Popravite začetnice: </a:t>
            </a:r>
            <a:r>
              <a:rPr sz="2300" b="0" i="1">
                <a:solidFill>
                  <a:srgbClr val="182D3D"/>
                </a:solidFill>
                <a:latin typeface="Arial"/>
              </a:rPr>
              <a:t>Na prireditvi so podelili priznanje Jabolko Navdiha in nagrado prešernovega sklada.</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170</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100" b="0" i="0">
                <a:solidFill>
                  <a:srgbClr val="182D3D"/>
                </a:solidFill>
                <a:latin typeface="Arial"/>
              </a:rPr>
              <a:t>V prvi zvezi vrsto objekta izraža </a:t>
            </a:r>
            <a:r>
              <a:rPr sz="2100" b="0" i="1">
                <a:solidFill>
                  <a:srgbClr val="182D3D"/>
                </a:solidFill>
                <a:latin typeface="Arial"/>
              </a:rPr>
              <a:t>cerkev</a:t>
            </a:r>
            <a:r>
              <a:rPr sz="2100" b="0" i="0">
                <a:solidFill>
                  <a:srgbClr val="182D3D"/>
                </a:solidFill>
                <a:latin typeface="Arial"/>
              </a:rPr>
              <a:t>, </a:t>
            </a:r>
            <a:r>
              <a:rPr sz="2100" b="0" i="1">
                <a:solidFill>
                  <a:srgbClr val="182D3D"/>
                </a:solidFill>
                <a:latin typeface="Arial"/>
              </a:rPr>
              <a:t>sv.</a:t>
            </a:r>
            <a:r>
              <a:rPr sz="2100" b="0" i="0">
                <a:solidFill>
                  <a:srgbClr val="182D3D"/>
                </a:solidFill>
                <a:latin typeface="Arial"/>
              </a:rPr>
              <a:t> pa označuje svetnika, kateremu je posvečena. V drugi zvezi </a:t>
            </a:r>
            <a:r>
              <a:rPr sz="2100" b="0" i="1">
                <a:solidFill>
                  <a:srgbClr val="182D3D"/>
                </a:solidFill>
                <a:latin typeface="Arial"/>
              </a:rPr>
              <a:t>Sv. Primož</a:t>
            </a:r>
            <a:r>
              <a:rPr sz="2100" b="0" i="0">
                <a:solidFill>
                  <a:srgbClr val="182D3D"/>
                </a:solidFill>
                <a:latin typeface="Arial"/>
              </a:rPr>
              <a:t> deluje kot ime cilja poti. Odločamo o imenu sakralnega objekta oziroma območja, zato vprašanje uradnega imena hriba ne reši začetnice. Pri konkretnem primeru upoštevamo tudi razliko med lokalno predložno rabo in priporočilom </a:t>
            </a:r>
            <a:r>
              <a:rPr sz="2100" b="0" i="1">
                <a:solidFill>
                  <a:srgbClr val="182D3D"/>
                </a:solidFill>
                <a:latin typeface="Arial"/>
              </a:rPr>
              <a:t>k Sv. Primožu</a:t>
            </a:r>
            <a:r>
              <a:rPr sz="21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Na prireditvi so podelili priznanje jabolko navdiha in nagrado Prešernovega sklada.</a:t>
            </a:r>
            <a:r>
              <a:rPr sz="2300" b="0" i="0">
                <a:solidFill>
                  <a:srgbClr val="182D3D"/>
                </a:solidFill>
                <a:latin typeface="Arial"/>
              </a:rPr>
              <a:t> Vrste priznanja ne pišemo z veliko začetnico zaradi njegovega pomena. V drugi zvezi veliko začetnico ohranja lastnoimenska sestavina </a:t>
            </a:r>
            <a:r>
              <a:rPr sz="2300" b="0" i="1">
                <a:solidFill>
                  <a:srgbClr val="182D3D"/>
                </a:solidFill>
                <a:latin typeface="Arial"/>
              </a:rPr>
              <a:t>Prešernovega sklada</a:t>
            </a:r>
            <a:r>
              <a:rPr sz="2300" b="0" i="0">
                <a:solidFill>
                  <a:srgbClr val="182D3D"/>
                </a:solidFill>
                <a:latin typeface="Arial"/>
              </a:rPr>
              <a: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171</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Urednik je vse oblike </a:t>
            </a:r>
            <a:r>
              <a:rPr sz="2300" b="0" i="1">
                <a:solidFill>
                  <a:srgbClr val="182D3D"/>
                </a:solidFill>
                <a:latin typeface="Arial"/>
              </a:rPr>
              <a:t>Fiba, Fibe, Fibi</a:t>
            </a:r>
            <a:r>
              <a:rPr sz="2300" b="0" i="0">
                <a:solidFill>
                  <a:srgbClr val="182D3D"/>
                </a:solidFill>
                <a:latin typeface="Arial"/>
              </a:rPr>
              <a:t> označil za napačne. Presodite njegovo odločitev in navedite še en dopusten način zapisa rodilnika.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Zapišite rodilnik imen </a:t>
            </a:r>
            <a:r>
              <a:rPr sz="2300" b="0" i="1">
                <a:solidFill>
                  <a:srgbClr val="182D3D"/>
                </a:solidFill>
                <a:latin typeface="Arial"/>
              </a:rPr>
              <a:t>Marko, Dante, Locke, Wallace</a:t>
            </a:r>
            <a:r>
              <a:rPr sz="2300" b="0" i="0">
                <a:solidFill>
                  <a:srgbClr val="182D3D"/>
                </a:solidFill>
                <a:latin typeface="Arial"/>
              </a:rPr>
              <a:t>. Pri vsakem povejte, ali menjamo končnico, daljšamo osnovo ali spreminjamo pisni zapis osnove.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172</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Urednikova splošna zavrnitev je neutemeljena. Predstavljene oblike sledijo pregibanju nečrkovalne kratice, ki je prešla v navadno zapisano lastno ime. Poleg rodilnika </a:t>
            </a:r>
            <a:r>
              <a:rPr sz="2300" b="0" i="1">
                <a:solidFill>
                  <a:srgbClr val="182D3D"/>
                </a:solidFill>
                <a:latin typeface="Arial"/>
              </a:rPr>
              <a:t>Fibe</a:t>
            </a:r>
            <a:r>
              <a:rPr sz="2300" b="0" i="0">
                <a:solidFill>
                  <a:srgbClr val="182D3D"/>
                </a:solidFill>
                <a:latin typeface="Arial"/>
              </a:rPr>
              <a:t> svetovalnica dopušča </a:t>
            </a:r>
            <a:r>
              <a:rPr sz="2300" b="0" i="1">
                <a:solidFill>
                  <a:srgbClr val="182D3D"/>
                </a:solidFill>
                <a:latin typeface="Arial"/>
              </a:rPr>
              <a:t>FIBE</a:t>
            </a:r>
            <a:r>
              <a:rPr sz="2300" b="0" i="0">
                <a:solidFill>
                  <a:srgbClr val="182D3D"/>
                </a:solidFill>
                <a:latin typeface="Arial"/>
              </a:rPr>
              <a:t> ter ničto pregibanje </a:t>
            </a:r>
            <a:r>
              <a:rPr sz="2300" b="0" i="1">
                <a:solidFill>
                  <a:srgbClr val="182D3D"/>
                </a:solidFill>
                <a:latin typeface="Arial"/>
              </a:rPr>
              <a:t>FIBA</a:t>
            </a:r>
            <a:r>
              <a:rPr sz="2300" b="0" i="0">
                <a:solidFill>
                  <a:srgbClr val="182D3D"/>
                </a:solidFill>
                <a:latin typeface="Arial"/>
              </a:rPr>
              <a:t>. Izberemo dosleden način.</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Marka</a:t>
            </a:r>
            <a:r>
              <a:rPr sz="2300" b="0" i="0">
                <a:solidFill>
                  <a:srgbClr val="182D3D"/>
                </a:solidFill>
                <a:latin typeface="Arial"/>
              </a:rPr>
              <a:t>: osnovi </a:t>
            </a:r>
            <a:r>
              <a:rPr sz="2300" b="0" i="1">
                <a:solidFill>
                  <a:srgbClr val="182D3D"/>
                </a:solidFill>
                <a:latin typeface="Arial"/>
              </a:rPr>
              <a:t>Mark-</a:t>
            </a:r>
            <a:r>
              <a:rPr sz="2300" b="0" i="0">
                <a:solidFill>
                  <a:srgbClr val="182D3D"/>
                </a:solidFill>
                <a:latin typeface="Arial"/>
              </a:rPr>
              <a:t> dodamo rodilniško končnico. </a:t>
            </a:r>
            <a:r>
              <a:rPr sz="2300" b="0" i="1">
                <a:solidFill>
                  <a:srgbClr val="182D3D"/>
                </a:solidFill>
                <a:latin typeface="Arial"/>
              </a:rPr>
              <a:t>Danteja</a:t>
            </a:r>
            <a:r>
              <a:rPr sz="2300" b="0" i="0">
                <a:solidFill>
                  <a:srgbClr val="182D3D"/>
                </a:solidFill>
                <a:latin typeface="Arial"/>
              </a:rPr>
              <a:t>: osnova se podaljša z </a:t>
            </a:r>
            <a:r>
              <a:rPr sz="2300" b="0" i="1">
                <a:solidFill>
                  <a:srgbClr val="182D3D"/>
                </a:solidFill>
                <a:latin typeface="Arial"/>
              </a:rPr>
              <a:t>j</a:t>
            </a:r>
            <a:r>
              <a:rPr sz="2300" b="0" i="0">
                <a:solidFill>
                  <a:srgbClr val="182D3D"/>
                </a:solidFill>
                <a:latin typeface="Arial"/>
              </a:rPr>
              <a:t>. </a:t>
            </a:r>
            <a:r>
              <a:rPr sz="2300" b="0" i="1">
                <a:solidFill>
                  <a:srgbClr val="182D3D"/>
                </a:solidFill>
                <a:latin typeface="Arial"/>
              </a:rPr>
              <a:t>Locka</a:t>
            </a:r>
            <a:r>
              <a:rPr sz="2300" b="0" i="0">
                <a:solidFill>
                  <a:srgbClr val="182D3D"/>
                </a:solidFill>
                <a:latin typeface="Arial"/>
              </a:rPr>
              <a:t>: končni nemi </a:t>
            </a:r>
            <a:r>
              <a:rPr sz="2300" b="0" i="1">
                <a:solidFill>
                  <a:srgbClr val="182D3D"/>
                </a:solidFill>
                <a:latin typeface="Arial"/>
              </a:rPr>
              <a:t>e</a:t>
            </a:r>
            <a:r>
              <a:rPr sz="2300" b="0" i="0">
                <a:solidFill>
                  <a:srgbClr val="182D3D"/>
                </a:solidFill>
                <a:latin typeface="Arial"/>
              </a:rPr>
              <a:t> izpustimo in dodamo </a:t>
            </a:r>
            <a:r>
              <a:rPr sz="2300" b="0" i="1">
                <a:solidFill>
                  <a:srgbClr val="182D3D"/>
                </a:solidFill>
                <a:latin typeface="Arial"/>
              </a:rPr>
              <a:t>-a</a:t>
            </a:r>
            <a:r>
              <a:rPr sz="2300" b="0" i="0">
                <a:solidFill>
                  <a:srgbClr val="182D3D"/>
                </a:solidFill>
                <a:latin typeface="Arial"/>
              </a:rPr>
              <a:t>. </a:t>
            </a:r>
            <a:r>
              <a:rPr sz="2300" b="0" i="1">
                <a:solidFill>
                  <a:srgbClr val="182D3D"/>
                </a:solidFill>
                <a:latin typeface="Arial"/>
              </a:rPr>
              <a:t>Wallacea</a:t>
            </a:r>
            <a:r>
              <a:rPr sz="2300" b="0" i="0">
                <a:solidFill>
                  <a:srgbClr val="182D3D"/>
                </a:solidFill>
                <a:latin typeface="Arial"/>
              </a:rPr>
              <a:t>: nemi </a:t>
            </a:r>
            <a:r>
              <a:rPr sz="2300" b="0" i="1">
                <a:solidFill>
                  <a:srgbClr val="182D3D"/>
                </a:solidFill>
                <a:latin typeface="Arial"/>
              </a:rPr>
              <a:t>e</a:t>
            </a:r>
            <a:r>
              <a:rPr sz="2300" b="0" i="0">
                <a:solidFill>
                  <a:srgbClr val="182D3D"/>
                </a:solidFill>
                <a:latin typeface="Arial"/>
              </a:rPr>
              <a:t> ohranimo, ker sodeluje pri označevanju izgovora </a:t>
            </a:r>
            <a:r>
              <a:rPr sz="2300" b="0" i="1">
                <a:solidFill>
                  <a:srgbClr val="182D3D"/>
                </a:solidFill>
                <a:latin typeface="Arial"/>
              </a:rPr>
              <a:t>c</a:t>
            </a:r>
            <a:r>
              <a:rPr sz="2300" b="0" i="0">
                <a:solidFill>
                  <a:srgbClr val="182D3D"/>
                </a:solidFill>
                <a:latin typeface="Arial"/>
              </a:rPr>
              <a:t>, nato dodamo </a:t>
            </a:r>
            <a:r>
              <a:rPr sz="2300" b="0" i="1">
                <a:solidFill>
                  <a:srgbClr val="182D3D"/>
                </a:solidFill>
                <a:latin typeface="Arial"/>
              </a:rPr>
              <a:t>-a</a:t>
            </a:r>
            <a:r>
              <a:rPr sz="2300" b="0" i="0">
                <a:solidFill>
                  <a:srgbClr val="182D3D"/>
                </a:solidFill>
                <a:latin typeface="Arial"/>
              </a:rPr>
              <a:t>. V zadnjih dveh primerih se ne ravnamo po pravilu »vse neizgovorjene črke odpadejo«.</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Vaja 5</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Dopolnite: </a:t>
            </a:r>
            <a:r>
              <a:rPr sz="2500" b="0" i="1">
                <a:solidFill>
                  <a:srgbClr val="182D3D"/>
                </a:solidFill>
                <a:latin typeface="Arial"/>
              </a:rPr>
              <a:t>Raziskujemo glasbo ______ (Jean Guyot de Châtelet).</a:t>
            </a:r>
            <a:r>
              <a:rPr sz="2500" b="0" i="0">
                <a:solidFill>
                  <a:srgbClr val="182D3D"/>
                </a:solidFill>
                <a:latin typeface="Arial"/>
              </a:rPr>
              <a:t> Pojasnite obravnavo predimka in zadnje sestavine.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5</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174</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Raziskujemo glasbo Jeana Guyota de Châteleta.</a:t>
            </a:r>
            <a:r>
              <a:rPr sz="2500" b="0" i="0">
                <a:solidFill>
                  <a:srgbClr val="182D3D"/>
                </a:solidFill>
                <a:latin typeface="Arial"/>
              </a:rPr>
              <a:t> Pregibamo tri imenske sestavine, predimek </a:t>
            </a:r>
            <a:r>
              <a:rPr sz="2500" b="0" i="1">
                <a:solidFill>
                  <a:srgbClr val="182D3D"/>
                </a:solidFill>
                <a:latin typeface="Arial"/>
              </a:rPr>
              <a:t>de</a:t>
            </a:r>
            <a:r>
              <a:rPr sz="2500" b="0" i="0">
                <a:solidFill>
                  <a:srgbClr val="182D3D"/>
                </a:solidFill>
                <a:latin typeface="Arial"/>
              </a:rPr>
              <a:t> pa ostane nespremenjen. Zemljepisni izvor zadnje sestavine ne zahteva njene nesklonljivosti. Rešitev temelji na svetovalni obravnavi tega konkretnega imena; ni dokaz, da so vsi zgodovinski večbesedni priimki brez izjem enaki.</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Vaja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Tvorite svojilne pridevnike iz imen </a:t>
            </a:r>
            <a:r>
              <a:rPr sz="2500" b="0" i="1">
                <a:solidFill>
                  <a:srgbClr val="182D3D"/>
                </a:solidFill>
                <a:latin typeface="Arial"/>
              </a:rPr>
              <a:t>Ana, Aleš, Gregor, Peter, Mary</a:t>
            </a:r>
            <a:r>
              <a:rPr sz="2500" b="0" i="0">
                <a:solidFill>
                  <a:srgbClr val="182D3D"/>
                </a:solidFill>
                <a:latin typeface="Arial"/>
              </a:rPr>
              <a:t> s končnim [i], </a:t>
            </a:r>
            <a:r>
              <a:rPr sz="2500" b="0" i="1">
                <a:solidFill>
                  <a:srgbClr val="182D3D"/>
                </a:solidFill>
                <a:latin typeface="Arial"/>
              </a:rPr>
              <a:t>Nye</a:t>
            </a:r>
            <a:r>
              <a:rPr sz="2500" b="0" i="0">
                <a:solidFill>
                  <a:srgbClr val="182D3D"/>
                </a:solidFill>
                <a:latin typeface="Arial"/>
              </a:rPr>
              <a:t> [naj] in francoskega </a:t>
            </a:r>
            <a:r>
              <a:rPr sz="2500" b="0" i="1">
                <a:solidFill>
                  <a:srgbClr val="182D3D"/>
                </a:solidFill>
                <a:latin typeface="Arial"/>
              </a:rPr>
              <a:t>Renault</a:t>
            </a:r>
            <a:r>
              <a:rPr sz="2500" b="0" i="0">
                <a:solidFill>
                  <a:srgbClr val="182D3D"/>
                </a:solidFill>
                <a:latin typeface="Arial"/>
              </a:rPr>
              <a:t>. Pri zadnjem navedite obe predstavljeni pisni možnosti. Pri </a:t>
            </a:r>
            <a:r>
              <a:rPr sz="2500" b="0" i="1">
                <a:solidFill>
                  <a:srgbClr val="182D3D"/>
                </a:solidFill>
                <a:latin typeface="Arial"/>
              </a:rPr>
              <a:t>Gregorju</a:t>
            </a:r>
            <a:r>
              <a:rPr sz="2500" b="0" i="0">
                <a:solidFill>
                  <a:srgbClr val="182D3D"/>
                </a:solidFill>
                <a:latin typeface="Arial"/>
              </a:rPr>
              <a:t>, </a:t>
            </a:r>
            <a:r>
              <a:rPr sz="2500" b="0" i="1">
                <a:solidFill>
                  <a:srgbClr val="182D3D"/>
                </a:solidFill>
                <a:latin typeface="Arial"/>
              </a:rPr>
              <a:t>Petru</a:t>
            </a:r>
            <a:r>
              <a:rPr sz="2500" b="0" i="0">
                <a:solidFill>
                  <a:srgbClr val="182D3D"/>
                </a:solidFill>
                <a:latin typeface="Arial"/>
              </a:rPr>
              <a:t> in </a:t>
            </a:r>
            <a:r>
              <a:rPr sz="2500" b="0" i="1">
                <a:solidFill>
                  <a:srgbClr val="182D3D"/>
                </a:solidFill>
                <a:latin typeface="Arial"/>
              </a:rPr>
              <a:t>Nyu</a:t>
            </a:r>
            <a:r>
              <a:rPr sz="2500" b="0" i="0">
                <a:solidFill>
                  <a:srgbClr val="182D3D"/>
                </a:solidFill>
                <a:latin typeface="Arial"/>
              </a:rPr>
              <a:t> naj vam pomaga rodilnik.</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176</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Anin, Alešev, Gregorjev, Petrov, Maryjin, Nyev, Renaultov/Renaultev.</a:t>
            </a:r>
            <a:r>
              <a:rPr sz="2500" b="0" i="0">
                <a:solidFill>
                  <a:srgbClr val="182D3D"/>
                </a:solidFill>
                <a:latin typeface="Arial"/>
              </a:rPr>
              <a:t> Pri prvem uporabimo </a:t>
            </a:r>
            <a:r>
              <a:rPr sz="2500" b="0" i="1">
                <a:solidFill>
                  <a:srgbClr val="182D3D"/>
                </a:solidFill>
                <a:latin typeface="Arial"/>
              </a:rPr>
              <a:t>-in</a:t>
            </a:r>
            <a:r>
              <a:rPr sz="2500" b="0" i="0">
                <a:solidFill>
                  <a:srgbClr val="182D3D"/>
                </a:solidFill>
                <a:latin typeface="Arial"/>
              </a:rPr>
              <a:t>, pri drugem </a:t>
            </a:r>
            <a:r>
              <a:rPr sz="2500" b="0" i="1">
                <a:solidFill>
                  <a:srgbClr val="182D3D"/>
                </a:solidFill>
                <a:latin typeface="Arial"/>
              </a:rPr>
              <a:t>-ev</a:t>
            </a:r>
            <a:r>
              <a:rPr sz="2500" b="0" i="0">
                <a:solidFill>
                  <a:srgbClr val="182D3D"/>
                </a:solidFill>
                <a:latin typeface="Arial"/>
              </a:rPr>
              <a:t> zaradi preglasa. Rodilnika </a:t>
            </a:r>
            <a:r>
              <a:rPr sz="2500" b="0" i="1">
                <a:solidFill>
                  <a:srgbClr val="182D3D"/>
                </a:solidFill>
                <a:latin typeface="Arial"/>
              </a:rPr>
              <a:t>Gregorja</a:t>
            </a:r>
            <a:r>
              <a:rPr sz="2500" b="0" i="0">
                <a:solidFill>
                  <a:srgbClr val="182D3D"/>
                </a:solidFill>
                <a:latin typeface="Arial"/>
              </a:rPr>
              <a:t> in </a:t>
            </a:r>
            <a:r>
              <a:rPr sz="2500" b="0" i="1">
                <a:solidFill>
                  <a:srgbClr val="182D3D"/>
                </a:solidFill>
                <a:latin typeface="Arial"/>
              </a:rPr>
              <a:t>Petra</a:t>
            </a:r>
            <a:r>
              <a:rPr sz="2500" b="0" i="0">
                <a:solidFill>
                  <a:srgbClr val="182D3D"/>
                </a:solidFill>
                <a:latin typeface="Arial"/>
              </a:rPr>
              <a:t> pokažeta različni osnovi za tvorbo; </a:t>
            </a:r>
            <a:r>
              <a:rPr sz="2500" b="0" i="1">
                <a:solidFill>
                  <a:srgbClr val="182D3D"/>
                </a:solidFill>
                <a:latin typeface="Arial"/>
              </a:rPr>
              <a:t>Nya</a:t>
            </a:r>
            <a:r>
              <a:rPr sz="2500" b="0" i="0">
                <a:solidFill>
                  <a:srgbClr val="182D3D"/>
                </a:solidFill>
                <a:latin typeface="Arial"/>
              </a:rPr>
              <a:t> pokaže opustitev nemega </a:t>
            </a:r>
            <a:r>
              <a:rPr sz="2500" b="0" i="1">
                <a:solidFill>
                  <a:srgbClr val="182D3D"/>
                </a:solidFill>
                <a:latin typeface="Arial"/>
              </a:rPr>
              <a:t>e</a:t>
            </a:r>
            <a:r>
              <a:rPr sz="2500" b="0" i="0">
                <a:solidFill>
                  <a:srgbClr val="182D3D"/>
                </a:solidFill>
                <a:latin typeface="Arial"/>
              </a:rPr>
              <a:t>. Pri </a:t>
            </a:r>
            <a:r>
              <a:rPr sz="2500" b="0" i="1">
                <a:solidFill>
                  <a:srgbClr val="182D3D"/>
                </a:solidFill>
                <a:latin typeface="Arial"/>
              </a:rPr>
              <a:t>Mary</a:t>
            </a:r>
            <a:r>
              <a:rPr sz="2500" b="0" i="0">
                <a:solidFill>
                  <a:srgbClr val="182D3D"/>
                </a:solidFill>
                <a:latin typeface="Arial"/>
              </a:rPr>
              <a:t> je odločilen govorjeni [i], zato se pred obrazilom pojavi </a:t>
            </a:r>
            <a:r>
              <a:rPr sz="2500" b="0" i="1">
                <a:solidFill>
                  <a:srgbClr val="182D3D"/>
                </a:solidFill>
                <a:latin typeface="Arial"/>
              </a:rPr>
              <a:t>j</a:t>
            </a:r>
            <a:r>
              <a:rPr sz="2500" b="0" i="0">
                <a:solidFill>
                  <a:srgbClr val="182D3D"/>
                </a:solidFill>
                <a:latin typeface="Arial"/>
              </a:rPr>
              <a:t>; pri </a:t>
            </a:r>
            <a:r>
              <a:rPr sz="2500" b="0" i="1">
                <a:solidFill>
                  <a:srgbClr val="182D3D"/>
                </a:solidFill>
                <a:latin typeface="Arial"/>
              </a:rPr>
              <a:t>Nyu</a:t>
            </a:r>
            <a:r>
              <a:rPr sz="2500" b="0" i="0">
                <a:solidFill>
                  <a:srgbClr val="182D3D"/>
                </a:solidFill>
                <a:latin typeface="Arial"/>
              </a:rPr>
              <a:t> črka </a:t>
            </a:r>
            <a:r>
              <a:rPr sz="2500" b="0" i="1">
                <a:solidFill>
                  <a:srgbClr val="182D3D"/>
                </a:solidFill>
                <a:latin typeface="Arial"/>
              </a:rPr>
              <a:t>y</a:t>
            </a:r>
            <a:r>
              <a:rPr sz="2500" b="0" i="0">
                <a:solidFill>
                  <a:srgbClr val="182D3D"/>
                </a:solidFill>
                <a:latin typeface="Arial"/>
              </a:rPr>
              <a:t> že označuje [j]. Pri francoskem imenu sta dopustni dve pisni obliki z istim izgovorom obrazila.</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Zakaj za italijansko in angleško ime </a:t>
            </a:r>
            <a:r>
              <a:rPr sz="2300" b="0" i="1">
                <a:solidFill>
                  <a:srgbClr val="182D3D"/>
                </a:solidFill>
                <a:latin typeface="Arial"/>
              </a:rPr>
              <a:t>Beatrice</a:t>
            </a:r>
            <a:r>
              <a:rPr sz="2300" b="0" i="0">
                <a:solidFill>
                  <a:srgbClr val="182D3D"/>
                </a:solidFill>
                <a:latin typeface="Arial"/>
              </a:rPr>
              <a:t> ne zadostuje ena razlaga »odstranimo zadnji e«? Pojasnite obe izhodišči in status uporabljenih virov.</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Tvorite pridevnike iz imen </a:t>
            </a:r>
            <a:r>
              <a:rPr sz="2300" b="0" i="1">
                <a:solidFill>
                  <a:srgbClr val="182D3D"/>
                </a:solidFill>
                <a:latin typeface="Arial"/>
              </a:rPr>
              <a:t>Ribnica, Tahiti, New York</a:t>
            </a:r>
            <a:r>
              <a:rPr sz="2300" b="0" i="0">
                <a:solidFill>
                  <a:srgbClr val="182D3D"/>
                </a:solidFill>
                <a:latin typeface="Arial"/>
              </a:rPr>
              <a:t> in po SP 2001 iz </a:t>
            </a:r>
            <a:r>
              <a:rPr sz="2300" b="0" i="1">
                <a:solidFill>
                  <a:srgbClr val="182D3D"/>
                </a:solidFill>
                <a:latin typeface="Arial"/>
              </a:rPr>
              <a:t>Aix-en-Provence</a:t>
            </a:r>
            <a:r>
              <a:rPr sz="2300" b="0" i="0">
                <a:solidFill>
                  <a:srgbClr val="182D3D"/>
                </a:solidFill>
                <a:latin typeface="Arial"/>
              </a:rPr>
              <a:t>. Nato navedite predlagano obliko zadnjega pridevnika v ePravopisu 2025 in natančno opišite razliko.</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Italijanski končni </a:t>
            </a:r>
            <a:r>
              <a:rPr sz="2150" b="0" i="1">
                <a:solidFill>
                  <a:srgbClr val="182D3D"/>
                </a:solidFill>
                <a:latin typeface="Arial"/>
              </a:rPr>
              <a:t>e</a:t>
            </a:r>
            <a:r>
              <a:rPr sz="2150" b="0" i="0">
                <a:solidFill>
                  <a:srgbClr val="182D3D"/>
                </a:solidFill>
                <a:latin typeface="Arial"/>
              </a:rPr>
              <a:t> se izgovarja; pri tvorbi </a:t>
            </a:r>
            <a:r>
              <a:rPr sz="2150" b="0" i="1">
                <a:solidFill>
                  <a:srgbClr val="182D3D"/>
                </a:solidFill>
                <a:latin typeface="Arial"/>
              </a:rPr>
              <a:t>Beatricin</a:t>
            </a:r>
            <a:r>
              <a:rPr sz="2150" b="0" i="0">
                <a:solidFill>
                  <a:srgbClr val="182D3D"/>
                </a:solidFill>
                <a:latin typeface="Arial"/>
              </a:rPr>
              <a:t> [beatríčin] odpade, </a:t>
            </a:r>
            <a:r>
              <a:rPr sz="2150" b="0" i="1">
                <a:solidFill>
                  <a:srgbClr val="182D3D"/>
                </a:solidFill>
                <a:latin typeface="Arial"/>
              </a:rPr>
              <a:t>c</a:t>
            </a:r>
            <a:r>
              <a:rPr sz="2150" b="0" i="0">
                <a:solidFill>
                  <a:srgbClr val="182D3D"/>
                </a:solidFill>
                <a:latin typeface="Arial"/>
              </a:rPr>
              <a:t> pred </a:t>
            </a:r>
            <a:r>
              <a:rPr sz="2150" b="0" i="1">
                <a:solidFill>
                  <a:srgbClr val="182D3D"/>
                </a:solidFill>
                <a:latin typeface="Arial"/>
              </a:rPr>
              <a:t>i</a:t>
            </a:r>
            <a:r>
              <a:rPr sz="2150" b="0" i="0">
                <a:solidFill>
                  <a:srgbClr val="182D3D"/>
                </a:solidFill>
                <a:latin typeface="Arial"/>
              </a:rPr>
              <a:t> pa označuje [č]. Pri angleškem imenu s končnim [s] je </a:t>
            </a:r>
            <a:r>
              <a:rPr sz="2150" b="0" i="1">
                <a:solidFill>
                  <a:srgbClr val="182D3D"/>
                </a:solidFill>
                <a:latin typeface="Arial"/>
              </a:rPr>
              <a:t>e</a:t>
            </a:r>
            <a:r>
              <a:rPr sz="2150" b="0" i="0">
                <a:solidFill>
                  <a:srgbClr val="182D3D"/>
                </a:solidFill>
                <a:latin typeface="Arial"/>
              </a:rPr>
              <a:t> nem in sodeluje pri pisanem označevanju tega izgovora, zato novejša strokovna obravnava navaja </a:t>
            </a:r>
            <a:r>
              <a:rPr sz="2150" b="0" i="1">
                <a:solidFill>
                  <a:srgbClr val="182D3D"/>
                </a:solidFill>
                <a:latin typeface="Arial"/>
              </a:rPr>
              <a:t>Beatricein</a:t>
            </a:r>
            <a:r>
              <a:rPr sz="2150" b="0" i="0">
                <a:solidFill>
                  <a:srgbClr val="182D3D"/>
                </a:solidFill>
                <a:latin typeface="Arial"/>
              </a:rPr>
              <a:t>. Oznake virov so del odgovora: SP 2001, svetovalna razlaga in predlog ePravopisa niso isti dokument.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050" b="0" i="1">
                <a:solidFill>
                  <a:srgbClr val="182D3D"/>
                </a:solidFill>
                <a:latin typeface="Arial"/>
              </a:rPr>
              <a:t>Ribniški, tahitijski, newyorški, aixenprovenški</a:t>
            </a:r>
            <a:r>
              <a:rPr sz="2050" b="0" i="0">
                <a:solidFill>
                  <a:srgbClr val="182D3D"/>
                </a:solidFill>
                <a:latin typeface="Arial"/>
              </a:rPr>
              <a:t>; v navadni zvezi sredi povedi vse z malo začetnico. Prvi primer zahteva soglasniško premeno, drugi daljšanje z </a:t>
            </a:r>
            <a:r>
              <a:rPr sz="2050" b="0" i="1">
                <a:solidFill>
                  <a:srgbClr val="182D3D"/>
                </a:solidFill>
                <a:latin typeface="Arial"/>
              </a:rPr>
              <a:t>j</a:t>
            </a:r>
            <a:r>
              <a:rPr sz="2050" b="0" i="0">
                <a:solidFill>
                  <a:srgbClr val="182D3D"/>
                </a:solidFill>
                <a:latin typeface="Arial"/>
              </a:rPr>
              <a:t>, tretji tudi strnjeni zapis. ePravopis 2025 predlaga </a:t>
            </a:r>
            <a:r>
              <a:rPr sz="2050" b="0" i="1">
                <a:solidFill>
                  <a:srgbClr val="182D3D"/>
                </a:solidFill>
                <a:latin typeface="Arial"/>
              </a:rPr>
              <a:t>aix-en-provenški</a:t>
            </a:r>
            <a:r>
              <a:rPr sz="2050" b="0" i="0">
                <a:solidFill>
                  <a:srgbClr val="182D3D"/>
                </a:solidFill>
                <a:latin typeface="Arial"/>
              </a:rPr>
              <a:t>: ohrani vezaje iz podstave. Pri odgovoru navedemo, kateremu viru sledi posamezna oblika. Ne gre za razliko med veliko in malo začetnico ali za dva različna kraja.</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179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enem besedilu nastopata Francoz </a:t>
            </a:r>
            <a:r>
              <a:rPr sz="2300" b="0" i="1">
                <a:solidFill>
                  <a:srgbClr val="182D3D"/>
                </a:solidFill>
                <a:latin typeface="Arial"/>
              </a:rPr>
              <a:t>Guy</a:t>
            </a:r>
            <a:r>
              <a:rPr sz="2300" b="0" i="0">
                <a:solidFill>
                  <a:srgbClr val="182D3D"/>
                </a:solidFill>
                <a:latin typeface="Arial"/>
              </a:rPr>
              <a:t> [gí] in Anglež </a:t>
            </a:r>
            <a:r>
              <a:rPr sz="2300" b="0" i="1">
                <a:solidFill>
                  <a:srgbClr val="182D3D"/>
                </a:solidFill>
                <a:latin typeface="Arial"/>
              </a:rPr>
              <a:t>Guy</a:t>
            </a:r>
            <a:r>
              <a:rPr sz="2300" b="0" i="0">
                <a:solidFill>
                  <a:srgbClr val="182D3D"/>
                </a:solidFill>
                <a:latin typeface="Arial"/>
              </a:rPr>
              <a:t> [gáj]. Za vsakega dopolnite zvezi </a:t>
            </a:r>
            <a:r>
              <a:rPr sz="2300" b="0" i="1">
                <a:solidFill>
                  <a:srgbClr val="182D3D"/>
                </a:solidFill>
                <a:latin typeface="Arial"/>
              </a:rPr>
              <a:t>pogovor z bratom ___</a:t>
            </a:r>
            <a:r>
              <a:rPr sz="2300" b="0" i="0">
                <a:solidFill>
                  <a:srgbClr val="182D3D"/>
                </a:solidFill>
                <a:latin typeface="Arial"/>
              </a:rPr>
              <a:t> in </a:t>
            </a:r>
            <a:r>
              <a:rPr sz="2300" b="0" i="1">
                <a:solidFill>
                  <a:srgbClr val="182D3D"/>
                </a:solidFill>
                <a:latin typeface="Arial"/>
              </a:rPr>
              <a:t>___ predlog</a:t>
            </a:r>
            <a:r>
              <a:rPr sz="2300" b="0" i="0">
                <a:solidFill>
                  <a:srgbClr val="182D3D"/>
                </a:solidFill>
                <a:latin typeface="Arial"/>
              </a:rPr>
              <a:t>. V prvi zvezi ime pove, čigav je brat. Uporabite izhodišči iz ePravopisa 2025. Ali bi obe obliki poenotili?</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Urednica trdi: »Ker novejši slovar dopušča </a:t>
            </a:r>
            <a:r>
              <a:rPr sz="2300" b="0" i="1">
                <a:solidFill>
                  <a:srgbClr val="182D3D"/>
                </a:solidFill>
                <a:latin typeface="Arial"/>
              </a:rPr>
              <a:t>versailleski</a:t>
            </a:r>
            <a:r>
              <a:rPr sz="2300" b="0" i="0">
                <a:solidFill>
                  <a:srgbClr val="182D3D"/>
                </a:solidFill>
                <a:latin typeface="Arial"/>
              </a:rPr>
              <a:t>, moramo </a:t>
            </a:r>
            <a:r>
              <a:rPr sz="2300" b="0" i="1">
                <a:solidFill>
                  <a:srgbClr val="182D3D"/>
                </a:solidFill>
                <a:latin typeface="Arial"/>
              </a:rPr>
              <a:t>versajski mir</a:t>
            </a:r>
            <a:r>
              <a:rPr sz="2300" b="0" i="0">
                <a:solidFill>
                  <a:srgbClr val="182D3D"/>
                </a:solidFill>
                <a:latin typeface="Arial"/>
              </a:rPr>
              <a:t> povsod spremeniti v </a:t>
            </a:r>
            <a:r>
              <a:rPr sz="2300" b="0" i="1">
                <a:solidFill>
                  <a:srgbClr val="182D3D"/>
                </a:solidFill>
                <a:latin typeface="Arial"/>
              </a:rPr>
              <a:t>versailleski mir</a:t>
            </a:r>
            <a:r>
              <a:rPr sz="2300" b="0" i="0">
                <a:solidFill>
                  <a:srgbClr val="182D3D"/>
                </a:solidFill>
                <a:latin typeface="Arial"/>
              </a:rPr>
              <a:t>.« Presodite sklep. Nato pojasnite, zakaj </a:t>
            </a:r>
            <a:r>
              <a:rPr sz="2300" b="0" i="1">
                <a:solidFill>
                  <a:srgbClr val="182D3D"/>
                </a:solidFill>
                <a:latin typeface="Arial"/>
              </a:rPr>
              <a:t>Novo mesto</a:t>
            </a:r>
            <a:r>
              <a:rPr sz="2300" b="0" i="0">
                <a:solidFill>
                  <a:srgbClr val="182D3D"/>
                </a:solidFill>
                <a:latin typeface="Arial"/>
              </a:rPr>
              <a:t> po SP 2001 in </a:t>
            </a:r>
            <a:r>
              <a:rPr sz="2300" b="0" i="1">
                <a:solidFill>
                  <a:srgbClr val="182D3D"/>
                </a:solidFill>
                <a:latin typeface="Arial"/>
              </a:rPr>
              <a:t>Novo Mesto</a:t>
            </a:r>
            <a:r>
              <a:rPr sz="2300" b="0" i="0">
                <a:solidFill>
                  <a:srgbClr val="182D3D"/>
                </a:solidFill>
                <a:latin typeface="Arial"/>
              </a:rPr>
              <a:t> po predlogu ne smeta nastopati kot neoznačeni rešitvi iste enoznačne naloge.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180</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100" b="0" i="0">
                <a:solidFill>
                  <a:srgbClr val="182D3D"/>
                </a:solidFill>
                <a:latin typeface="Arial"/>
              </a:rPr>
              <a:t>Francosko: </a:t>
            </a:r>
            <a:r>
              <a:rPr sz="2100" b="0" i="1">
                <a:solidFill>
                  <a:srgbClr val="182D3D"/>
                </a:solidFill>
                <a:latin typeface="Arial"/>
              </a:rPr>
              <a:t>pogovor z bratom Guyja</a:t>
            </a:r>
            <a:r>
              <a:rPr sz="2100" b="0" i="0">
                <a:solidFill>
                  <a:srgbClr val="182D3D"/>
                </a:solidFill>
                <a:latin typeface="Arial"/>
              </a:rPr>
              <a:t>, </a:t>
            </a:r>
            <a:r>
              <a:rPr sz="2100" b="0" i="1">
                <a:solidFill>
                  <a:srgbClr val="182D3D"/>
                </a:solidFill>
                <a:latin typeface="Arial"/>
              </a:rPr>
              <a:t>Guyjev predlog</a:t>
            </a:r>
            <a:r>
              <a:rPr sz="2100" b="0" i="0">
                <a:solidFill>
                  <a:srgbClr val="182D3D"/>
                </a:solidFill>
                <a:latin typeface="Arial"/>
              </a:rPr>
              <a:t>. Angleško: </a:t>
            </a:r>
            <a:r>
              <a:rPr sz="2100" b="0" i="1">
                <a:solidFill>
                  <a:srgbClr val="182D3D"/>
                </a:solidFill>
                <a:latin typeface="Arial"/>
              </a:rPr>
              <a:t>pogovor z bratom Guya</a:t>
            </a:r>
            <a:r>
              <a:rPr sz="2100" b="0" i="0">
                <a:solidFill>
                  <a:srgbClr val="182D3D"/>
                </a:solidFill>
                <a:latin typeface="Arial"/>
              </a:rPr>
              <a:t>, </a:t>
            </a:r>
            <a:r>
              <a:rPr sz="2100" b="0" i="1">
                <a:solidFill>
                  <a:srgbClr val="182D3D"/>
                </a:solidFill>
                <a:latin typeface="Arial"/>
              </a:rPr>
              <a:t>Guyev predlog</a:t>
            </a:r>
            <a:r>
              <a:rPr sz="2100" b="0" i="0">
                <a:solidFill>
                  <a:srgbClr val="182D3D"/>
                </a:solidFill>
                <a:latin typeface="Arial"/>
              </a:rPr>
              <a:t>. Ime za </a:t>
            </a:r>
            <a:r>
              <a:rPr sz="2100" b="0" i="1">
                <a:solidFill>
                  <a:srgbClr val="182D3D"/>
                </a:solidFill>
                <a:latin typeface="Arial"/>
              </a:rPr>
              <a:t>bratom</a:t>
            </a:r>
            <a:r>
              <a:rPr sz="2100" b="0" i="0">
                <a:solidFill>
                  <a:srgbClr val="182D3D"/>
                </a:solidFill>
                <a:latin typeface="Arial"/>
              </a:rPr>
              <a:t> izraža pripadnost in je v rodilniku; predlog </a:t>
            </a:r>
            <a:r>
              <a:rPr sz="2100" b="0" i="1">
                <a:solidFill>
                  <a:srgbClr val="182D3D"/>
                </a:solidFill>
                <a:latin typeface="Arial"/>
              </a:rPr>
              <a:t>z</a:t>
            </a:r>
            <a:r>
              <a:rPr sz="2100" b="0" i="0">
                <a:solidFill>
                  <a:srgbClr val="182D3D"/>
                </a:solidFill>
                <a:latin typeface="Arial"/>
              </a:rPr>
              <a:t> neposredno določa obliko </a:t>
            </a:r>
            <a:r>
              <a:rPr sz="2100" b="0" i="1">
                <a:solidFill>
                  <a:srgbClr val="182D3D"/>
                </a:solidFill>
                <a:latin typeface="Arial"/>
              </a:rPr>
              <a:t>bratom</a:t>
            </a:r>
            <a:r>
              <a:rPr sz="2100" b="0" i="0">
                <a:solidFill>
                  <a:srgbClr val="182D3D"/>
                </a:solidFill>
                <a:latin typeface="Arial"/>
              </a:rPr>
              <a:t>. Pri francoskem imenu dodamo </a:t>
            </a:r>
            <a:r>
              <a:rPr sz="2100" b="0" i="1">
                <a:solidFill>
                  <a:srgbClr val="182D3D"/>
                </a:solidFill>
                <a:latin typeface="Arial"/>
              </a:rPr>
              <a:t>j</a:t>
            </a:r>
            <a:r>
              <a:rPr sz="2100" b="0" i="0">
                <a:solidFill>
                  <a:srgbClr val="182D3D"/>
                </a:solidFill>
                <a:latin typeface="Arial"/>
              </a:rPr>
              <a:t>, pri angleškem pa </a:t>
            </a:r>
            <a:r>
              <a:rPr sz="2100" b="0" i="1">
                <a:solidFill>
                  <a:srgbClr val="182D3D"/>
                </a:solidFill>
                <a:latin typeface="Arial"/>
              </a:rPr>
              <a:t>y</a:t>
            </a:r>
            <a:r>
              <a:rPr sz="2100" b="0" i="0">
                <a:solidFill>
                  <a:srgbClr val="182D3D"/>
                </a:solidFill>
                <a:latin typeface="Arial"/>
              </a:rPr>
              <a:t> že označuje [j]. Različnih pravilno oblikovanih imen zato ne poenotimo samo zaradi istega imenovalniškega zapisa.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100" b="0" i="0">
                <a:solidFill>
                  <a:srgbClr val="182D3D"/>
                </a:solidFill>
                <a:latin typeface="Arial"/>
              </a:rPr>
              <a:t>Sklep je napačen: ePravopis 2025 pri stalni zvezi izrecno ohranja samo </a:t>
            </a:r>
            <a:r>
              <a:rPr sz="2100" b="0" i="1">
                <a:solidFill>
                  <a:srgbClr val="182D3D"/>
                </a:solidFill>
                <a:latin typeface="Arial"/>
              </a:rPr>
              <a:t>versajski mir</a:t>
            </a:r>
            <a:r>
              <a:rPr sz="2100" b="0" i="0">
                <a:solidFill>
                  <a:srgbClr val="182D3D"/>
                </a:solidFill>
                <a:latin typeface="Arial"/>
              </a:rPr>
              <a:t>. Možnost </a:t>
            </a:r>
            <a:r>
              <a:rPr sz="2100" b="0" i="1">
                <a:solidFill>
                  <a:srgbClr val="182D3D"/>
                </a:solidFill>
                <a:latin typeface="Arial"/>
              </a:rPr>
              <a:t>versailleski</a:t>
            </a:r>
            <a:r>
              <a:rPr sz="2100" b="0" i="0">
                <a:solidFill>
                  <a:srgbClr val="182D3D"/>
                </a:solidFill>
                <a:latin typeface="Arial"/>
              </a:rPr>
              <a:t> ni dovoljenje za njeno uporabo v vsaki zvezi. Pri drugem paru gre za razliko med normativnima okviroma; v nalogi, ki izrecno zahteva SP 2001, zapišemo </a:t>
            </a:r>
            <a:r>
              <a:rPr sz="2100" b="0" i="1">
                <a:solidFill>
                  <a:srgbClr val="182D3D"/>
                </a:solidFill>
                <a:latin typeface="Arial"/>
              </a:rPr>
              <a:t>Novo mesto</a:t>
            </a:r>
            <a:r>
              <a:rPr sz="2100" b="0" i="0">
                <a:solidFill>
                  <a:srgbClr val="182D3D"/>
                </a:solidFill>
                <a:latin typeface="Arial"/>
              </a:rPr>
              <a:t>. Predlagani zapis navedemo kot primerjavo z jasno oznako vira, ne kot tiho zamenjavo osnovne rešitve.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ime in pomen.</a:t>
            </a:r>
            <a:r>
              <a:rPr sz="2500" b="0" i="0">
                <a:solidFill>
                  <a:srgbClr val="182D3D"/>
                </a:solidFill>
                <a:latin typeface="Arial"/>
              </a:rPr>
              <a:t> V izmišljenem primeru je gospod </a:t>
            </a:r>
            <a:r>
              <a:rPr sz="2500" b="0" i="1">
                <a:solidFill>
                  <a:srgbClr val="182D3D"/>
                </a:solidFill>
                <a:latin typeface="Arial"/>
              </a:rPr>
              <a:t>Kovač</a:t>
            </a:r>
            <a:r>
              <a:rPr sz="2500" b="0" i="0">
                <a:solidFill>
                  <a:srgbClr val="182D3D"/>
                </a:solidFill>
                <a:latin typeface="Arial"/>
              </a:rPr>
              <a:t> pek, pri zborniku pa sodelujeta dve osebi z imenom </a:t>
            </a:r>
            <a:r>
              <a:rPr sz="2500" b="0" i="1">
                <a:solidFill>
                  <a:srgbClr val="182D3D"/>
                </a:solidFill>
                <a:latin typeface="Arial"/>
              </a:rPr>
              <a:t>Ana</a:t>
            </a:r>
            <a:r>
              <a:rPr sz="2500" b="0" i="0">
                <a:solidFill>
                  <a:srgbClr val="182D3D"/>
                </a:solidFill>
                <a:latin typeface="Arial"/>
              </a:rPr>
              <a:t>. Pojasnite, zakaj nobeno dejstvo ne ovrže lastnoimenskosti izrazov. Nato primerjajte </a:t>
            </a:r>
            <a:r>
              <a:rPr sz="2500" b="0" i="1">
                <a:solidFill>
                  <a:srgbClr val="182D3D"/>
                </a:solidFill>
                <a:latin typeface="Arial"/>
              </a:rPr>
              <a:t>Ana</a:t>
            </a:r>
            <a:r>
              <a:rPr sz="2500" b="0" i="0">
                <a:solidFill>
                  <a:srgbClr val="182D3D"/>
                </a:solidFill>
                <a:latin typeface="Arial"/>
              </a:rPr>
              <a:t>, </a:t>
            </a:r>
            <a:r>
              <a:rPr sz="2500" b="0" i="1">
                <a:solidFill>
                  <a:srgbClr val="182D3D"/>
                </a:solidFill>
                <a:latin typeface="Arial"/>
              </a:rPr>
              <a:t>urednica tega zbornika</a:t>
            </a:r>
            <a:r>
              <a:rPr sz="2500" b="0" i="0">
                <a:solidFill>
                  <a:srgbClr val="182D3D"/>
                </a:solidFill>
                <a:latin typeface="Arial"/>
              </a:rPr>
              <a:t> in občno </a:t>
            </a:r>
            <a:r>
              <a:rPr sz="2500" b="0" i="1">
                <a:solidFill>
                  <a:srgbClr val="182D3D"/>
                </a:solidFill>
                <a:latin typeface="Arial"/>
              </a:rPr>
              <a:t>urednica</a:t>
            </a:r>
            <a:r>
              <a:rPr sz="2500" b="0" i="0">
                <a:solidFill>
                  <a:srgbClr val="182D3D"/>
                </a:solidFill>
                <a:latin typeface="Arial"/>
              </a:rPr>
              <a:t>: katere podatke potrebujemo za identifikacijo in katere za slovarsko pomensko razčlenitev?</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Lastno ime identificira posameznega v konkretni rabi; priimek </a:t>
            </a:r>
            <a:r>
              <a:rPr sz="2500" b="0" i="1">
                <a:solidFill>
                  <a:srgbClr val="182D3D"/>
                </a:solidFill>
                <a:latin typeface="Arial"/>
              </a:rPr>
              <a:t>Kovač</a:t>
            </a:r>
            <a:r>
              <a:rPr sz="2500" b="0" i="0">
                <a:solidFill>
                  <a:srgbClr val="182D3D"/>
                </a:solidFill>
                <a:latin typeface="Arial"/>
              </a:rPr>
              <a:t> nosilcu ne predpisuje poklica. Pri dveh Anah za razločevanje potrebujemo sobesedilo ali dodaten podatek, npr. priimek. Opis </a:t>
            </a:r>
            <a:r>
              <a:rPr sz="2500" b="0" i="1">
                <a:solidFill>
                  <a:srgbClr val="182D3D"/>
                </a:solidFill>
                <a:latin typeface="Arial"/>
              </a:rPr>
              <a:t>urednica tega zbornika</a:t>
            </a:r>
            <a:r>
              <a:rPr sz="2500" b="0" i="0">
                <a:solidFill>
                  <a:srgbClr val="182D3D"/>
                </a:solidFill>
                <a:latin typeface="Arial"/>
              </a:rPr>
              <a:t> je lahko enoličen, vendar za identifikacijo uporablja občno poimenovanje in določujočo zvezo. Pri občnem leksemu </a:t>
            </a:r>
            <a:r>
              <a:rPr sz="2500" b="0" i="1">
                <a:solidFill>
                  <a:srgbClr val="182D3D"/>
                </a:solidFill>
                <a:latin typeface="Arial"/>
              </a:rPr>
              <a:t>urednica</a:t>
            </a:r>
            <a:r>
              <a:rPr sz="2500" b="0" i="0">
                <a:solidFill>
                  <a:srgbClr val="182D3D"/>
                </a:solidFill>
                <a:latin typeface="Arial"/>
              </a:rPr>
              <a:t> pojasnjujemo pomen, ki omogoča uvrščanje oseb v razred; pri </a:t>
            </a:r>
            <a:r>
              <a:rPr sz="2500" b="0" i="1">
                <a:solidFill>
                  <a:srgbClr val="182D3D"/>
                </a:solidFill>
                <a:latin typeface="Arial"/>
              </a:rPr>
              <a:t>Ani</a:t>
            </a:r>
            <a:r>
              <a:rPr sz="2500" b="0" i="0">
                <a:solidFill>
                  <a:srgbClr val="182D3D"/>
                </a:solidFill>
                <a:latin typeface="Arial"/>
              </a:rPr>
              <a:t> ugotavljamo nanosnico. Podatkov o njenem življenju zato ne enačimo s sestavinsko razčlenitvijo pomena </a:t>
            </a:r>
            <a:r>
              <a:rPr sz="2500" b="0" i="1">
                <a:solidFill>
                  <a:srgbClr val="182D3D"/>
                </a:solidFill>
                <a:latin typeface="Arial"/>
              </a:rPr>
              <a:t>urednica</a:t>
            </a:r>
            <a:r>
              <a:rPr sz="2500" b="0" i="0">
                <a:solidFill>
                  <a:srgbClr val="182D3D"/>
                </a:solidFill>
                <a:latin typeface="Arial"/>
              </a:rPr>
              <a:t>. (Vidovič Muha 2013: 92–93; Toporišič 2004: 274–275.)</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razmerje v svojilni zvezi.</a:t>
            </a:r>
            <a:r>
              <a:rPr sz="2500" b="0" i="0">
                <a:solidFill>
                  <a:srgbClr val="182D3D"/>
                </a:solidFill>
                <a:latin typeface="Arial"/>
              </a:rPr>
              <a:t> Razvijte zveze </a:t>
            </a:r>
            <a:r>
              <a:rPr sz="2500" b="0" i="1">
                <a:solidFill>
                  <a:srgbClr val="182D3D"/>
                </a:solidFill>
                <a:latin typeface="Arial"/>
              </a:rPr>
              <a:t>Anin zvezek, Anin brat, Anino prevajanje romana</a:t>
            </a:r>
            <a:r>
              <a:rPr sz="2500" b="0" i="0">
                <a:solidFill>
                  <a:srgbClr val="182D3D"/>
                </a:solidFill>
                <a:latin typeface="Arial"/>
              </a:rPr>
              <a:t>. Pri vsaki pojasnite razmerje, obliko svojilnega pridevnika in začetnico. Nato presodite, ali bi </a:t>
            </a:r>
            <a:r>
              <a:rPr sz="2500" b="0" i="1">
                <a:solidFill>
                  <a:srgbClr val="182D3D"/>
                </a:solidFill>
                <a:latin typeface="Arial"/>
              </a:rPr>
              <a:t>Anin prevod</a:t>
            </a:r>
            <a:r>
              <a:rPr sz="2500" b="0" i="0">
                <a:solidFill>
                  <a:srgbClr val="182D3D"/>
                </a:solidFill>
                <a:latin typeface="Arial"/>
              </a:rPr>
              <a:t> brez dodatnega sobesedila vedno preoblikovali v </a:t>
            </a:r>
            <a:r>
              <a:rPr sz="2500" b="0" i="1">
                <a:solidFill>
                  <a:srgbClr val="182D3D"/>
                </a:solidFill>
                <a:latin typeface="Arial"/>
              </a:rPr>
              <a:t>prevod, ki je Anina last</a:t>
            </a:r>
            <a:r>
              <a:rPr sz="2500" b="0" i="0">
                <a:solidFill>
                  <a:srgbClr val="182D3D"/>
                </a:solidFill>
                <a:latin typeface="Arial"/>
              </a:rPr>
              <a:t>.</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184</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Ob predpostavkah iz preglednice imamo lastnino, sorodstvo in vršilko prevajanja. Pridevnik je v vseh primerih tvorjen iz </a:t>
            </a:r>
            <a:r>
              <a:rPr sz="2500" b="0" i="1">
                <a:solidFill>
                  <a:srgbClr val="182D3D"/>
                </a:solidFill>
                <a:latin typeface="Arial"/>
              </a:rPr>
              <a:t>Ana</a:t>
            </a:r>
            <a:r>
              <a:rPr sz="2500" b="0" i="0">
                <a:solidFill>
                  <a:srgbClr val="182D3D"/>
                </a:solidFill>
                <a:latin typeface="Arial"/>
              </a:rPr>
              <a:t> s priponskim obrazilnim morfemom </a:t>
            </a:r>
            <a:r>
              <a:rPr sz="2500" b="0" i="1">
                <a:solidFill>
                  <a:srgbClr val="182D3D"/>
                </a:solidFill>
                <a:latin typeface="Arial"/>
              </a:rPr>
              <a:t>-in-</a:t>
            </a:r>
            <a:r>
              <a:rPr sz="2500" b="0" i="0">
                <a:solidFill>
                  <a:srgbClr val="182D3D"/>
                </a:solidFill>
                <a:latin typeface="Arial"/>
              </a:rPr>
              <a:t>; končnica se prilagaja jedru: </a:t>
            </a:r>
            <a:r>
              <a:rPr sz="2500" b="0" i="1">
                <a:solidFill>
                  <a:srgbClr val="182D3D"/>
                </a:solidFill>
                <a:latin typeface="Arial"/>
              </a:rPr>
              <a:t>zvezek/brat</a:t>
            </a:r>
            <a:r>
              <a:rPr sz="2500" b="0" i="0">
                <a:solidFill>
                  <a:srgbClr val="182D3D"/>
                </a:solidFill>
                <a:latin typeface="Arial"/>
              </a:rPr>
              <a:t> moški spol, </a:t>
            </a:r>
            <a:r>
              <a:rPr sz="2500" b="0" i="1">
                <a:solidFill>
                  <a:srgbClr val="182D3D"/>
                </a:solidFill>
                <a:latin typeface="Arial"/>
              </a:rPr>
              <a:t>prevajanje</a:t>
            </a:r>
            <a:r>
              <a:rPr sz="2500" b="0" i="0">
                <a:solidFill>
                  <a:srgbClr val="182D3D"/>
                </a:solidFill>
                <a:latin typeface="Arial"/>
              </a:rPr>
              <a:t> srednji. Velika začetnica je povezana z izvorom individualnega svojilnega pridevnika iz osebnega imena. Predlagana razveza </a:t>
            </a:r>
            <a:r>
              <a:rPr sz="2500" b="0" i="1">
                <a:solidFill>
                  <a:srgbClr val="182D3D"/>
                </a:solidFill>
                <a:latin typeface="Arial"/>
              </a:rPr>
              <a:t>Aninega prevoda</a:t>
            </a:r>
            <a:r>
              <a:rPr sz="2500" b="0" i="0">
                <a:solidFill>
                  <a:srgbClr val="182D3D"/>
                </a:solidFill>
                <a:latin typeface="Arial"/>
              </a:rPr>
              <a:t> je preozka: v kontekstu avtorstva pomeni prevod, ki ga je napravila Ana, ne nujno njene lastnine. Samo pravilno zapisano obrazilo še ne zagotavlja pomensko ustrezne uredniške zamenjave. (Vidovič Muha 2013: 386–389; SP 2001, § 115.)</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ničta končnica.</a:t>
            </a:r>
            <a:r>
              <a:rPr sz="2500" b="0" i="0">
                <a:solidFill>
                  <a:srgbClr val="182D3D"/>
                </a:solidFill>
                <a:latin typeface="Arial"/>
              </a:rPr>
              <a:t> Primerjajte </a:t>
            </a:r>
            <a:r>
              <a:rPr sz="2500" b="0" i="1">
                <a:solidFill>
                  <a:srgbClr val="182D3D"/>
                </a:solidFill>
                <a:latin typeface="Arial"/>
              </a:rPr>
              <a:t>Naša Karmen je prišla</a:t>
            </a:r>
            <a:r>
              <a:rPr sz="2500" b="0" i="0">
                <a:solidFill>
                  <a:srgbClr val="182D3D"/>
                </a:solidFill>
                <a:latin typeface="Arial"/>
              </a:rPr>
              <a:t>, </a:t>
            </a:r>
            <a:r>
              <a:rPr sz="2500" b="0" i="1">
                <a:solidFill>
                  <a:srgbClr val="182D3D"/>
                </a:solidFill>
                <a:latin typeface="Arial"/>
              </a:rPr>
              <a:t>Naše Karmen še ni</a:t>
            </a:r>
            <a:r>
              <a:rPr sz="2500" b="0" i="0">
                <a:solidFill>
                  <a:srgbClr val="182D3D"/>
                </a:solidFill>
                <a:latin typeface="Arial"/>
              </a:rPr>
              <a:t> in </a:t>
            </a:r>
            <a:r>
              <a:rPr sz="2500" b="0" i="1">
                <a:solidFill>
                  <a:srgbClr val="182D3D"/>
                </a:solidFill>
                <a:latin typeface="Arial"/>
              </a:rPr>
              <a:t>Z našo Karmen smo govorili</a:t>
            </a:r>
            <a:r>
              <a:rPr sz="2500" b="0" i="0">
                <a:solidFill>
                  <a:srgbClr val="182D3D"/>
                </a:solidFill>
                <a:latin typeface="Arial"/>
              </a:rPr>
              <a:t>. Določite sklon imena in pokažite, kateri deli zgradbe ga razkrivajo. Zakaj enaka pisna podoba ni dokaz, da sklon ali spol manjkata? Uporabite Toporišičev opis tretje ženske sklanjatve.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186</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Karmen</a:t>
            </a:r>
            <a:r>
              <a:rPr sz="2500" b="0" i="0">
                <a:solidFill>
                  <a:srgbClr val="182D3D"/>
                </a:solidFill>
                <a:latin typeface="Arial"/>
              </a:rPr>
              <a:t> je v prvi povedi v imenovalniku, v drugi v rodilniku, v tretji v orodniku. Sklon razkrivajo ujemalni pridevniški zaimek, stavčna zgradba in pri tretji zvezi predlog </a:t>
            </a:r>
            <a:r>
              <a:rPr sz="2500" b="0" i="1">
                <a:solidFill>
                  <a:srgbClr val="182D3D"/>
                </a:solidFill>
                <a:latin typeface="Arial"/>
              </a:rPr>
              <a:t>z</a:t>
            </a:r>
            <a:r>
              <a:rPr sz="2500" b="0" i="0">
                <a:solidFill>
                  <a:srgbClr val="182D3D"/>
                </a:solidFill>
                <a:latin typeface="Arial"/>
              </a:rPr>
              <a:t>. Ženski spol je razviden tudi iz ujemanja </a:t>
            </a:r>
            <a:r>
              <a:rPr sz="2500" b="0" i="1">
                <a:solidFill>
                  <a:srgbClr val="182D3D"/>
                </a:solidFill>
                <a:latin typeface="Arial"/>
              </a:rPr>
              <a:t>naša, prišla</a:t>
            </a:r>
            <a:r>
              <a:rPr sz="2500" b="0" i="0">
                <a:solidFill>
                  <a:srgbClr val="182D3D"/>
                </a:solidFill>
                <a:latin typeface="Arial"/>
              </a:rPr>
              <a:t>. Toporišič tretjo žensko sklanjatev opiše z ničtimi končnicami v vseh sklonih; enaka glasovna oziroma pisna oblika torej uresničuje več različnih mest v paradigmi. (Toporišič 2004: 296.)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187</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Začetnico določa poimenovalna vloga izraza.</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Izgovor in pregibanje razkrijeta osnovo za tvorjenje.</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Različice presojamo z virom, statusom in pomenom.</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Ko so poimenovanja in oblike določeni, preverimo njihova razmerja v celotni povedi.</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00" b="0" i="0">
                <a:solidFill>
                  <a:srgbClr val="546674"/>
                </a:solidFill>
                <a:latin typeface="Arial"/>
              </a:rPr>
              <a:t>Branje: Toporišič 2004: 274–275; Vidovič Muha 2013: 92–93, 385–389; SP 2001: § 69–74, 771–784, 956–988; ePravopis 2025: navedena gesla.</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6. Zgradba povedi in vejica</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Kaj se povezuje na tem mestu in katero mejo označuje vejica?</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Razločimo stavčne člene, udeleženske vloge in notranjo hierarhijo.</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Določimo nadrejenost, prirednost in obseg odvisnikov.</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Utemeljimo ločila ter preureditev besednega in naslonskega reda.</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Najprej določimo cele sestavine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189</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Študentka je mentorici včeraj poslala dopolnjen osnutek.</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Povedek</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je poslala: en sestavljeni povedek.</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Udeleženci</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študentka; mentorici; dopolnjen osnutek.</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Notranja zgradba</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dopolnjen določa osnutek; včeraj umešča dogodek v čas.</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Jedro stavčnega člena razlikujemo od njegovega celotnega obsega.</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Besedna vrsta in funkcija sta različna podatka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190</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Izhodiščno besedno vrsto ločimo od trenutne stavčnočlenske vloge in modela konverzije.</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Prilastek</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jasno besedilo: pridevnik določa samostalniško jedro.</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Povedkovo določilo</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Besedilo je jasno: je jasno tvori povedek; jasno prispeva njegovo bistveno vsebino.</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Povedkov prilastek</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Ana se je vrnila utrujena: dodatno stanje osebka ob vrnitvi.</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Povedkovnik je besednovrstni pojem; povedek je stavčnočlenski.</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Izpustljivost sama ne dokazuje nevezljivosti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191</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Vezljivost določa predvidena dopolnila; sobesedilo določa, kaj moramo ponovno izreči.</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Znano iz sobesedila</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Si mentorici že poslala osnutek? – Sem ji že poslala.</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Prosta okoliščina</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Ana je brala na hodniku: kraj prosto umešča branje.</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Predvideni cilj</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Ana je obesila sliko na steno: krajevno določilo sodeluje v glagolskem vzorcu.</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Vezljivost, vezavo in izrečenost preverimo ločeno.</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Osebek ni nujno vršilec ali prva beseda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192</a:t>
            </a:r>
          </a:p>
        </p:txBody>
      </p:sp>
      <p:graphicFrame>
        <p:nvGraphicFramePr>
          <p:cNvPr id="4" name="Table 3"/>
          <p:cNvGraphicFramePr>
            <a:graphicFrameLocks noGrp="1"/>
          </p:cNvGraphicFramePr>
          <p:nvPr/>
        </p:nvGraphicFramePr>
        <p:xfrm>
          <a:off x="621792" y="1810512"/>
          <a:ext cx="10954511" cy="2889250"/>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Poved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Osebek</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Udeleženska vloga</a:t>
                      </a:r>
                    </a:p>
                  </a:txBody>
                  <a:tcPr marL="137160" marR="137160" marT="73152" marB="73152" anchor="ctr">
                    <a:solidFill>
                      <a:srgbClr val="00695F"/>
                    </a:solidFill>
                  </a:tcPr>
                </a:tc>
              </a:tr>
              <a:tr h="836549">
                <a:tc>
                  <a:txBody>
                    <a:bodyPr wrap="square"/>
                    <a:lstStyle/>
                    <a:p>
                      <a:pPr>
                        <a:lnSpc>
                          <a:spcPct val="108000"/>
                        </a:lnSpc>
                        <a:spcAft>
                          <a:spcPts val="0"/>
                        </a:spcAft>
                      </a:pPr>
                      <a:r>
                        <a:rPr sz="2050" b="0" i="0">
                          <a:solidFill>
                            <a:srgbClr val="182D3D"/>
                          </a:solidFill>
                          <a:latin typeface="Arial"/>
                        </a:rPr>
                        <a:t>Urednica je pregledala rokopis.</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urednica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vršilka</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Rokopis je pregledala urednica.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urednica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vršilka</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Rokopis je bil pregledan.</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rokopis</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prizadeto</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Pomenska vloga in stavčni člen nista ista razvrstitev.</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Povedek je lahko hierarhično sestavljen</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193</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Ana je morala začeti pregledovati rokopis.</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Čas in nujnost</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je morala: dejanje je predstavljeno v preteklosti in kot nujno.</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Faza</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začeti: nujnost zadeva začetek.</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Dejavnost</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pregledovati rokopis: vsebina dejavnosti.</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Število glagolskih besed ni število stavkov ali vseh predikacijskih vsebin.</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Vsebinski odvisnik nima vedno iste funkcije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194</a:t>
            </a:r>
          </a:p>
        </p:txBody>
      </p:sp>
      <p:graphicFrame>
        <p:nvGraphicFramePr>
          <p:cNvPr id="4" name="Table 3"/>
          <p:cNvGraphicFramePr>
            <a:graphicFrameLocks noGrp="1"/>
          </p:cNvGraphicFramePr>
          <p:nvPr/>
        </p:nvGraphicFramePr>
        <p:xfrm>
          <a:off x="621792" y="1810512"/>
          <a:ext cx="10954511" cy="2802509"/>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Poved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Kaj odvisnik dopolnjuje?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Funkcija</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Obljubila je, da pride.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glagol obljubiti</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predmet</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Veseli me, da pride.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povedek veseli me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osebek</a:t>
                      </a:r>
                    </a:p>
                  </a:txBody>
                  <a:tcPr marL="137160" marR="137160" marT="73152" marB="73152" anchor="ctr">
                    <a:solidFill>
                      <a:srgbClr val="EDF1F2"/>
                    </a:solidFill>
                  </a:tcPr>
                </a:tc>
              </a:tr>
              <a:tr h="836549">
                <a:tc>
                  <a:txBody>
                    <a:bodyPr wrap="square"/>
                    <a:lstStyle/>
                    <a:p>
                      <a:pPr>
                        <a:lnSpc>
                          <a:spcPct val="108000"/>
                        </a:lnSpc>
                        <a:spcAft>
                          <a:spcPts val="0"/>
                        </a:spcAft>
                      </a:pPr>
                      <a:r>
                        <a:rPr sz="2050" b="0" i="0">
                          <a:solidFill>
                            <a:srgbClr val="182D3D"/>
                          </a:solidFill>
                          <a:latin typeface="Arial"/>
                        </a:rPr>
                        <a:t>Obljuba, da pride, nas je razveselila.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samostalnik obljuba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prilastek</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Vsebinski in predmetni sta oznaki po različnih merilih.</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Podoben nedoločnik, druga odvisnost</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195</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Vsebina obljube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Obljubila je priti.</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Pretvorba: Obljubila je prihod. / Obljubila je, da pride.</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Naklonski povedek</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Morala je priti.</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Priti je del naklonskega povedka; Morala je prihod ne ohrani te zgradbe.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Preizkus zamenjave pojasni funkcijo; ločila preverimo posebej.</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Odvisnik je lahko nadreden drugemu odvisniku</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196</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Urednica je sporočila, da bo besedilo, ki ga je avtor popravil, objavila.</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Glavni stavek</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Urednica je sporočila.</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Prva vsebina</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da bo besedilo objavila.</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Notranji odvisnik</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ki ga je avtor popravil določa besedilo.</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Označimo celotne sestavine in mesto, kamor se po odvisniku vrnemo.</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Veznik prepoznamo po razmerju, ne samo po zapisu</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197</a:t>
            </a:r>
          </a:p>
        </p:txBody>
      </p:sp>
      <p:graphicFrame>
        <p:nvGraphicFramePr>
          <p:cNvPr id="4" name="Table 3"/>
          <p:cNvGraphicFramePr>
            <a:graphicFrameLocks noGrp="1"/>
          </p:cNvGraphicFramePr>
          <p:nvPr/>
        </p:nvGraphicFramePr>
        <p:xfrm>
          <a:off x="621792" y="1810512"/>
          <a:ext cx="10954511" cy="3624324"/>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Funkcija</a:t>
                      </a:r>
                    </a:p>
                  </a:txBody>
                  <a:tcPr marL="137160" marR="137160" marT="73152" marB="73152" anchor="ctr">
                    <a:solidFill>
                      <a:srgbClr val="00695F"/>
                    </a:solidFill>
                  </a:tcPr>
                </a:tc>
              </a:tr>
              <a:tr h="731520">
                <a:tc>
                  <a:txBody>
                    <a:bodyPr wrap="square"/>
                    <a:lstStyle/>
                    <a:p>
                      <a:pPr>
                        <a:lnSpc>
                          <a:spcPct val="108000"/>
                        </a:lnSpc>
                        <a:spcAft>
                          <a:spcPts val="0"/>
                        </a:spcAft>
                      </a:pPr>
                      <a:r>
                        <a:rPr sz="2150" b="0" i="0">
                          <a:solidFill>
                            <a:srgbClr val="182D3D"/>
                          </a:solidFill>
                          <a:latin typeface="Arial"/>
                        </a:rPr>
                        <a:t>Izberi članek ali knjigo.</a:t>
                      </a:r>
                    </a:p>
                  </a:txBody>
                  <a:tcPr marL="137160" marR="137160" marT="73152" marB="73152" anchor="ctr">
                    <a:solidFill>
                      <a:srgbClr val="FFFFFF"/>
                    </a:solidFill>
                  </a:tcPr>
                </a:tc>
                <a:tc>
                  <a:txBody>
                    <a:bodyPr wrap="square"/>
                    <a:lstStyle/>
                    <a:p>
                      <a:pPr>
                        <a:lnSpc>
                          <a:spcPct val="108000"/>
                        </a:lnSpc>
                        <a:spcAft>
                          <a:spcPts val="0"/>
                        </a:spcAft>
                      </a:pPr>
                      <a:r>
                        <a:rPr sz="2150" b="0" i="0">
                          <a:solidFill>
                            <a:srgbClr val="182D3D"/>
                          </a:solidFill>
                          <a:latin typeface="Arial"/>
                        </a:rPr>
                        <a:t>Ločna povezava.</a:t>
                      </a:r>
                    </a:p>
                  </a:txBody>
                  <a:tcPr marL="137160" marR="137160" marT="73152" marB="73152" anchor="ctr">
                    <a:solidFill>
                      <a:srgbClr val="FFFFFF"/>
                    </a:solidFill>
                  </a:tcPr>
                </a:tc>
              </a:tr>
              <a:tr h="731520">
                <a:tc>
                  <a:txBody>
                    <a:bodyPr wrap="square"/>
                    <a:lstStyle/>
                    <a:p>
                      <a:pPr>
                        <a:lnSpc>
                          <a:spcPct val="108000"/>
                        </a:lnSpc>
                        <a:spcAft>
                          <a:spcPts val="0"/>
                        </a:spcAft>
                      </a:pPr>
                      <a:r>
                        <a:rPr sz="2150" b="0" i="0">
                          <a:solidFill>
                            <a:srgbClr val="182D3D"/>
                          </a:solidFill>
                          <a:latin typeface="Arial"/>
                        </a:rPr>
                        <a:t>Povej, ali si članek prebrala.</a:t>
                      </a:r>
                    </a:p>
                  </a:txBody>
                  <a:tcPr marL="137160" marR="137160" marT="73152" marB="73152" anchor="ctr">
                    <a:solidFill>
                      <a:srgbClr val="EDF1F2"/>
                    </a:solidFill>
                  </a:tcPr>
                </a:tc>
                <a:tc>
                  <a:txBody>
                    <a:bodyPr wrap="square"/>
                    <a:lstStyle/>
                    <a:p>
                      <a:pPr>
                        <a:lnSpc>
                          <a:spcPct val="108000"/>
                        </a:lnSpc>
                        <a:spcAft>
                          <a:spcPts val="0"/>
                        </a:spcAft>
                      </a:pPr>
                      <a:r>
                        <a:rPr sz="2150" b="0" i="0">
                          <a:solidFill>
                            <a:srgbClr val="182D3D"/>
                          </a:solidFill>
                          <a:latin typeface="Arial"/>
                        </a:rPr>
                        <a:t>Odvisno vprašanje.</a:t>
                      </a:r>
                    </a:p>
                  </a:txBody>
                  <a:tcPr marL="137160" marR="137160" marT="73152" marB="73152" anchor="ctr">
                    <a:solidFill>
                      <a:srgbClr val="EDF1F2"/>
                    </a:solidFill>
                  </a:tcPr>
                </a:tc>
              </a:tr>
              <a:tr h="847470">
                <a:tc>
                  <a:txBody>
                    <a:bodyPr wrap="square"/>
                    <a:lstStyle/>
                    <a:p>
                      <a:pPr>
                        <a:lnSpc>
                          <a:spcPct val="108000"/>
                        </a:lnSpc>
                        <a:spcAft>
                          <a:spcPts val="0"/>
                        </a:spcAft>
                      </a:pPr>
                      <a:r>
                        <a:rPr sz="2150" b="0" i="0">
                          <a:solidFill>
                            <a:srgbClr val="182D3D"/>
                          </a:solidFill>
                          <a:latin typeface="Arial"/>
                        </a:rPr>
                        <a:t>Odgovor je poslal, in to včeraj.</a:t>
                      </a:r>
                    </a:p>
                  </a:txBody>
                  <a:tcPr marL="137160" marR="137160" marT="73152" marB="73152" anchor="ctr">
                    <a:solidFill>
                      <a:srgbClr val="FFFFFF"/>
                    </a:solidFill>
                  </a:tcPr>
                </a:tc>
                <a:tc>
                  <a:txBody>
                    <a:bodyPr wrap="square"/>
                    <a:lstStyle/>
                    <a:p>
                      <a:pPr>
                        <a:lnSpc>
                          <a:spcPct val="108000"/>
                        </a:lnSpc>
                        <a:spcAft>
                          <a:spcPts val="0"/>
                        </a:spcAft>
                      </a:pPr>
                      <a:r>
                        <a:rPr sz="2150" b="0" i="0">
                          <a:solidFill>
                            <a:srgbClr val="182D3D"/>
                          </a:solidFill>
                          <a:latin typeface="Arial"/>
                        </a:rPr>
                        <a:t>Pojasnilo časa.</a:t>
                      </a:r>
                    </a:p>
                  </a:txBody>
                  <a:tcPr marL="137160" marR="137160" marT="73152" marB="73152" anchor="ctr">
                    <a:solidFill>
                      <a:srgbClr val="FFFFFF"/>
                    </a:solidFill>
                  </a:tcPr>
                </a:tc>
              </a:tr>
              <a:tr h="847470">
                <a:tc>
                  <a:txBody>
                    <a:bodyPr wrap="square"/>
                    <a:lstStyle/>
                    <a:p>
                      <a:pPr>
                        <a:lnSpc>
                          <a:spcPct val="108000"/>
                        </a:lnSpc>
                        <a:spcAft>
                          <a:spcPts val="0"/>
                        </a:spcAft>
                      </a:pPr>
                      <a:r>
                        <a:rPr sz="2150" b="0" i="0">
                          <a:solidFill>
                            <a:srgbClr val="182D3D"/>
                          </a:solidFill>
                          <a:latin typeface="Arial"/>
                        </a:rPr>
                        <a:t>Predlog je bil sprejet in to nas je razveselilo.</a:t>
                      </a:r>
                    </a:p>
                  </a:txBody>
                  <a:tcPr marL="137160" marR="137160" marT="73152" marB="73152" anchor="ctr">
                    <a:solidFill>
                      <a:srgbClr val="EDF1F2"/>
                    </a:solidFill>
                  </a:tcPr>
                </a:tc>
                <a:tc>
                  <a:txBody>
                    <a:bodyPr wrap="square"/>
                    <a:lstStyle/>
                    <a:p>
                      <a:pPr>
                        <a:lnSpc>
                          <a:spcPct val="108000"/>
                        </a:lnSpc>
                        <a:spcAft>
                          <a:spcPts val="0"/>
                        </a:spcAft>
                      </a:pPr>
                      <a:r>
                        <a:rPr sz="2150" b="0" i="0">
                          <a:solidFill>
                            <a:srgbClr val="182D3D"/>
                          </a:solidFill>
                          <a:latin typeface="Arial"/>
                        </a:rPr>
                        <a:t>Vezalni in + zaimek to.</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Isti niz besed lahko sodeluje v različnih zgradbah.</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Prirednost ne zahteva dveh stavkov</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Znotraj povedi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Zastoj je nastal zaradi okvare ali ker je zmanjkalo elektrike.</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Nestavčni in stavčni del izražata enakovredni možnosti vzroka.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 začetku</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Zaradi okvare ali ker je zmanjkalo elektrike, je nastal zastoj.</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Vejica označi konec začetne sestavine.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Enakovredna funkcija dopušča različno izrazno obliko.</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Vejica pred in lahko zapira odvisnik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199</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Povezani glavni dejanji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Prebrala je članek, ki si ji ga priporočil, in napisala odziv.</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Vejica zapre odvisnik pred nadaljevanjem glavne povezave.</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Povezana podatka v odvisniku</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Prebrala je članek, ki obravnava narečja in prinaša nove podatke.</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In ostaja znotraj istega odvisnika.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Ugotovimo, na kateri ravni povezuje in.</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Stik veznikov: dva različna razloga za vejico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200</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Drugi člen začne odvisnik</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Prišla bo, in če bo imela čas, bo pregledala gradivo.</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In povezuje glavna dela; če začne pogoj znotraj drugega.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Istovrstna odvisnika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Vem, da pride in da prinese gradivo.</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Oba dela dopolnjujeta vem; med njima je vezalno razmerje.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Vejice ne vrivamo med in in če po občutku premora.</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Elipsa ohrani razmerja tudi brez ponovitve glagola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201</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Ugotovil je, da na sliki ni ivanjščica, ampak marjetica, in da so vsi podnapisi napačni.</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Obnovimo izpust</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ampak marjetica → ampak je marjetica.</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Določimo obseg</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Protivni del pripada prvi ugotovljeni vsebini.</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Vrnemo se navzgor</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in da uvaja drugo vsebino ugotovitve.</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Izpuščeno ni brez slovnične vloge.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Razvezljivost primerjave ni univerzalni preizkus</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202</a:t>
            </a:r>
          </a:p>
        </p:txBody>
      </p:sp>
      <p:graphicFrame>
        <p:nvGraphicFramePr>
          <p:cNvPr id="4" name="Table 3"/>
          <p:cNvGraphicFramePr>
            <a:graphicFrameLocks noGrp="1"/>
          </p:cNvGraphicFramePr>
          <p:nvPr/>
        </p:nvGraphicFramePr>
        <p:xfrm>
          <a:off x="621792" y="1810512"/>
          <a:ext cx="10954511" cy="3596132"/>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Zgradba oziroma pravilo</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Maja bere hitreje kot Luka.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Nestavčni primerjalni člen.</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Maja bere hitreje, kot je brala lani.</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Razvit primerjalni odvisnik.</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Več je govoril kot delal.</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Nepopolno izraženi primerjalni člen brez vejice.</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Bolje je delati kot govoriti.</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Nedoločniška primerjava brez vejice.</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Ločilo določa tip primerjalne zgradbe, ne zamišljena daljša različica.</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Ustaljena zveza lahko ohrani ali izgubi stavčnost</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203</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Ohranjen osebni glagol v ustaljeni zvezi sam še ni univerzalni sprožilec vejice.</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Oziralna zgradba</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Kar se tiče rokov, smo se dogovorili.</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Določanje stopnje</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Odgovor naj bo kar se da jasen.</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Prislovna vključitev</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Zadevo je uredil kot bi mignil in brez zapletov.</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Funkcijo celote preverimo v konkretni povedi.</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Celovita redakcija preveri tudi že zapisane vejice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204</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Urednica je povedala, da je članek, ki smo ga poslali, predolg in da ga bo objavila, če ga skrajšamo.</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Ogrodje</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Urednica je povedala.</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Dve vsebini</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Članek je predolg; objavila ga bo pod pogojem.</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Obe meji</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Prilastkov odvisnik se konča pred predolg; pogojni se začne pred če.</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Pravilno mesto brez vejice prav tako potrebuje razlago.</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Iste stavčne vloge, drugačen sporočilni poudarek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205</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Kaj je pregledala urednica?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Urednica je pregledala rokopis.</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 ospredju nove informacije je rokopis.</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Kdo je pregledal rokopis?</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Rokopis je pregledala urednica.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Rokopis je izhodišče; nova informacija je urednica.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Slovnično pravilna preureditev lahko spremeni poudarek besedila.</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Naslonke imajo svoj notranji red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206</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Prva oseba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Včeraj sem ji ga poslala.</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sem → ji → ga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Tretja oseba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Včeraj ji ga je poslala.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ji → ga → je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Mesto naslonskega niza določamo po sestavinah, ne s štetjem besed.</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povedi </a:t>
            </a:r>
            <a:r>
              <a:rPr sz="2300" b="0" i="1">
                <a:solidFill>
                  <a:srgbClr val="182D3D"/>
                </a:solidFill>
                <a:latin typeface="Arial"/>
              </a:rPr>
              <a:t>Mlajši sodelavec je mentorici v petek poslal tri predloge</a:t>
            </a:r>
            <a:r>
              <a:rPr sz="2300" b="0" i="0">
                <a:solidFill>
                  <a:srgbClr val="182D3D"/>
                </a:solidFill>
                <a:latin typeface="Arial"/>
              </a:rPr>
              <a:t> določite stavčne člene. Nato določite vlogo pridevnika v </a:t>
            </a:r>
            <a:r>
              <a:rPr sz="2300" b="0" i="1">
                <a:solidFill>
                  <a:srgbClr val="182D3D"/>
                </a:solidFill>
                <a:latin typeface="Arial"/>
              </a:rPr>
              <a:t>Predlog je jasen</a:t>
            </a:r>
            <a:r>
              <a:rPr sz="2300" b="0" i="0">
                <a:solidFill>
                  <a:srgbClr val="182D3D"/>
                </a:solidFill>
                <a:latin typeface="Arial"/>
              </a:rPr>
              <a:t> in </a:t>
            </a:r>
            <a:r>
              <a:rPr sz="2300" b="0" i="1">
                <a:solidFill>
                  <a:srgbClr val="182D3D"/>
                </a:solidFill>
                <a:latin typeface="Arial"/>
              </a:rPr>
              <a:t>Jasen predlog je bil sprejet</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Pojasnite oba </a:t>
            </a:r>
            <a:r>
              <a:rPr sz="2300" b="0" i="1">
                <a:solidFill>
                  <a:srgbClr val="182D3D"/>
                </a:solidFill>
                <a:latin typeface="Arial"/>
              </a:rPr>
              <a:t>ali</a:t>
            </a:r>
            <a:r>
              <a:rPr sz="2300" b="0" i="0">
                <a:solidFill>
                  <a:srgbClr val="182D3D"/>
                </a:solidFill>
                <a:latin typeface="Arial"/>
              </a:rPr>
              <a:t> v </a:t>
            </a:r>
            <a:r>
              <a:rPr sz="2300" b="0" i="1">
                <a:solidFill>
                  <a:srgbClr val="182D3D"/>
                </a:solidFill>
                <a:latin typeface="Arial"/>
              </a:rPr>
              <a:t>Ni vedela, ali naj nadaljuje delo ali naj odide</a:t>
            </a:r>
            <a:r>
              <a:rPr sz="2300" b="0" i="0">
                <a:solidFill>
                  <a:srgbClr val="182D3D"/>
                </a:solidFill>
                <a:latin typeface="Arial"/>
              </a:rPr>
              <a:t>. Primerjajte še </a:t>
            </a:r>
            <a:r>
              <a:rPr sz="2300" b="0" i="1">
                <a:solidFill>
                  <a:srgbClr val="182D3D"/>
                </a:solidFill>
                <a:latin typeface="Arial"/>
              </a:rPr>
              <a:t>Poslal je odgovor, in to pravočasno</a:t>
            </a:r>
            <a:r>
              <a:rPr sz="2300" b="0" i="0">
                <a:solidFill>
                  <a:srgbClr val="182D3D"/>
                </a:solidFill>
                <a:latin typeface="Arial"/>
              </a:rPr>
              <a:t> ter </a:t>
            </a:r>
            <a:r>
              <a:rPr sz="2300" b="0" i="1">
                <a:solidFill>
                  <a:srgbClr val="182D3D"/>
                </a:solidFill>
                <a:latin typeface="Arial"/>
              </a:rPr>
              <a:t>Poslal je odgovor in to nas je presenetilo</a:t>
            </a:r>
            <a:r>
              <a:rPr sz="2300" b="0" i="0">
                <a:solidFill>
                  <a:srgbClr val="182D3D"/>
                </a:solidFill>
                <a:latin typeface="Arial"/>
              </a:rPr>
              <a:t>.</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Osebek je </a:t>
            </a:r>
            <a:r>
              <a:rPr sz="2300" b="0" i="1">
                <a:solidFill>
                  <a:srgbClr val="182D3D"/>
                </a:solidFill>
                <a:latin typeface="Arial"/>
              </a:rPr>
              <a:t>mlajši sodelavec</a:t>
            </a:r>
            <a:r>
              <a:rPr sz="2300" b="0" i="0">
                <a:solidFill>
                  <a:srgbClr val="182D3D"/>
                </a:solidFill>
                <a:latin typeface="Arial"/>
              </a:rPr>
              <a:t>, povedek </a:t>
            </a:r>
            <a:r>
              <a:rPr sz="2300" b="0" i="1">
                <a:solidFill>
                  <a:srgbClr val="182D3D"/>
                </a:solidFill>
                <a:latin typeface="Arial"/>
              </a:rPr>
              <a:t>je poslal</a:t>
            </a:r>
            <a:r>
              <a:rPr sz="2300" b="0" i="0">
                <a:solidFill>
                  <a:srgbClr val="182D3D"/>
                </a:solidFill>
                <a:latin typeface="Arial"/>
              </a:rPr>
              <a:t>, predmeta </a:t>
            </a:r>
            <a:r>
              <a:rPr sz="2300" b="0" i="1">
                <a:solidFill>
                  <a:srgbClr val="182D3D"/>
                </a:solidFill>
                <a:latin typeface="Arial"/>
              </a:rPr>
              <a:t>mentorici</a:t>
            </a:r>
            <a:r>
              <a:rPr sz="2300" b="0" i="0">
                <a:solidFill>
                  <a:srgbClr val="182D3D"/>
                </a:solidFill>
                <a:latin typeface="Arial"/>
              </a:rPr>
              <a:t> in </a:t>
            </a:r>
            <a:r>
              <a:rPr sz="2300" b="0" i="1">
                <a:solidFill>
                  <a:srgbClr val="182D3D"/>
                </a:solidFill>
                <a:latin typeface="Arial"/>
              </a:rPr>
              <a:t>tri predloge</a:t>
            </a:r>
            <a:r>
              <a:rPr sz="2300" b="0" i="0">
                <a:solidFill>
                  <a:srgbClr val="182D3D"/>
                </a:solidFill>
                <a:latin typeface="Arial"/>
              </a:rPr>
              <a:t>, časovno določilo </a:t>
            </a:r>
            <a:r>
              <a:rPr sz="2300" b="0" i="1">
                <a:solidFill>
                  <a:srgbClr val="182D3D"/>
                </a:solidFill>
                <a:latin typeface="Arial"/>
              </a:rPr>
              <a:t>v petek</a:t>
            </a:r>
            <a:r>
              <a:rPr sz="2300" b="0" i="0">
                <a:solidFill>
                  <a:srgbClr val="182D3D"/>
                </a:solidFill>
                <a:latin typeface="Arial"/>
              </a:rPr>
              <a:t>. </a:t>
            </a:r>
            <a:r>
              <a:rPr sz="2300" b="0" i="1">
                <a:solidFill>
                  <a:srgbClr val="182D3D"/>
                </a:solidFill>
                <a:latin typeface="Arial"/>
              </a:rPr>
              <a:t>Mlajši</a:t>
            </a:r>
            <a:r>
              <a:rPr sz="2300" b="0" i="0">
                <a:solidFill>
                  <a:srgbClr val="182D3D"/>
                </a:solidFill>
                <a:latin typeface="Arial"/>
              </a:rPr>
              <a:t> je notranji prilastek; </a:t>
            </a:r>
            <a:r>
              <a:rPr sz="2300" b="0" i="1">
                <a:solidFill>
                  <a:srgbClr val="182D3D"/>
                </a:solidFill>
                <a:latin typeface="Arial"/>
              </a:rPr>
              <a:t>tri</a:t>
            </a:r>
            <a:r>
              <a:rPr sz="2300" b="0" i="0">
                <a:solidFill>
                  <a:srgbClr val="182D3D"/>
                </a:solidFill>
                <a:latin typeface="Arial"/>
              </a:rPr>
              <a:t> določa količino v predmetu. V </a:t>
            </a:r>
            <a:r>
              <a:rPr sz="2300" b="0" i="1">
                <a:solidFill>
                  <a:srgbClr val="182D3D"/>
                </a:solidFill>
                <a:latin typeface="Arial"/>
              </a:rPr>
              <a:t>Predlog je jasen</a:t>
            </a:r>
            <a:r>
              <a:rPr sz="2300" b="0" i="0">
                <a:solidFill>
                  <a:srgbClr val="182D3D"/>
                </a:solidFill>
                <a:latin typeface="Arial"/>
              </a:rPr>
              <a:t> je </a:t>
            </a:r>
            <a:r>
              <a:rPr sz="2300" b="0" i="1">
                <a:solidFill>
                  <a:srgbClr val="182D3D"/>
                </a:solidFill>
                <a:latin typeface="Arial"/>
              </a:rPr>
              <a:t>jasen</a:t>
            </a:r>
            <a:r>
              <a:rPr sz="2300" b="0" i="0">
                <a:solidFill>
                  <a:srgbClr val="182D3D"/>
                </a:solidFill>
                <a:latin typeface="Arial"/>
              </a:rPr>
              <a:t> povedkovo določilo, v </a:t>
            </a:r>
            <a:r>
              <a:rPr sz="2300" b="0" i="1">
                <a:solidFill>
                  <a:srgbClr val="182D3D"/>
                </a:solidFill>
                <a:latin typeface="Arial"/>
              </a:rPr>
              <a:t>Jasen predlog</a:t>
            </a:r>
            <a:r>
              <a:rPr sz="2300" b="0" i="0">
                <a:solidFill>
                  <a:srgbClr val="182D3D"/>
                </a:solidFill>
                <a:latin typeface="Arial"/>
              </a:rPr>
              <a:t> pa prilastek k samostalniku.</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Prvi </a:t>
            </a:r>
            <a:r>
              <a:rPr sz="2300" b="0" i="1">
                <a:solidFill>
                  <a:srgbClr val="182D3D"/>
                </a:solidFill>
                <a:latin typeface="Arial"/>
              </a:rPr>
              <a:t>ali</a:t>
            </a:r>
            <a:r>
              <a:rPr sz="2300" b="0" i="0">
                <a:solidFill>
                  <a:srgbClr val="182D3D"/>
                </a:solidFill>
                <a:latin typeface="Arial"/>
              </a:rPr>
              <a:t> uvaja odvisno vprašanje, drugi povezuje alternativni vsebini. Pred drugim ni vejice. </a:t>
            </a:r>
            <a:r>
              <a:rPr sz="2300" b="0" i="1">
                <a:solidFill>
                  <a:srgbClr val="182D3D"/>
                </a:solidFill>
                <a:latin typeface="Arial"/>
              </a:rPr>
              <a:t>In to pravočasno</a:t>
            </a:r>
            <a:r>
              <a:rPr sz="2300" b="0" i="0">
                <a:solidFill>
                  <a:srgbClr val="182D3D"/>
                </a:solidFill>
                <a:latin typeface="Arial"/>
              </a:rPr>
              <a:t> pojasnjuje že povedano, v drugi povedi pa </a:t>
            </a:r>
            <a:r>
              <a:rPr sz="2300" b="0" i="1">
                <a:solidFill>
                  <a:srgbClr val="182D3D"/>
                </a:solidFill>
                <a:latin typeface="Arial"/>
              </a:rPr>
              <a:t>to</a:t>
            </a:r>
            <a:r>
              <a:rPr sz="2300" b="0" i="0">
                <a:solidFill>
                  <a:srgbClr val="182D3D"/>
                </a:solidFill>
                <a:latin typeface="Arial"/>
              </a:rPr>
              <a:t> pomeni dejstvo, da je bil odgovor poslan: gre za zaimek v osebku drugega stavka. Vejice zato ne določa samo zaporedje </a:t>
            </a:r>
            <a:r>
              <a:rPr sz="2300" b="0" i="1">
                <a:solidFill>
                  <a:srgbClr val="182D3D"/>
                </a:solidFill>
                <a:latin typeface="Arial"/>
              </a:rPr>
              <a:t>in to</a:t>
            </a:r>
            <a:r>
              <a:rPr sz="2300" b="0" i="0">
                <a:solidFill>
                  <a:srgbClr val="182D3D"/>
                </a:solidFill>
                <a:latin typeface="Arial"/>
              </a:rPr>
              <a: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209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Dodajte vejice: </a:t>
            </a:r>
            <a:r>
              <a:rPr sz="2300" b="0" i="1">
                <a:solidFill>
                  <a:srgbClr val="182D3D"/>
                </a:solidFill>
                <a:latin typeface="Arial"/>
              </a:rPr>
              <a:t>Vem da imaš čas in da želiš pomagati.</a:t>
            </a:r>
            <a:r>
              <a:rPr sz="2300" b="0" i="0">
                <a:solidFill>
                  <a:srgbClr val="182D3D"/>
                </a:solidFill>
                <a:latin typeface="Arial"/>
              </a:rPr>
              <a:t> </a:t>
            </a:r>
            <a:r>
              <a:rPr sz="2300" b="0" i="1">
                <a:solidFill>
                  <a:srgbClr val="182D3D"/>
                </a:solidFill>
                <a:latin typeface="Arial"/>
              </a:rPr>
              <a:t>Prejel sem vprašanje ki si ga poslala in pripravil odgovor.</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a:t>
            </a:r>
            <a:r>
              <a:rPr sz="2300" b="0" i="1">
                <a:solidFill>
                  <a:srgbClr val="182D3D"/>
                </a:solidFill>
                <a:latin typeface="Arial"/>
              </a:rPr>
              <a:t>Predlog da bi članek ki še ni pregledan takoj objavili ni bil sprejet.</a:t>
            </a:r>
            <a:r>
              <a:rPr sz="2300" b="0" i="0">
                <a:solidFill>
                  <a:srgbClr val="182D3D"/>
                </a:solidFill>
                <a:latin typeface="Arial"/>
              </a:rPr>
              <a:t> Poiščite ogrodje.</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210</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Vem, da imaš čas in da želiš pomagati.</a:t>
            </a:r>
            <a:r>
              <a:rPr sz="2300" b="0" i="0">
                <a:solidFill>
                  <a:srgbClr val="182D3D"/>
                </a:solidFill>
                <a:latin typeface="Arial"/>
              </a:rPr>
              <a:t> Odvisnika imata skupno nadredno besedo. </a:t>
            </a:r>
            <a:r>
              <a:rPr sz="2300" b="0" i="1">
                <a:solidFill>
                  <a:srgbClr val="182D3D"/>
                </a:solidFill>
                <a:latin typeface="Arial"/>
              </a:rPr>
              <a:t>Prejel sem vprašanje, ki si ga poslala, in pripravil odgovor.</a:t>
            </a:r>
            <a:r>
              <a:rPr sz="2300" b="0" i="0">
                <a:solidFill>
                  <a:srgbClr val="182D3D"/>
                </a:solidFill>
                <a:latin typeface="Arial"/>
              </a:rPr>
              <a:t> Druga vejica zapira odvisnik; </a:t>
            </a:r>
            <a:r>
              <a:rPr sz="2300" b="0" i="1">
                <a:solidFill>
                  <a:srgbClr val="182D3D"/>
                </a:solidFill>
                <a:latin typeface="Arial"/>
              </a:rPr>
              <a:t>in</a:t>
            </a:r>
            <a:r>
              <a:rPr sz="2300" b="0" i="0">
                <a:solidFill>
                  <a:srgbClr val="182D3D"/>
                </a:solidFill>
                <a:latin typeface="Arial"/>
              </a:rPr>
              <a:t> povezuje glavni dejanji.</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Predlog, da bi članek, ki še ni pregledan, takoj objavili, ni bil sprejet.</a:t>
            </a:r>
            <a:r>
              <a:rPr sz="2300" b="0" i="0">
                <a:solidFill>
                  <a:srgbClr val="182D3D"/>
                </a:solidFill>
                <a:latin typeface="Arial"/>
              </a:rPr>
              <a:t> Ogrodje: </a:t>
            </a:r>
            <a:r>
              <a:rPr sz="2300" b="0" i="1">
                <a:solidFill>
                  <a:srgbClr val="182D3D"/>
                </a:solidFill>
                <a:latin typeface="Arial"/>
              </a:rPr>
              <a:t>Predlog ni bil sprejet</a:t>
            </a:r>
            <a:r>
              <a:rPr sz="2300" b="0" i="0">
                <a:solidFill>
                  <a:srgbClr val="182D3D"/>
                </a:solidFill>
                <a:latin typeface="Arial"/>
              </a:rPr>
              <a:t>. Vsebinsko razširitev predloga prekinja odvisnik, ki določa članek.</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211</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Odstranite odvečne vejice: </a:t>
            </a:r>
            <a:r>
              <a:rPr sz="2300" b="0" i="1">
                <a:solidFill>
                  <a:srgbClr val="182D3D"/>
                </a:solidFill>
                <a:latin typeface="Arial"/>
              </a:rPr>
              <a:t>Na današnji seji komisije, smo sklenili, da bomo osnutek pregledali, in popravili.</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primerjave: </a:t>
            </a:r>
            <a:r>
              <a:rPr sz="2300" b="0" i="1">
                <a:solidFill>
                  <a:srgbClr val="182D3D"/>
                </a:solidFill>
                <a:latin typeface="Arial"/>
              </a:rPr>
              <a:t>Prevod je daljši kot izvirnik.</a:t>
            </a:r>
            <a:r>
              <a:rPr sz="2300" b="0" i="0">
                <a:solidFill>
                  <a:srgbClr val="182D3D"/>
                </a:solidFill>
                <a:latin typeface="Arial"/>
              </a:rPr>
              <a:t> </a:t>
            </a:r>
            <a:r>
              <a:rPr sz="2300" b="0" i="1">
                <a:solidFill>
                  <a:srgbClr val="182D3D"/>
                </a:solidFill>
                <a:latin typeface="Arial"/>
              </a:rPr>
              <a:t>Prevod je daljši kot smo pričakovali.</a:t>
            </a:r>
            <a:r>
              <a:rPr sz="2300" b="0" i="0">
                <a:solidFill>
                  <a:srgbClr val="182D3D"/>
                </a:solidFill>
                <a:latin typeface="Arial"/>
              </a:rPr>
              <a:t> </a:t>
            </a:r>
            <a:r>
              <a:rPr sz="2300" b="0" i="1">
                <a:solidFill>
                  <a:srgbClr val="182D3D"/>
                </a:solidFill>
                <a:latin typeface="Arial"/>
              </a:rPr>
              <a:t>Več je govoril kot delal.</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212</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Na današnji seji komisije smo sklenili, da bomo osnutek pregledali in popravili.</a:t>
            </a:r>
            <a:r>
              <a:rPr sz="2300" b="0" i="0">
                <a:solidFill>
                  <a:srgbClr val="182D3D"/>
                </a:solidFill>
                <a:latin typeface="Arial"/>
              </a:rPr>
              <a:t> Za začetnim stavčnim členom ni razloga za vejico; tudi vezalno povezanih dejanj znotraj odvisnika ne ločujemo.</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Vejico dodamo le v </a:t>
            </a:r>
            <a:r>
              <a:rPr sz="2300" b="0" i="1">
                <a:solidFill>
                  <a:srgbClr val="182D3D"/>
                </a:solidFill>
                <a:latin typeface="Arial"/>
              </a:rPr>
              <a:t>Prevod je daljši, kot smo pričakovali</a:t>
            </a:r>
            <a:r>
              <a:rPr sz="2300" b="0" i="0">
                <a:solidFill>
                  <a:srgbClr val="182D3D"/>
                </a:solidFill>
                <a:latin typeface="Arial"/>
              </a:rPr>
              <a:t>. Tam je primerjalni odvisnik z izraženim povedkom. Pri drugih dveh primerjavah uporabimo pravilo za nestavčni oziroma nepopolno izraženi primerjalni člen iz 6.8.</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Pojasnite elipso: </a:t>
            </a:r>
            <a:r>
              <a:rPr sz="2300" b="0" i="1">
                <a:solidFill>
                  <a:srgbClr val="182D3D"/>
                </a:solidFill>
                <a:latin typeface="Arial"/>
              </a:rPr>
              <a:t>Eva je izbrala prvi naslov Nika pa drugega.</a:t>
            </a:r>
            <a:r>
              <a:rPr sz="2300" b="0" i="0">
                <a:solidFill>
                  <a:srgbClr val="182D3D"/>
                </a:solidFill>
                <a:latin typeface="Arial"/>
              </a:rPr>
              <a:t> </a:t>
            </a:r>
            <a:r>
              <a:rPr sz="2300" b="0" i="1">
                <a:solidFill>
                  <a:srgbClr val="182D3D"/>
                </a:solidFill>
                <a:latin typeface="Arial"/>
              </a:rPr>
              <a:t>Zanima me kaj je res in kaj ne.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a:t>
            </a:r>
            <a:r>
              <a:rPr sz="2300" b="0" i="1">
                <a:solidFill>
                  <a:srgbClr val="182D3D"/>
                </a:solidFill>
                <a:latin typeface="Arial"/>
              </a:rPr>
              <a:t>Ko sem prebral poročilo sem opazil da so podatki ki jih navajate pravilni in da sklep ne sledi ugotovitvam.</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Eva je izbrala prvi naslov, Nika pa drugega.</a:t>
            </a:r>
            <a:r>
              <a:rPr sz="2300" b="0" i="0">
                <a:solidFill>
                  <a:srgbClr val="182D3D"/>
                </a:solidFill>
                <a:latin typeface="Arial"/>
              </a:rPr>
              <a:t> Pri Niki razumemo </a:t>
            </a:r>
            <a:r>
              <a:rPr sz="2300" b="0" i="1">
                <a:solidFill>
                  <a:srgbClr val="182D3D"/>
                </a:solidFill>
                <a:latin typeface="Arial"/>
              </a:rPr>
              <a:t>je izbrala</a:t>
            </a:r>
            <a:r>
              <a:rPr sz="2300" b="0" i="0">
                <a:solidFill>
                  <a:srgbClr val="182D3D"/>
                </a:solidFill>
                <a:latin typeface="Arial"/>
              </a:rPr>
              <a:t>. </a:t>
            </a:r>
            <a:r>
              <a:rPr sz="2300" b="0" i="1">
                <a:solidFill>
                  <a:srgbClr val="182D3D"/>
                </a:solidFill>
                <a:latin typeface="Arial"/>
              </a:rPr>
              <a:t>Zanima me, kaj je res in kaj ne.</a:t>
            </a:r>
            <a:r>
              <a:rPr sz="2300" b="0" i="0">
                <a:solidFill>
                  <a:srgbClr val="182D3D"/>
                </a:solidFill>
                <a:latin typeface="Arial"/>
              </a:rPr>
              <a:t> Drugi vprašalni del razvežemo v </a:t>
            </a:r>
            <a:r>
              <a:rPr sz="2300" b="0" i="1">
                <a:solidFill>
                  <a:srgbClr val="182D3D"/>
                </a:solidFill>
                <a:latin typeface="Arial"/>
              </a:rPr>
              <a:t>kaj ni res</a:t>
            </a:r>
            <a:r>
              <a:rPr sz="2300" b="0" i="0">
                <a:solidFill>
                  <a:srgbClr val="182D3D"/>
                </a:solidFill>
                <a:latin typeface="Arial"/>
              </a:rPr>
              <a:t>; ločilna meja je pred celotnim osebkovim odvisniškim dopolnilom: </a:t>
            </a:r>
            <a:r>
              <a:rPr sz="2300" b="0" i="1">
                <a:solidFill>
                  <a:srgbClr val="182D3D"/>
                </a:solidFill>
                <a:latin typeface="Arial"/>
              </a:rPr>
              <a:t>to me zanima</a:t>
            </a:r>
            <a:r>
              <a:rPr sz="2300" b="0" i="0">
                <a:solidFill>
                  <a:srgbClr val="182D3D"/>
                </a:solidFill>
                <a:latin typeface="Arial"/>
              </a:rPr>
              <a:t>. Zaimek </a:t>
            </a:r>
            <a:r>
              <a:rPr sz="2300" b="0" i="1">
                <a:solidFill>
                  <a:srgbClr val="182D3D"/>
                </a:solidFill>
                <a:latin typeface="Arial"/>
              </a:rPr>
              <a:t>me</a:t>
            </a:r>
            <a:r>
              <a:rPr sz="2300" b="0" i="0">
                <a:solidFill>
                  <a:srgbClr val="182D3D"/>
                </a:solidFill>
                <a:latin typeface="Arial"/>
              </a:rPr>
              <a:t> je predmet, ne osebek.</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Ko sem prebral poročilo, sem opazil, da so podatki, ki jih navajate, pravilni in da sklep ne sledi ugotovitvam.</a:t>
            </a:r>
            <a:r>
              <a:rPr sz="2300" b="0" i="0">
                <a:solidFill>
                  <a:srgbClr val="182D3D"/>
                </a:solidFill>
                <a:latin typeface="Arial"/>
              </a:rPr>
              <a:t> Časovni odvisnik se konča po </a:t>
            </a:r>
            <a:r>
              <a:rPr sz="2300" b="0" i="1">
                <a:solidFill>
                  <a:srgbClr val="182D3D"/>
                </a:solidFill>
                <a:latin typeface="Arial"/>
              </a:rPr>
              <a:t>poročilo</a:t>
            </a:r>
            <a:r>
              <a:rPr sz="2300" b="0" i="0">
                <a:solidFill>
                  <a:srgbClr val="182D3D"/>
                </a:solidFill>
                <a:latin typeface="Arial"/>
              </a:rPr>
              <a:t>, prilastkov po </a:t>
            </a:r>
            <a:r>
              <a:rPr sz="2300" b="0" i="1">
                <a:solidFill>
                  <a:srgbClr val="182D3D"/>
                </a:solidFill>
                <a:latin typeface="Arial"/>
              </a:rPr>
              <a:t>navajate</a:t>
            </a:r>
            <a:r>
              <a:rPr sz="2300" b="0" i="0">
                <a:solidFill>
                  <a:srgbClr val="182D3D"/>
                </a:solidFill>
                <a:latin typeface="Arial"/>
              </a:rPr>
              <a:t>. Vsebinski sestavini z </a:t>
            </a:r>
            <a:r>
              <a:rPr sz="2300" b="0" i="1">
                <a:solidFill>
                  <a:srgbClr val="182D3D"/>
                </a:solidFill>
                <a:latin typeface="Arial"/>
              </a:rPr>
              <a:t>da</a:t>
            </a:r>
            <a:r>
              <a:rPr sz="2300" b="0" i="0">
                <a:solidFill>
                  <a:srgbClr val="182D3D"/>
                </a:solidFill>
                <a:latin typeface="Arial"/>
              </a:rPr>
              <a:t> sta vezalno povezani.</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215</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Primerjajte: </a:t>
            </a:r>
            <a:r>
              <a:rPr sz="2300" b="0" i="1">
                <a:solidFill>
                  <a:srgbClr val="182D3D"/>
                </a:solidFill>
                <a:latin typeface="Arial"/>
              </a:rPr>
              <a:t>Prišla bo in če bo imela čas bo ostala.</a:t>
            </a:r>
            <a:r>
              <a:rPr sz="2300" b="0" i="0">
                <a:solidFill>
                  <a:srgbClr val="182D3D"/>
                </a:solidFill>
                <a:latin typeface="Arial"/>
              </a:rPr>
              <a:t> </a:t>
            </a:r>
            <a:r>
              <a:rPr sz="2300" b="0" i="1">
                <a:solidFill>
                  <a:srgbClr val="182D3D"/>
                </a:solidFill>
                <a:latin typeface="Arial"/>
              </a:rPr>
              <a:t>Zastoj je nastal zaradi okvare ali ker je zmanjkalo elektrike.</a:t>
            </a:r>
            <a:r>
              <a:rPr sz="2300" b="0" i="0">
                <a:solidFill>
                  <a:srgbClr val="182D3D"/>
                </a:solidFill>
                <a:latin typeface="Arial"/>
              </a:rPr>
              <a:t> Zakaj stik dveh veznikov nima enakega učinka?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in razložite: </a:t>
            </a:r>
            <a:r>
              <a:rPr sz="2300" b="0" i="1">
                <a:solidFill>
                  <a:srgbClr val="182D3D"/>
                </a:solidFill>
                <a:latin typeface="Arial"/>
              </a:rPr>
              <a:t>Kar se tiče rokov smo se dogovorili.</a:t>
            </a:r>
            <a:r>
              <a:rPr sz="2300" b="0" i="0">
                <a:solidFill>
                  <a:srgbClr val="182D3D"/>
                </a:solidFill>
                <a:latin typeface="Arial"/>
              </a:rPr>
              <a:t> </a:t>
            </a:r>
            <a:r>
              <a:rPr sz="2300" b="0" i="1">
                <a:solidFill>
                  <a:srgbClr val="182D3D"/>
                </a:solidFill>
                <a:latin typeface="Arial"/>
              </a:rPr>
              <a:t>Odgovor naj bo kar se da jasen.</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216</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Prišla bo, in če bo imela čas, bo ostala.</a:t>
            </a:r>
            <a:r>
              <a:rPr sz="2300" b="0" i="0">
                <a:solidFill>
                  <a:srgbClr val="182D3D"/>
                </a:solidFill>
                <a:latin typeface="Arial"/>
              </a:rPr>
              <a:t> Drugi priredni člen vsebuje začetni pogojni odvisnik. Poved o zastoju ostane brez vejice: </a:t>
            </a:r>
            <a:r>
              <a:rPr sz="2300" b="0" i="1">
                <a:solidFill>
                  <a:srgbClr val="182D3D"/>
                </a:solidFill>
                <a:latin typeface="Arial"/>
              </a:rPr>
              <a:t>ali</a:t>
            </a:r>
            <a:r>
              <a:rPr sz="2300" b="0" i="0">
                <a:solidFill>
                  <a:srgbClr val="182D3D"/>
                </a:solidFill>
                <a:latin typeface="Arial"/>
              </a:rPr>
              <a:t> povezuje dve vzročni določili istega dogodka, od katerih je samo drugo stavčno.</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Kar se tiče rokov, smo se dogovorili.</a:t>
            </a:r>
            <a:r>
              <a:rPr sz="2300" b="0" i="0">
                <a:solidFill>
                  <a:srgbClr val="182D3D"/>
                </a:solidFill>
                <a:latin typeface="Arial"/>
              </a:rPr>
              <a:t> Oziralni del ločimo od nadaljevanja. </a:t>
            </a:r>
            <a:r>
              <a:rPr sz="2300" b="0" i="1">
                <a:solidFill>
                  <a:srgbClr val="182D3D"/>
                </a:solidFill>
                <a:latin typeface="Arial"/>
              </a:rPr>
              <a:t>Odgovor naj bo kar se da jasen</a:t>
            </a:r>
            <a:r>
              <a:rPr sz="2300" b="0" i="0">
                <a:solidFill>
                  <a:srgbClr val="182D3D"/>
                </a:solidFill>
                <a:latin typeface="Arial"/>
              </a:rPr>
              <a:t> ostane brez vejic: ustaljena zveza določa stopnjo jasnosti. Skupna beseda </a:t>
            </a:r>
            <a:r>
              <a:rPr sz="2300" b="0" i="1">
                <a:solidFill>
                  <a:srgbClr val="182D3D"/>
                </a:solidFill>
                <a:latin typeface="Arial"/>
              </a:rPr>
              <a:t>kar</a:t>
            </a:r>
            <a:r>
              <a:rPr sz="2300" b="0" i="0">
                <a:solidFill>
                  <a:srgbClr val="182D3D"/>
                </a:solidFill>
                <a:latin typeface="Arial"/>
              </a:rPr>
              <a:t> ne pomeni enake zgradbe.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Vaja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217</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Uredite: </a:t>
            </a:r>
            <a:r>
              <a:rPr sz="2500" b="0" i="1">
                <a:solidFill>
                  <a:srgbClr val="182D3D"/>
                </a:solidFill>
                <a:latin typeface="Arial"/>
              </a:rPr>
              <a:t>Vprašanje kako nadaljevati delo je ostalo odprto.</a:t>
            </a:r>
            <a:r>
              <a:rPr sz="2500" b="0" i="0">
                <a:solidFill>
                  <a:srgbClr val="182D3D"/>
                </a:solidFill>
                <a:latin typeface="Arial"/>
              </a:rPr>
              <a:t> Nato presodite, ali </a:t>
            </a:r>
            <a:r>
              <a:rPr sz="2500" b="0" i="1">
                <a:solidFill>
                  <a:srgbClr val="182D3D"/>
                </a:solidFill>
                <a:latin typeface="Arial"/>
              </a:rPr>
              <a:t>Turisti gredo plavat ali se vozit s kočijo ali si ogledajo grad</a:t>
            </a:r>
            <a:r>
              <a:rPr sz="2500" b="0" i="0">
                <a:solidFill>
                  <a:srgbClr val="182D3D"/>
                </a:solidFill>
                <a:latin typeface="Arial"/>
              </a:rPr>
              <a:t> potrebuje vejico zaradi različne glagolske oblike.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218</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Vprašanje, kako nadaljevati delo, je ostalo odprto.</a:t>
            </a:r>
            <a:r>
              <a:rPr sz="2500" b="0" i="0">
                <a:solidFill>
                  <a:srgbClr val="182D3D"/>
                </a:solidFill>
                <a:latin typeface="Arial"/>
              </a:rPr>
              <a:t> Vmesno dopolnilo izraža vsebino vprašanja. Poved o turistih lahko ostane brez vejice: namenilniški možnosti sta povezani z </a:t>
            </a:r>
            <a:r>
              <a:rPr sz="2500" b="0" i="1">
                <a:solidFill>
                  <a:srgbClr val="182D3D"/>
                </a:solidFill>
                <a:latin typeface="Arial"/>
              </a:rPr>
              <a:t>ali</a:t>
            </a:r>
            <a:r>
              <a:rPr sz="2500" b="0" i="0">
                <a:solidFill>
                  <a:srgbClr val="182D3D"/>
                </a:solidFill>
                <a:latin typeface="Arial"/>
              </a:rPr>
              <a:t>, nato jima sledi še možnost, izražena z osebnim glagolom. Različna izrazna oblika ob ohranjenem ločnem razmerju sama ne zahteva vejice; primerjajte SP 2001, §§ 315–319.</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219</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vloge in izpusti.</a:t>
            </a:r>
            <a:r>
              <a:rPr sz="2500" b="0" i="0">
                <a:solidFill>
                  <a:srgbClr val="182D3D"/>
                </a:solidFill>
                <a:latin typeface="Arial"/>
              </a:rPr>
              <a:t> Primerjajte </a:t>
            </a:r>
            <a:r>
              <a:rPr sz="2500" b="0" i="1">
                <a:solidFill>
                  <a:srgbClr val="182D3D"/>
                </a:solidFill>
                <a:latin typeface="Arial"/>
              </a:rPr>
              <a:t>Urednica je pregledala rokopis</a:t>
            </a:r>
            <a:r>
              <a:rPr sz="2500" b="0" i="0">
                <a:solidFill>
                  <a:srgbClr val="182D3D"/>
                </a:solidFill>
                <a:latin typeface="Arial"/>
              </a:rPr>
              <a:t>, </a:t>
            </a:r>
            <a:r>
              <a:rPr sz="2500" b="0" i="1">
                <a:solidFill>
                  <a:srgbClr val="182D3D"/>
                </a:solidFill>
                <a:latin typeface="Arial"/>
              </a:rPr>
              <a:t>Rokopis je pregledala urednica</a:t>
            </a:r>
            <a:r>
              <a:rPr sz="2500" b="0" i="0">
                <a:solidFill>
                  <a:srgbClr val="182D3D"/>
                </a:solidFill>
                <a:latin typeface="Arial"/>
              </a:rPr>
              <a:t> in </a:t>
            </a:r>
            <a:r>
              <a:rPr sz="2500" b="0" i="1">
                <a:solidFill>
                  <a:srgbClr val="182D3D"/>
                </a:solidFill>
                <a:latin typeface="Arial"/>
              </a:rPr>
              <a:t>Rokopis je bil pregledan</a:t>
            </a:r>
            <a:r>
              <a:rPr sz="2500" b="0" i="0">
                <a:solidFill>
                  <a:srgbClr val="182D3D"/>
                </a:solidFill>
                <a:latin typeface="Arial"/>
              </a:rPr>
              <a:t>. Pri vsaki ločite vršilca, prizadeto in slovnični osebek. Nato ob </a:t>
            </a:r>
            <a:r>
              <a:rPr sz="2500" b="0" i="1">
                <a:solidFill>
                  <a:srgbClr val="182D3D"/>
                </a:solidFill>
                <a:latin typeface="Arial"/>
              </a:rPr>
              <a:t>Ani se je sanjalo</a:t>
            </a:r>
            <a:r>
              <a:rPr sz="2500" b="0" i="0">
                <a:solidFill>
                  <a:srgbClr val="182D3D"/>
                </a:solidFill>
                <a:latin typeface="Arial"/>
              </a:rPr>
              <a:t> pojasnite izraz </a:t>
            </a:r>
            <a:r>
              <a:rPr sz="2500" b="0" i="1">
                <a:solidFill>
                  <a:srgbClr val="182D3D"/>
                </a:solidFill>
                <a:latin typeface="Arial"/>
              </a:rPr>
              <a:t>logični osebek</a:t>
            </a:r>
            <a:r>
              <a:rPr sz="2500" b="0" i="0">
                <a:solidFill>
                  <a:srgbClr val="182D3D"/>
                </a:solidFill>
                <a:latin typeface="Arial"/>
              </a:rPr>
              <a:t>. Nazadnje presodite trditev: »Če lahko v odgovoru </a:t>
            </a:r>
            <a:r>
              <a:rPr sz="2500" b="0" i="1">
                <a:solidFill>
                  <a:srgbClr val="182D3D"/>
                </a:solidFill>
                <a:latin typeface="Arial"/>
              </a:rPr>
              <a:t>Sem ji že poslala</a:t>
            </a:r>
            <a:r>
              <a:rPr sz="2500" b="0" i="0">
                <a:solidFill>
                  <a:srgbClr val="182D3D"/>
                </a:solidFill>
                <a:latin typeface="Arial"/>
              </a:rPr>
              <a:t> izpustimo osnutek, poslano ni vezljivostno mesto glagola.«</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220</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 prvih dveh povedih je vršilka in osebek </a:t>
            </a:r>
            <a:r>
              <a:rPr sz="2500" b="0" i="1">
                <a:solidFill>
                  <a:srgbClr val="182D3D"/>
                </a:solidFill>
                <a:latin typeface="Arial"/>
              </a:rPr>
              <a:t>urednica</a:t>
            </a:r>
            <a:r>
              <a:rPr sz="2500" b="0" i="0">
                <a:solidFill>
                  <a:srgbClr val="182D3D"/>
                </a:solidFill>
                <a:latin typeface="Arial"/>
              </a:rPr>
              <a:t>, prizadeto in predmet pa </a:t>
            </a:r>
            <a:r>
              <a:rPr sz="2500" b="0" i="1">
                <a:solidFill>
                  <a:srgbClr val="182D3D"/>
                </a:solidFill>
                <a:latin typeface="Arial"/>
              </a:rPr>
              <a:t>rokopis</a:t>
            </a:r>
            <a:r>
              <a:rPr sz="2500" b="0" i="0">
                <a:solidFill>
                  <a:srgbClr val="182D3D"/>
                </a:solidFill>
                <a:latin typeface="Arial"/>
              </a:rPr>
              <a:t>. V drugi se spremeni besedni red, ne ujemanje ali sklonska razmerja. V tretji je </a:t>
            </a:r>
            <a:r>
              <a:rPr sz="2500" b="0" i="1">
                <a:solidFill>
                  <a:srgbClr val="182D3D"/>
                </a:solidFill>
                <a:latin typeface="Arial"/>
              </a:rPr>
              <a:t>rokopis</a:t>
            </a:r>
            <a:r>
              <a:rPr sz="2500" b="0" i="0">
                <a:solidFill>
                  <a:srgbClr val="182D3D"/>
                </a:solidFill>
                <a:latin typeface="Arial"/>
              </a:rPr>
              <a:t> še vedno prizadeto, vendar postane osebek; vršilec ni izražen. V </a:t>
            </a:r>
            <a:r>
              <a:rPr sz="2500" b="0" i="1">
                <a:solidFill>
                  <a:srgbClr val="182D3D"/>
                </a:solidFill>
                <a:latin typeface="Arial"/>
              </a:rPr>
              <a:t>Ani se je sanjalo</a:t>
            </a:r>
            <a:r>
              <a:rPr sz="2500" b="0" i="0">
                <a:solidFill>
                  <a:srgbClr val="182D3D"/>
                </a:solidFill>
                <a:latin typeface="Arial"/>
              </a:rPr>
              <a:t> je </a:t>
            </a:r>
            <a:r>
              <a:rPr sz="2500" b="0" i="1">
                <a:solidFill>
                  <a:srgbClr val="182D3D"/>
                </a:solidFill>
                <a:latin typeface="Arial"/>
              </a:rPr>
              <a:t>Ani</a:t>
            </a:r>
            <a:r>
              <a:rPr sz="2500" b="0" i="0">
                <a:solidFill>
                  <a:srgbClr val="182D3D"/>
                </a:solidFill>
                <a:latin typeface="Arial"/>
              </a:rPr>
              <a:t> doživljalka v dajalniku. Toporišičev izraz </a:t>
            </a:r>
            <a:r>
              <a:rPr sz="2500" b="0" i="1">
                <a:solidFill>
                  <a:srgbClr val="182D3D"/>
                </a:solidFill>
                <a:latin typeface="Arial"/>
              </a:rPr>
              <a:t>logični osebek</a:t>
            </a:r>
            <a:r>
              <a:rPr sz="2500" b="0" i="0">
                <a:solidFill>
                  <a:srgbClr val="182D3D"/>
                </a:solidFill>
                <a:latin typeface="Arial"/>
              </a:rPr>
              <a:t> poudarja to pomensko vlogo, medtem ko oblika </a:t>
            </a:r>
            <a:r>
              <a:rPr sz="2500" b="0" i="1">
                <a:solidFill>
                  <a:srgbClr val="182D3D"/>
                </a:solidFill>
                <a:latin typeface="Arial"/>
              </a:rPr>
              <a:t>se je sanjalo</a:t>
            </a:r>
            <a:r>
              <a:rPr sz="2500" b="0" i="0">
                <a:solidFill>
                  <a:srgbClr val="182D3D"/>
                </a:solidFill>
                <a:latin typeface="Arial"/>
              </a:rPr>
              <a:t> pokaže odsotnost običajnega imenovalniškega ujemanja. Zadnja trditev ne velja: v danem pogovornem sobesedilu je poslano obnovljivo, zato ga ni treba ponoviti. Izrečenost in vezljivost nista isto merilo.</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hierarhija in besedilni poudarek.</a:t>
            </a:r>
            <a:r>
              <a:rPr sz="2500" b="0" i="0">
                <a:solidFill>
                  <a:srgbClr val="182D3D"/>
                </a:solidFill>
                <a:latin typeface="Arial"/>
              </a:rPr>
              <a:t> Razčlenite </a:t>
            </a:r>
            <a:r>
              <a:rPr sz="2500" b="0" i="1">
                <a:solidFill>
                  <a:srgbClr val="182D3D"/>
                </a:solidFill>
                <a:latin typeface="Arial"/>
              </a:rPr>
              <a:t>Ana je morala začeti pregledovati rokopis</a:t>
            </a:r>
            <a:r>
              <a:rPr sz="2500" b="0" i="0">
                <a:solidFill>
                  <a:srgbClr val="182D3D"/>
                </a:solidFill>
                <a:latin typeface="Arial"/>
              </a:rPr>
              <a:t> ter primerjajte vlogo nedoločnika v </a:t>
            </a:r>
            <a:r>
              <a:rPr sz="2500" b="0" i="1">
                <a:solidFill>
                  <a:srgbClr val="182D3D"/>
                </a:solidFill>
                <a:latin typeface="Arial"/>
              </a:rPr>
              <a:t>Obljubila je priti</a:t>
            </a:r>
            <a:r>
              <a:rPr sz="2500" b="0" i="0">
                <a:solidFill>
                  <a:srgbClr val="182D3D"/>
                </a:solidFill>
                <a:latin typeface="Arial"/>
              </a:rPr>
              <a:t> in </a:t>
            </a:r>
            <a:r>
              <a:rPr sz="2500" b="0" i="1">
                <a:solidFill>
                  <a:srgbClr val="182D3D"/>
                </a:solidFill>
                <a:latin typeface="Arial"/>
              </a:rPr>
              <a:t>Morala je priti</a:t>
            </a:r>
            <a:r>
              <a:rPr sz="2500" b="0" i="0">
                <a:solidFill>
                  <a:srgbClr val="182D3D"/>
                </a:solidFill>
                <a:latin typeface="Arial"/>
              </a:rPr>
              <a:t>. Nato sestavite odgovor na </a:t>
            </a:r>
            <a:r>
              <a:rPr sz="2500" b="0" i="1">
                <a:solidFill>
                  <a:srgbClr val="182D3D"/>
                </a:solidFill>
                <a:latin typeface="Arial"/>
              </a:rPr>
              <a:t>Kdo je pregledal rokopis?</a:t>
            </a:r>
            <a:r>
              <a:rPr sz="2500" b="0" i="0">
                <a:solidFill>
                  <a:srgbClr val="182D3D"/>
                </a:solidFill>
                <a:latin typeface="Arial"/>
              </a:rPr>
              <a:t>, v katerem bo rokopis izhodišče. Poved </a:t>
            </a:r>
            <a:r>
              <a:rPr sz="2500" b="0" i="1">
                <a:solidFill>
                  <a:srgbClr val="182D3D"/>
                </a:solidFill>
                <a:latin typeface="Arial"/>
              </a:rPr>
              <a:t>Včeraj sem ji ga poslala</a:t>
            </a:r>
            <a:r>
              <a:rPr sz="2500" b="0" i="0">
                <a:solidFill>
                  <a:srgbClr val="182D3D"/>
                </a:solidFill>
                <a:latin typeface="Arial"/>
              </a:rPr>
              <a:t> preoblikujte tako, da poročate o Ani v tretji osebi in da stoji na začetku </a:t>
            </a:r>
            <a:r>
              <a:rPr sz="2500" b="0" i="1">
                <a:solidFill>
                  <a:srgbClr val="182D3D"/>
                </a:solidFill>
                <a:latin typeface="Arial"/>
              </a:rPr>
              <a:t>Ko je končala pregled</a:t>
            </a:r>
            <a:r>
              <a:rPr sz="2500" b="0" i="0">
                <a:solidFill>
                  <a:srgbClr val="182D3D"/>
                </a:solidFill>
                <a:latin typeface="Arial"/>
              </a:rPr>
              <a:t>. Utemeljite mesto vejice in zaporedje naslonk.</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50" b="0" i="0">
                <a:solidFill>
                  <a:srgbClr val="182D3D"/>
                </a:solidFill>
                <a:latin typeface="Arial"/>
              </a:rPr>
              <a:t>Niz </a:t>
            </a:r>
            <a:r>
              <a:rPr sz="2450" b="0" i="1">
                <a:solidFill>
                  <a:srgbClr val="182D3D"/>
                </a:solidFill>
                <a:latin typeface="Arial"/>
              </a:rPr>
              <a:t>je morala začeti pregledovati</a:t>
            </a:r>
            <a:r>
              <a:rPr sz="2450" b="0" i="0">
                <a:solidFill>
                  <a:srgbClr val="182D3D"/>
                </a:solidFill>
                <a:latin typeface="Arial"/>
              </a:rPr>
              <a:t> sestavlja hierarhično zgrajen povedek: preteklost, nujnost, začetek in dejavnost niso štirje samostojni stavki. </a:t>
            </a:r>
            <a:r>
              <a:rPr sz="2450" b="0" i="1">
                <a:solidFill>
                  <a:srgbClr val="182D3D"/>
                </a:solidFill>
                <a:latin typeface="Arial"/>
              </a:rPr>
              <a:t>Priti</a:t>
            </a:r>
            <a:r>
              <a:rPr sz="2450" b="0" i="0">
                <a:solidFill>
                  <a:srgbClr val="182D3D"/>
                </a:solidFill>
                <a:latin typeface="Arial"/>
              </a:rPr>
              <a:t> v </a:t>
            </a:r>
            <a:r>
              <a:rPr sz="2450" b="0" i="1">
                <a:solidFill>
                  <a:srgbClr val="182D3D"/>
                </a:solidFill>
                <a:latin typeface="Arial"/>
              </a:rPr>
              <a:t>Obljubila je priti</a:t>
            </a:r>
            <a:r>
              <a:rPr sz="2450" b="0" i="0">
                <a:solidFill>
                  <a:srgbClr val="182D3D"/>
                </a:solidFill>
                <a:latin typeface="Arial"/>
              </a:rPr>
              <a:t> izraža vsebino obljube; preverimo ga s predmetno pretvorbo </a:t>
            </a:r>
            <a:r>
              <a:rPr sz="2450" b="0" i="1">
                <a:solidFill>
                  <a:srgbClr val="182D3D"/>
                </a:solidFill>
                <a:latin typeface="Arial"/>
              </a:rPr>
              <a:t>Obljubila je prihod/da pride</a:t>
            </a:r>
            <a:r>
              <a:rPr sz="2450" b="0" i="0">
                <a:solidFill>
                  <a:srgbClr val="182D3D"/>
                </a:solidFill>
                <a:latin typeface="Arial"/>
              </a:rPr>
              <a:t>. Pri </a:t>
            </a:r>
            <a:r>
              <a:rPr sz="2450" b="0" i="1">
                <a:solidFill>
                  <a:srgbClr val="182D3D"/>
                </a:solidFill>
                <a:latin typeface="Arial"/>
              </a:rPr>
              <a:t>Morala je priti</a:t>
            </a:r>
            <a:r>
              <a:rPr sz="2450" b="0" i="0">
                <a:solidFill>
                  <a:srgbClr val="182D3D"/>
                </a:solidFill>
                <a:latin typeface="Arial"/>
              </a:rPr>
              <a:t> je nedoločnik sestavina naklonskega povedka. Odgovor z rokopisom kot izhodiščem je </a:t>
            </a:r>
            <a:r>
              <a:rPr sz="2450" b="0" i="1">
                <a:solidFill>
                  <a:srgbClr val="182D3D"/>
                </a:solidFill>
                <a:latin typeface="Arial"/>
              </a:rPr>
              <a:t>Rokopis je pregledala urednica</a:t>
            </a:r>
            <a:r>
              <a:rPr sz="2450" b="0" i="0">
                <a:solidFill>
                  <a:srgbClr val="182D3D"/>
                </a:solidFill>
                <a:latin typeface="Arial"/>
              </a:rPr>
              <a:t>: vršilka je osrednja nova informacija. Zadnja preoblikovana poved je </a:t>
            </a:r>
            <a:r>
              <a:rPr sz="2450" b="0" i="1">
                <a:solidFill>
                  <a:srgbClr val="182D3D"/>
                </a:solidFill>
                <a:latin typeface="Arial"/>
              </a:rPr>
              <a:t>Ko je končala pregled, ji ga je poslala</a:t>
            </a:r>
            <a:r>
              <a:rPr sz="2450" b="0" i="0">
                <a:solidFill>
                  <a:srgbClr val="182D3D"/>
                </a:solidFill>
                <a:latin typeface="Arial"/>
              </a:rPr>
              <a:t>. Vejica zapre časovni odvisnik. Zaimek </a:t>
            </a:r>
            <a:r>
              <a:rPr sz="2450" b="0" i="1">
                <a:solidFill>
                  <a:srgbClr val="182D3D"/>
                </a:solidFill>
                <a:latin typeface="Arial"/>
              </a:rPr>
              <a:t>ji</a:t>
            </a:r>
            <a:r>
              <a:rPr sz="2450" b="0" i="0">
                <a:solidFill>
                  <a:srgbClr val="182D3D"/>
                </a:solidFill>
                <a:latin typeface="Arial"/>
              </a:rPr>
              <a:t> predhaja </a:t>
            </a:r>
            <a:r>
              <a:rPr sz="2450" b="0" i="1">
                <a:solidFill>
                  <a:srgbClr val="182D3D"/>
                </a:solidFill>
                <a:latin typeface="Arial"/>
              </a:rPr>
              <a:t>ga</a:t>
            </a:r>
            <a:r>
              <a:rPr sz="2450" b="0" i="0">
                <a:solidFill>
                  <a:srgbClr val="182D3D"/>
                </a:solidFill>
                <a:latin typeface="Arial"/>
              </a:rPr>
              <a:t>, pomožnik </a:t>
            </a:r>
            <a:r>
              <a:rPr sz="2450" b="0" i="1">
                <a:solidFill>
                  <a:srgbClr val="182D3D"/>
                </a:solidFill>
                <a:latin typeface="Arial"/>
              </a:rPr>
              <a:t>je</a:t>
            </a:r>
            <a:r>
              <a:rPr sz="2450" b="0" i="0">
                <a:solidFill>
                  <a:srgbClr val="182D3D"/>
                </a:solidFill>
                <a:latin typeface="Arial"/>
              </a:rPr>
              <a:t> pa stoji za njima; prvotnega </a:t>
            </a:r>
            <a:r>
              <a:rPr sz="2450" b="0" i="1">
                <a:solidFill>
                  <a:srgbClr val="182D3D"/>
                </a:solidFill>
                <a:latin typeface="Arial"/>
              </a:rPr>
              <a:t>sem</a:t>
            </a:r>
            <a:r>
              <a:rPr sz="2450" b="0" i="0">
                <a:solidFill>
                  <a:srgbClr val="182D3D"/>
                </a:solidFill>
                <a:latin typeface="Arial"/>
              </a:rPr>
              <a:t> ne smemo le zamenjati z </a:t>
            </a:r>
            <a:r>
              <a:rPr sz="2450" b="0" i="1">
                <a:solidFill>
                  <a:srgbClr val="182D3D"/>
                </a:solidFill>
                <a:latin typeface="Arial"/>
              </a:rPr>
              <a:t>je</a:t>
            </a:r>
            <a:r>
              <a:rPr sz="2450" b="0" i="0">
                <a:solidFill>
                  <a:srgbClr val="182D3D"/>
                </a:solidFill>
                <a:latin typeface="Arial"/>
              </a:rPr>
              <a:t> in pustiti zaporedja </a:t>
            </a:r>
            <a:r>
              <a:rPr sz="2450" b="0" i="1">
                <a:solidFill>
                  <a:srgbClr val="182D3D"/>
                </a:solidFill>
                <a:latin typeface="Arial"/>
              </a:rPr>
              <a:t>je ji ga</a:t>
            </a:r>
            <a:r>
              <a:rPr sz="2450" b="0" i="0">
                <a:solidFill>
                  <a:srgbClr val="182D3D"/>
                </a:solidFill>
                <a:latin typeface="Arial"/>
              </a:rPr>
              <a:t>.</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223</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Obseg sestavine je pomembnejši od same začetne besede.</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Izpusti in neosebne oblike ohranijo slovnična razmerja.</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Vejico utemeljimo z razmerjem in obema mejama.</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Zdaj preverimo posebne vključitve: pristavke, vrivke, polstavke in navedke.</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50" b="0" i="0">
                <a:solidFill>
                  <a:srgbClr val="546674"/>
                </a:solidFill>
                <a:latin typeface="Arial"/>
              </a:rPr>
              <a:t>Branje: Toporišič 2004: 555–557, 587–589, 606–638, 660–663, 671, 675–676; SP 2001: § 289–348.</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7. Vrinjeno, pristavljeno, citirano</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Kako je dodana ali citirana vsebina vključena v poved?</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Razločimo prilastek, pristavek, vrivek, dostavek in nagovor.</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Povežemo neosebno obliko z njeno dejansko skladenjsko funkcijo.</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Uredimo navedke in ohranimo govorni položaj pri poročanju.</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Pristavek ponovno poimenuje isto osebo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225</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Skupno poimenovanje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Urednica Maja je pregledala besedilo.</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Zveza urednica Maja skupaj poimenuje osebo.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Dodatno poimenovanje</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urednica zbirke, je pregledala besedilo.</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Urednica zbirke je pristavek k že poimenovani Maji.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Pristavek omejimo na obeh straneh, če se poved nadaljuje.</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Vejica med prilastkoma ne odpira vrivka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226</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Odvečna vejica za delu</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 svojem drugem, bolj obširnem delu, je avtor ugotovil, da ...</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Prva vejica ne odpira vrivka do konca predložne zveze.</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Običajno branje</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 svojem drugem, bolj obširnem delu je avtor ugotovil, da ...</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Celotna predložna zveza ostaja vključena v glavni stavek.</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Vsako vejico razložimo z njenim lastnim skladenjskim razmerjem.</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Vmesni, vrinjeni in dostavljeni del</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227</a:t>
            </a:r>
          </a:p>
        </p:txBody>
      </p:sp>
      <p:graphicFrame>
        <p:nvGraphicFramePr>
          <p:cNvPr id="4" name="Table 3"/>
          <p:cNvGraphicFramePr>
            <a:graphicFrameLocks noGrp="1"/>
          </p:cNvGraphicFramePr>
          <p:nvPr/>
        </p:nvGraphicFramePr>
        <p:xfrm>
          <a:off x="621792" y="1810512"/>
          <a:ext cx="10954511" cy="3428745"/>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Vključitev</a:t>
                      </a:r>
                    </a:p>
                  </a:txBody>
                  <a:tcPr marL="137160" marR="137160" marT="73152" marB="73152" anchor="ctr">
                    <a:solidFill>
                      <a:srgbClr val="00695F"/>
                    </a:solidFill>
                  </a:tcPr>
                </a:tc>
              </a:tr>
              <a:tr h="1201673">
                <a:tc>
                  <a:txBody>
                    <a:bodyPr wrap="square"/>
                    <a:lstStyle/>
                    <a:p>
                      <a:pPr>
                        <a:lnSpc>
                          <a:spcPct val="108000"/>
                        </a:lnSpc>
                        <a:spcAft>
                          <a:spcPts val="0"/>
                        </a:spcAft>
                      </a:pPr>
                      <a:r>
                        <a:rPr sz="2200" b="0" i="0">
                          <a:solidFill>
                            <a:srgbClr val="182D3D"/>
                          </a:solidFill>
                          <a:latin typeface="Arial"/>
                        </a:rPr>
                        <a:t>Članek, ki ga pregledujemo, je nastal lani.</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Vmesni prilastkov odvisnik.</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Članek, to smo že omenili, je nastal lani.</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Vrinjeni komentar o sporočanju.</a:t>
                      </a:r>
                    </a:p>
                  </a:txBody>
                  <a:tcPr marL="137160" marR="137160" marT="73152" marB="73152" anchor="ctr">
                    <a:solidFill>
                      <a:srgbClr val="EDF1F2"/>
                    </a:solidFill>
                  </a:tcPr>
                </a:tc>
              </a:tr>
              <a:tr h="880364">
                <a:tc>
                  <a:txBody>
                    <a:bodyPr wrap="square"/>
                    <a:lstStyle/>
                    <a:p>
                      <a:pPr>
                        <a:lnSpc>
                          <a:spcPct val="108000"/>
                        </a:lnSpc>
                        <a:spcAft>
                          <a:spcPts val="0"/>
                        </a:spcAft>
                      </a:pPr>
                      <a:r>
                        <a:rPr sz="2200" b="0" i="0">
                          <a:solidFill>
                            <a:srgbClr val="182D3D"/>
                          </a:solidFill>
                          <a:latin typeface="Arial"/>
                        </a:rPr>
                        <a:t>Nalogo pošljite jutri, po možnosti zjutraj.</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Dostavek z naknadno podrobnostjo.</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Analiziramo odnos dodatka do celote, ne samo njegove lege.</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 pomišljajem je lahko še potrebna vejica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228</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Ko je bil pregled končan – trajal je dve uri –, smo odšli.</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Brez vstavka</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Ko je bil pregled končan, smo odšli.</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Vstavek</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trajal je dve uri omejimo s pomišljajema.</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Dve meji</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Pomišljaj zapre vstavek; vejica zapre časovni odvisnik.</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Ločili lahko označujeta različni skladenjski meji na istem mestu.</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Bolje rečeno: vključeni popravek ali komentar?</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229</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Tekoči popravek poimenovanja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Projekt oziroma bolje rečeno njegov prvi del bo končan maja.</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Popravek vključimo v tekočo zgradbo.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Osamosvojeno pojasnilo</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Projekt, oziroma bolje rečeno njegov prvi del, bo končan maja.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Omejimo celotni dodani popravek.</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Ne obdajamo mehanično samo besed bolje rečeno.</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Trije položaji istega zaporedja in da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230</a:t>
            </a:r>
          </a:p>
        </p:txBody>
      </p:sp>
      <p:graphicFrame>
        <p:nvGraphicFramePr>
          <p:cNvPr id="4" name="Table 3"/>
          <p:cNvGraphicFramePr>
            <a:graphicFrameLocks noGrp="1"/>
          </p:cNvGraphicFramePr>
          <p:nvPr/>
        </p:nvGraphicFramePr>
        <p:xfrm>
          <a:off x="621792" y="1810512"/>
          <a:ext cx="10954512" cy="3428745"/>
        </p:xfrm>
        <a:graphic>
          <a:graphicData uri="http://schemas.openxmlformats.org/drawingml/2006/table">
            <a:tbl>
              <a:tblPr firstRow="1" bandRow="1">
                <a:tableStyleId>{5C22544A-7EE6-4342-B048-85BDC9FD1C3A}</a:tableStyleId>
              </a:tblPr>
              <a:tblGrid>
                <a:gridCol w="2834640"/>
                <a:gridCol w="8119872"/>
              </a:tblGrid>
              <a:tr h="466344">
                <a:tc>
                  <a:txBody>
                    <a:bodyPr wrap="square"/>
                    <a:lstStyle/>
                    <a:p>
                      <a:pPr>
                        <a:lnSpc>
                          <a:spcPct val="108000"/>
                        </a:lnSpc>
                        <a:spcAft>
                          <a:spcPts val="0"/>
                        </a:spcAft>
                      </a:pPr>
                      <a:r>
                        <a:rPr sz="1550" b="1" i="0">
                          <a:solidFill>
                            <a:srgbClr val="FFFFFF"/>
                          </a:solidFill>
                          <a:latin typeface="Arial"/>
                        </a:rPr>
                        <a:t>Vključitev</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r>
              <a:tr h="880364">
                <a:tc>
                  <a:txBody>
                    <a:bodyPr wrap="square"/>
                    <a:lstStyle/>
                    <a:p>
                      <a:pPr>
                        <a:lnSpc>
                          <a:spcPct val="108000"/>
                        </a:lnSpc>
                        <a:spcAft>
                          <a:spcPts val="0"/>
                        </a:spcAft>
                      </a:pPr>
                      <a:r>
                        <a:rPr sz="2200" b="0" i="0">
                          <a:solidFill>
                            <a:srgbClr val="182D3D"/>
                          </a:solidFill>
                          <a:latin typeface="Arial"/>
                        </a:rPr>
                        <a:t>Navezava in komentar</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In, da ne pozabimo, zraven dobite tudi brezplačno majico!</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Komentar v naštevanju</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Tovrstne govorice zdaj širi nemški, francoski, angleški, in da bo ironija še večja, tudi ameriški tisk.</a:t>
                      </a:r>
                    </a:p>
                  </a:txBody>
                  <a:tcPr marL="137160" marR="137160" marT="73152" marB="73152" anchor="ctr">
                    <a:solidFill>
                      <a:srgbClr val="EDF1F2"/>
                    </a:solidFill>
                  </a:tcPr>
                </a:tc>
              </a:tr>
              <a:tr h="1201673">
                <a:tc>
                  <a:txBody>
                    <a:bodyPr wrap="square"/>
                    <a:lstStyle/>
                    <a:p>
                      <a:pPr>
                        <a:lnSpc>
                          <a:spcPct val="108000"/>
                        </a:lnSpc>
                        <a:spcAft>
                          <a:spcPts val="0"/>
                        </a:spcAft>
                      </a:pPr>
                      <a:r>
                        <a:rPr sz="2200" b="0" i="0">
                          <a:solidFill>
                            <a:srgbClr val="182D3D"/>
                          </a:solidFill>
                          <a:latin typeface="Arial"/>
                        </a:rPr>
                        <a:t>Priredna odvisnika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V današnjem tempu življenja pogosto pozabimo na to, da lahko pomagamo drugim in da bomo morda tudi sami potrebovali pomoč že jutri.</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Sosednost veznikov še ne določa ločila.</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Nagovor lahko imenuje istega človeka kot osebek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231</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Osebek</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je poslala osnutek.</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Maja je vključena v osnovno stavčno zgradbo.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Nagovor</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pošljite osnutek.</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Nagovor omejimo; osebek velelnika je neizraženi vi.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Pomenska istovetnost ne izenači slovničnih funkcij.</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Pridevniški del lahko opravlja štiri vloge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232</a:t>
            </a:r>
          </a:p>
        </p:txBody>
      </p:sp>
      <p:graphicFrame>
        <p:nvGraphicFramePr>
          <p:cNvPr id="4" name="Table 3"/>
          <p:cNvGraphicFramePr>
            <a:graphicFrameLocks noGrp="1"/>
          </p:cNvGraphicFramePr>
          <p:nvPr/>
        </p:nvGraphicFramePr>
        <p:xfrm>
          <a:off x="621792" y="1810512"/>
          <a:ext cx="10954511" cy="3596132"/>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Poved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Funkcija</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Jezen urednik je odšel.</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Levi prilastek.</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Urednik je jezen.</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Povedkovo določilo.</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Urednik je odšel jezen.</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Povedkov prilastek.</a:t>
                      </a:r>
                    </a:p>
                  </a:txBody>
                  <a:tcPr marL="137160" marR="137160" marT="73152" marB="73152" anchor="ctr">
                    <a:solidFill>
                      <a:srgbClr val="FFFFFF"/>
                    </a:solidFill>
                  </a:tcPr>
                </a:tc>
              </a:tr>
              <a:tr h="880364">
                <a:tc>
                  <a:txBody>
                    <a:bodyPr wrap="square"/>
                    <a:lstStyle/>
                    <a:p>
                      <a:pPr>
                        <a:lnSpc>
                          <a:spcPct val="108000"/>
                        </a:lnSpc>
                        <a:spcAft>
                          <a:spcPts val="0"/>
                        </a:spcAft>
                      </a:pPr>
                      <a:r>
                        <a:rPr sz="2200" b="0" i="0">
                          <a:solidFill>
                            <a:srgbClr val="182D3D"/>
                          </a:solidFill>
                          <a:latin typeface="Arial"/>
                        </a:rPr>
                        <a:t>Urednik, jezen zaradi zamude, je odšel.</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Desni polstavčni prilastek.</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Neosebna oblika sama še ne določi njene vključitve v poved.</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Neosebno jedro ne pomeni vedno vejice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233</a:t>
            </a:r>
          </a:p>
        </p:txBody>
      </p:sp>
      <p:graphicFrame>
        <p:nvGraphicFramePr>
          <p:cNvPr id="4" name="Table 3"/>
          <p:cNvGraphicFramePr>
            <a:graphicFrameLocks noGrp="1"/>
          </p:cNvGraphicFramePr>
          <p:nvPr/>
        </p:nvGraphicFramePr>
        <p:xfrm>
          <a:off x="621792" y="1810512"/>
          <a:ext cx="10954511" cy="3797804"/>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Zgled</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Vloga neosebne zveze</a:t>
                      </a:r>
                    </a:p>
                  </a:txBody>
                  <a:tcPr marL="137160" marR="137160" marT="73152" marB="73152" anchor="ctr">
                    <a:solidFill>
                      <a:srgbClr val="00695F"/>
                    </a:solidFill>
                  </a:tcPr>
                </a:tc>
              </a:tr>
              <a:tr h="832865">
                <a:tc>
                  <a:txBody>
                    <a:bodyPr wrap="square"/>
                    <a:lstStyle/>
                    <a:p>
                      <a:pPr>
                        <a:lnSpc>
                          <a:spcPct val="108000"/>
                        </a:lnSpc>
                        <a:spcAft>
                          <a:spcPts val="0"/>
                        </a:spcAft>
                      </a:pPr>
                      <a:r>
                        <a:rPr sz="2100" b="0" i="0">
                          <a:solidFill>
                            <a:srgbClr val="182D3D"/>
                          </a:solidFill>
                          <a:latin typeface="Arial"/>
                        </a:rPr>
                        <a:t>Urednica mora prebrati rokopis.</a:t>
                      </a:r>
                    </a:p>
                  </a:txBody>
                  <a:tcPr marL="137160" marR="137160" marT="73152" marB="73152" anchor="ctr">
                    <a:solidFill>
                      <a:srgbClr val="FFFFFF"/>
                    </a:solidFill>
                  </a:tcPr>
                </a:tc>
                <a:tc>
                  <a:txBody>
                    <a:bodyPr wrap="square"/>
                    <a:lstStyle/>
                    <a:p>
                      <a:pPr>
                        <a:lnSpc>
                          <a:spcPct val="108000"/>
                        </a:lnSpc>
                        <a:spcAft>
                          <a:spcPts val="0"/>
                        </a:spcAft>
                      </a:pPr>
                      <a:r>
                        <a:rPr sz="2100" b="0" i="0">
                          <a:solidFill>
                            <a:srgbClr val="182D3D"/>
                          </a:solidFill>
                          <a:latin typeface="Arial"/>
                        </a:rPr>
                        <a:t>Del naklonskega povedka.</a:t>
                      </a:r>
                    </a:p>
                  </a:txBody>
                  <a:tcPr marL="137160" marR="137160" marT="73152" marB="73152" anchor="ctr">
                    <a:solidFill>
                      <a:srgbClr val="FFFFFF"/>
                    </a:solidFill>
                  </a:tcPr>
                </a:tc>
              </a:tr>
              <a:tr h="832865">
                <a:tc>
                  <a:txBody>
                    <a:bodyPr wrap="square"/>
                    <a:lstStyle/>
                    <a:p>
                      <a:pPr>
                        <a:lnSpc>
                          <a:spcPct val="108000"/>
                        </a:lnSpc>
                        <a:spcAft>
                          <a:spcPts val="0"/>
                        </a:spcAft>
                      </a:pPr>
                      <a:r>
                        <a:rPr sz="2100" b="0" i="0">
                          <a:solidFill>
                            <a:srgbClr val="182D3D"/>
                          </a:solidFill>
                          <a:latin typeface="Arial"/>
                        </a:rPr>
                        <a:t>Prebrati rokopis je njena naloga.</a:t>
                      </a:r>
                    </a:p>
                  </a:txBody>
                  <a:tcPr marL="137160" marR="137160" marT="73152" marB="73152" anchor="ctr">
                    <a:solidFill>
                      <a:srgbClr val="EDF1F2"/>
                    </a:solidFill>
                  </a:tcPr>
                </a:tc>
                <a:tc>
                  <a:txBody>
                    <a:bodyPr wrap="square"/>
                    <a:lstStyle/>
                    <a:p>
                      <a:pPr>
                        <a:lnSpc>
                          <a:spcPct val="108000"/>
                        </a:lnSpc>
                        <a:spcAft>
                          <a:spcPts val="0"/>
                        </a:spcAft>
                      </a:pPr>
                      <a:r>
                        <a:rPr sz="2100" b="0" i="0">
                          <a:solidFill>
                            <a:srgbClr val="182D3D"/>
                          </a:solidFill>
                          <a:latin typeface="Arial"/>
                        </a:rPr>
                        <a:t>Osebek.</a:t>
                      </a:r>
                    </a:p>
                  </a:txBody>
                  <a:tcPr marL="137160" marR="137160" marT="73152" marB="73152" anchor="ctr">
                    <a:solidFill>
                      <a:srgbClr val="EDF1F2"/>
                    </a:solidFill>
                  </a:tcPr>
                </a:tc>
              </a:tr>
              <a:tr h="832865">
                <a:tc>
                  <a:txBody>
                    <a:bodyPr wrap="square"/>
                    <a:lstStyle/>
                    <a:p>
                      <a:pPr>
                        <a:lnSpc>
                          <a:spcPct val="108000"/>
                        </a:lnSpc>
                        <a:spcAft>
                          <a:spcPts val="0"/>
                        </a:spcAft>
                      </a:pPr>
                      <a:r>
                        <a:rPr sz="2100" b="0" i="0">
                          <a:solidFill>
                            <a:srgbClr val="182D3D"/>
                          </a:solidFill>
                          <a:latin typeface="Arial"/>
                        </a:rPr>
                        <a:t>Urednica je odšla prebrat rokopis.</a:t>
                      </a:r>
                    </a:p>
                  </a:txBody>
                  <a:tcPr marL="137160" marR="137160" marT="73152" marB="73152" anchor="ctr">
                    <a:solidFill>
                      <a:srgbClr val="FFFFFF"/>
                    </a:solidFill>
                  </a:tcPr>
                </a:tc>
                <a:tc>
                  <a:txBody>
                    <a:bodyPr wrap="square"/>
                    <a:lstStyle/>
                    <a:p>
                      <a:pPr>
                        <a:lnSpc>
                          <a:spcPct val="108000"/>
                        </a:lnSpc>
                        <a:spcAft>
                          <a:spcPts val="0"/>
                        </a:spcAft>
                      </a:pPr>
                      <a:r>
                        <a:rPr sz="2100" b="0" i="0">
                          <a:solidFill>
                            <a:srgbClr val="182D3D"/>
                          </a:solidFill>
                          <a:latin typeface="Arial"/>
                        </a:rPr>
                        <a:t>Namenilnik ob premikanju.</a:t>
                      </a:r>
                    </a:p>
                  </a:txBody>
                  <a:tcPr marL="137160" marR="137160" marT="73152" marB="73152" anchor="ctr">
                    <a:solidFill>
                      <a:srgbClr val="FFFFFF"/>
                    </a:solidFill>
                  </a:tcPr>
                </a:tc>
              </a:tr>
              <a:tr h="832865">
                <a:tc>
                  <a:txBody>
                    <a:bodyPr wrap="square"/>
                    <a:lstStyle/>
                    <a:p>
                      <a:pPr>
                        <a:lnSpc>
                          <a:spcPct val="108000"/>
                        </a:lnSpc>
                        <a:spcAft>
                          <a:spcPts val="0"/>
                        </a:spcAft>
                      </a:pPr>
                      <a:r>
                        <a:rPr sz="2100" b="0" i="0">
                          <a:solidFill>
                            <a:srgbClr val="182D3D"/>
                          </a:solidFill>
                          <a:latin typeface="Arial"/>
                        </a:rPr>
                        <a:t>Rokopis, prebran že prejšnji teden, je čakal na odgovor.</a:t>
                      </a:r>
                    </a:p>
                  </a:txBody>
                  <a:tcPr marL="137160" marR="137160" marT="73152" marB="73152" anchor="ctr">
                    <a:solidFill>
                      <a:srgbClr val="EDF1F2"/>
                    </a:solidFill>
                  </a:tcPr>
                </a:tc>
                <a:tc>
                  <a:txBody>
                    <a:bodyPr wrap="square"/>
                    <a:lstStyle/>
                    <a:p>
                      <a:pPr>
                        <a:lnSpc>
                          <a:spcPct val="108000"/>
                        </a:lnSpc>
                        <a:spcAft>
                          <a:spcPts val="0"/>
                        </a:spcAft>
                      </a:pPr>
                      <a:r>
                        <a:rPr sz="2100" b="0" i="0">
                          <a:solidFill>
                            <a:srgbClr val="182D3D"/>
                          </a:solidFill>
                          <a:latin typeface="Arial"/>
                        </a:rPr>
                        <a:t>Desni polstavčni prilastek.</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Formula polstavek = vejica ne pojasni vseh zgradb.</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Deležijski polstavek in vključeno prislovno določilo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234</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Spremljajoče dogajanje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Razmišljajoč o popravkih, je urednik zaprl računalnik.</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Razširjeni deležijski polstavek po SP 2001 ločimo z vejico.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Načinovno določilo</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Molče je odšel.</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Prislovna raba je vključena brez vejice.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Preverimo razvitost, funkcijo in odnos do preostale povedi.</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Vejica ne popravi napačnega nosilca dejanja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235</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Napačno nanašanje</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Zapirajoč računalnik, je zazvonil telefon.</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Zapiranje bi pripisali telefonu.</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Razločena nosilca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Ko je urednik zapiral računalnik, je zazvonil telefon.</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Časovni odvisnik izrecno poimenuje urednika.</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Pred ločili preverimo, kdo opravlja posamezno dejanje.</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Stisnjeni v kot: dve različni vključitvi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236</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Vključeni povedkov prilastek</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Stisnjeni v kot so se odločili, da popustijo.</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Začetna zveza ostane tesno vključena.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Osamosvojena polstavčna zgradba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Stisnjeni v kot, so se odločili, da popustijo.</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Začetno vsebino dodatno razmejimo.</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To pridevniško razliko ločimo od predloga P8 o začetnih deležijskih polstavkih.</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Položaj spremnega stavka določa zapis premega govora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237</a:t>
            </a:r>
          </a:p>
        </p:txBody>
      </p:sp>
      <p:graphicFrame>
        <p:nvGraphicFramePr>
          <p:cNvPr id="4" name="Table 3"/>
          <p:cNvGraphicFramePr>
            <a:graphicFrameLocks noGrp="1"/>
          </p:cNvGraphicFramePr>
          <p:nvPr/>
        </p:nvGraphicFramePr>
        <p:xfrm>
          <a:off x="621792" y="1810512"/>
          <a:ext cx="10954511" cy="3465576"/>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Spremni stavek</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Zapis</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Pred navedkom</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Maja je rekla: »Osnutek oddam jutri.«</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Za navedkom</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»Osnutek oddam jutri,« je rekla Maja.</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Sredi navedka</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»Osnutek,« je rekla Maja, »oddam jutri.«</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Za vprašanjem</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»Kdaj oddate osnutek?« je vprašala Maja.</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Navedek in spremni stavek imata določeni meji in medsebojno razmerje.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Poročanje prestavi osebo, čas in kraj</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238</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Ponedeljek v Ljubljani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»Jutri ti bom tukaj izročila osnutek.«</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Maja govori Ani.</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Torek v Kopru</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je včeraj Ani povedala, da ji bo danes v Ljubljani izročila osnutek.</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Nika poroča Roku.</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Besede prilagodimo, da ohranimo isti nanos in časovno razmerje.</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Sprememba naklona ne dovoljuje spremembe namena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239</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Neposredna izjava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»Pošlji mi pripombe,« je Maja rekla Ani.</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Velelna oblika pošlji; mi označuje Majo.</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Odvisni govor</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je Ani rekla, naj ji pošlje pripombe.</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Zgradba z naj; naslovnica je Ani.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Izbor spremnega glagola lahko spremeni interpretacijo govornega dejanja.</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Narekovaji lahko omejujejo stavčni člen</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240</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Navedek kot predmet</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Uredništvo zahteva »natančno preverjanje virov«.</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Navedena zveza dopolnjuje glagol zahteva.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Navedek kot osebek</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»Vedno preverimo vir« je geslo uredništva.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Med osebkom in povedkom ni dodatne vejice.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Oblika narekovajev sama ne pove, ali imamo premi govor.</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Včasih moramo razmejiti dve zgradbi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241</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Prepleteni zgradbi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Njena želja je »odpreti razstavo. Vse je že pripravljeno,« je povedala avtorica.</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Delni navedek preide v novo poved s pripisom govorki.</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Razmejeni povedi</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Njena želja je »odpreti razstavo«. »Vse je že pripravljeno,« je povedala avtorica.</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Ohranimo citirana dela in podatek o govorki.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Ločilo ne more nadomestiti manjkajoče skladenjske razmejitve.</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242</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in pojasnite razliko: </a:t>
            </a:r>
            <a:r>
              <a:rPr sz="2300" b="0" i="1">
                <a:solidFill>
                  <a:srgbClr val="182D3D"/>
                </a:solidFill>
                <a:latin typeface="Arial"/>
              </a:rPr>
              <a:t>Prevajalka Ana je prišla.</a:t>
            </a:r>
            <a:r>
              <a:rPr sz="2300" b="0" i="0">
                <a:solidFill>
                  <a:srgbClr val="182D3D"/>
                </a:solidFill>
                <a:latin typeface="Arial"/>
              </a:rPr>
              <a:t> </a:t>
            </a:r>
            <a:r>
              <a:rPr sz="2300" b="0" i="1">
                <a:solidFill>
                  <a:srgbClr val="182D3D"/>
                </a:solidFill>
                <a:latin typeface="Arial"/>
              </a:rPr>
              <a:t>Ana prevajalka iz Kopra je prišla.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Popravite: </a:t>
            </a:r>
            <a:r>
              <a:rPr sz="2300" b="0" i="1">
                <a:solidFill>
                  <a:srgbClr val="182D3D"/>
                </a:solidFill>
                <a:latin typeface="Arial"/>
              </a:rPr>
              <a:t>Na svojem prvem, krajšem predavanju, je raziskovalka predstavila metodo</a:t>
            </a:r>
            <a:r>
              <a:rPr sz="2300" b="0" i="0">
                <a:solidFill>
                  <a:srgbClr val="182D3D"/>
                </a:solidFill>
                <a:latin typeface="Arial"/>
              </a:rPr>
              <a:t>. Kaj bi pomenila različica brez obeh vejic?</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Prevajalka Ana je prišla</a:t>
            </a:r>
            <a:r>
              <a:rPr sz="2300" b="0" i="0">
                <a:solidFill>
                  <a:srgbClr val="182D3D"/>
                </a:solidFill>
                <a:latin typeface="Arial"/>
              </a:rPr>
              <a:t> ostane brez vejice. </a:t>
            </a:r>
            <a:r>
              <a:rPr sz="2300" b="0" i="1">
                <a:solidFill>
                  <a:srgbClr val="182D3D"/>
                </a:solidFill>
                <a:latin typeface="Arial"/>
              </a:rPr>
              <a:t>Ana, prevajalka iz Kopra, je prišla</a:t>
            </a:r>
            <a:r>
              <a:rPr sz="2300" b="0" i="0">
                <a:solidFill>
                  <a:srgbClr val="182D3D"/>
                </a:solidFill>
                <a:latin typeface="Arial"/>
              </a:rPr>
              <a:t> vsebuje drugo poimenovanje iste osebe. Pristavek tudi zapremo, saj se glavna poved nadaljuje.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Na svojem prvem, krajšem predavanju je raziskovalka predstavila metodo.</a:t>
            </a:r>
            <a:r>
              <a:rPr sz="2300" b="0" i="0">
                <a:solidFill>
                  <a:srgbClr val="182D3D"/>
                </a:solidFill>
                <a:latin typeface="Arial"/>
              </a:rPr>
              <a:t> Vejica med prilastkoma ne odpira vrivka. Zapis brez prve vejice bi lahko označeval prvo izmed več krajših predavanj; z njo prvo predavanje dodatno opišemo kot krajše. Vejica za </a:t>
            </a:r>
            <a:r>
              <a:rPr sz="2300" b="0" i="1">
                <a:solidFill>
                  <a:srgbClr val="182D3D"/>
                </a:solidFill>
                <a:latin typeface="Arial"/>
              </a:rPr>
              <a:t>predavanju</a:t>
            </a:r>
            <a:r>
              <a:rPr sz="2300" b="0" i="0">
                <a:solidFill>
                  <a:srgbClr val="182D3D"/>
                </a:solidFill>
                <a:latin typeface="Arial"/>
              </a:rPr>
              <a:t> ni utemeljena v nobeni od teh dveh razlag.</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Dodajte pomišljaja: </a:t>
            </a:r>
            <a:r>
              <a:rPr sz="2300" b="0" i="1">
                <a:solidFill>
                  <a:srgbClr val="182D3D"/>
                </a:solidFill>
                <a:latin typeface="Arial"/>
              </a:rPr>
              <a:t>Odgovor tega res nismo pričakovali je prišel še isti dan</a:t>
            </a:r>
            <a:r>
              <a:rPr sz="2300" b="0" i="0">
                <a:solidFill>
                  <a:srgbClr val="182D3D"/>
                </a:solidFill>
                <a:latin typeface="Arial"/>
              </a:rPr>
              <a:t>. Ali za zaklepnim pomišljajem potrebujemo tudi vejico?</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a:t>
            </a:r>
            <a:r>
              <a:rPr sz="2300" b="0" i="1">
                <a:solidFill>
                  <a:srgbClr val="182D3D"/>
                </a:solidFill>
                <a:latin typeface="Arial"/>
              </a:rPr>
              <a:t>In da ne bo nesporazuma nalogo oddate v petek.</a:t>
            </a:r>
            <a:r>
              <a:rPr sz="2300" b="0" i="0">
                <a:solidFill>
                  <a:srgbClr val="182D3D"/>
                </a:solidFill>
                <a:latin typeface="Arial"/>
              </a:rPr>
              <a:t> </a:t>
            </a:r>
            <a:r>
              <a:rPr sz="2300" b="0" i="1">
                <a:solidFill>
                  <a:srgbClr val="182D3D"/>
                </a:solidFill>
                <a:latin typeface="Arial"/>
              </a:rPr>
              <a:t>Vem da ste jo napisali in da jo boste oddali v petek.</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245</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Odgovor – tega res nismo pričakovali – je prišel še isti dan.</a:t>
            </a:r>
            <a:r>
              <a:rPr sz="2300" b="0" i="0">
                <a:solidFill>
                  <a:srgbClr val="182D3D"/>
                </a:solidFill>
                <a:latin typeface="Arial"/>
              </a:rPr>
              <a:t> Dodatne vejice ni: nadaljuje se ogrodje </a:t>
            </a:r>
            <a:r>
              <a:rPr sz="2300" b="0" i="1">
                <a:solidFill>
                  <a:srgbClr val="182D3D"/>
                </a:solidFill>
                <a:latin typeface="Arial"/>
              </a:rPr>
              <a:t>Odgovor je prišel še isti dan</a:t>
            </a:r>
            <a:r>
              <a:rPr sz="2300" b="0" i="0">
                <a:solidFill>
                  <a:srgbClr val="182D3D"/>
                </a:solidFill>
                <a:latin typeface="Arial"/>
              </a:rPr>
              <a:t>. Pomišljaja omejujeta komentar, na njuni desni meji pa ni druge stavčne meje.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In, da ne bo nesporazuma, nalogo oddate v petek.</a:t>
            </a:r>
            <a:r>
              <a:rPr sz="2300" b="0" i="0">
                <a:solidFill>
                  <a:srgbClr val="182D3D"/>
                </a:solidFill>
                <a:latin typeface="Arial"/>
              </a:rPr>
              <a:t> Komentar omejimo z vejicama. </a:t>
            </a:r>
            <a:r>
              <a:rPr sz="2300" b="0" i="1">
                <a:solidFill>
                  <a:srgbClr val="182D3D"/>
                </a:solidFill>
                <a:latin typeface="Arial"/>
              </a:rPr>
              <a:t>Vem, da ste jo napisali in da jo boste oddali v petek.</a:t>
            </a:r>
            <a:r>
              <a:rPr sz="2300" b="0" i="0">
                <a:solidFill>
                  <a:srgbClr val="182D3D"/>
                </a:solidFill>
                <a:latin typeface="Arial"/>
              </a:rPr>
              <a:t> Odvisnika dopolnjujeta isti </a:t>
            </a:r>
            <a:r>
              <a:rPr sz="2300" b="0" i="1">
                <a:solidFill>
                  <a:srgbClr val="182D3D"/>
                </a:solidFill>
                <a:latin typeface="Arial"/>
              </a:rPr>
              <a:t>vem</a:t>
            </a:r>
            <a:r>
              <a:rPr sz="2300" b="0" i="0">
                <a:solidFill>
                  <a:srgbClr val="182D3D"/>
                </a:solidFill>
                <a:latin typeface="Arial"/>
              </a:rPr>
              <a:t>; med njima je vezalno razmerje.</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246</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nagovor: </a:t>
            </a:r>
            <a:r>
              <a:rPr sz="2300" b="0" i="1">
                <a:solidFill>
                  <a:srgbClr val="182D3D"/>
                </a:solidFill>
                <a:latin typeface="Arial"/>
              </a:rPr>
              <a:t>Kolegica preverite še datum</a:t>
            </a:r>
            <a:r>
              <a:rPr sz="2300" b="0" i="0">
                <a:solidFill>
                  <a:srgbClr val="182D3D"/>
                </a:solidFill>
                <a:latin typeface="Arial"/>
              </a:rPr>
              <a:t>. Zakaj </a:t>
            </a:r>
            <a:r>
              <a:rPr sz="2300" b="0" i="1">
                <a:solidFill>
                  <a:srgbClr val="182D3D"/>
                </a:solidFill>
                <a:latin typeface="Arial"/>
              </a:rPr>
              <a:t>kolegica</a:t>
            </a:r>
            <a:r>
              <a:rPr sz="2300" b="0" i="0">
                <a:solidFill>
                  <a:srgbClr val="182D3D"/>
                </a:solidFill>
                <a:latin typeface="Arial"/>
              </a:rPr>
              <a:t> ni osebek? Nato pojasnite, zakaj v </a:t>
            </a:r>
            <a:r>
              <a:rPr sz="2300" b="0" i="1">
                <a:solidFill>
                  <a:srgbClr val="182D3D"/>
                </a:solidFill>
                <a:latin typeface="Arial"/>
              </a:rPr>
              <a:t>Pozdravil je z »dober dan«</a:t>
            </a:r>
            <a:r>
              <a:rPr sz="2300" b="0" i="0">
                <a:solidFill>
                  <a:srgbClr val="182D3D"/>
                </a:solidFill>
                <a:latin typeface="Arial"/>
              </a:rPr>
              <a:t> ni notranje vejice.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Spremni stavek postavite za navedek: </a:t>
            </a:r>
            <a:r>
              <a:rPr sz="2300" b="0" i="1">
                <a:solidFill>
                  <a:srgbClr val="182D3D"/>
                </a:solidFill>
                <a:latin typeface="Arial"/>
              </a:rPr>
              <a:t>Maja je vprašala: »Ste preverili vir?«</a:t>
            </a:r>
            <a:r>
              <a:rPr sz="2300" b="0" i="0">
                <a:solidFill>
                  <a:srgbClr val="182D3D"/>
                </a:solidFill>
                <a:latin typeface="Arial"/>
              </a:rPr>
              <a:t> Nato vsebino izrazite v odvisnem govoru.</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Kolegica, preverite še datum.</a:t>
            </a:r>
            <a:r>
              <a:rPr sz="2300" b="0" i="0">
                <a:solidFill>
                  <a:srgbClr val="182D3D"/>
                </a:solidFill>
                <a:latin typeface="Arial"/>
              </a:rPr>
              <a:t> Osebek velelne oblike je neizraženi </a:t>
            </a:r>
            <a:r>
              <a:rPr sz="2300" b="0" i="1">
                <a:solidFill>
                  <a:srgbClr val="182D3D"/>
                </a:solidFill>
                <a:latin typeface="Arial"/>
              </a:rPr>
              <a:t>vi</a:t>
            </a:r>
            <a:r>
              <a:rPr sz="2300" b="0" i="0">
                <a:solidFill>
                  <a:srgbClr val="182D3D"/>
                </a:solidFill>
                <a:latin typeface="Arial"/>
              </a:rPr>
              <a:t>, </a:t>
            </a:r>
            <a:r>
              <a:rPr sz="2300" b="0" i="1">
                <a:solidFill>
                  <a:srgbClr val="182D3D"/>
                </a:solidFill>
                <a:latin typeface="Arial"/>
              </a:rPr>
              <a:t>kolegica</a:t>
            </a:r>
            <a:r>
              <a:rPr sz="2300" b="0" i="0">
                <a:solidFill>
                  <a:srgbClr val="182D3D"/>
                </a:solidFill>
                <a:latin typeface="Arial"/>
              </a:rPr>
              <a:t> pa nagovor. Pri pozdravu z </a:t>
            </a:r>
            <a:r>
              <a:rPr sz="2300" b="0" i="1">
                <a:solidFill>
                  <a:srgbClr val="182D3D"/>
                </a:solidFill>
                <a:latin typeface="Arial"/>
              </a:rPr>
              <a:t>dober dan</a:t>
            </a:r>
            <a:r>
              <a:rPr sz="2300" b="0" i="0">
                <a:solidFill>
                  <a:srgbClr val="182D3D"/>
                </a:solidFill>
                <a:latin typeface="Arial"/>
              </a:rPr>
              <a:t> navajamo besedilo izraza znotraj predložne zveze; ne nagovarjamo samostojno, zato ne dodamo vejice.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»Ste preverili vir?« je vprašala Maja.</a:t>
            </a:r>
            <a:r>
              <a:rPr sz="2300" b="0" i="0">
                <a:solidFill>
                  <a:srgbClr val="182D3D"/>
                </a:solidFill>
                <a:latin typeface="Arial"/>
              </a:rPr>
              <a:t> Vprašaj ostane znotraj narekovajev. Odvisni govor je lahko </a:t>
            </a:r>
            <a:r>
              <a:rPr sz="2300" b="0" i="1">
                <a:solidFill>
                  <a:srgbClr val="182D3D"/>
                </a:solidFill>
                <a:latin typeface="Arial"/>
              </a:rPr>
              <a:t>Maja je vprašala, ali smo preverili vir</a:t>
            </a:r>
            <a:r>
              <a:rPr sz="2300" b="0" i="0">
                <a:solidFill>
                  <a:srgbClr val="182D3D"/>
                </a:solidFill>
                <a:latin typeface="Arial"/>
              </a:rPr>
              <a:t>, če smo bili naslovniki mi. Osebo izberemo glede na to, komu je bilo vprašanje namenjeno, ne z mehaničnim ohranjanjem oblike </a:t>
            </a:r>
            <a:r>
              <a:rPr sz="2300" b="0" i="1">
                <a:solidFill>
                  <a:srgbClr val="182D3D"/>
                </a:solidFill>
                <a:latin typeface="Arial"/>
              </a:rPr>
              <a:t>ste</a:t>
            </a:r>
            <a:r>
              <a:rPr sz="2300" b="0" i="0">
                <a:solidFill>
                  <a:srgbClr val="182D3D"/>
                </a:solidFill>
                <a:latin typeface="Arial"/>
              </a:rPr>
              <a:t>.</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Presodite vejico: </a:t>
            </a:r>
            <a:r>
              <a:rPr sz="2300" b="0" i="1">
                <a:solidFill>
                  <a:srgbClr val="182D3D"/>
                </a:solidFill>
                <a:latin typeface="Arial"/>
              </a:rPr>
              <a:t>»Podatke preverimo dvakrat«, je geslo skupine.</a:t>
            </a:r>
            <a:r>
              <a:rPr sz="2300" b="0" i="0">
                <a:solidFill>
                  <a:srgbClr val="182D3D"/>
                </a:solidFill>
                <a:latin typeface="Arial"/>
              </a:rPr>
              <a:t> Je zadnji del spremni stavek?</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Določite vloge pridevniških delov: </a:t>
            </a:r>
            <a:r>
              <a:rPr sz="2300" b="0" i="1">
                <a:solidFill>
                  <a:srgbClr val="182D3D"/>
                </a:solidFill>
                <a:latin typeface="Arial"/>
              </a:rPr>
              <a:t>Raziskovalka je utrujena.</a:t>
            </a:r>
            <a:r>
              <a:rPr sz="2300" b="0" i="0">
                <a:solidFill>
                  <a:srgbClr val="182D3D"/>
                </a:solidFill>
                <a:latin typeface="Arial"/>
              </a:rPr>
              <a:t> </a:t>
            </a:r>
            <a:r>
              <a:rPr sz="2300" b="0" i="1">
                <a:solidFill>
                  <a:srgbClr val="182D3D"/>
                </a:solidFill>
                <a:latin typeface="Arial"/>
              </a:rPr>
              <a:t>Raziskovalka je prišla utrujena.</a:t>
            </a:r>
            <a:r>
              <a:rPr sz="2300" b="0" i="0">
                <a:solidFill>
                  <a:srgbClr val="182D3D"/>
                </a:solidFill>
                <a:latin typeface="Arial"/>
              </a:rPr>
              <a:t> </a:t>
            </a:r>
            <a:r>
              <a:rPr sz="2300" b="0" i="1">
                <a:solidFill>
                  <a:srgbClr val="182D3D"/>
                </a:solidFill>
                <a:latin typeface="Arial"/>
              </a:rPr>
              <a:t>Utrujena raziskovalka je prišla.</a:t>
            </a:r>
            <a:r>
              <a:rPr sz="2300" b="0" i="0">
                <a:solidFill>
                  <a:srgbClr val="182D3D"/>
                </a:solidFill>
                <a:latin typeface="Arial"/>
              </a:rPr>
              <a:t> </a:t>
            </a:r>
            <a:r>
              <a:rPr sz="2300" b="0" i="1">
                <a:solidFill>
                  <a:srgbClr val="182D3D"/>
                </a:solidFill>
                <a:latin typeface="Arial"/>
              </a:rPr>
              <a:t>Raziskovalka utrujena od poti je prišla.</a:t>
            </a:r>
            <a:r>
              <a:rPr sz="2300" b="0" i="0">
                <a:solidFill>
                  <a:srgbClr val="182D3D"/>
                </a:solidFill>
                <a:latin typeface="Arial"/>
              </a:rPr>
              <a:t> Uredite ločila.</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7 in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249</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7.</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»Podatke preverimo dvakrat« je geslo skupine.</a:t>
            </a:r>
            <a:r>
              <a:rPr sz="2300" b="0" i="0">
                <a:solidFill>
                  <a:srgbClr val="182D3D"/>
                </a:solidFill>
                <a:latin typeface="Arial"/>
              </a:rPr>
              <a:t> Vejico odstranimo: navedek je vključen kot osebek, </a:t>
            </a:r>
            <a:r>
              <a:rPr sz="2300" b="0" i="1">
                <a:solidFill>
                  <a:srgbClr val="182D3D"/>
                </a:solidFill>
                <a:latin typeface="Arial"/>
              </a:rPr>
              <a:t>je geslo skupine</a:t>
            </a:r>
            <a:r>
              <a:rPr sz="2300" b="0" i="0">
                <a:solidFill>
                  <a:srgbClr val="182D3D"/>
                </a:solidFill>
                <a:latin typeface="Arial"/>
              </a:rPr>
              <a:t> pa ni spremni stavek premega govora.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8.</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Zaporedoma gre za povedkovo določilo, povedkov prilastek, levi prilastek in desni polstavčni prilastek. Prve tri povedi ostanejo brez vejic. Četrta: </a:t>
            </a:r>
            <a:r>
              <a:rPr sz="2300" b="0" i="1">
                <a:solidFill>
                  <a:srgbClr val="182D3D"/>
                </a:solidFill>
                <a:latin typeface="Arial"/>
              </a:rPr>
              <a:t>Raziskovalka, utrujena od poti, je prišla</a:t>
            </a:r>
            <a:r>
              <a:rPr sz="2300" b="0" i="0">
                <a:solidFill>
                  <a:srgbClr val="182D3D"/>
                </a:solidFill>
                <a:latin typeface="Arial"/>
              </a:rPr>
              <a:t>. Razširjeni desni opis razmejimo na obeh straneh; razlike med vlogami ne izbriše dejstvo, da povsod nastopa pridevnik.</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250</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po SP 2001 in razložite: </a:t>
            </a:r>
            <a:r>
              <a:rPr sz="2300" b="0" i="1">
                <a:solidFill>
                  <a:srgbClr val="182D3D"/>
                </a:solidFill>
                <a:latin typeface="Arial"/>
              </a:rPr>
              <a:t>Razmišljajoč o nalogi je zaprl računalnik.</a:t>
            </a:r>
            <a:r>
              <a:rPr sz="2300" b="0" i="0">
                <a:solidFill>
                  <a:srgbClr val="182D3D"/>
                </a:solidFill>
                <a:latin typeface="Arial"/>
              </a:rPr>
              <a:t> </a:t>
            </a:r>
            <a:r>
              <a:rPr sz="2300" b="0" i="1">
                <a:solidFill>
                  <a:srgbClr val="182D3D"/>
                </a:solidFill>
                <a:latin typeface="Arial"/>
              </a:rPr>
              <a:t>Molče je zaprl računalnik.</a:t>
            </a:r>
            <a:r>
              <a:rPr sz="2300" b="0" i="0">
                <a:solidFill>
                  <a:srgbClr val="182D3D"/>
                </a:solidFill>
                <a:latin typeface="Arial"/>
              </a:rPr>
              <a:t> Nato pojasnite možnost obeh členitev: </a:t>
            </a:r>
            <a:r>
              <a:rPr sz="2300" b="0" i="1">
                <a:solidFill>
                  <a:srgbClr val="182D3D"/>
                </a:solidFill>
                <a:latin typeface="Arial"/>
              </a:rPr>
              <a:t>Projekt oziroma bolje rečeno njegov prvi del bo končan maja</a:t>
            </a:r>
            <a:r>
              <a:rPr sz="230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Uredite tako, da ohranite citirani besedili in govorko: </a:t>
            </a:r>
            <a:r>
              <a:rPr sz="2300" b="0" i="1">
                <a:solidFill>
                  <a:srgbClr val="182D3D"/>
                </a:solidFill>
                <a:latin typeface="Arial"/>
              </a:rPr>
              <a:t>Njena želja je »dokončati knjigo. Rokopis je že skoraj pripravljen,« je povedala urednica.</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251</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050" b="0" i="1">
                <a:solidFill>
                  <a:srgbClr val="182D3D"/>
                </a:solidFill>
                <a:latin typeface="Arial"/>
              </a:rPr>
              <a:t>Razmišljajoč o nalogi, je zaprl računalnik</a:t>
            </a:r>
            <a:r>
              <a:rPr sz="2050" b="0" i="0">
                <a:solidFill>
                  <a:srgbClr val="182D3D"/>
                </a:solidFill>
                <a:latin typeface="Arial"/>
              </a:rPr>
              <a:t>: razširjeni deležijski polstavek po SP 2001, § 333. </a:t>
            </a:r>
            <a:r>
              <a:rPr sz="2050" b="0" i="1">
                <a:solidFill>
                  <a:srgbClr val="182D3D"/>
                </a:solidFill>
                <a:latin typeface="Arial"/>
              </a:rPr>
              <a:t>Molče je zaprl računalnik</a:t>
            </a:r>
            <a:r>
              <a:rPr sz="2050" b="0" i="0">
                <a:solidFill>
                  <a:srgbClr val="182D3D"/>
                </a:solidFill>
                <a:latin typeface="Arial"/>
              </a:rPr>
              <a:t> ostane brez vejice zaradi prislovne rabe. Projekt lahko pojasnimo v tekoči zvezi brez vejic ali popravek osamosvojimo: </a:t>
            </a:r>
            <a:r>
              <a:rPr sz="2050" b="0" i="1">
                <a:solidFill>
                  <a:srgbClr val="182D3D"/>
                </a:solidFill>
                <a:latin typeface="Arial"/>
              </a:rPr>
              <a:t>Projekt, oziroma bolje rečeno njegov prvi del, bo končan maja</a:t>
            </a:r>
            <a:r>
              <a:rPr sz="2050" b="0" i="0">
                <a:solidFill>
                  <a:srgbClr val="182D3D"/>
                </a:solidFill>
                <a:latin typeface="Arial"/>
              </a:rPr>
              <a:t>. V drugi možnosti moramo označiti obe meji celotnega dodatka; ni dovolj naključno omejiti samo dela </a:t>
            </a:r>
            <a:r>
              <a:rPr sz="2050" b="0" i="1">
                <a:solidFill>
                  <a:srgbClr val="182D3D"/>
                </a:solidFill>
                <a:latin typeface="Arial"/>
              </a:rPr>
              <a:t>bolje rečeno</a:t>
            </a:r>
            <a:r>
              <a:rPr sz="2050" b="0" i="0">
                <a:solidFill>
                  <a:srgbClr val="182D3D"/>
                </a:solidFill>
                <a:latin typeface="Arial"/>
              </a:rPr>
              <a:t>.</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Njena želja je »dokončati knjigo«. »Rokopis je že skoraj pripravljen,« je povedala urednica.</a:t>
            </a:r>
            <a:r>
              <a:rPr sz="2300" b="0" i="0">
                <a:solidFill>
                  <a:srgbClr val="182D3D"/>
                </a:solidFill>
                <a:latin typeface="Arial"/>
              </a:rPr>
              <a:t> Delni navedek je del prve okvirne povedi, druga citirana poved pa je vključena v premi govor.</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neosebno jedro in različen obseg.</a:t>
            </a:r>
            <a:r>
              <a:rPr sz="2500" b="0" i="0">
                <a:solidFill>
                  <a:srgbClr val="182D3D"/>
                </a:solidFill>
                <a:latin typeface="Arial"/>
              </a:rPr>
              <a:t> Uredite </a:t>
            </a:r>
            <a:r>
              <a:rPr sz="2500" b="0" i="1">
                <a:solidFill>
                  <a:srgbClr val="182D3D"/>
                </a:solidFill>
                <a:latin typeface="Arial"/>
              </a:rPr>
              <a:t>Urednica je morala prebrati rokopis.</a:t>
            </a:r>
            <a:r>
              <a:rPr sz="2500" b="0" i="0">
                <a:solidFill>
                  <a:srgbClr val="182D3D"/>
                </a:solidFill>
                <a:latin typeface="Arial"/>
              </a:rPr>
              <a:t> </a:t>
            </a:r>
            <a:r>
              <a:rPr sz="2500" b="0" i="1">
                <a:solidFill>
                  <a:srgbClr val="182D3D"/>
                </a:solidFill>
                <a:latin typeface="Arial"/>
              </a:rPr>
              <a:t>Urednica razočarana nad odgovorom je odšla.</a:t>
            </a:r>
            <a:r>
              <a:rPr sz="2500" b="0" i="0">
                <a:solidFill>
                  <a:srgbClr val="182D3D"/>
                </a:solidFill>
                <a:latin typeface="Arial"/>
              </a:rPr>
              <a:t> </a:t>
            </a:r>
            <a:r>
              <a:rPr sz="2500" b="0" i="1">
                <a:solidFill>
                  <a:srgbClr val="182D3D"/>
                </a:solidFill>
                <a:latin typeface="Arial"/>
              </a:rPr>
              <a:t>Urednica je odšla razočarana.</a:t>
            </a:r>
            <a:r>
              <a:rPr sz="2500" b="0" i="0">
                <a:solidFill>
                  <a:srgbClr val="182D3D"/>
                </a:solidFill>
                <a:latin typeface="Arial"/>
              </a:rPr>
              <a:t> Pri vsaki pojasnite vključitev neosebnega oziroma pridevniškega dela. Drugo poved razvežite najprej brez izrecnega vzroka in nato vzročno; kaj dodate z drugo pretvorbo? Nazadnje popravite nanašanje v </a:t>
            </a:r>
            <a:r>
              <a:rPr sz="2500" b="0" i="1">
                <a:solidFill>
                  <a:srgbClr val="182D3D"/>
                </a:solidFill>
                <a:latin typeface="Arial"/>
              </a:rPr>
              <a:t>Prebirajoč odgovor je urednico zmotil telefon</a:t>
            </a:r>
            <a:r>
              <a:rPr sz="2500" b="0" i="0">
                <a:solidFill>
                  <a:srgbClr val="182D3D"/>
                </a:solidFill>
                <a:latin typeface="Arial"/>
              </a:rPr>
              <a:t>.</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50" b="0" i="0">
                <a:solidFill>
                  <a:srgbClr val="182D3D"/>
                </a:solidFill>
                <a:latin typeface="Arial"/>
              </a:rPr>
              <a:t>Prva poved ostane brez vejice: </a:t>
            </a:r>
            <a:r>
              <a:rPr sz="2450" b="0" i="1">
                <a:solidFill>
                  <a:srgbClr val="182D3D"/>
                </a:solidFill>
                <a:latin typeface="Arial"/>
              </a:rPr>
              <a:t>je morala prebrati</a:t>
            </a:r>
            <a:r>
              <a:rPr sz="2450" b="0" i="0">
                <a:solidFill>
                  <a:srgbClr val="182D3D"/>
                </a:solidFill>
                <a:latin typeface="Arial"/>
              </a:rPr>
              <a:t> je naklonsko sestavljen povedek. Druga: </a:t>
            </a:r>
            <a:r>
              <a:rPr sz="2450" b="0" i="1">
                <a:solidFill>
                  <a:srgbClr val="182D3D"/>
                </a:solidFill>
                <a:latin typeface="Arial"/>
              </a:rPr>
              <a:t>Urednica, razočarana nad odgovorom, je odšla</a:t>
            </a:r>
            <a:r>
              <a:rPr sz="2450" b="0" i="0">
                <a:solidFill>
                  <a:srgbClr val="182D3D"/>
                </a:solidFill>
                <a:latin typeface="Arial"/>
              </a:rPr>
              <a:t>. Desni polstavčni opis ima za odnosnico </a:t>
            </a:r>
            <a:r>
              <a:rPr sz="2450" b="0" i="1">
                <a:solidFill>
                  <a:srgbClr val="182D3D"/>
                </a:solidFill>
                <a:latin typeface="Arial"/>
              </a:rPr>
              <a:t>urednica</a:t>
            </a:r>
            <a:r>
              <a:rPr sz="2450" b="0" i="0">
                <a:solidFill>
                  <a:srgbClr val="182D3D"/>
                </a:solidFill>
                <a:latin typeface="Arial"/>
              </a:rPr>
              <a:t> obe meji. Tretja ostane </a:t>
            </a:r>
            <a:r>
              <a:rPr sz="2450" b="0" i="1">
                <a:solidFill>
                  <a:srgbClr val="182D3D"/>
                </a:solidFill>
                <a:latin typeface="Arial"/>
              </a:rPr>
              <a:t>Urednica je odšla razočarana</a:t>
            </a:r>
            <a:r>
              <a:rPr sz="2450" b="0" i="0">
                <a:solidFill>
                  <a:srgbClr val="182D3D"/>
                </a:solidFill>
                <a:latin typeface="Arial"/>
              </a:rPr>
              <a:t>: pridevnik je vključen kot povedkov prilastek in izraža stanje ob odhodu. Možna razvezava druge povedi brez izrecnega vzroka je </a:t>
            </a:r>
            <a:r>
              <a:rPr sz="2450" b="0" i="1">
                <a:solidFill>
                  <a:srgbClr val="182D3D"/>
                </a:solidFill>
                <a:latin typeface="Arial"/>
              </a:rPr>
              <a:t>Urednica, ki je bila razočarana nad odgovorom, je odšla</a:t>
            </a:r>
            <a:r>
              <a:rPr sz="2450" b="0" i="0">
                <a:solidFill>
                  <a:srgbClr val="182D3D"/>
                </a:solidFill>
                <a:latin typeface="Arial"/>
              </a:rPr>
              <a:t>. Vzročna je </a:t>
            </a:r>
            <a:r>
              <a:rPr sz="2450" b="0" i="1">
                <a:solidFill>
                  <a:srgbClr val="182D3D"/>
                </a:solidFill>
                <a:latin typeface="Arial"/>
              </a:rPr>
              <a:t>Ker je bila urednica razočarana nad odgovorom, je odšla</a:t>
            </a:r>
            <a:r>
              <a:rPr sz="2450" b="0" i="0">
                <a:solidFill>
                  <a:srgbClr val="182D3D"/>
                </a:solidFill>
                <a:latin typeface="Arial"/>
              </a:rPr>
              <a:t>: ta že trdi, da je razočaranje razlog za odhod. Zadnja poved bi prebiranje pripisala telefonu. Popravek </a:t>
            </a:r>
            <a:r>
              <a:rPr sz="2450" b="0" i="1">
                <a:solidFill>
                  <a:srgbClr val="182D3D"/>
                </a:solidFill>
                <a:latin typeface="Arial"/>
              </a:rPr>
              <a:t>Ko je urednica prebirala odgovor, jo je zmotil telefon</a:t>
            </a:r>
            <a:r>
              <a:rPr sz="2450" b="0" i="0">
                <a:solidFill>
                  <a:srgbClr val="182D3D"/>
                </a:solidFill>
                <a:latin typeface="Arial"/>
              </a:rPr>
              <a:t> jasno loči nosilca obeh dejanj; samo vstavljena vejica težave ne odpravi.</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254</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dva govorna položaja.</a:t>
            </a:r>
            <a:r>
              <a:rPr sz="2500" b="0" i="0">
                <a:solidFill>
                  <a:srgbClr val="182D3D"/>
                </a:solidFill>
                <a:latin typeface="Arial"/>
              </a:rPr>
              <a:t> Maja v ponedeljek v Ljubljani reče Ani: </a:t>
            </a:r>
            <a:r>
              <a:rPr sz="2500" b="0" i="1">
                <a:solidFill>
                  <a:srgbClr val="182D3D"/>
                </a:solidFill>
                <a:latin typeface="Arial"/>
              </a:rPr>
              <a:t>»Jutri mi tukaj vrni osnutek.«</a:t>
            </a:r>
            <a:r>
              <a:rPr sz="2500" b="0" i="0">
                <a:solidFill>
                  <a:srgbClr val="182D3D"/>
                </a:solidFill>
                <a:latin typeface="Arial"/>
              </a:rPr>
              <a:t> Nika v torek zjutraj iz Kopra poroča Roku o Majinem navodilu. Napišite poročilo v odvisnem govoru ter pojasnite spremembe osebe, časa, kraja in naklona. Nato isto izjavo navedite kot premi govor s spremnim stavkom za navedkom. Zakaj se v njem prvotni </a:t>
            </a:r>
            <a:r>
              <a:rPr sz="2500" b="0" i="1">
                <a:solidFill>
                  <a:srgbClr val="182D3D"/>
                </a:solidFill>
                <a:latin typeface="Arial"/>
              </a:rPr>
              <a:t>jutri</a:t>
            </a:r>
            <a:r>
              <a:rPr sz="2500" b="0" i="0">
                <a:solidFill>
                  <a:srgbClr val="182D3D"/>
                </a:solidFill>
                <a:latin typeface="Arial"/>
              </a:rPr>
              <a:t> ohrani?</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50" b="0" i="0">
                <a:solidFill>
                  <a:srgbClr val="182D3D"/>
                </a:solidFill>
                <a:latin typeface="Arial"/>
              </a:rPr>
              <a:t>Ena jasna rešitev je </a:t>
            </a:r>
            <a:r>
              <a:rPr sz="2450" b="0" i="1">
                <a:solidFill>
                  <a:srgbClr val="182D3D"/>
                </a:solidFill>
                <a:latin typeface="Arial"/>
              </a:rPr>
              <a:t>Maja je včeraj Ani naročila, naj ji danes v Ljubljani vrne osnutek</a:t>
            </a:r>
            <a:r>
              <a:rPr sz="2450" b="0" i="0">
                <a:solidFill>
                  <a:srgbClr val="182D3D"/>
                </a:solidFill>
                <a:latin typeface="Arial"/>
              </a:rPr>
              <a:t>. Velelnik </a:t>
            </a:r>
            <a:r>
              <a:rPr sz="2450" b="0" i="1">
                <a:solidFill>
                  <a:srgbClr val="182D3D"/>
                </a:solidFill>
                <a:latin typeface="Arial"/>
              </a:rPr>
              <a:t>vrni</a:t>
            </a:r>
            <a:r>
              <a:rPr sz="2450" b="0" i="0">
                <a:solidFill>
                  <a:srgbClr val="182D3D"/>
                </a:solidFill>
                <a:latin typeface="Arial"/>
              </a:rPr>
              <a:t> postane zgradba z </a:t>
            </a:r>
            <a:r>
              <a:rPr sz="2450" b="0" i="1">
                <a:solidFill>
                  <a:srgbClr val="182D3D"/>
                </a:solidFill>
                <a:latin typeface="Arial"/>
              </a:rPr>
              <a:t>naj</a:t>
            </a:r>
            <a:r>
              <a:rPr sz="2450" b="0" i="0">
                <a:solidFill>
                  <a:srgbClr val="182D3D"/>
                </a:solidFill>
                <a:latin typeface="Arial"/>
              </a:rPr>
              <a:t>; vračala naj bi Ana, </a:t>
            </a:r>
            <a:r>
              <a:rPr sz="2450" b="0" i="1">
                <a:solidFill>
                  <a:srgbClr val="182D3D"/>
                </a:solidFill>
                <a:latin typeface="Arial"/>
              </a:rPr>
              <a:t>ji</a:t>
            </a:r>
            <a:r>
              <a:rPr sz="2450" b="0" i="0">
                <a:solidFill>
                  <a:srgbClr val="182D3D"/>
                </a:solidFill>
                <a:latin typeface="Arial"/>
              </a:rPr>
              <a:t> pa v tem sobesedilu označuje Majo. </a:t>
            </a:r>
            <a:r>
              <a:rPr sz="2450" b="0" i="1">
                <a:solidFill>
                  <a:srgbClr val="182D3D"/>
                </a:solidFill>
                <a:latin typeface="Arial"/>
              </a:rPr>
              <a:t>Jutri</a:t>
            </a:r>
            <a:r>
              <a:rPr sz="2450" b="0" i="0">
                <a:solidFill>
                  <a:srgbClr val="182D3D"/>
                </a:solidFill>
                <a:latin typeface="Arial"/>
              </a:rPr>
              <a:t> glede na ponedeljkovo izjavo pomeni torek, zato je za Nikino poročanje </a:t>
            </a:r>
            <a:r>
              <a:rPr sz="2450" b="0" i="1">
                <a:solidFill>
                  <a:srgbClr val="182D3D"/>
                </a:solidFill>
                <a:latin typeface="Arial"/>
              </a:rPr>
              <a:t>danes</a:t>
            </a:r>
            <a:r>
              <a:rPr sz="2450" b="0" i="0">
                <a:solidFill>
                  <a:srgbClr val="182D3D"/>
                </a:solidFill>
                <a:latin typeface="Arial"/>
              </a:rPr>
              <a:t>; </a:t>
            </a:r>
            <a:r>
              <a:rPr sz="2450" b="0" i="1">
                <a:solidFill>
                  <a:srgbClr val="182D3D"/>
                </a:solidFill>
                <a:latin typeface="Arial"/>
              </a:rPr>
              <a:t>tukaj</a:t>
            </a:r>
            <a:r>
              <a:rPr sz="2450" b="0" i="0">
                <a:solidFill>
                  <a:srgbClr val="182D3D"/>
                </a:solidFill>
                <a:latin typeface="Arial"/>
              </a:rPr>
              <a:t> se spremeni v izrecno </a:t>
            </a:r>
            <a:r>
              <a:rPr sz="2450" b="0" i="1">
                <a:solidFill>
                  <a:srgbClr val="182D3D"/>
                </a:solidFill>
                <a:latin typeface="Arial"/>
              </a:rPr>
              <a:t>v Ljubljani</a:t>
            </a:r>
            <a:r>
              <a:rPr sz="2450" b="0" i="0">
                <a:solidFill>
                  <a:srgbClr val="182D3D"/>
                </a:solidFill>
                <a:latin typeface="Arial"/>
              </a:rPr>
              <a:t>, saj Nika govori iz Kopra. Če bi bilo nanašanje zaradi širšega sobesedila nejasno, lahko Majo ponovno poimenujemo. Premi govor: </a:t>
            </a:r>
            <a:r>
              <a:rPr sz="2450" b="0" i="1">
                <a:solidFill>
                  <a:srgbClr val="182D3D"/>
                </a:solidFill>
                <a:latin typeface="Arial"/>
              </a:rPr>
              <a:t>»Jutri mi tukaj vrni osnutek,« je Maja v ponedeljek v Ljubljani rekla Ani.</a:t>
            </a:r>
            <a:r>
              <a:rPr sz="2450" b="0" i="0">
                <a:solidFill>
                  <a:srgbClr val="182D3D"/>
                </a:solidFill>
                <a:latin typeface="Arial"/>
              </a:rPr>
              <a:t> Navedek ohranja prvotni govorni položaj in zato tudi </a:t>
            </a:r>
            <a:r>
              <a:rPr sz="2450" b="0" i="1">
                <a:solidFill>
                  <a:srgbClr val="182D3D"/>
                </a:solidFill>
                <a:latin typeface="Arial"/>
              </a:rPr>
              <a:t>jutri</a:t>
            </a:r>
            <a:r>
              <a:rPr sz="2450" b="0" i="0">
                <a:solidFill>
                  <a:srgbClr val="182D3D"/>
                </a:solidFill>
                <a:latin typeface="Arial"/>
              </a:rPr>
              <a:t>, </a:t>
            </a:r>
            <a:r>
              <a:rPr sz="2450" b="0" i="1">
                <a:solidFill>
                  <a:srgbClr val="182D3D"/>
                </a:solidFill>
                <a:latin typeface="Arial"/>
              </a:rPr>
              <a:t>mi</a:t>
            </a:r>
            <a:r>
              <a:rPr sz="2450" b="0" i="0">
                <a:solidFill>
                  <a:srgbClr val="182D3D"/>
                </a:solidFill>
                <a:latin typeface="Arial"/>
              </a:rPr>
              <a:t> ter </a:t>
            </a:r>
            <a:r>
              <a:rPr sz="2450" b="0" i="1">
                <a:solidFill>
                  <a:srgbClr val="182D3D"/>
                </a:solidFill>
                <a:latin typeface="Arial"/>
              </a:rPr>
              <a:t>tukaj</a:t>
            </a:r>
            <a:r>
              <a:rPr sz="2450" b="0" i="0">
                <a:solidFill>
                  <a:srgbClr val="182D3D"/>
                </a:solidFill>
                <a:latin typeface="Arial"/>
              </a:rPr>
              <a:t>. Pri odvisnem govoru pa te izraze uskladimo s poročevalčevim položajem. Vejica pred desnim narekovajem je del pravila za navedek s sledečim spremnim stavkom.</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256</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Možnost izpusta sama ne določa vrste dodatka.</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Ločila sledijo funkciji in stopnji vključenosti.</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Poročanje in citiranje zahtevata pomensko zvestobo.</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V sklepnem poglavju te postopke združimo v celovit jezikovni nasvet in redakcijo besedila.</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50" b="0" i="0">
                <a:solidFill>
                  <a:srgbClr val="546674"/>
                </a:solidFill>
                <a:latin typeface="Arial"/>
              </a:rPr>
              <a:t>Branje: Toporišič 2004: 399–400, 632–634, 653–659; SP 2001: § 297–303, 333–347, 357, 390–392, 460.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8. Jezikovni nasvet</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Kako napišemo odgovor, ki je uporaben, utemeljen in pomensko zvest?</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Povežem ravni analize v celovitem uredniškem primeru.</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Preverim, katere podatke pretvorba ohrani, izpusti ali doda.</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Napišem strokovni odgovor za konkretnega naslovnika.</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Kaj mora ohraniti dober jezikovni nasvet?</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258</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Pri posegu sledimo pomenu skozi različne jezikovne oblike.</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Poimenovanje</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Kaj izraz označuje in kateri udeleženci so predvideni?</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Upovedovanje</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Kako so vsebina, čas, naklon in poudarek slovnično izraženi?</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Nasvet</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Katero rešitev lahko uporabnik uporabi in kako jo utemeljimo?</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Preverimo pomen, udeležence in razmerja, ki jih popravek ohrani ali spremeni.</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Najprej določimo pravi problem</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259</a:t>
            </a:r>
          </a:p>
        </p:txBody>
      </p:sp>
      <p:sp>
        <p:nvSpPr>
          <p:cNvPr id="4" name="TextBox 3"/>
          <p:cNvSpPr txBox="1"/>
          <p:nvPr/>
        </p:nvSpPr>
        <p:spPr>
          <a:xfrm>
            <a:off x="832104" y="2011679"/>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1</a:t>
            </a:r>
          </a:p>
        </p:txBody>
      </p:sp>
      <p:sp>
        <p:nvSpPr>
          <p:cNvPr id="5" name="TextBox 4"/>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1 · Predmet presoje</a:t>
            </a:r>
          </a:p>
        </p:txBody>
      </p:sp>
      <p:sp>
        <p:nvSpPr>
          <p:cNvPr id="6" name="TextBox 5"/>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Označimo besedo, zvezo ali mejo, o kateri odločamo.</a:t>
            </a:r>
          </a:p>
        </p:txBody>
      </p:sp>
      <p:sp>
        <p:nvSpPr>
          <p:cNvPr id="7" name="TextBox 6"/>
          <p:cNvSpPr txBox="1"/>
          <p:nvPr/>
        </p:nvSpPr>
        <p:spPr>
          <a:xfrm>
            <a:off x="832104" y="326136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2</a:t>
            </a:r>
          </a:p>
        </p:txBody>
      </p:sp>
      <p:sp>
        <p:nvSpPr>
          <p:cNvPr id="8" name="TextBox 7"/>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2 · Pomen in okoliščine</a:t>
            </a:r>
          </a:p>
        </p:txBody>
      </p:sp>
      <p:sp>
        <p:nvSpPr>
          <p:cNvPr id="9" name="TextBox 8"/>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Kdo govori, o čem, komu in v kakšnem besedilu?</a:t>
            </a:r>
          </a:p>
        </p:txBody>
      </p:sp>
      <p:sp>
        <p:nvSpPr>
          <p:cNvPr id="10" name="TextBox 9"/>
          <p:cNvSpPr txBox="1"/>
          <p:nvPr/>
        </p:nvSpPr>
        <p:spPr>
          <a:xfrm>
            <a:off x="832104" y="451104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3</a:t>
            </a:r>
          </a:p>
        </p:txBody>
      </p:sp>
      <p:sp>
        <p:nvSpPr>
          <p:cNvPr id="11" name="TextBox 10"/>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3 · Relevantna zgradba</a:t>
            </a:r>
          </a:p>
        </p:txBody>
      </p:sp>
      <p:sp>
        <p:nvSpPr>
          <p:cNvPr id="12" name="TextBox 11"/>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Določimo razmerje, ki je za odgovor odločilno.</a:t>
            </a:r>
          </a:p>
        </p:txBody>
      </p:sp>
      <p:sp>
        <p:nvSpPr>
          <p:cNvPr id="13" name="TextBox 12"/>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Natančno vprašanje usmeri izbiro preizkusa in vira.</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Od preverjanja do uporabnega odgovora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260</a:t>
            </a:r>
          </a:p>
        </p:txBody>
      </p:sp>
      <p:sp>
        <p:nvSpPr>
          <p:cNvPr id="4" name="TextBox 3"/>
          <p:cNvSpPr txBox="1"/>
          <p:nvPr/>
        </p:nvSpPr>
        <p:spPr>
          <a:xfrm>
            <a:off x="832104" y="2011679"/>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1</a:t>
            </a:r>
          </a:p>
        </p:txBody>
      </p:sp>
      <p:sp>
        <p:nvSpPr>
          <p:cNvPr id="5" name="TextBox 4"/>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4 · Vir in status</a:t>
            </a:r>
          </a:p>
        </p:txBody>
      </p:sp>
      <p:sp>
        <p:nvSpPr>
          <p:cNvPr id="6" name="TextBox 5"/>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Preverimo konkretni podatek, obseg pravila in različico vira.</a:t>
            </a:r>
          </a:p>
        </p:txBody>
      </p:sp>
      <p:sp>
        <p:nvSpPr>
          <p:cNvPr id="7" name="TextBox 6"/>
          <p:cNvSpPr txBox="1"/>
          <p:nvPr/>
        </p:nvSpPr>
        <p:spPr>
          <a:xfrm>
            <a:off x="832104" y="326136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2</a:t>
            </a:r>
          </a:p>
        </p:txBody>
      </p:sp>
      <p:sp>
        <p:nvSpPr>
          <p:cNvPr id="8" name="TextBox 7"/>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5 · Rešitev in razlog</a:t>
            </a:r>
          </a:p>
        </p:txBody>
      </p:sp>
      <p:sp>
        <p:nvSpPr>
          <p:cNvPr id="9" name="TextBox 8"/>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Povemo, kaj naj uporabnik napiše in iz česa rešitev sledi.</a:t>
            </a:r>
          </a:p>
        </p:txBody>
      </p:sp>
      <p:sp>
        <p:nvSpPr>
          <p:cNvPr id="10" name="TextBox 9"/>
          <p:cNvSpPr txBox="1"/>
          <p:nvPr/>
        </p:nvSpPr>
        <p:spPr>
          <a:xfrm>
            <a:off x="832104" y="451104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3</a:t>
            </a:r>
          </a:p>
        </p:txBody>
      </p:sp>
      <p:sp>
        <p:nvSpPr>
          <p:cNvPr id="11" name="TextBox 10"/>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6 · Alternative</a:t>
            </a:r>
          </a:p>
        </p:txBody>
      </p:sp>
      <p:sp>
        <p:nvSpPr>
          <p:cNvPr id="12" name="TextBox 11"/>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Pojasnimo pomensko razliko ali namen slogovnega posega.</a:t>
            </a:r>
          </a:p>
        </p:txBody>
      </p:sp>
      <p:sp>
        <p:nvSpPr>
          <p:cNvPr id="13" name="TextBox 12"/>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Odgovor mora biti kratek toliko, kolikor dopušča natančnost.</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»Kaj je notri, šteje.«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261</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Slovnična utemeljitev</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Pomembno je, kaj je notri.</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Glagol šteti izraža pomembnost; vsebinski odvisnik je postavljen naprej.</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Druga možna izbira</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Kar je notri, šteje.</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Sprememba zaimka vpliva na pomenski poudarek; razlago povežemo s sporočilom.</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Manj običajen vrstni red sam po sebi še ni napaka.</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Čigav članek je poslala Maja?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262</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Članek pripisujemo Maji</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je Nini poslala svoj članek.</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Povratnosvojilni zaimek se v tej zgradbi nanaša na osebek.</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Članek pripisujemo Nini</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Maja je Nini poslala Ninin članek.</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Izrecno poimenovanje odpravi dvoumnost nanašanja njen.</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Zamenjava zaimka lahko spremeni pomen.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Celovita redakcija: najprej podatki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263</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600" b="0" i="1">
                <a:solidFill>
                  <a:srgbClr val="182D3D"/>
                </a:solidFill>
                <a:latin typeface="Arial"/>
              </a:rPr>
              <a:t>V novemu katalogu predstavljamo Guyove zapiske o literarno zgodovinskih vprašanjih. Urednica je pojasnila da bomo poglavje ki ga je avtor dopolnil objavili v petek, in da bo katalog dostopen vsem študentom.</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Pomen</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Obravnavana je literarna zgodovina.</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Izgovor</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Guy je v nalogi francosko ime [gi].</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Vir</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Pri imenu uporabimo navedeni predlog eP 2025.</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Besedilo za popravljanje: ločimo različne vrste posegov.</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Tri popravke utemeljimo s tremi analizami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264</a:t>
            </a:r>
          </a:p>
        </p:txBody>
      </p:sp>
      <p:graphicFrame>
        <p:nvGraphicFramePr>
          <p:cNvPr id="4" name="Table 3"/>
          <p:cNvGraphicFramePr>
            <a:graphicFrameLocks noGrp="1"/>
          </p:cNvGraphicFramePr>
          <p:nvPr/>
        </p:nvGraphicFramePr>
        <p:xfrm>
          <a:off x="621792" y="1810512"/>
          <a:ext cx="10954511" cy="2715768"/>
        </p:xfrm>
        <a:graphic>
          <a:graphicData uri="http://schemas.openxmlformats.org/drawingml/2006/table">
            <a:tbl>
              <a:tblPr firstRow="1" bandRow="1">
                <a:tableStyleId>{5C22544A-7EE6-4342-B048-85BDC9FD1C3A}</a:tableStyleId>
              </a:tblPr>
              <a:tblGrid>
                <a:gridCol w="3749039"/>
                <a:gridCol w="7205472"/>
              </a:tblGrid>
              <a:tr h="466344">
                <a:tc>
                  <a:txBody>
                    <a:bodyPr wrap="square"/>
                    <a:lstStyle/>
                    <a:p>
                      <a:pPr>
                        <a:lnSpc>
                          <a:spcPct val="108000"/>
                        </a:lnSpc>
                        <a:spcAft>
                          <a:spcPts val="0"/>
                        </a:spcAft>
                      </a:pPr>
                      <a:r>
                        <a:rPr sz="1550" b="1" i="0">
                          <a:solidFill>
                            <a:srgbClr val="FFFFFF"/>
                          </a:solidFill>
                          <a:latin typeface="Arial"/>
                        </a:rPr>
                        <a:t>Rešitev</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Odločilni razlog</a:t>
                      </a:r>
                    </a:p>
                  </a:txBody>
                  <a:tcPr marL="137160" marR="137160" marT="73152" marB="73152" anchor="ctr">
                    <a:solidFill>
                      <a:srgbClr val="00695F"/>
                    </a:solidFill>
                  </a:tcPr>
                </a:tc>
              </a:tr>
              <a:tr h="749808">
                <a:tc>
                  <a:txBody>
                    <a:bodyPr wrap="square"/>
                    <a:lstStyle/>
                    <a:p>
                      <a:pPr>
                        <a:lnSpc>
                          <a:spcPct val="108000"/>
                        </a:lnSpc>
                        <a:spcAft>
                          <a:spcPts val="0"/>
                        </a:spcAft>
                      </a:pPr>
                      <a:r>
                        <a:rPr sz="2200" b="0" i="0">
                          <a:solidFill>
                            <a:srgbClr val="182D3D"/>
                          </a:solidFill>
                          <a:latin typeface="Arial"/>
                        </a:rPr>
                        <a:t>v novem katalogu</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Mestnik; pridevnik se ujema s samostalnikom.</a:t>
                      </a:r>
                    </a:p>
                  </a:txBody>
                  <a:tcPr marL="137160" marR="137160" marT="73152" marB="73152" anchor="ctr">
                    <a:solidFill>
                      <a:srgbClr val="FFFFFF"/>
                    </a:solidFill>
                  </a:tcPr>
                </a:tc>
              </a:tr>
              <a:tr h="749808">
                <a:tc>
                  <a:txBody>
                    <a:bodyPr wrap="square"/>
                    <a:lstStyle/>
                    <a:p>
                      <a:pPr>
                        <a:lnSpc>
                          <a:spcPct val="108000"/>
                        </a:lnSpc>
                        <a:spcAft>
                          <a:spcPts val="0"/>
                        </a:spcAft>
                      </a:pPr>
                      <a:r>
                        <a:rPr sz="2200" b="0" i="0">
                          <a:solidFill>
                            <a:srgbClr val="182D3D"/>
                          </a:solidFill>
                          <a:latin typeface="Arial"/>
                        </a:rPr>
                        <a:t>Guyjeve zapiske</a:t>
                      </a:r>
                    </a:p>
                  </a:txBody>
                  <a:tcPr marL="137160" marR="137160" marT="73152" marB="73152" anchor="ctr">
                    <a:solidFill>
                      <a:srgbClr val="EDF1F2"/>
                    </a:solidFill>
                  </a:tcPr>
                </a:tc>
                <a:tc>
                  <a:txBody>
                    <a:bodyPr wrap="square"/>
                    <a:lstStyle/>
                    <a:p>
                      <a:pPr>
                        <a:lnSpc>
                          <a:spcPct val="108000"/>
                        </a:lnSpc>
                        <a:spcAft>
                          <a:spcPts val="0"/>
                        </a:spcAft>
                      </a:pPr>
                      <a:r>
                        <a:rPr sz="2200" b="0" i="0">
                          <a:solidFill>
                            <a:srgbClr val="182D3D"/>
                          </a:solidFill>
                          <a:latin typeface="Arial"/>
                        </a:rPr>
                        <a:t>[gi] → Guyja → Guyjev; izbrani vir je eP 2025.</a:t>
                      </a:r>
                    </a:p>
                  </a:txBody>
                  <a:tcPr marL="137160" marR="137160" marT="73152" marB="73152" anchor="ctr">
                    <a:solidFill>
                      <a:srgbClr val="EDF1F2"/>
                    </a:solidFill>
                  </a:tcPr>
                </a:tc>
              </a:tr>
              <a:tr h="749808">
                <a:tc>
                  <a:txBody>
                    <a:bodyPr wrap="square"/>
                    <a:lstStyle/>
                    <a:p>
                      <a:pPr>
                        <a:lnSpc>
                          <a:spcPct val="108000"/>
                        </a:lnSpc>
                        <a:spcAft>
                          <a:spcPts val="0"/>
                        </a:spcAft>
                      </a:pPr>
                      <a:r>
                        <a:rPr sz="2200" b="0" i="0">
                          <a:solidFill>
                            <a:srgbClr val="182D3D"/>
                          </a:solidFill>
                          <a:latin typeface="Arial"/>
                        </a:rPr>
                        <a:t>literarnozgodovinskih</a:t>
                      </a:r>
                    </a:p>
                  </a:txBody>
                  <a:tcPr marL="137160" marR="137160" marT="73152" marB="73152" anchor="ctr">
                    <a:solidFill>
                      <a:srgbClr val="FFFFFF"/>
                    </a:solidFill>
                  </a:tcPr>
                </a:tc>
                <a:tc>
                  <a:txBody>
                    <a:bodyPr wrap="square"/>
                    <a:lstStyle/>
                    <a:p>
                      <a:pPr>
                        <a:lnSpc>
                          <a:spcPct val="108000"/>
                        </a:lnSpc>
                        <a:spcAft>
                          <a:spcPts val="0"/>
                        </a:spcAft>
                      </a:pPr>
                      <a:r>
                        <a:rPr sz="2200" b="0" i="0">
                          <a:solidFill>
                            <a:srgbClr val="182D3D"/>
                          </a:solidFill>
                          <a:latin typeface="Arial"/>
                        </a:rPr>
                        <a:t>Povezanost z literarno zgodovino; podredna podstava.</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Pravilni zapis podprem z ustrezno ravnjo analize.</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Vejice sledijo obsegu sestavin</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265</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Urednica je pojasnila, da bomo poglavje, ki ga je avtor dopolnil, objavili v petek in da bo katalog dostopen vsem študentom.</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Zunanja odvisnost</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Dve vsebini dopolnjujeta pojasnila.</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Notranji odvisnik</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ki ga je avtor dopolnil določa poglavje.</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Prirednost</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in poveže enakovredni vsebini; notranja meja je že zaprta.</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Vejico pojasnimo z mejo konkretne sestavine.</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Kaj skriva imenska zgradba?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266</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Izhodišče za analizo: po uredničini potrditvi prevoda avtor pošlje datoteko založbi.</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Potrditev</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Urednica potrdi prevod. Kdo ga je prevedel, ni navedeno.</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Pošiljanje</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Avtor nato pošlje datoteko založbi.</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Dodatno stanje</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Avtor je utrujen od pogajanj; podatek dodamo kot odmaknjeno pojasnilo.</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Pred pretvorbo določimo vsebino in namen vključitve.</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Tri vsebine, različne slovnične uresničitve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267</a:t>
            </a:r>
          </a:p>
        </p:txBody>
      </p:sp>
      <p:graphicFrame>
        <p:nvGraphicFramePr>
          <p:cNvPr id="4" name="Table 3"/>
          <p:cNvGraphicFramePr>
            <a:graphicFrameLocks noGrp="1"/>
          </p:cNvGraphicFramePr>
          <p:nvPr/>
        </p:nvGraphicFramePr>
        <p:xfrm>
          <a:off x="621792" y="1810512"/>
          <a:ext cx="10954511" cy="2715768"/>
        </p:xfrm>
        <a:graphic>
          <a:graphicData uri="http://schemas.openxmlformats.org/drawingml/2006/table">
            <a:tbl>
              <a:tblPr firstRow="1" bandRow="1">
                <a:tableStyleId>{5C22544A-7EE6-4342-B048-85BDC9FD1C3A}</a:tableStyleId>
              </a:tblPr>
              <a:tblGrid>
                <a:gridCol w="3200400"/>
                <a:gridCol w="3749039"/>
                <a:gridCol w="4005072"/>
              </a:tblGrid>
              <a:tr h="466344">
                <a:tc>
                  <a:txBody>
                    <a:bodyPr wrap="square"/>
                    <a:lstStyle/>
                    <a:p>
                      <a:pPr>
                        <a:lnSpc>
                          <a:spcPct val="108000"/>
                        </a:lnSpc>
                        <a:spcAft>
                          <a:spcPts val="0"/>
                        </a:spcAft>
                      </a:pPr>
                      <a:r>
                        <a:rPr sz="1550" b="1" i="0">
                          <a:solidFill>
                            <a:srgbClr val="FFFFFF"/>
                          </a:solidFill>
                          <a:latin typeface="Arial"/>
                        </a:rPr>
                        <a:t>Vsebina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Zgradba</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Razmerje</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potrditev prevoda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Izglagolski samostalnik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Urednica potrdi prevod.</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pošiljanje datoteke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Osebni povedek</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Avtor pošlje datoteko založbi.</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utrujenost avtorja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Dodatna predikacija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Avtor je utrujen od pogajanj.</a:t>
                      </a:r>
                    </a:p>
                  </a:txBody>
                  <a:tcPr marL="137160" marR="137160" marT="73152" marB="73152" anchor="ctr">
                    <a:solidFill>
                      <a:srgbClr val="FFFFFF"/>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Število osebnih glagolskih oblik ne izčrpa pomenske razčlenitve.</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Odmaknjeno pojasnilo omejimo</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268</a:t>
            </a:r>
          </a:p>
        </p:txBody>
      </p:sp>
      <p:sp>
        <p:nvSpPr>
          <p:cNvPr id="4" name="Rectangle 3"/>
          <p:cNvSpPr/>
          <p:nvPr/>
        </p:nvSpPr>
        <p:spPr>
          <a:xfrm>
            <a:off x="621792" y="1810512"/>
            <a:ext cx="10954512" cy="1901952"/>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2020824"/>
            <a:ext cx="10387584" cy="1536192"/>
          </a:xfrm>
          <a:prstGeom prst="rect">
            <a:avLst/>
          </a:prstGeom>
          <a:noFill/>
        </p:spPr>
        <p:txBody>
          <a:bodyPr wrap="square" lIns="0" rIns="0" tIns="0" bIns="0" anchor="t">
            <a:noAutofit/>
          </a:bodyPr>
          <a:lstStyle/>
          <a:p>
            <a:pPr rtl="0">
              <a:lnSpc>
                <a:spcPct val="110000"/>
              </a:lnSpc>
              <a:spcBef>
                <a:spcPts val="0"/>
              </a:spcBef>
              <a:spcAft>
                <a:spcPts val="0"/>
              </a:spcAft>
            </a:pPr>
            <a:r>
              <a:rPr sz="2800" b="0" i="1">
                <a:solidFill>
                  <a:srgbClr val="182D3D"/>
                </a:solidFill>
                <a:latin typeface="Arial"/>
              </a:rPr>
              <a:t>Po uredničini potrditvi prevoda je avtor, utrujen od pogajanj, poslal datoteko založbi.</a:t>
            </a:r>
          </a:p>
        </p:txBody>
      </p:sp>
      <p:sp>
        <p:nvSpPr>
          <p:cNvPr id="6" name="TextBox 5"/>
          <p:cNvSpPr txBox="1"/>
          <p:nvPr/>
        </p:nvSpPr>
        <p:spPr>
          <a:xfrm>
            <a:off x="621792"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Časovna navezava</a:t>
            </a:r>
          </a:p>
        </p:txBody>
      </p:sp>
      <p:sp>
        <p:nvSpPr>
          <p:cNvPr id="7" name="TextBox 6"/>
          <p:cNvSpPr txBox="1"/>
          <p:nvPr/>
        </p:nvSpPr>
        <p:spPr>
          <a:xfrm>
            <a:off x="621792"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po potrditvi določa čas pošiljanja.</a:t>
            </a:r>
          </a:p>
        </p:txBody>
      </p:sp>
      <p:sp>
        <p:nvSpPr>
          <p:cNvPr id="8" name="TextBox 7"/>
          <p:cNvSpPr txBox="1"/>
          <p:nvPr/>
        </p:nvSpPr>
        <p:spPr>
          <a:xfrm>
            <a:off x="4346448"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Dodatno stanje</a:t>
            </a:r>
          </a:p>
        </p:txBody>
      </p:sp>
      <p:sp>
        <p:nvSpPr>
          <p:cNvPr id="9" name="TextBox 8"/>
          <p:cNvSpPr txBox="1"/>
          <p:nvPr/>
        </p:nvSpPr>
        <p:spPr>
          <a:xfrm>
            <a:off x="4346448"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utrujen od pogajanj opiše avtorja.</a:t>
            </a:r>
          </a:p>
        </p:txBody>
      </p:sp>
      <p:sp>
        <p:nvSpPr>
          <p:cNvPr id="10" name="TextBox 9"/>
          <p:cNvSpPr txBox="1"/>
          <p:nvPr/>
        </p:nvSpPr>
        <p:spPr>
          <a:xfrm>
            <a:off x="8071104" y="3877056"/>
            <a:ext cx="3505200" cy="338328"/>
          </a:xfrm>
          <a:prstGeom prst="rect">
            <a:avLst/>
          </a:prstGeom>
          <a:noFill/>
        </p:spPr>
        <p:txBody>
          <a:bodyPr wrap="square" lIns="0" rIns="0" tIns="0" bIns="0" anchor="t">
            <a:noAutofit/>
          </a:bodyPr>
          <a:lstStyle/>
          <a:p>
            <a:pPr rtl="0">
              <a:lnSpc>
                <a:spcPct val="110000"/>
              </a:lnSpc>
              <a:spcBef>
                <a:spcPts val="0"/>
              </a:spcBef>
              <a:spcAft>
                <a:spcPts val="0"/>
              </a:spcAft>
            </a:pPr>
            <a:r>
              <a:rPr sz="1550" b="1" i="0">
                <a:solidFill>
                  <a:srgbClr val="00695F"/>
                </a:solidFill>
                <a:latin typeface="Arial"/>
              </a:rPr>
              <a:t>Obe meji</a:t>
            </a:r>
          </a:p>
        </p:txBody>
      </p:sp>
      <p:sp>
        <p:nvSpPr>
          <p:cNvPr id="11" name="TextBox 10"/>
          <p:cNvSpPr txBox="1"/>
          <p:nvPr/>
        </p:nvSpPr>
        <p:spPr>
          <a:xfrm>
            <a:off x="8071104" y="4315968"/>
            <a:ext cx="3505200" cy="128016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Vejici zamejita navedeno odmaknjeno pojasnilo.</a:t>
            </a:r>
          </a:p>
        </p:txBody>
      </p:sp>
      <p:sp>
        <p:nvSpPr>
          <p:cNvPr id="12" name="TextBox 11"/>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Ločilo sledi izbrani vključitvi in pomenu.</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Razvitje olajša preverjanje udeležencev</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269</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Zgoščeno</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 uredničini potrditvi prevoda je avtor, utrujen od pogajanj, poslal datoteko založbi.</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Imenska zveza je lahko učinkovita navezava na že znano potrditev.</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Razvito</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Potem ko je urednica potrdila prevod, je avtor, ki je bil utrujen od pogajanj, poslal datoteko založbi.</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Stavčna razmerja izrecneje razkrijejo udeležence in zaporedje.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Preverimo pomensko zvestobo in členitev po aktualnosti.</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Dva posega, ki spremenita podatke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270</a:t>
            </a:r>
          </a:p>
        </p:txBody>
      </p:sp>
      <p:sp>
        <p:nvSpPr>
          <p:cNvPr id="4" name="TextBox 3"/>
          <p:cNvSpPr txBox="1"/>
          <p:nvPr/>
        </p:nvSpPr>
        <p:spPr>
          <a:xfrm>
            <a:off x="83210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Premik prilastka</a:t>
            </a:r>
          </a:p>
        </p:txBody>
      </p:sp>
      <p:sp>
        <p:nvSpPr>
          <p:cNvPr id="5" name="TextBox 4"/>
          <p:cNvSpPr txBox="1"/>
          <p:nvPr/>
        </p:nvSpPr>
        <p:spPr>
          <a:xfrm>
            <a:off x="83210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Po potrditvi uredničinega prevoda …</a:t>
            </a:r>
          </a:p>
        </p:txBody>
      </p:sp>
      <p:sp>
        <p:nvSpPr>
          <p:cNvPr id="6" name="TextBox 5"/>
          <p:cNvSpPr txBox="1"/>
          <p:nvPr/>
        </p:nvSpPr>
        <p:spPr>
          <a:xfrm>
            <a:off x="83210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Spremeni se razmerje pridevnika do jedra; vršilka potrditve ni več tako izražena.</a:t>
            </a:r>
          </a:p>
        </p:txBody>
      </p:sp>
      <p:sp>
        <p:nvSpPr>
          <p:cNvPr id="7" name="TextBox 6"/>
          <p:cNvSpPr txBox="1"/>
          <p:nvPr/>
        </p:nvSpPr>
        <p:spPr>
          <a:xfrm>
            <a:off x="6409944" y="2048256"/>
            <a:ext cx="4956048" cy="530352"/>
          </a:xfrm>
          <a:prstGeom prst="rect">
            <a:avLst/>
          </a:prstGeom>
          <a:noFill/>
        </p:spPr>
        <p:txBody>
          <a:bodyPr wrap="square" lIns="0" rIns="0" tIns="0" bIns="0" anchor="t">
            <a:noAutofit/>
          </a:bodyPr>
          <a:lstStyle/>
          <a:p>
            <a:pPr rtl="0">
              <a:lnSpc>
                <a:spcPct val="110000"/>
              </a:lnSpc>
              <a:spcBef>
                <a:spcPts val="0"/>
              </a:spcBef>
              <a:spcAft>
                <a:spcPts val="0"/>
              </a:spcAft>
            </a:pPr>
            <a:r>
              <a:rPr sz="1600" b="1" i="0">
                <a:solidFill>
                  <a:srgbClr val="00695F"/>
                </a:solidFill>
                <a:latin typeface="Arial"/>
              </a:rPr>
              <a:t>Dodani vzrok</a:t>
            </a:r>
          </a:p>
        </p:txBody>
      </p:sp>
      <p:sp>
        <p:nvSpPr>
          <p:cNvPr id="8" name="TextBox 7"/>
          <p:cNvSpPr txBox="1"/>
          <p:nvPr/>
        </p:nvSpPr>
        <p:spPr>
          <a:xfrm>
            <a:off x="6409944" y="2752344"/>
            <a:ext cx="4956048" cy="1627632"/>
          </a:xfrm>
          <a:prstGeom prst="rect">
            <a:avLst/>
          </a:prstGeom>
          <a:noFill/>
        </p:spPr>
        <p:txBody>
          <a:bodyPr wrap="square" lIns="0" rIns="0" tIns="0" bIns="0" anchor="t">
            <a:noAutofit/>
          </a:bodyPr>
          <a:lstStyle/>
          <a:p>
            <a:pPr rtl="0">
              <a:lnSpc>
                <a:spcPct val="110000"/>
              </a:lnSpc>
              <a:spcBef>
                <a:spcPts val="0"/>
              </a:spcBef>
              <a:spcAft>
                <a:spcPts val="0"/>
              </a:spcAft>
            </a:pPr>
            <a:r>
              <a:rPr sz="2700" b="0" i="1">
                <a:solidFill>
                  <a:srgbClr val="182D3D"/>
                </a:solidFill>
                <a:latin typeface="Arial"/>
              </a:rPr>
              <a:t>Ker je urednica potrdila prevod, je avtor …</a:t>
            </a:r>
          </a:p>
        </p:txBody>
      </p:sp>
      <p:sp>
        <p:nvSpPr>
          <p:cNvPr id="9" name="TextBox 8"/>
          <p:cNvSpPr txBox="1"/>
          <p:nvPr/>
        </p:nvSpPr>
        <p:spPr>
          <a:xfrm>
            <a:off x="6409944" y="4471416"/>
            <a:ext cx="4956048" cy="89611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546674"/>
                </a:solidFill>
                <a:latin typeface="Arial"/>
              </a:rPr>
              <a:t>Časovno zaporedje postane izrecna vzročna trditev.</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Podobna tema še ne zagotavlja enakih trditev.</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Kako presodimo kakovost odgovora?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271</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Prepričljiv odgovor vsebuje rešitev, prikaz analize in opredelitev njenega dosega.</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Diagnoza in dokaz</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Pokažem prav tisto razmerje, iz katerega sledi rešitev.</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Zvestoba in model</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Ohranim podatke ter dosledno uporabim navedena merila.</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Vir in naslovnik</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Navedem ustrezen vir; uporabnik ve, kaj naj napiše in zakaj.</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Pravilna rešitev z napačnim razlogom ostaja nepopoln odgovor.</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Alternativno analizo je treba utemeljiti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272</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Razlika v merilu je lahko utemeljena; mešanje meril mora biti prepoznano.</a:t>
            </a:r>
          </a:p>
        </p:txBody>
      </p:sp>
      <p:sp>
        <p:nvSpPr>
          <p:cNvPr id="5" name="TextBox 4"/>
          <p:cNvSpPr txBox="1"/>
          <p:nvPr/>
        </p:nvSpPr>
        <p:spPr>
          <a:xfrm>
            <a:off x="822960"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Določen model</a:t>
            </a:r>
          </a:p>
        </p:txBody>
      </p:sp>
      <p:sp>
        <p:nvSpPr>
          <p:cNvPr id="6" name="TextBox 5"/>
          <p:cNvSpPr txBox="1"/>
          <p:nvPr/>
        </p:nvSpPr>
        <p:spPr>
          <a:xfrm>
            <a:off x="822960"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Najprej pokažem rešitev v zahtevani teoriji.</a:t>
            </a:r>
          </a:p>
        </p:txBody>
      </p:sp>
      <p:sp>
        <p:nvSpPr>
          <p:cNvPr id="7" name="TextBox 6"/>
          <p:cNvSpPr txBox="1"/>
          <p:nvPr/>
        </p:nvSpPr>
        <p:spPr>
          <a:xfrm>
            <a:off x="4547615"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Primerjava modelov</a:t>
            </a:r>
          </a:p>
        </p:txBody>
      </p:sp>
      <p:sp>
        <p:nvSpPr>
          <p:cNvPr id="8" name="TextBox 7"/>
          <p:cNvSpPr txBox="1"/>
          <p:nvPr/>
        </p:nvSpPr>
        <p:spPr>
          <a:xfrm>
            <a:off x="4547615"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Poimenujem razliko v merilu in pokažem posledico pri zgledu.</a:t>
            </a:r>
          </a:p>
        </p:txBody>
      </p:sp>
      <p:sp>
        <p:nvSpPr>
          <p:cNvPr id="9" name="TextBox 8"/>
          <p:cNvSpPr txBox="1"/>
          <p:nvPr/>
        </p:nvSpPr>
        <p:spPr>
          <a:xfrm>
            <a:off x="8272272" y="2715768"/>
            <a:ext cx="3102864"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Normativni sklep</a:t>
            </a:r>
          </a:p>
        </p:txBody>
      </p:sp>
      <p:sp>
        <p:nvSpPr>
          <p:cNvPr id="10" name="TextBox 9"/>
          <p:cNvSpPr txBox="1"/>
          <p:nvPr/>
        </p:nvSpPr>
        <p:spPr>
          <a:xfrm>
            <a:off x="8272272" y="3310128"/>
            <a:ext cx="3102864"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Posebej preverim, koliko zapisov dopušča izbrani pravopisni vir.</a:t>
            </a:r>
          </a:p>
        </p:txBody>
      </p:sp>
      <p:sp>
        <p:nvSpPr>
          <p:cNvPr id="11" name="TextBox 10"/>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Število analiz in število dopustnih zapisov sta različni vprašanji.</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Pomen.</a:t>
            </a:r>
            <a:r>
              <a:rPr sz="2300" b="0" i="0">
                <a:solidFill>
                  <a:srgbClr val="182D3D"/>
                </a:solidFill>
                <a:latin typeface="Arial"/>
              </a:rPr>
              <a:t> Primerjajte povedi </a:t>
            </a:r>
            <a:r>
              <a:rPr sz="2300" b="0" i="1">
                <a:solidFill>
                  <a:srgbClr val="182D3D"/>
                </a:solidFill>
                <a:latin typeface="Arial"/>
              </a:rPr>
              <a:t>Komisija je sprejela sklep</a:t>
            </a:r>
            <a:r>
              <a:rPr sz="2300" b="0" i="0">
                <a:solidFill>
                  <a:srgbClr val="182D3D"/>
                </a:solidFill>
                <a:latin typeface="Arial"/>
              </a:rPr>
              <a:t> in </a:t>
            </a:r>
            <a:r>
              <a:rPr sz="2300" b="0" i="1">
                <a:solidFill>
                  <a:srgbClr val="182D3D"/>
                </a:solidFill>
                <a:latin typeface="Arial"/>
              </a:rPr>
              <a:t>Gostiteljica je sprejela obiskovalce</a:t>
            </a:r>
            <a:r>
              <a:rPr sz="2300" b="0" i="0">
                <a:solidFill>
                  <a:srgbClr val="182D3D"/>
                </a:solidFill>
                <a:latin typeface="Arial"/>
              </a:rPr>
              <a:t>. Pojasnite pomen glagola </a:t>
            </a:r>
            <a:r>
              <a:rPr sz="2300" b="0" i="1">
                <a:solidFill>
                  <a:srgbClr val="182D3D"/>
                </a:solidFill>
                <a:latin typeface="Arial"/>
              </a:rPr>
              <a:t>sprejeti</a:t>
            </a:r>
            <a:r>
              <a:rPr sz="2300" b="0" i="0">
                <a:solidFill>
                  <a:srgbClr val="182D3D"/>
                </a:solidFill>
                <a:latin typeface="Arial"/>
              </a:rPr>
              <a:t> v vsaki in povejte, zakaj skupna glagolska oblika ne zagotavlja istega pomena.</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Besedna zveza.</a:t>
            </a:r>
            <a:r>
              <a:rPr sz="2300" b="0" i="0">
                <a:solidFill>
                  <a:srgbClr val="182D3D"/>
                </a:solidFill>
                <a:latin typeface="Arial"/>
              </a:rPr>
              <a:t> Uporabnik v šali sprašuje, ali bi lahko zvezo </a:t>
            </a:r>
            <a:r>
              <a:rPr sz="2300" b="0" i="1">
                <a:solidFill>
                  <a:srgbClr val="182D3D"/>
                </a:solidFill>
                <a:latin typeface="Arial"/>
              </a:rPr>
              <a:t>sončna očala</a:t>
            </a:r>
            <a:r>
              <a:rPr sz="2300" b="0" i="0">
                <a:solidFill>
                  <a:srgbClr val="182D3D"/>
                </a:solidFill>
                <a:latin typeface="Arial"/>
              </a:rPr>
              <a:t> v navodilih zamenjal s </a:t>
            </a:r>
            <a:r>
              <a:rPr sz="2300" b="0" i="1">
                <a:solidFill>
                  <a:srgbClr val="182D3D"/>
                </a:solidFill>
                <a:latin typeface="Arial"/>
              </a:rPr>
              <a:t>sončna očesna zaščita</a:t>
            </a:r>
            <a:r>
              <a:rPr sz="2300" b="0" i="0">
                <a:solidFill>
                  <a:srgbClr val="182D3D"/>
                </a:solidFill>
                <a:latin typeface="Arial"/>
              </a:rPr>
              <a:t>. Napišite odgovor, ki razlikuje pomensko razumljivost in ustaljenost poimenovanja; ne razglasite vsake nove zveze za slovnično napako.</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1 in 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V prvem primeru gre za potrditev oziroma sprejetje odločitve v postopku odločanja. V drugem za sprejem ljudi, ki so prišli. Konkretni pomen prepoznamo iz povezave glagola s predmetom in iz situacije. Enak zapis glagola zato ne zadostuje za sklep o pomenski enakosti obeh rab.</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2.</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Zveza </a:t>
            </a:r>
            <a:r>
              <a:rPr sz="2050" b="0" i="1">
                <a:solidFill>
                  <a:srgbClr val="182D3D"/>
                </a:solidFill>
                <a:latin typeface="Arial"/>
              </a:rPr>
              <a:t>sončna očala</a:t>
            </a:r>
            <a:r>
              <a:rPr sz="2050" b="0" i="0">
                <a:solidFill>
                  <a:srgbClr val="182D3D"/>
                </a:solidFill>
                <a:latin typeface="Arial"/>
              </a:rPr>
              <a:t> je ustaljeno poimenovanje prepoznavnega izdelka. Predlagana zamenjava je lahko razložljiva, vendar je pomensko širša in manj nedvoumna: zaščita lahko zajema tudi druge pripomočke. Za navodila je zato smiselno obdržati ustaljeno poimenovanje. Presoja temelji na natančnosti in ustaljenosti, ne na domnevi, da je vsaka neobičajna zveza neslovnična.</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275</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Tvorjenje.</a:t>
            </a:r>
            <a:r>
              <a:rPr sz="2300" b="0" i="0">
                <a:solidFill>
                  <a:srgbClr val="182D3D"/>
                </a:solidFill>
                <a:latin typeface="Arial"/>
              </a:rPr>
              <a:t> Iz zveze </a:t>
            </a:r>
            <a:r>
              <a:rPr sz="2300" b="0" i="1">
                <a:solidFill>
                  <a:srgbClr val="182D3D"/>
                </a:solidFill>
                <a:latin typeface="Arial"/>
              </a:rPr>
              <a:t>literarna zgodovina</a:t>
            </a:r>
            <a:r>
              <a:rPr sz="2300" b="0" i="0">
                <a:solidFill>
                  <a:srgbClr val="182D3D"/>
                </a:solidFill>
                <a:latin typeface="Arial"/>
              </a:rPr>
              <a:t> izpeljite ustrezen vrstni pridevnik in opišite razmerje med sestavinama podstavne zveze. Pri analizi ločite morfemsko členitev od običajnega zapisa tvorjenke.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Sklon.</a:t>
            </a:r>
            <a:r>
              <a:rPr sz="2300" b="0" i="0">
                <a:solidFill>
                  <a:srgbClr val="182D3D"/>
                </a:solidFill>
                <a:latin typeface="Arial"/>
              </a:rPr>
              <a:t> Uredite </a:t>
            </a:r>
            <a:r>
              <a:rPr sz="2300" b="0" i="1">
                <a:solidFill>
                  <a:srgbClr val="182D3D"/>
                </a:solidFill>
                <a:latin typeface="Arial"/>
              </a:rPr>
              <a:t>V novemu poročilu so zbrane pripombe k novem predlogu</a:t>
            </a:r>
            <a:r>
              <a:rPr sz="2300" b="0" i="0">
                <a:solidFill>
                  <a:srgbClr val="182D3D"/>
                </a:solidFill>
                <a:latin typeface="Arial"/>
              </a:rPr>
              <a:t>. Pojasnite, zakaj pridevniški končnici v obeh zvezah nista enaki.</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3 in 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276</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3.</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250" b="0" i="0">
                <a:solidFill>
                  <a:srgbClr val="182D3D"/>
                </a:solidFill>
                <a:latin typeface="Arial"/>
              </a:rPr>
              <a:t>Ustrezen pridevnik je </a:t>
            </a:r>
            <a:r>
              <a:rPr sz="2250" b="0" i="1">
                <a:solidFill>
                  <a:srgbClr val="182D3D"/>
                </a:solidFill>
                <a:latin typeface="Arial"/>
              </a:rPr>
              <a:t>literarnozgodovinski</a:t>
            </a:r>
            <a:r>
              <a:rPr sz="2250" b="0" i="0">
                <a:solidFill>
                  <a:srgbClr val="182D3D"/>
                </a:solidFill>
                <a:latin typeface="Arial"/>
              </a:rPr>
              <a:t>. V podstavni zvezi </a:t>
            </a:r>
            <a:r>
              <a:rPr sz="2250" b="0" i="1">
                <a:solidFill>
                  <a:srgbClr val="182D3D"/>
                </a:solidFill>
                <a:latin typeface="Arial"/>
              </a:rPr>
              <a:t>literarna zgodovina</a:t>
            </a:r>
            <a:r>
              <a:rPr sz="2250" b="0" i="0">
                <a:solidFill>
                  <a:srgbClr val="182D3D"/>
                </a:solidFill>
                <a:latin typeface="Arial"/>
              </a:rPr>
              <a:t> pridevnik določa samostalnik; razmerje je podredno. Oblikujemo pomen povezanosti z literarno zgodovino. Tvorjenko v običajnem besedilu zapišemo skupaj. Vezaji, s katerimi pri razlagi ločujemo njene sestavine, so znak analize.</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4.</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V novem poročilu so zbrane pripombe k novemu predlogu.</a:t>
            </a:r>
            <a:r>
              <a:rPr sz="2300" b="0" i="0">
                <a:solidFill>
                  <a:srgbClr val="182D3D"/>
                </a:solidFill>
                <a:latin typeface="Arial"/>
              </a:rPr>
              <a:t> Zveza </a:t>
            </a:r>
            <a:r>
              <a:rPr sz="2300" b="0" i="1">
                <a:solidFill>
                  <a:srgbClr val="182D3D"/>
                </a:solidFill>
                <a:latin typeface="Arial"/>
              </a:rPr>
              <a:t>v novem poročilu</a:t>
            </a:r>
            <a:r>
              <a:rPr sz="2300" b="0" i="0">
                <a:solidFill>
                  <a:srgbClr val="182D3D"/>
                </a:solidFill>
                <a:latin typeface="Arial"/>
              </a:rPr>
              <a:t> je mestniška: pridevnik in samostalnik se ujemata v mestniku ednine srednjega spola. Predlog </a:t>
            </a:r>
            <a:r>
              <a:rPr sz="2300" b="0" i="1">
                <a:solidFill>
                  <a:srgbClr val="182D3D"/>
                </a:solidFill>
                <a:latin typeface="Arial"/>
              </a:rPr>
              <a:t>k</a:t>
            </a:r>
            <a:r>
              <a:rPr sz="2300" b="0" i="0">
                <a:solidFill>
                  <a:srgbClr val="182D3D"/>
                </a:solidFill>
                <a:latin typeface="Arial"/>
              </a:rPr>
              <a:t> zahteva dajalnik; </a:t>
            </a:r>
            <a:r>
              <a:rPr sz="2300" b="0" i="1">
                <a:solidFill>
                  <a:srgbClr val="182D3D"/>
                </a:solidFill>
                <a:latin typeface="Arial"/>
              </a:rPr>
              <a:t>novemu predlogu</a:t>
            </a:r>
            <a:r>
              <a:rPr sz="2300" b="0" i="0">
                <a:solidFill>
                  <a:srgbClr val="182D3D"/>
                </a:solidFill>
                <a:latin typeface="Arial"/>
              </a:rPr>
              <a:t> je dajalnik ednine moškega spola. Odločilna je zgradba posamezne zveze.</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277</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Imena in pridevniki.</a:t>
            </a:r>
            <a:r>
              <a:rPr sz="2300" b="0" i="0">
                <a:solidFill>
                  <a:srgbClr val="182D3D"/>
                </a:solidFill>
                <a:latin typeface="Arial"/>
              </a:rPr>
              <a:t> Tvorite svojilne pridevnike iz imen </a:t>
            </a:r>
            <a:r>
              <a:rPr sz="2300" b="0" i="1">
                <a:solidFill>
                  <a:srgbClr val="182D3D"/>
                </a:solidFill>
                <a:latin typeface="Arial"/>
              </a:rPr>
              <a:t>Peter</a:t>
            </a:r>
            <a:r>
              <a:rPr sz="2300" b="0" i="0">
                <a:solidFill>
                  <a:srgbClr val="182D3D"/>
                </a:solidFill>
                <a:latin typeface="Arial"/>
              </a:rPr>
              <a:t>, </a:t>
            </a:r>
            <a:r>
              <a:rPr sz="2300" b="0" i="1">
                <a:solidFill>
                  <a:srgbClr val="182D3D"/>
                </a:solidFill>
                <a:latin typeface="Arial"/>
              </a:rPr>
              <a:t>Aleš</a:t>
            </a:r>
            <a:r>
              <a:rPr sz="2300" b="0" i="0">
                <a:solidFill>
                  <a:srgbClr val="182D3D"/>
                </a:solidFill>
                <a:latin typeface="Arial"/>
              </a:rPr>
              <a:t> in </a:t>
            </a:r>
            <a:r>
              <a:rPr sz="2300" b="0" i="1">
                <a:solidFill>
                  <a:srgbClr val="182D3D"/>
                </a:solidFill>
                <a:latin typeface="Arial"/>
              </a:rPr>
              <a:t>Maja</a:t>
            </a:r>
            <a:r>
              <a:rPr sz="2300" b="0" i="0">
                <a:solidFill>
                  <a:srgbClr val="182D3D"/>
                </a:solidFill>
                <a:latin typeface="Arial"/>
              </a:rPr>
              <a:t> ter vrstni pridevnik iz imena </a:t>
            </a:r>
            <a:r>
              <a:rPr sz="2300" b="0" i="1">
                <a:solidFill>
                  <a:srgbClr val="182D3D"/>
                </a:solidFill>
                <a:latin typeface="Arial"/>
              </a:rPr>
              <a:t>Ljubljana</a:t>
            </a:r>
            <a:r>
              <a:rPr sz="2300" b="0" i="0">
                <a:solidFill>
                  <a:srgbClr val="182D3D"/>
                </a:solidFill>
                <a:latin typeface="Arial"/>
              </a:rPr>
              <a:t>. Pojasnite izbiro obrazil in začetnic.</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Poved.</a:t>
            </a:r>
            <a:r>
              <a:rPr sz="2300" b="0" i="0">
                <a:solidFill>
                  <a:srgbClr val="182D3D"/>
                </a:solidFill>
                <a:latin typeface="Arial"/>
              </a:rPr>
              <a:t> Uredite vejice: </a:t>
            </a:r>
            <a:r>
              <a:rPr sz="2300" b="0" i="1">
                <a:solidFill>
                  <a:srgbClr val="182D3D"/>
                </a:solidFill>
                <a:latin typeface="Arial"/>
              </a:rPr>
              <a:t>Kdor je nalogo oddal pravočasno lahko prebere komentar ki ga je poslala mentorica in pripravi dopolnitev</a:t>
            </a:r>
            <a:r>
              <a:rPr sz="2300" b="0" i="0">
                <a:solidFill>
                  <a:srgbClr val="182D3D"/>
                </a:solidFill>
                <a:latin typeface="Arial"/>
              </a:rPr>
              <a:t>. Razložite vejico pred </a:t>
            </a:r>
            <a:r>
              <a:rPr sz="2300" b="0" i="1">
                <a:solidFill>
                  <a:srgbClr val="182D3D"/>
                </a:solidFill>
                <a:latin typeface="Arial"/>
              </a:rPr>
              <a:t>in</a:t>
            </a:r>
            <a:r>
              <a:rPr sz="2300" b="0" i="0">
                <a:solidFill>
                  <a:srgbClr val="182D3D"/>
                </a:solidFill>
                <a:latin typeface="Arial"/>
              </a:rPr>
              <a:t>, če jo uporabite.</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5 in 6</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278</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5.</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050" b="0" i="1">
                <a:solidFill>
                  <a:srgbClr val="182D3D"/>
                </a:solidFill>
                <a:latin typeface="Arial"/>
              </a:rPr>
              <a:t>Petrov</a:t>
            </a:r>
            <a:r>
              <a:rPr sz="2050" b="0" i="0">
                <a:solidFill>
                  <a:srgbClr val="182D3D"/>
                </a:solidFill>
                <a:latin typeface="Arial"/>
              </a:rPr>
              <a:t>, </a:t>
            </a:r>
            <a:r>
              <a:rPr sz="2050" b="0" i="1">
                <a:solidFill>
                  <a:srgbClr val="182D3D"/>
                </a:solidFill>
                <a:latin typeface="Arial"/>
              </a:rPr>
              <a:t>Alešev</a:t>
            </a:r>
            <a:r>
              <a:rPr sz="2050" b="0" i="0">
                <a:solidFill>
                  <a:srgbClr val="182D3D"/>
                </a:solidFill>
                <a:latin typeface="Arial"/>
              </a:rPr>
              <a:t>, </a:t>
            </a:r>
            <a:r>
              <a:rPr sz="2050" b="0" i="1">
                <a:solidFill>
                  <a:srgbClr val="182D3D"/>
                </a:solidFill>
                <a:latin typeface="Arial"/>
              </a:rPr>
              <a:t>Majin</a:t>
            </a:r>
            <a:r>
              <a:rPr sz="2050" b="0" i="0">
                <a:solidFill>
                  <a:srgbClr val="182D3D"/>
                </a:solidFill>
                <a:latin typeface="Arial"/>
              </a:rPr>
              <a:t>; </a:t>
            </a:r>
            <a:r>
              <a:rPr sz="2050" b="0" i="1">
                <a:solidFill>
                  <a:srgbClr val="182D3D"/>
                </a:solidFill>
                <a:latin typeface="Arial"/>
              </a:rPr>
              <a:t>ljubljanski</a:t>
            </a:r>
            <a:r>
              <a:rPr sz="2050" b="0" i="0">
                <a:solidFill>
                  <a:srgbClr val="182D3D"/>
                </a:solidFill>
                <a:latin typeface="Arial"/>
              </a:rPr>
              <a:t>. Pri svojilnih pridevnikih uporabimo obrazila </a:t>
            </a:r>
            <a:r>
              <a:rPr sz="2050" b="0" i="1">
                <a:solidFill>
                  <a:srgbClr val="182D3D"/>
                </a:solidFill>
                <a:latin typeface="Arial"/>
              </a:rPr>
              <a:t>-ov</a:t>
            </a:r>
            <a:r>
              <a:rPr sz="2050" b="0" i="0">
                <a:solidFill>
                  <a:srgbClr val="182D3D"/>
                </a:solidFill>
                <a:latin typeface="Arial"/>
              </a:rPr>
              <a:t>, </a:t>
            </a:r>
            <a:r>
              <a:rPr sz="2050" b="0" i="1">
                <a:solidFill>
                  <a:srgbClr val="182D3D"/>
                </a:solidFill>
                <a:latin typeface="Arial"/>
              </a:rPr>
              <a:t>-ev</a:t>
            </a:r>
            <a:r>
              <a:rPr sz="2050" b="0" i="0">
                <a:solidFill>
                  <a:srgbClr val="182D3D"/>
                </a:solidFill>
                <a:latin typeface="Arial"/>
              </a:rPr>
              <a:t> oziroma </a:t>
            </a:r>
            <a:r>
              <a:rPr sz="2050" b="0" i="1">
                <a:solidFill>
                  <a:srgbClr val="182D3D"/>
                </a:solidFill>
                <a:latin typeface="Arial"/>
              </a:rPr>
              <a:t>-in</a:t>
            </a:r>
            <a:r>
              <a:rPr sz="2050" b="0" i="0">
                <a:solidFill>
                  <a:srgbClr val="182D3D"/>
                </a:solidFill>
                <a:latin typeface="Arial"/>
              </a:rPr>
              <a:t>; pri </a:t>
            </a:r>
            <a:r>
              <a:rPr sz="2050" b="0" i="1">
                <a:solidFill>
                  <a:srgbClr val="182D3D"/>
                </a:solidFill>
                <a:latin typeface="Arial"/>
              </a:rPr>
              <a:t>Alešev</a:t>
            </a:r>
            <a:r>
              <a:rPr sz="2050" b="0" i="0">
                <a:solidFill>
                  <a:srgbClr val="182D3D"/>
                </a:solidFill>
                <a:latin typeface="Arial"/>
              </a:rPr>
              <a:t> upoštevamo preglas ob izglasnem </a:t>
            </a:r>
            <a:r>
              <a:rPr sz="2050" b="0" i="1">
                <a:solidFill>
                  <a:srgbClr val="182D3D"/>
                </a:solidFill>
                <a:latin typeface="Arial"/>
              </a:rPr>
              <a:t>š</a:t>
            </a:r>
            <a:r>
              <a:rPr sz="2050" b="0" i="0">
                <a:solidFill>
                  <a:srgbClr val="182D3D"/>
                </a:solidFill>
                <a:latin typeface="Arial"/>
              </a:rPr>
              <a:t>. Iz osebnih lastnih imen tvorjeni individualni svojilni pridevniki imajo v teh zgledih veliko začetnico. Vrstni pridevnik </a:t>
            </a:r>
            <a:r>
              <a:rPr sz="2050" b="0" i="1">
                <a:solidFill>
                  <a:srgbClr val="182D3D"/>
                </a:solidFill>
                <a:latin typeface="Arial"/>
              </a:rPr>
              <a:t>ljubljanski</a:t>
            </a:r>
            <a:r>
              <a:rPr sz="2050" b="0" i="0">
                <a:solidFill>
                  <a:srgbClr val="182D3D"/>
                </a:solidFill>
                <a:latin typeface="Arial"/>
              </a:rPr>
              <a:t> pišemo z malo. Zgledi so namenoma preprosti; postopke za tuja in večbesedna imena ponovite v petem poglavju.</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6.</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100" b="0" i="1">
                <a:solidFill>
                  <a:srgbClr val="182D3D"/>
                </a:solidFill>
                <a:latin typeface="Arial"/>
              </a:rPr>
              <a:t>Kdor je nalogo oddal pravočasno, lahko prebere komentar, ki ga je poslala mentorica, in pripravi dopolnitev.</a:t>
            </a:r>
            <a:r>
              <a:rPr sz="2100" b="0" i="0">
                <a:solidFill>
                  <a:srgbClr val="182D3D"/>
                </a:solidFill>
                <a:latin typeface="Arial"/>
              </a:rPr>
              <a:t> Prva vejica loči začetni osebkov odvisnik od nadrednega stavka. Drugi dve zamejujeta prilastkov odvisnik, ki določa </a:t>
            </a:r>
            <a:r>
              <a:rPr sz="2100" b="0" i="1">
                <a:solidFill>
                  <a:srgbClr val="182D3D"/>
                </a:solidFill>
                <a:latin typeface="Arial"/>
              </a:rPr>
              <a:t>komentar</a:t>
            </a:r>
            <a:r>
              <a:rPr sz="2100" b="0" i="0">
                <a:solidFill>
                  <a:srgbClr val="182D3D"/>
                </a:solidFill>
                <a:latin typeface="Arial"/>
              </a:rPr>
              <a:t>. Vejica pred </a:t>
            </a:r>
            <a:r>
              <a:rPr sz="2100" b="0" i="1">
                <a:solidFill>
                  <a:srgbClr val="182D3D"/>
                </a:solidFill>
                <a:latin typeface="Arial"/>
              </a:rPr>
              <a:t>in</a:t>
            </a:r>
            <a:r>
              <a:rPr sz="2100" b="0" i="0">
                <a:solidFill>
                  <a:srgbClr val="182D3D"/>
                </a:solidFill>
                <a:latin typeface="Arial"/>
              </a:rPr>
              <a:t> zapira ta odvisnik. Po njegovi odstranitvi dobimo </a:t>
            </a:r>
            <a:r>
              <a:rPr sz="2100" b="0" i="1">
                <a:solidFill>
                  <a:srgbClr val="182D3D"/>
                </a:solidFill>
                <a:latin typeface="Arial"/>
              </a:rPr>
              <a:t>Kdor je nalogo oddal pravočasno, lahko prebere komentar in pripravi dopolnitev</a:t>
            </a:r>
            <a:r>
              <a:rPr sz="2100" b="0" i="0">
                <a:solidFill>
                  <a:srgbClr val="182D3D"/>
                </a:solidFill>
                <a:latin typeface="Arial"/>
              </a:rPr>
              <a: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Vaja 7</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279</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Primerjanje.</a:t>
            </a:r>
            <a:r>
              <a:rPr sz="2500" b="0" i="0">
                <a:solidFill>
                  <a:srgbClr val="182D3D"/>
                </a:solidFill>
                <a:latin typeface="Arial"/>
              </a:rPr>
              <a:t> Primerjajte </a:t>
            </a:r>
            <a:r>
              <a:rPr sz="2500" b="0" i="1">
                <a:solidFill>
                  <a:srgbClr val="182D3D"/>
                </a:solidFill>
                <a:latin typeface="Arial"/>
              </a:rPr>
              <a:t>Piše kot urednica</a:t>
            </a:r>
            <a:r>
              <a:rPr sz="2500" b="0" i="0">
                <a:solidFill>
                  <a:srgbClr val="182D3D"/>
                </a:solidFill>
                <a:latin typeface="Arial"/>
              </a:rPr>
              <a:t> in </a:t>
            </a:r>
            <a:r>
              <a:rPr sz="2500" b="0" i="1">
                <a:solidFill>
                  <a:srgbClr val="182D3D"/>
                </a:solidFill>
                <a:latin typeface="Arial"/>
              </a:rPr>
              <a:t>Piše kot piše urednica</a:t>
            </a:r>
            <a:r>
              <a:rPr sz="2500" b="0" i="0">
                <a:solidFill>
                  <a:srgbClr val="182D3D"/>
                </a:solidFill>
                <a:latin typeface="Arial"/>
              </a:rPr>
              <a:t>. Uredite ločila ter razložite skladenjsko razliko in možen pomen prve povedi.</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7</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280</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Piše kot urednica.</a:t>
            </a:r>
            <a:r>
              <a:rPr sz="2500" b="0" i="0">
                <a:solidFill>
                  <a:srgbClr val="182D3D"/>
                </a:solidFill>
                <a:latin typeface="Arial"/>
              </a:rPr>
              <a:t> / </a:t>
            </a:r>
            <a:r>
              <a:rPr sz="2500" b="0" i="1">
                <a:solidFill>
                  <a:srgbClr val="182D3D"/>
                </a:solidFill>
                <a:latin typeface="Arial"/>
              </a:rPr>
              <a:t>Piše, kot piše urednica.</a:t>
            </a:r>
            <a:r>
              <a:rPr sz="2500" b="0" i="0">
                <a:solidFill>
                  <a:srgbClr val="182D3D"/>
                </a:solidFill>
                <a:latin typeface="Arial"/>
              </a:rPr>
              <a:t> V prvi povedi za </a:t>
            </a:r>
            <a:r>
              <a:rPr sz="2500" b="0" i="1">
                <a:solidFill>
                  <a:srgbClr val="182D3D"/>
                </a:solidFill>
                <a:latin typeface="Arial"/>
              </a:rPr>
              <a:t>kot</a:t>
            </a:r>
            <a:r>
              <a:rPr sz="2500" b="0" i="0">
                <a:solidFill>
                  <a:srgbClr val="182D3D"/>
                </a:solidFill>
                <a:latin typeface="Arial"/>
              </a:rPr>
              <a:t> ni razvite stavčne zgradbe. Zveza lahko izraža vlogo ali primerjavo glede na sobesedilo. V drugi imamo primerjalni odvisnik z izraženim povedkom, zato ga ločimo z vejico. Zgolj pojav besede </a:t>
            </a:r>
            <a:r>
              <a:rPr sz="2500" b="0" i="1">
                <a:solidFill>
                  <a:srgbClr val="182D3D"/>
                </a:solidFill>
                <a:latin typeface="Arial"/>
              </a:rPr>
              <a:t>kot</a:t>
            </a:r>
            <a:r>
              <a:rPr sz="2500" b="0" i="0">
                <a:solidFill>
                  <a:srgbClr val="182D3D"/>
                </a:solidFill>
                <a:latin typeface="Arial"/>
              </a:rPr>
              <a:t> ne določa ločila.</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Vaja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Navedek.</a:t>
            </a:r>
            <a:r>
              <a:rPr sz="2500" b="0" i="0">
                <a:solidFill>
                  <a:srgbClr val="182D3D"/>
                </a:solidFill>
                <a:latin typeface="Arial"/>
              </a:rPr>
              <a:t> Uredite zapis: </a:t>
            </a:r>
            <a:r>
              <a:rPr sz="2500" b="0" i="1">
                <a:solidFill>
                  <a:srgbClr val="182D3D"/>
                </a:solidFill>
                <a:latin typeface="Arial"/>
              </a:rPr>
              <a:t>Urednica je povedala »Članek bomo objavili jutri«.</a:t>
            </a:r>
            <a:r>
              <a:rPr sz="2500" b="0" i="0">
                <a:solidFill>
                  <a:srgbClr val="182D3D"/>
                </a:solidFill>
                <a:latin typeface="Arial"/>
              </a:rPr>
              <a:t> Nato isto vsebino izrazite v odvisnem govoru in opišite razliko v zgradbi.</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8</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1">
                <a:solidFill>
                  <a:srgbClr val="182D3D"/>
                </a:solidFill>
                <a:latin typeface="Arial"/>
              </a:rPr>
              <a:t>Urednica je povedala: »Članek bomo objavili jutri.«</a:t>
            </a:r>
            <a:r>
              <a:rPr sz="2500" b="0" i="0">
                <a:solidFill>
                  <a:srgbClr val="182D3D"/>
                </a:solidFill>
                <a:latin typeface="Arial"/>
              </a:rPr>
              <a:t> Spremni stavek napoveduje dobesedni navedek, zato mu sledi dvopičje. Končna pika je del citirane povedi in stoji pred zaklepnim narekovajem. Odvisni govor: </a:t>
            </a:r>
            <a:r>
              <a:rPr sz="2500" b="0" i="1">
                <a:solidFill>
                  <a:srgbClr val="182D3D"/>
                </a:solidFill>
                <a:latin typeface="Arial"/>
              </a:rPr>
              <a:t>Urednica je povedala, da bomo članek objavili jutri.</a:t>
            </a:r>
            <a:r>
              <a:rPr sz="2500" b="0" i="0">
                <a:solidFill>
                  <a:srgbClr val="182D3D"/>
                </a:solidFill>
                <a:latin typeface="Arial"/>
              </a:rPr>
              <a:t> V drugem zapisu vsebino vključimo kot odvisnik; če se spremeni čas ali položaj poročanja, po potrebi prilagodimo tudi časovne in osebne izraze.</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283</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Poseg v besedilo.</a:t>
            </a:r>
            <a:r>
              <a:rPr sz="2300" b="0" i="0">
                <a:solidFill>
                  <a:srgbClr val="182D3D"/>
                </a:solidFill>
                <a:latin typeface="Arial"/>
              </a:rPr>
              <a:t> V povedi </a:t>
            </a:r>
            <a:r>
              <a:rPr sz="2300" b="0" i="1">
                <a:solidFill>
                  <a:srgbClr val="182D3D"/>
                </a:solidFill>
                <a:latin typeface="Arial"/>
              </a:rPr>
              <a:t>Prosimo za odgovor do petka</a:t>
            </a:r>
            <a:r>
              <a:rPr sz="2300" b="0" i="0">
                <a:solidFill>
                  <a:srgbClr val="182D3D"/>
                </a:solidFill>
                <a:latin typeface="Arial"/>
              </a:rPr>
              <a:t> presodite, ali je potrebna notranja vejica. Ob predpostavki običajnega vljudnega poziva dodajte končno ločilo in utemeljite rešitev.</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9A570D"/>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1" i="0">
                <a:solidFill>
                  <a:srgbClr val="182D3D"/>
                </a:solidFill>
                <a:latin typeface="Arial"/>
              </a:rPr>
              <a:t>Delo z virom.</a:t>
            </a:r>
            <a:r>
              <a:rPr sz="2300" b="0" i="0">
                <a:solidFill>
                  <a:srgbClr val="182D3D"/>
                </a:solidFill>
                <a:latin typeface="Arial"/>
              </a:rPr>
              <a:t> Pri neki obliki najdete starejše pravopisno pravilo, novejši svetovalni odgovor in predlagano novo pravilo, ki se med seboj deloma razlikujejo. Opišite, katere podatke bi navedli v strokovnem odgovoru. Ne izmišljajte si vsebine nespecificiranih virov.</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Rešitvi 9 in 10</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284</a:t>
            </a:r>
          </a:p>
        </p:txBody>
      </p:sp>
      <p:sp>
        <p:nvSpPr>
          <p:cNvPr id="4" name="TextBox 3"/>
          <p:cNvSpPr txBox="1"/>
          <p:nvPr/>
        </p:nvSpPr>
        <p:spPr>
          <a:xfrm>
            <a:off x="822960"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9.</a:t>
            </a:r>
          </a:p>
        </p:txBody>
      </p:sp>
      <p:sp>
        <p:nvSpPr>
          <p:cNvPr id="5" name="TextBox 4"/>
          <p:cNvSpPr txBox="1"/>
          <p:nvPr/>
        </p:nvSpPr>
        <p:spPr>
          <a:xfrm>
            <a:off x="822960"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300" b="0" i="1">
                <a:solidFill>
                  <a:srgbClr val="182D3D"/>
                </a:solidFill>
                <a:latin typeface="Arial"/>
              </a:rPr>
              <a:t>Prosimo za odgovor do petka.</a:t>
            </a:r>
            <a:r>
              <a:rPr sz="2300" b="0" i="0">
                <a:solidFill>
                  <a:srgbClr val="182D3D"/>
                </a:solidFill>
                <a:latin typeface="Arial"/>
              </a:rPr>
              <a:t> Notranje vejice ne potrebujemo: glagol je povezan s predložno zvezo </a:t>
            </a:r>
            <a:r>
              <a:rPr sz="2300" b="0" i="1">
                <a:solidFill>
                  <a:srgbClr val="182D3D"/>
                </a:solidFill>
                <a:latin typeface="Arial"/>
              </a:rPr>
              <a:t>za odgovor</a:t>
            </a:r>
            <a:r>
              <a:rPr sz="2300" b="0" i="0">
                <a:solidFill>
                  <a:srgbClr val="182D3D"/>
                </a:solidFill>
                <a:latin typeface="Arial"/>
              </a:rPr>
              <a:t>, zveza </a:t>
            </a:r>
            <a:r>
              <a:rPr sz="2300" b="0" i="1">
                <a:solidFill>
                  <a:srgbClr val="182D3D"/>
                </a:solidFill>
                <a:latin typeface="Arial"/>
              </a:rPr>
              <a:t>do petka</a:t>
            </a:r>
            <a:r>
              <a:rPr sz="2300" b="0" i="0">
                <a:solidFill>
                  <a:srgbClr val="182D3D"/>
                </a:solidFill>
                <a:latin typeface="Arial"/>
              </a:rPr>
              <a:t> pa izraža rok. Pika ustreza običajnemu nevtralnemu zapisu poziva. Vejice ne dodajamo samo zato, ker bi po </a:t>
            </a:r>
            <a:r>
              <a:rPr sz="2300" b="0" i="1">
                <a:solidFill>
                  <a:srgbClr val="182D3D"/>
                </a:solidFill>
                <a:latin typeface="Arial"/>
              </a:rPr>
              <a:t>prosimo</a:t>
            </a:r>
            <a:r>
              <a:rPr sz="2300" b="0" i="0">
                <a:solidFill>
                  <a:srgbClr val="182D3D"/>
                </a:solidFill>
                <a:latin typeface="Arial"/>
              </a:rPr>
              <a:t> pri branju lahko naredili premor.</a:t>
            </a:r>
          </a:p>
        </p:txBody>
      </p:sp>
      <p:sp>
        <p:nvSpPr>
          <p:cNvPr id="6" name="TextBox 5"/>
          <p:cNvSpPr txBox="1"/>
          <p:nvPr/>
        </p:nvSpPr>
        <p:spPr>
          <a:xfrm>
            <a:off x="6400799" y="2011680"/>
            <a:ext cx="4974336" cy="320040"/>
          </a:xfrm>
          <a:prstGeom prst="rect">
            <a:avLst/>
          </a:prstGeom>
          <a:noFill/>
        </p:spPr>
        <p:txBody>
          <a:bodyPr wrap="square" lIns="0" rIns="0" tIns="0" bIns="0" anchor="t">
            <a:noAutofit/>
          </a:bodyPr>
          <a:lstStyle/>
          <a:p>
            <a:pPr rtl="0">
              <a:lnSpc>
                <a:spcPct val="110000"/>
              </a:lnSpc>
              <a:spcBef>
                <a:spcPts val="0"/>
              </a:spcBef>
              <a:spcAft>
                <a:spcPts val="0"/>
              </a:spcAft>
            </a:pPr>
            <a:r>
              <a:rPr sz="1800" b="1" i="0">
                <a:solidFill>
                  <a:srgbClr val="00695F"/>
                </a:solidFill>
                <a:latin typeface="Arial"/>
              </a:rPr>
              <a:t>10.</a:t>
            </a:r>
          </a:p>
        </p:txBody>
      </p:sp>
      <p:sp>
        <p:nvSpPr>
          <p:cNvPr id="7" name="TextBox 6"/>
          <p:cNvSpPr txBox="1"/>
          <p:nvPr/>
        </p:nvSpPr>
        <p:spPr>
          <a:xfrm>
            <a:off x="6400799" y="2432304"/>
            <a:ext cx="4974336" cy="3044952"/>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Navedemo naslov in različico vsakega vira, datum relevantnega odgovora ali objave, področje neskladja ter razlog za svojo priporočeno rešitev. Jasno ločimo sprejeto kodifikacijo, strokovno razlago in predlog prenove. Preverimo, ali vsi viri res obravnavajo isti pomen oziroma isto skupino oblik. Če razlika ostaja, jo opredelimo; starejšega pravila ne predstavimo kot novega in predloga ne kot že sprejetega.</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Vaja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Primerjava virov.</a:t>
            </a:r>
            <a:r>
              <a:rPr sz="2500" b="0" i="0">
                <a:solidFill>
                  <a:srgbClr val="182D3D"/>
                </a:solidFill>
                <a:latin typeface="Arial"/>
              </a:rPr>
              <a:t> Stara rešitev navaja </a:t>
            </a:r>
            <a:r>
              <a:rPr sz="2500" b="0" i="1">
                <a:solidFill>
                  <a:srgbClr val="182D3D"/>
                </a:solidFill>
                <a:latin typeface="Arial"/>
              </a:rPr>
              <a:t>aixenprovenški</a:t>
            </a:r>
            <a:r>
              <a:rPr sz="2500" b="0" i="0">
                <a:solidFill>
                  <a:srgbClr val="182D3D"/>
                </a:solidFill>
                <a:latin typeface="Arial"/>
              </a:rPr>
              <a:t>, eP 2025 pa </a:t>
            </a:r>
            <a:r>
              <a:rPr sz="2500" b="0" i="1">
                <a:solidFill>
                  <a:srgbClr val="182D3D"/>
                </a:solidFill>
                <a:latin typeface="Arial"/>
              </a:rPr>
              <a:t>aix-en-provenški</a:t>
            </a:r>
            <a:r>
              <a:rPr sz="2500" b="0" i="0">
                <a:solidFill>
                  <a:srgbClr val="182D3D"/>
                </a:solidFill>
                <a:latin typeface="Arial"/>
              </a:rPr>
              <a:t>. Napišite kratek odgovor uredniku, ki vpraša, ali je bila prva oblika zato že v starem izpitu napačna. V odgovoru navedite normativni okvir, datum oziroma vir in razliko med oceno stare rešitve ter sedanjo uredniško izbiro.</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11</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286</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Iz poznejšega predloga ne sledi, da je bila rešitev, utemeljena v SP 2001, napačna že v svojem okviru. </a:t>
            </a:r>
            <a:r>
              <a:rPr sz="2500" b="0" i="1">
                <a:solidFill>
                  <a:srgbClr val="182D3D"/>
                </a:solidFill>
                <a:latin typeface="Arial"/>
              </a:rPr>
              <a:t>Aixenprovenški</a:t>
            </a:r>
            <a:r>
              <a:rPr sz="2500" b="0" i="0">
                <a:solidFill>
                  <a:srgbClr val="182D3D"/>
                </a:solidFill>
                <a:latin typeface="Arial"/>
              </a:rPr>
              <a:t> navedemo kot obliko starega slovarja, </a:t>
            </a:r>
            <a:r>
              <a:rPr sz="2500" b="0" i="1">
                <a:solidFill>
                  <a:srgbClr val="182D3D"/>
                </a:solidFill>
                <a:latin typeface="Arial"/>
              </a:rPr>
              <a:t>aix-en-provenški</a:t>
            </a:r>
            <a:r>
              <a:rPr sz="2500" b="0" i="0">
                <a:solidFill>
                  <a:srgbClr val="182D3D"/>
                </a:solidFill>
                <a:latin typeface="Arial"/>
              </a:rPr>
              <a:t> pa kot predlog eP 2025, str. 14. Pri sedanjem besedilu povemo, kateremu okviru sledimo, in ga uporabljamo dosledno. Razlika je v ohranjanju vezajev iz večbesednega imena; ni zgolj tiskarska različica, ki bi jo brez pojasnila pripisali istemu viru.</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287</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presoja pretvorbe.</a:t>
            </a:r>
            <a:r>
              <a:rPr sz="2500" b="0" i="0">
                <a:solidFill>
                  <a:srgbClr val="182D3D"/>
                </a:solidFill>
                <a:latin typeface="Arial"/>
              </a:rPr>
              <a:t> Izhodišče se glasi </a:t>
            </a:r>
            <a:r>
              <a:rPr sz="2500" b="0" i="1">
                <a:solidFill>
                  <a:srgbClr val="182D3D"/>
                </a:solidFill>
                <a:latin typeface="Arial"/>
              </a:rPr>
              <a:t>Po uredničini potrditvi prevoda je avtor, utrujen od pogajanj, poslal datoteko založbi</a:t>
            </a:r>
            <a:r>
              <a:rPr sz="2500" b="0" i="0">
                <a:solidFill>
                  <a:srgbClr val="182D3D"/>
                </a:solidFill>
                <a:latin typeface="Arial"/>
              </a:rPr>
              <a:t>. Napišite analizo z najmanj tremi razločenimi predikacijskimi vsebinami. Nato presodite predlog </a:t>
            </a:r>
            <a:r>
              <a:rPr sz="2500" b="0" i="1">
                <a:solidFill>
                  <a:srgbClr val="182D3D"/>
                </a:solidFill>
                <a:latin typeface="Arial"/>
              </a:rPr>
              <a:t>Ker je urednica prevedla besedilo, je utrujeni avtor poslal datoteko založbi</a:t>
            </a:r>
            <a:r>
              <a:rPr sz="2500" b="0" i="0">
                <a:solidFill>
                  <a:srgbClr val="182D3D"/>
                </a:solidFill>
                <a:latin typeface="Arial"/>
              </a:rPr>
              <a:t>. Kateri podatki so dodani, izgubljeni ali drugače organizirani? Uporabite pojme vršilec, predmet, nominalizacija in razmerje med dogodkoma.</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12</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288</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450" b="0" i="0">
                <a:solidFill>
                  <a:srgbClr val="182D3D"/>
                </a:solidFill>
                <a:latin typeface="Arial"/>
              </a:rPr>
              <a:t>V izhodišču urednica potrdi prevod, avtor pošlje datoteko založbi in je ob tem utrujen od pogajanj. Prva vsebina je poimenovana s samostalnikom, druga ima osebni povedek, tretja je dodatno prisojeno stanje. Predlog zamenja </a:t>
            </a:r>
            <a:r>
              <a:rPr sz="2450" b="0" i="1">
                <a:solidFill>
                  <a:srgbClr val="182D3D"/>
                </a:solidFill>
                <a:latin typeface="Arial"/>
              </a:rPr>
              <a:t>potrditi prevod</a:t>
            </a:r>
            <a:r>
              <a:rPr sz="2450" b="0" i="0">
                <a:solidFill>
                  <a:srgbClr val="182D3D"/>
                </a:solidFill>
                <a:latin typeface="Arial"/>
              </a:rPr>
              <a:t> s </a:t>
            </a:r>
            <a:r>
              <a:rPr sz="2450" b="0" i="1">
                <a:solidFill>
                  <a:srgbClr val="182D3D"/>
                </a:solidFill>
                <a:latin typeface="Arial"/>
              </a:rPr>
              <a:t>prevesti besedilo</a:t>
            </a:r>
            <a:r>
              <a:rPr sz="2450" b="0" i="0">
                <a:solidFill>
                  <a:srgbClr val="182D3D"/>
                </a:solidFill>
                <a:latin typeface="Arial"/>
              </a:rPr>
              <a:t>, zato urednici pripiše drugo dejanje. Časovno zaporedje spremeni v izrecno vzročno razmerje. Izpusti tudi podatek, da je utrujenost povezana s pogajanji. Zveza </a:t>
            </a:r>
            <a:r>
              <a:rPr sz="2450" b="0" i="1">
                <a:solidFill>
                  <a:srgbClr val="182D3D"/>
                </a:solidFill>
                <a:latin typeface="Arial"/>
              </a:rPr>
              <a:t>utrujeni avtor</a:t>
            </a:r>
            <a:r>
              <a:rPr sz="2450" b="0" i="0">
                <a:solidFill>
                  <a:srgbClr val="182D3D"/>
                </a:solidFill>
                <a:latin typeface="Arial"/>
              </a:rPr>
              <a:t> stanje vključi v samostalniško zvezo kot levi prilastek, medtem ko ga izhodišče dodaja odmaknjeno. Končni pošiljatelj, poslano in prejemnik ostanejo enaki, kar pa ne zadošča za pomensko enakovrednost celotne povedi. (Toporišič 2004: 491–492; Vidovič Muha 2013: 386–389.)</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289</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razlaga za dva naslovnika.</a:t>
            </a:r>
            <a:r>
              <a:rPr sz="2500" b="0" i="0">
                <a:solidFill>
                  <a:srgbClr val="182D3D"/>
                </a:solidFill>
                <a:latin typeface="Arial"/>
              </a:rPr>
              <a:t> Za zvezo </a:t>
            </a:r>
            <a:r>
              <a:rPr sz="2500" b="0" i="1">
                <a:solidFill>
                  <a:srgbClr val="182D3D"/>
                </a:solidFill>
                <a:latin typeface="Arial"/>
              </a:rPr>
              <a:t>Anino prevajanje romana</a:t>
            </a:r>
            <a:r>
              <a:rPr sz="2500" b="0" i="0">
                <a:solidFill>
                  <a:srgbClr val="182D3D"/>
                </a:solidFill>
                <a:latin typeface="Arial"/>
              </a:rPr>
              <a:t> napišite (a) analitični odgovor za seminar z navedbo teoretičnega vira in (b) največ pet povedi dolg odgovor uredniku, ki sprašuje, ali lahko </a:t>
            </a:r>
            <a:r>
              <a:rPr sz="2500" b="0" i="1">
                <a:solidFill>
                  <a:srgbClr val="182D3D"/>
                </a:solidFill>
                <a:latin typeface="Arial"/>
              </a:rPr>
              <a:t>Anino</a:t>
            </a:r>
            <a:r>
              <a:rPr sz="2500" b="0" i="0">
                <a:solidFill>
                  <a:srgbClr val="182D3D"/>
                </a:solidFill>
                <a:latin typeface="Arial"/>
              </a:rPr>
              <a:t> pomeni samo lastništvo. V obeh ohranite isto pomensko analizo. Ni treba prepisati razvrstitve vseh svojilnih pridevnikov.</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13</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290</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(a) Samostalnik </a:t>
            </a:r>
            <a:r>
              <a:rPr sz="2500" b="0" i="1">
                <a:solidFill>
                  <a:srgbClr val="182D3D"/>
                </a:solidFill>
                <a:latin typeface="Arial"/>
              </a:rPr>
              <a:t>prevajanje</a:t>
            </a:r>
            <a:r>
              <a:rPr sz="2500" b="0" i="0">
                <a:solidFill>
                  <a:srgbClr val="182D3D"/>
                </a:solidFill>
                <a:latin typeface="Arial"/>
              </a:rPr>
              <a:t> poimenuje dejanje. Zvezo v podanem branju razvijemo v </a:t>
            </a:r>
            <a:r>
              <a:rPr sz="2500" b="0" i="1">
                <a:solidFill>
                  <a:srgbClr val="182D3D"/>
                </a:solidFill>
                <a:latin typeface="Arial"/>
              </a:rPr>
              <a:t>Ana prevaja roman</a:t>
            </a:r>
            <a:r>
              <a:rPr sz="2500" b="0" i="0">
                <a:solidFill>
                  <a:srgbClr val="182D3D"/>
                </a:solidFill>
                <a:latin typeface="Arial"/>
              </a:rPr>
              <a:t>: </a:t>
            </a:r>
            <a:r>
              <a:rPr sz="2500" b="0" i="1">
                <a:solidFill>
                  <a:srgbClr val="182D3D"/>
                </a:solidFill>
                <a:latin typeface="Arial"/>
              </a:rPr>
              <a:t>Anino</a:t>
            </a:r>
            <a:r>
              <a:rPr sz="2500" b="0" i="0">
                <a:solidFill>
                  <a:srgbClr val="182D3D"/>
                </a:solidFill>
                <a:latin typeface="Arial"/>
              </a:rPr>
              <a:t> izraža vršilko, </a:t>
            </a:r>
            <a:r>
              <a:rPr sz="2500" b="0" i="1">
                <a:solidFill>
                  <a:srgbClr val="182D3D"/>
                </a:solidFill>
                <a:latin typeface="Arial"/>
              </a:rPr>
              <a:t>romana</a:t>
            </a:r>
            <a:r>
              <a:rPr sz="2500" b="0" i="0">
                <a:solidFill>
                  <a:srgbClr val="182D3D"/>
                </a:solidFill>
                <a:latin typeface="Arial"/>
              </a:rPr>
              <a:t> pa predmet prevajanja v rodilniški obliki ob samostalniku. Ujemanje pridevnika z jedrom in razmerje do glagolske predloge analiziramo ločeno. Besedotvorni pomen dejanja je povezan s popredmetenjem povedja (Vidovič Muha 2011: 83–85); razlaga pridevnika ob dogodkovnem jedru pa s pretvorbenim razlikovanjem svojilnih razmerij (Vidovič Muha 2013: 386–389).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13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291</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(b) Možen uredniški odgovor: »V zvezi </a:t>
            </a:r>
            <a:r>
              <a:rPr sz="2500" b="0" i="1">
                <a:solidFill>
                  <a:srgbClr val="182D3D"/>
                </a:solidFill>
                <a:latin typeface="Arial"/>
              </a:rPr>
              <a:t>Anino prevajanje romana</a:t>
            </a:r>
            <a:r>
              <a:rPr sz="2500" b="0" i="0">
                <a:solidFill>
                  <a:srgbClr val="182D3D"/>
                </a:solidFill>
                <a:latin typeface="Arial"/>
              </a:rPr>
              <a:t> pridevnik pove, da roman prevaja Ana. Ne govori o tem, da bi bilo prevajanje njena last. Pridevnik ohrani veliko začetnico kot individualni svojilni pridevnik iz osebnega imena. Če želite pomen razviti v stavek, lahko napišete </a:t>
            </a:r>
            <a:r>
              <a:rPr sz="2500" b="0" i="1">
                <a:solidFill>
                  <a:srgbClr val="182D3D"/>
                </a:solidFill>
                <a:latin typeface="Arial"/>
              </a:rPr>
              <a:t>Ana prevaja roman</a:t>
            </a:r>
            <a:r>
              <a:rPr sz="2500" b="0" i="0">
                <a:solidFill>
                  <a:srgbClr val="182D3D"/>
                </a:solidFill>
                <a:latin typeface="Arial"/>
              </a:rPr>
              <a:t>.« Razlika med odgovoroma je v obsegu pojasnila, ne v tem, kdo opravlja dejanje.</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292</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ocena napačnega dokaza.</a:t>
            </a:r>
            <a:r>
              <a:rPr sz="2500" b="0" i="0">
                <a:solidFill>
                  <a:srgbClr val="182D3D"/>
                </a:solidFill>
                <a:latin typeface="Arial"/>
              </a:rPr>
              <a:t> Študent zapiše: »</a:t>
            </a:r>
            <a:r>
              <a:rPr sz="2500" b="0" i="1">
                <a:solidFill>
                  <a:srgbClr val="182D3D"/>
                </a:solidFill>
                <a:latin typeface="Arial"/>
              </a:rPr>
              <a:t>Minigolf</a:t>
            </a:r>
            <a:r>
              <a:rPr sz="2500" b="0" i="0">
                <a:solidFill>
                  <a:srgbClr val="182D3D"/>
                </a:solidFill>
                <a:latin typeface="Arial"/>
              </a:rPr>
              <a:t> je zloženka, zato SP 2001 ne more dopuščati </a:t>
            </a:r>
            <a:r>
              <a:rPr sz="2500" b="0" i="1">
                <a:solidFill>
                  <a:srgbClr val="182D3D"/>
                </a:solidFill>
                <a:latin typeface="Arial"/>
              </a:rPr>
              <a:t>mini golf</a:t>
            </a:r>
            <a:r>
              <a:rPr sz="2500" b="0" i="0">
                <a:solidFill>
                  <a:srgbClr val="182D3D"/>
                </a:solidFill>
                <a:latin typeface="Arial"/>
              </a:rPr>
              <a:t>. </a:t>
            </a:r>
            <a:r>
              <a:rPr sz="2500" b="0" i="1">
                <a:solidFill>
                  <a:srgbClr val="182D3D"/>
                </a:solidFill>
                <a:latin typeface="Arial"/>
              </a:rPr>
              <a:t>Utrujen</a:t>
            </a:r>
            <a:r>
              <a:rPr sz="2500" b="0" i="0">
                <a:solidFill>
                  <a:srgbClr val="182D3D"/>
                </a:solidFill>
                <a:latin typeface="Arial"/>
              </a:rPr>
              <a:t> v </a:t>
            </a:r>
            <a:r>
              <a:rPr sz="2500" b="0" i="1">
                <a:solidFill>
                  <a:srgbClr val="182D3D"/>
                </a:solidFill>
                <a:latin typeface="Arial"/>
              </a:rPr>
              <a:t>Avtor se je vrnil utrujen</a:t>
            </a:r>
            <a:r>
              <a:rPr sz="2500" b="0" i="0">
                <a:solidFill>
                  <a:srgbClr val="182D3D"/>
                </a:solidFill>
                <a:latin typeface="Arial"/>
              </a:rPr>
              <a:t> je pridevnik, zato ne izraža predikacije. </a:t>
            </a:r>
            <a:r>
              <a:rPr sz="2500" b="0" i="1">
                <a:solidFill>
                  <a:srgbClr val="182D3D"/>
                </a:solidFill>
                <a:latin typeface="Arial"/>
              </a:rPr>
              <a:t>Anin prevod</a:t>
            </a:r>
            <a:r>
              <a:rPr sz="2500" b="0" i="0">
                <a:solidFill>
                  <a:srgbClr val="182D3D"/>
                </a:solidFill>
                <a:latin typeface="Arial"/>
              </a:rPr>
              <a:t> vsebuje svojilni pridevnik, zato je Ana gotovo lastnica.« Za vsak sklep napišite: uporabljeno merilo, preskok med ravnema, popravljeno trditev in vir oziroma poglavje, kjer bi jo preverili.</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14</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293</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Prvi sklep zamenja besedotvorno zgradbo s konkretnim pravilom o zapisu; dopustni obliki preverimo v SP 2001, § 487 in 499, ne izpeljemo ju samo iz oznake </a:t>
            </a:r>
            <a:r>
              <a:rPr sz="2500" b="0" i="1">
                <a:solidFill>
                  <a:srgbClr val="182D3D"/>
                </a:solidFill>
                <a:latin typeface="Arial"/>
              </a:rPr>
              <a:t>zloženka</a:t>
            </a:r>
            <a:r>
              <a:rPr sz="2500" b="0" i="0">
                <a:solidFill>
                  <a:srgbClr val="182D3D"/>
                </a:solidFill>
                <a:latin typeface="Arial"/>
              </a:rPr>
              <a:t>. Drugi sklep zamenja izvorno besedno vrsto s predikacijsko vlogo: </a:t>
            </a:r>
            <a:r>
              <a:rPr sz="2500" b="0" i="1">
                <a:solidFill>
                  <a:srgbClr val="182D3D"/>
                </a:solidFill>
                <a:latin typeface="Arial"/>
              </a:rPr>
              <a:t>utrujen</a:t>
            </a:r>
            <a:r>
              <a:rPr sz="2500" b="0" i="0">
                <a:solidFill>
                  <a:srgbClr val="182D3D"/>
                </a:solidFill>
                <a:latin typeface="Arial"/>
              </a:rPr>
              <a:t> ob vrnitvi dodatno pripiše stanje osebku. Tretji enači svojilno obliko s samo eno vrsto pomenskega razmerja; ob rezultatu dejanja je možna npr. razlaga avtorstva. Popravljeni odgovori morajo po vrsti ločiti zgradbo in zapis, besedno vrsto in funkcijo ter obliko in pomen zveze. Primerjajte 3., 4., 5. in 7. poglavje ter tam navedene vire.</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Zahtevnejša vaja 15</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294</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1" i="0">
                <a:solidFill>
                  <a:srgbClr val="182D3D"/>
                </a:solidFill>
                <a:latin typeface="Arial"/>
              </a:rPr>
              <a:t>Zahtevnejša naloga: sestavite raziskovalno vprašanje.</a:t>
            </a:r>
            <a:r>
              <a:rPr sz="2500" b="0" i="0">
                <a:solidFill>
                  <a:srgbClr val="182D3D"/>
                </a:solidFill>
                <a:latin typeface="Arial"/>
              </a:rPr>
              <a:t> Izberite poimenovanje ali skladenjsko zgradbo iz katere koli vaje. Oblikujte dve mogoči analizi, navedite podatek, ki ju razločuje, in predvidite, kateri rezultat preverjanja bi spremenil vašo začetno odločitev. Nato ločite (a) teoretični vir za merilo, (b) vir za konkretni pomen ali rabo in (c) normativni vir, če je vprašanje pravopisno. Naloga zahteva načrt preverjanja; izmišljenih korpusnih zadetkov ali slovarskih podatkov ne navajajte.</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15</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295</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Možen načrt: primerjamo </a:t>
            </a:r>
            <a:r>
              <a:rPr sz="2500" b="0" i="1">
                <a:solidFill>
                  <a:srgbClr val="182D3D"/>
                </a:solidFill>
                <a:latin typeface="Arial"/>
              </a:rPr>
              <a:t>Urednik je pregledal članek, in da je vsebina primerna, je povedal avtorici</a:t>
            </a:r>
            <a:r>
              <a:rPr sz="2500" b="0" i="0">
                <a:solidFill>
                  <a:srgbClr val="182D3D"/>
                </a:solidFill>
                <a:latin typeface="Arial"/>
              </a:rPr>
              <a:t>. Prva hipoteza je, da </a:t>
            </a:r>
            <a:r>
              <a:rPr sz="2500" b="0" i="1">
                <a:solidFill>
                  <a:srgbClr val="182D3D"/>
                </a:solidFill>
                <a:latin typeface="Arial"/>
              </a:rPr>
              <a:t>in</a:t>
            </a:r>
            <a:r>
              <a:rPr sz="2500" b="0" i="0">
                <a:solidFill>
                  <a:srgbClr val="182D3D"/>
                </a:solidFill>
                <a:latin typeface="Arial"/>
              </a:rPr>
              <a:t> povezuje enakovredna vsebinska odvisnika; druga, da povezuje povedkovni zgradbi, pri čemer je vsebinski odvisnik v drugem delu postavljen naprej. Razločuje ju skladenjska nadrejenost glagolov: </a:t>
            </a:r>
            <a:r>
              <a:rPr sz="2500" b="0" i="1">
                <a:solidFill>
                  <a:srgbClr val="182D3D"/>
                </a:solidFill>
                <a:latin typeface="Arial"/>
              </a:rPr>
              <a:t>pregledati</a:t>
            </a:r>
            <a:r>
              <a:rPr sz="2500" b="0" i="0">
                <a:solidFill>
                  <a:srgbClr val="182D3D"/>
                </a:solidFill>
                <a:latin typeface="Arial"/>
              </a:rPr>
              <a:t> je tu povezano s samostalniškim predmetom, </a:t>
            </a:r>
            <a:r>
              <a:rPr sz="2500" b="0" i="1">
                <a:solidFill>
                  <a:srgbClr val="182D3D"/>
                </a:solidFill>
                <a:latin typeface="Arial"/>
              </a:rPr>
              <a:t>povedati</a:t>
            </a:r>
            <a:r>
              <a:rPr sz="2500" b="0" i="0">
                <a:solidFill>
                  <a:srgbClr val="182D3D"/>
                </a:solidFill>
                <a:latin typeface="Arial"/>
              </a:rPr>
              <a:t> pa s stavčnim. Pregled celotne povedi potrdi drugo analizo; stik veznikov presodimo po SP 2001, § 328, in po postopkih iz 6.6 in 7.4.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Rešitev 15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296</a:t>
            </a:r>
          </a:p>
        </p:txBody>
      </p:sp>
      <p:sp>
        <p:nvSpPr>
          <p:cNvPr id="4" name="TextBox 3"/>
          <p:cNvSpPr txBox="1"/>
          <p:nvPr/>
        </p:nvSpPr>
        <p:spPr>
          <a:xfrm>
            <a:off x="914400" y="1975104"/>
            <a:ext cx="10369296" cy="3547872"/>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Zapis lahko za bolj običajen vrstni red uredimo v </a:t>
            </a:r>
            <a:r>
              <a:rPr sz="2500" b="0" i="1">
                <a:solidFill>
                  <a:srgbClr val="182D3D"/>
                </a:solidFill>
                <a:latin typeface="Arial"/>
              </a:rPr>
              <a:t>Urednik je pregledal članek in avtorici povedal, da je vsebina primerna</a:t>
            </a:r>
            <a:r>
              <a:rPr sz="2500" b="0" i="0">
                <a:solidFill>
                  <a:srgbClr val="182D3D"/>
                </a:solidFill>
                <a:latin typeface="Arial"/>
              </a:rPr>
              <a:t>. Če bi izhodišče namesto </a:t>
            </a:r>
            <a:r>
              <a:rPr sz="2500" b="0" i="1">
                <a:solidFill>
                  <a:srgbClr val="182D3D"/>
                </a:solidFill>
                <a:latin typeface="Arial"/>
              </a:rPr>
              <a:t>pregledal članek</a:t>
            </a:r>
            <a:r>
              <a:rPr sz="2500" b="0" i="0">
                <a:solidFill>
                  <a:srgbClr val="182D3D"/>
                </a:solidFill>
                <a:latin typeface="Arial"/>
              </a:rPr>
              <a:t> imelo </a:t>
            </a:r>
            <a:r>
              <a:rPr sz="2500" b="0" i="1">
                <a:solidFill>
                  <a:srgbClr val="182D3D"/>
                </a:solidFill>
                <a:latin typeface="Arial"/>
              </a:rPr>
              <a:t>povedal, da je članek pregledan</a:t>
            </a:r>
            <a:r>
              <a:rPr sz="2500" b="0" i="0">
                <a:solidFill>
                  <a:srgbClr val="182D3D"/>
                </a:solidFill>
                <a:latin typeface="Arial"/>
              </a:rPr>
              <a:t>, bi morali preveriti prvo hipotezo. Teoretično merilo iščemo v skladnji predmetnih odvisnikov in priredja, konkretno glagolsko vezljivost v razlagalnem oziroma vezljivostnem viru, ločila pa v pravopisnih pravilih. To je zgled načrta na podlagi dane povedi; ne predstavlja poročila o opravljenem korpusnem iskanju.</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Povzetek</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297</a:t>
            </a:r>
          </a:p>
        </p:txBody>
      </p:sp>
      <p:sp>
        <p:nvSpPr>
          <p:cNvPr id="4" name="TextBox 3"/>
          <p:cNvSpPr txBox="1"/>
          <p:nvPr/>
        </p:nvSpPr>
        <p:spPr>
          <a:xfrm>
            <a:off x="658368" y="1847088"/>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1</a:t>
            </a:r>
          </a:p>
        </p:txBody>
      </p:sp>
      <p:sp>
        <p:nvSpPr>
          <p:cNvPr id="5" name="TextBox 4"/>
          <p:cNvSpPr txBox="1"/>
          <p:nvPr/>
        </p:nvSpPr>
        <p:spPr>
          <a:xfrm>
            <a:off x="1508760" y="1883664"/>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Rešitev izpeljem iz analize konkretnega primera.</a:t>
            </a:r>
          </a:p>
        </p:txBody>
      </p:sp>
      <p:sp>
        <p:nvSpPr>
          <p:cNvPr id="6" name="TextBox 5"/>
          <p:cNvSpPr txBox="1"/>
          <p:nvPr/>
        </p:nvSpPr>
        <p:spPr>
          <a:xfrm>
            <a:off x="658368" y="2779776"/>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2</a:t>
            </a:r>
          </a:p>
        </p:txBody>
      </p:sp>
      <p:sp>
        <p:nvSpPr>
          <p:cNvPr id="7" name="TextBox 6"/>
          <p:cNvSpPr txBox="1"/>
          <p:nvPr/>
        </p:nvSpPr>
        <p:spPr>
          <a:xfrm>
            <a:off x="1508760" y="2816352"/>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Pri pretvorbi ohranim udeležence in razmerja.</a:t>
            </a:r>
          </a:p>
        </p:txBody>
      </p:sp>
      <p:sp>
        <p:nvSpPr>
          <p:cNvPr id="8" name="TextBox 7"/>
          <p:cNvSpPr txBox="1"/>
          <p:nvPr/>
        </p:nvSpPr>
        <p:spPr>
          <a:xfrm>
            <a:off x="658368" y="3712464"/>
            <a:ext cx="621792" cy="576072"/>
          </a:xfrm>
          <a:prstGeom prst="rect">
            <a:avLst/>
          </a:prstGeom>
          <a:noFill/>
        </p:spPr>
        <p:txBody>
          <a:bodyPr wrap="square" lIns="0" rIns="0" tIns="0" bIns="0" anchor="t">
            <a:noAutofit/>
          </a:bodyPr>
          <a:lstStyle/>
          <a:p>
            <a:pPr rtl="0">
              <a:lnSpc>
                <a:spcPct val="110000"/>
              </a:lnSpc>
              <a:spcBef>
                <a:spcPts val="0"/>
              </a:spcBef>
              <a:spcAft>
                <a:spcPts val="0"/>
              </a:spcAft>
            </a:pPr>
            <a:r>
              <a:rPr sz="2900" b="1" i="0">
                <a:solidFill>
                  <a:srgbClr val="00695F"/>
                </a:solidFill>
                <a:latin typeface="Arial"/>
              </a:rPr>
              <a:t>3</a:t>
            </a:r>
          </a:p>
        </p:txBody>
      </p:sp>
      <p:sp>
        <p:nvSpPr>
          <p:cNvPr id="9" name="TextBox 8"/>
          <p:cNvSpPr txBox="1"/>
          <p:nvPr/>
        </p:nvSpPr>
        <p:spPr>
          <a:xfrm>
            <a:off x="1508760" y="3749040"/>
            <a:ext cx="9875520" cy="694944"/>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Navedem merilo, vir in mejo svojega sklepa.</a:t>
            </a:r>
          </a:p>
        </p:txBody>
      </p:sp>
      <p:sp>
        <p:nvSpPr>
          <p:cNvPr id="10" name="Rectangle 9"/>
          <p:cNvSpPr/>
          <p:nvPr/>
        </p:nvSpPr>
        <p:spPr>
          <a:xfrm>
            <a:off x="621792" y="4855464"/>
            <a:ext cx="10954512" cy="704088"/>
          </a:xfrm>
          <a:prstGeom prst="rect">
            <a:avLst/>
          </a:prstGeom>
          <a:solidFill>
            <a:srgbClr val="ED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01768"/>
            <a:ext cx="10506456" cy="484632"/>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Za samostojno pripravo spremenite en podatek v zgledu in preverite, ali prejšnja rešitev še velja.</a:t>
            </a:r>
          </a:p>
        </p:txBody>
      </p:sp>
      <p:sp>
        <p:nvSpPr>
          <p:cNvPr id="12" name="TextBox 11"/>
          <p:cNvSpPr txBox="1"/>
          <p:nvPr/>
        </p:nvSpPr>
        <p:spPr>
          <a:xfrm>
            <a:off x="713232" y="5751576"/>
            <a:ext cx="10607040" cy="429768"/>
          </a:xfrm>
          <a:prstGeom prst="rect">
            <a:avLst/>
          </a:prstGeom>
          <a:noFill/>
        </p:spPr>
        <p:txBody>
          <a:bodyPr wrap="square" lIns="0" rIns="0" tIns="0" bIns="0" anchor="t">
            <a:noAutofit/>
          </a:bodyPr>
          <a:lstStyle/>
          <a:p>
            <a:pPr rtl="0">
              <a:lnSpc>
                <a:spcPct val="110000"/>
              </a:lnSpc>
              <a:spcBef>
                <a:spcPts val="0"/>
              </a:spcBef>
              <a:spcAft>
                <a:spcPts val="0"/>
              </a:spcAft>
            </a:pPr>
            <a:r>
              <a:rPr sz="1350" b="0" i="0">
                <a:solidFill>
                  <a:srgbClr val="546674"/>
                </a:solidFill>
                <a:latin typeface="Arial"/>
              </a:rPr>
              <a:t>Branje: Toporišič 2004: 491–492; Vidovič Muha 2011: 100–103; 2013: 17–18, 386–389.</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94944" y="1234440"/>
            <a:ext cx="10607040" cy="1325880"/>
          </a:xfrm>
          <a:prstGeom prst="rect">
            <a:avLst/>
          </a:prstGeom>
          <a:noFill/>
        </p:spPr>
        <p:txBody>
          <a:bodyPr wrap="square" lIns="0" rIns="0" tIns="0" bIns="0" anchor="t">
            <a:noAutofit/>
          </a:bodyPr>
          <a:lstStyle/>
          <a:p>
            <a:pPr rtl="0">
              <a:lnSpc>
                <a:spcPct val="110000"/>
              </a:lnSpc>
              <a:spcBef>
                <a:spcPts val="0"/>
              </a:spcBef>
              <a:spcAft>
                <a:spcPts val="0"/>
              </a:spcAft>
            </a:pPr>
            <a:r>
              <a:rPr sz="3900" b="1" i="0">
                <a:solidFill>
                  <a:srgbClr val="182D3D"/>
                </a:solidFill>
                <a:latin typeface="Arial"/>
              </a:rPr>
              <a:t>Pripomočki za ponavljanje</a:t>
            </a:r>
          </a:p>
        </p:txBody>
      </p:sp>
      <p:sp>
        <p:nvSpPr>
          <p:cNvPr id="3" name="TextBox 2"/>
          <p:cNvSpPr txBox="1"/>
          <p:nvPr/>
        </p:nvSpPr>
        <p:spPr>
          <a:xfrm>
            <a:off x="731520" y="2926080"/>
            <a:ext cx="10515600" cy="914400"/>
          </a:xfrm>
          <a:prstGeom prst="rect">
            <a:avLst/>
          </a:prstGeom>
          <a:noFill/>
        </p:spPr>
        <p:txBody>
          <a:bodyPr wrap="square" lIns="0" rIns="0" tIns="0" bIns="0" anchor="t">
            <a:noAutofit/>
          </a:bodyPr>
          <a:lstStyle/>
          <a:p>
            <a:pPr rtl="0">
              <a:lnSpc>
                <a:spcPct val="110000"/>
              </a:lnSpc>
              <a:spcBef>
                <a:spcPts val="0"/>
              </a:spcBef>
              <a:spcAft>
                <a:spcPts val="0"/>
              </a:spcAft>
            </a:pPr>
            <a:r>
              <a:rPr sz="2600" b="0" i="0">
                <a:solidFill>
                  <a:srgbClr val="546674"/>
                </a:solidFill>
                <a:latin typeface="Arial"/>
              </a:rPr>
              <a:t>Pojem povežemo s primerom, postopkom in virom.</a:t>
            </a:r>
          </a:p>
        </p:txBody>
      </p:sp>
      <p:sp>
        <p:nvSpPr>
          <p:cNvPr id="4" name="TextBox 3"/>
          <p:cNvSpPr txBox="1"/>
          <p:nvPr/>
        </p:nvSpPr>
        <p:spPr>
          <a:xfrm>
            <a:off x="731520" y="4251960"/>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Pojmovni pregled</a:t>
            </a:r>
          </a:p>
        </p:txBody>
      </p:sp>
      <p:sp>
        <p:nvSpPr>
          <p:cNvPr id="5" name="TextBox 4"/>
          <p:cNvSpPr txBox="1"/>
          <p:nvPr/>
        </p:nvSpPr>
        <p:spPr>
          <a:xfrm>
            <a:off x="731520" y="4809744"/>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Postopki in izpitni problemi</a:t>
            </a:r>
          </a:p>
        </p:txBody>
      </p:sp>
      <p:sp>
        <p:nvSpPr>
          <p:cNvPr id="6" name="TextBox 5"/>
          <p:cNvSpPr txBox="1"/>
          <p:nvPr/>
        </p:nvSpPr>
        <p:spPr>
          <a:xfrm>
            <a:off x="731520" y="5367528"/>
            <a:ext cx="10515600" cy="47548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 Usmerjeno branje</a:t>
            </a:r>
          </a:p>
        </p:txBody>
      </p:sp>
      <p:sp>
        <p:nvSpPr>
          <p:cNvPr id="7" name="TextBox 6"/>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298</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299</a:t>
            </a:r>
          </a:p>
        </p:txBody>
      </p:sp>
      <p:sp>
        <p:nvSpPr>
          <p:cNvPr id="4" name="TextBox 3"/>
          <p:cNvSpPr txBox="1"/>
          <p:nvPr/>
        </p:nvSpPr>
        <p:spPr>
          <a:xfrm>
            <a:off x="804672" y="1938528"/>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Besedna oblika</a:t>
            </a:r>
          </a:p>
        </p:txBody>
      </p:sp>
      <p:sp>
        <p:nvSpPr>
          <p:cNvPr id="5" name="TextBox 4"/>
          <p:cNvSpPr txBox="1"/>
          <p:nvPr/>
        </p:nvSpPr>
        <p:spPr>
          <a:xfrm>
            <a:off x="4206240" y="1938528"/>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Konkretna oblikovna različica leksema, npr. </a:t>
            </a:r>
            <a:r>
              <a:rPr sz="2050" b="0" i="1">
                <a:solidFill>
                  <a:srgbClr val="182D3D"/>
                </a:solidFill>
                <a:latin typeface="Arial"/>
              </a:rPr>
              <a:t>knjigi</a:t>
            </a:r>
            <a:r>
              <a:rPr sz="2050" b="0" i="0">
                <a:solidFill>
                  <a:srgbClr val="182D3D"/>
                </a:solidFill>
                <a:latin typeface="Arial"/>
              </a:rPr>
              <a:t>.</a:t>
            </a:r>
          </a:p>
        </p:txBody>
      </p:sp>
      <p:sp>
        <p:nvSpPr>
          <p:cNvPr id="6" name="TextBox 5"/>
          <p:cNvSpPr txBox="1"/>
          <p:nvPr/>
        </p:nvSpPr>
        <p:spPr>
          <a:xfrm>
            <a:off x="804672" y="2928366"/>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Leksem</a:t>
            </a:r>
          </a:p>
        </p:txBody>
      </p:sp>
      <p:sp>
        <p:nvSpPr>
          <p:cNvPr id="7" name="TextBox 6"/>
          <p:cNvSpPr txBox="1"/>
          <p:nvPr/>
        </p:nvSpPr>
        <p:spPr>
          <a:xfrm>
            <a:off x="4206240" y="2928366"/>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Enota besedišča, povezana z izrazno in pomensko identiteto; lahko je tudi večbesedna.</a:t>
            </a:r>
          </a:p>
        </p:txBody>
      </p:sp>
      <p:sp>
        <p:nvSpPr>
          <p:cNvPr id="8" name="TextBox 7"/>
          <p:cNvSpPr txBox="1"/>
          <p:nvPr/>
        </p:nvSpPr>
        <p:spPr>
          <a:xfrm>
            <a:off x="804672" y="3918203"/>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Pomen in pomenje</a:t>
            </a:r>
          </a:p>
        </p:txBody>
      </p:sp>
      <p:sp>
        <p:nvSpPr>
          <p:cNvPr id="9" name="TextBox 8"/>
          <p:cNvSpPr txBox="1"/>
          <p:nvPr/>
        </p:nvSpPr>
        <p:spPr>
          <a:xfrm>
            <a:off x="4206240" y="3918203"/>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Pomen (semem) je posamezni pomen; pomenje (semantem) je v modelu Ade Vidovič Muha celota povezanih pomenov leksema.</a:t>
            </a:r>
          </a:p>
        </p:txBody>
      </p:sp>
      <p:sp>
        <p:nvSpPr>
          <p:cNvPr id="10" name="TextBox 9"/>
          <p:cNvSpPr txBox="1"/>
          <p:nvPr/>
        </p:nvSpPr>
        <p:spPr>
          <a:xfrm>
            <a:off x="804672" y="4908041"/>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Sem</a:t>
            </a:r>
          </a:p>
        </p:txBody>
      </p:sp>
      <p:sp>
        <p:nvSpPr>
          <p:cNvPr id="11" name="TextBox 10"/>
          <p:cNvSpPr txBox="1"/>
          <p:nvPr/>
        </p:nvSpPr>
        <p:spPr>
          <a:xfrm>
            <a:off x="4206240" y="4908041"/>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Najmanjša pomenska sestavina; semem je posamezni pomen, semantem pa pomenje leksema.</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300</a:t>
            </a:r>
          </a:p>
        </p:txBody>
      </p:sp>
      <p:sp>
        <p:nvSpPr>
          <p:cNvPr id="4" name="TextBox 3"/>
          <p:cNvSpPr txBox="1"/>
          <p:nvPr/>
        </p:nvSpPr>
        <p:spPr>
          <a:xfrm>
            <a:off x="804672" y="1938528"/>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Semaziologija in onomaziologija</a:t>
            </a:r>
          </a:p>
        </p:txBody>
      </p:sp>
      <p:sp>
        <p:nvSpPr>
          <p:cNvPr id="5" name="TextBox 4"/>
          <p:cNvSpPr txBox="1"/>
          <p:nvPr/>
        </p:nvSpPr>
        <p:spPr>
          <a:xfrm>
            <a:off x="4206240" y="1938528"/>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Prva izhaja iz izraza in sprašuje po pomenu; druga iz poimenovalne potrebe oziroma predstave in sprašuje po izrazu.</a:t>
            </a:r>
          </a:p>
        </p:txBody>
      </p:sp>
      <p:sp>
        <p:nvSpPr>
          <p:cNvPr id="6" name="TextBox 5"/>
          <p:cNvSpPr txBox="1"/>
          <p:nvPr/>
        </p:nvSpPr>
        <p:spPr>
          <a:xfrm>
            <a:off x="804672" y="2928366"/>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Morfem</a:t>
            </a:r>
          </a:p>
        </p:txBody>
      </p:sp>
      <p:sp>
        <p:nvSpPr>
          <p:cNvPr id="7" name="TextBox 6"/>
          <p:cNvSpPr txBox="1"/>
          <p:nvPr/>
        </p:nvSpPr>
        <p:spPr>
          <a:xfrm>
            <a:off x="4206240" y="2928366"/>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Najmanjša enota s slovničnim ali leksikalnim pomenom oziroma funkcijo.</a:t>
            </a:r>
          </a:p>
        </p:txBody>
      </p:sp>
      <p:sp>
        <p:nvSpPr>
          <p:cNvPr id="8" name="TextBox 7"/>
          <p:cNvSpPr txBox="1"/>
          <p:nvPr/>
        </p:nvSpPr>
        <p:spPr>
          <a:xfrm>
            <a:off x="804672" y="3918203"/>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Morf in alomorf</a:t>
            </a:r>
          </a:p>
        </p:txBody>
      </p:sp>
      <p:sp>
        <p:nvSpPr>
          <p:cNvPr id="9" name="TextBox 8"/>
          <p:cNvSpPr txBox="1"/>
          <p:nvPr/>
        </p:nvSpPr>
        <p:spPr>
          <a:xfrm>
            <a:off x="4206240" y="3918203"/>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Konkretna izrazna uresničitev morfema oziroma njegova izrazna različica.</a:t>
            </a:r>
          </a:p>
        </p:txBody>
      </p:sp>
      <p:sp>
        <p:nvSpPr>
          <p:cNvPr id="10" name="TextBox 9"/>
          <p:cNvSpPr txBox="1"/>
          <p:nvPr/>
        </p:nvSpPr>
        <p:spPr>
          <a:xfrm>
            <a:off x="804672" y="4908041"/>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Osnova in končnica</a:t>
            </a:r>
          </a:p>
        </p:txBody>
      </p:sp>
      <p:sp>
        <p:nvSpPr>
          <p:cNvPr id="11" name="TextBox 10"/>
          <p:cNvSpPr txBox="1"/>
          <p:nvPr/>
        </p:nvSpPr>
        <p:spPr>
          <a:xfrm>
            <a:off x="4206240" y="4908041"/>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Pri pregibanju razločujemo osnovo in del, ki izraža ustrezne slovnične kategorije.</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301</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Besedotvorna podstava (BPo)</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modelu Vidovič Muha del tvorjenke iz sestavin SPo, ki se ne pretvorijo v obrazilo. Toporišič isti termin v algoritmu uporablja za izhodiščno zvezo; pri branju določimo model.</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Skladenjska podstava (SPo)</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skladenjskem besedotvorju strukturno določena zveza, katere sestavine in razmerja se pretvorijo v tvorjenko. Poljubna smiselna razlaga še ni ustrezna SPo.</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Obrazilo in obrazilni morfem</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Obrazilo je celota obrazilnih morfemov obravnavane tvorbene stopnje. V modelu Ade Vidovič Muha priponsko obrazilo vključuje tudi končnico; natančnejša morfemska členitev jo loči od pripone.</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302</a:t>
            </a:r>
          </a:p>
        </p:txBody>
      </p:sp>
      <p:sp>
        <p:nvSpPr>
          <p:cNvPr id="4" name="TextBox 3"/>
          <p:cNvSpPr txBox="1"/>
          <p:nvPr/>
        </p:nvSpPr>
        <p:spPr>
          <a:xfrm>
            <a:off x="804672" y="1938528"/>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Izpeljava</a:t>
            </a:r>
          </a:p>
        </p:txBody>
      </p:sp>
      <p:sp>
        <p:nvSpPr>
          <p:cNvPr id="5" name="TextBox 4"/>
          <p:cNvSpPr txBox="1"/>
          <p:nvPr/>
        </p:nvSpPr>
        <p:spPr>
          <a:xfrm>
            <a:off x="4206240" y="1938528"/>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Tvorjenje s priponskim obrazilom. V modelu Vidovič Muha ločimo navadno in modifikacijsko izpeljavo glede na sestavino SPo, ki se pretvori v obrazilo.</a:t>
            </a:r>
          </a:p>
        </p:txBody>
      </p:sp>
      <p:sp>
        <p:nvSpPr>
          <p:cNvPr id="6" name="TextBox 5"/>
          <p:cNvSpPr txBox="1"/>
          <p:nvPr/>
        </p:nvSpPr>
        <p:spPr>
          <a:xfrm>
            <a:off x="804672" y="3918203"/>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Zlaganje</a:t>
            </a:r>
          </a:p>
        </p:txBody>
      </p:sp>
      <p:sp>
        <p:nvSpPr>
          <p:cNvPr id="7" name="TextBox 6"/>
          <p:cNvSpPr txBox="1"/>
          <p:nvPr/>
        </p:nvSpPr>
        <p:spPr>
          <a:xfrm>
            <a:off x="4206240" y="3918203"/>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Tvorjenje zloženk; njihova podstava vključuje več korenskih sestavin. Pri pretvorbeni analizi določimo tudi vrsto medponskega oziroma medponsko-priponskega obrazila in njegovo skladenjsko podstavo.</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303</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Pregibanje</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Spreminjanje slovničnih oblik istega leksema.</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Navadna in modifikacijska izpeljava</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Pri prvi se v priponsko obrazilo pretvarja jedro SPo s slovničnim razmerjem, pri drugi odvisni del, ki spreminja pomen ohranjenega jedra.</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Tvorjenka iz predložne zveze</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modelu Vidovič Muha tip s predponsko-priponskim obrazilom, npr. </a:t>
            </a:r>
            <a:r>
              <a:rPr sz="2050" b="0" i="1">
                <a:solidFill>
                  <a:srgbClr val="182D3D"/>
                </a:solidFill>
                <a:latin typeface="Arial"/>
              </a:rPr>
              <a:t>brezdomec</a:t>
            </a:r>
            <a:r>
              <a:rPr sz="2050" b="0" i="0">
                <a:solidFill>
                  <a:srgbClr val="182D3D"/>
                </a:solidFill>
                <a:latin typeface="Arial"/>
              </a:rPr>
              <a:t>. Pri analizi zajamemo oba obrazilna dela.</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304</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Medponsko-priponska in medponskoobrazilna zloženka</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Prva ima na obravnavani stopnji medpono in pripono, druga samo medponsko obrazilo; primerjamo </a:t>
            </a:r>
            <a:r>
              <a:rPr sz="2050" b="0" i="1">
                <a:solidFill>
                  <a:srgbClr val="182D3D"/>
                </a:solidFill>
                <a:latin typeface="Arial"/>
              </a:rPr>
              <a:t>vrvohodec</a:t>
            </a:r>
            <a:r>
              <a:rPr sz="2050" b="0" i="0">
                <a:solidFill>
                  <a:srgbClr val="182D3D"/>
                </a:solidFill>
                <a:latin typeface="Arial"/>
              </a:rPr>
              <a:t> in </a:t>
            </a:r>
            <a:r>
              <a:rPr sz="2050" b="0" i="1">
                <a:solidFill>
                  <a:srgbClr val="182D3D"/>
                </a:solidFill>
                <a:latin typeface="Arial"/>
              </a:rPr>
              <a:t>zobozdravnik</a:t>
            </a:r>
            <a:r>
              <a:rPr sz="2050" b="0" i="0">
                <a:solidFill>
                  <a:srgbClr val="182D3D"/>
                </a:solidFill>
                <a:latin typeface="Arial"/>
              </a:rPr>
              <a:t>.</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Besedotvorni pomen</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Pomen, določen s tvorbenim razmerjem; pri nekaterih tipih izhaja iz propozicijske sestavine. Ne izčrpa nujno konkretnega slovarskega pomena.</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Tvorbena stopnja</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Korak v nizu motivirajočih in motiviranih besed; obrazilo prejšnje stopnje postane del podstave naslednje.</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305</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Sinhrona motiviranost</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Razložljivost tvorbenega razmerja v obravnavanem jezikovnem sistemu, ki je ne enačimo avtomatično z zgodovinskim izvorom besede.</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Denotativni in konotativni pomen</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Denotativna sestavina omogoča prepoznavanje poimenovane predmetnosti, konotativna pa dodaja vrednotenje oziroma zaznamovanost.</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Leksikalizirani pragmatični pomen</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Ustaljeno govorno dejanje z značilnimi okoliščinami rabe; ločimo ga od sprotnega sklepanja o namenu poljubne izjave.</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306</a:t>
            </a:r>
          </a:p>
        </p:txBody>
      </p:sp>
      <p:sp>
        <p:nvSpPr>
          <p:cNvPr id="4" name="TextBox 3"/>
          <p:cNvSpPr txBox="1"/>
          <p:nvPr/>
        </p:nvSpPr>
        <p:spPr>
          <a:xfrm>
            <a:off x="804672" y="1938528"/>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Kategorialni pomen in KPS</a:t>
            </a:r>
          </a:p>
        </p:txBody>
      </p:sp>
      <p:sp>
        <p:nvSpPr>
          <p:cNvPr id="5" name="TextBox 4"/>
          <p:cNvSpPr txBox="1"/>
          <p:nvPr/>
        </p:nvSpPr>
        <p:spPr>
          <a:xfrm>
            <a:off x="4206240" y="1938528"/>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Kategorialne pomenske sestavine so lastnosti, ki določajo temeljno skladenjsko vedenje leksema; niso zgolj seznam lastnosti poimenovanega predmeta ali vseh pregibnih podatkov konkretne oblike.</a:t>
            </a:r>
          </a:p>
        </p:txBody>
      </p:sp>
      <p:sp>
        <p:nvSpPr>
          <p:cNvPr id="6" name="TextBox 5"/>
          <p:cNvSpPr txBox="1"/>
          <p:nvPr/>
        </p:nvSpPr>
        <p:spPr>
          <a:xfrm>
            <a:off x="804672" y="3918203"/>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Denotat</a:t>
            </a:r>
          </a:p>
        </p:txBody>
      </p:sp>
      <p:sp>
        <p:nvSpPr>
          <p:cNvPr id="7" name="TextBox 6"/>
          <p:cNvSpPr txBox="1"/>
          <p:nvPr/>
        </p:nvSpPr>
        <p:spPr>
          <a:xfrm>
            <a:off x="4206240" y="3918203"/>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Poimenovana predmetnost oziroma razred, na katerega je vezan denotativni pomen; razločujemo ga od konkretnega nanosnika v besedilu.</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307</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Uvrščevalna pomenska sestavina (UPS)</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strukturni analizi denotativnega pomena nadrejena sestavina, ki pomen umesti v ustrezni razred.</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Razločevalne pomenske sestavine (RPS)</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Sestavine, ki pomen znotraj obsega UPS razlikujejo od drugih pomenov; niso vsi znani podatki o posameznem nanosniku.</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Endogeni in eksogeni leksemi</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modelu Ade Vidovič Muha imajo prvi notranjo hierarhijo UPS in RPS, drugi pa pomensko razvijajo zunanjo jedrno besedo; eksogenost zato ni isto kot pomenska poljubnost.</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308</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Večpomenskost</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En leksem ima več povezanih pomenov.</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Pomenska vsebovanost</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Razmerje med pomeni istega leksema, pri katerem ožji pomen ohrani izhodiščne lastnosti in jih dopolni; ločimo ga od pomenskega prenosa ter od nadpomenskosti med leksemi.</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Homonimija</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Različni leksemi imajo enako izrazno podobo.</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309</a:t>
            </a:r>
          </a:p>
        </p:txBody>
      </p:sp>
      <p:sp>
        <p:nvSpPr>
          <p:cNvPr id="4" name="TextBox 3"/>
          <p:cNvSpPr txBox="1"/>
          <p:nvPr/>
        </p:nvSpPr>
        <p:spPr>
          <a:xfrm>
            <a:off x="804672" y="1938528"/>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Metafora</a:t>
            </a:r>
          </a:p>
        </p:txBody>
      </p:sp>
      <p:sp>
        <p:nvSpPr>
          <p:cNvPr id="5" name="TextBox 4"/>
          <p:cNvSpPr txBox="1"/>
          <p:nvPr/>
        </p:nvSpPr>
        <p:spPr>
          <a:xfrm>
            <a:off x="4206240" y="1938528"/>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Pomenski prenos, pri katerem je pomembna podobnost oziroma primerljivost.</a:t>
            </a:r>
          </a:p>
        </p:txBody>
      </p:sp>
      <p:sp>
        <p:nvSpPr>
          <p:cNvPr id="6" name="TextBox 5"/>
          <p:cNvSpPr txBox="1"/>
          <p:nvPr/>
        </p:nvSpPr>
        <p:spPr>
          <a:xfrm>
            <a:off x="804672" y="3918203"/>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Metonimija</a:t>
            </a:r>
          </a:p>
        </p:txBody>
      </p:sp>
      <p:sp>
        <p:nvSpPr>
          <p:cNvPr id="7" name="TextBox 6"/>
          <p:cNvSpPr txBox="1"/>
          <p:nvPr/>
        </p:nvSpPr>
        <p:spPr>
          <a:xfrm>
            <a:off x="4206240" y="3918203"/>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Pomenski prenos na podlagi povezanosti pojavov.</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310</a:t>
            </a:r>
          </a:p>
        </p:txBody>
      </p:sp>
      <p:sp>
        <p:nvSpPr>
          <p:cNvPr id="4" name="TextBox 3"/>
          <p:cNvSpPr txBox="1"/>
          <p:nvPr/>
        </p:nvSpPr>
        <p:spPr>
          <a:xfrm>
            <a:off x="804672" y="1938528"/>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Sinekdoha</a:t>
            </a:r>
          </a:p>
        </p:txBody>
      </p:sp>
      <p:sp>
        <p:nvSpPr>
          <p:cNvPr id="5" name="TextBox 4"/>
          <p:cNvSpPr txBox="1"/>
          <p:nvPr/>
        </p:nvSpPr>
        <p:spPr>
          <a:xfrm>
            <a:off x="4206240" y="1938528"/>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modelu Ade Vidovič Muha poseben tip metonimičnega prenosa s preureditvijo razmerja med konstitutivnim delom in celoto; poimenovanje samo ne nadomesti analize izhodiščnega in novega pomena.</a:t>
            </a:r>
          </a:p>
        </p:txBody>
      </p:sp>
      <p:sp>
        <p:nvSpPr>
          <p:cNvPr id="6" name="TextBox 5"/>
          <p:cNvSpPr txBox="1"/>
          <p:nvPr/>
        </p:nvSpPr>
        <p:spPr>
          <a:xfrm>
            <a:off x="804672" y="3918203"/>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Sopomenskost</a:t>
            </a:r>
          </a:p>
        </p:txBody>
      </p:sp>
      <p:sp>
        <p:nvSpPr>
          <p:cNvPr id="7" name="TextBox 6"/>
          <p:cNvSpPr txBox="1"/>
          <p:nvPr/>
        </p:nvSpPr>
        <p:spPr>
          <a:xfrm>
            <a:off x="4206240" y="3918203"/>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Razmerje pomenske istosti med pomeni različnih leksemov; enakost denotativnega pomena ne zagotavlja enake konotacije, povezovalnosti ali zamenljivosti v vsaki rabi.</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311</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Protipomenskost</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Pomensko nasprotje, katerega tip določi veljavne sklepe: komplementarno, polarno s stopnjevalnim podtipom, konverzivno ali vektorsko razmerje.</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Paronimija</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Izrazna podobnost različnih besed, ki lahko povzroča zamenjave.</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Nadpomenskost in podpomenskost</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Razmerje med širšim razredom in njegovim ožjim členom.</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312</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Kolokacija</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Značilna, ustaljena sopojavitev besed v določenem pomenu.</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Frazem</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Ustaljena zveza s posebnimi pomenskimi in oblikovnimi lastnostmi; pomen pogosto presega seštevek sestavin.</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Termin</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Poimenovanje pojma znotraj določenega strokovnega področja.</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313</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Terminologizacija in determinologizacija</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Pridobivanje strokovne poimenovalne naloge oziroma prehajanje strokovnega pojma in izraza v splošno rabo; postopka nista nujno zrcalna.</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Register in zaznamovanost</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Povezanost izraza z okoliščinami rabe ter njegovimi slogovnimi ali vrednotenjskimi lastnostmi.</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Leksikalizacija</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Ustalitev izraza oziroma pomena kot enote besedišča; razumljivost posamičnega novega zgleda še ni zadosten dokaz zanjo.</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314</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Iztočnica</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Beseda ali zveza, pod katero je urejen slovarski sestavek; pri branju upoštevamo tudi razločevanje pomenov in enakopisnih iztočnic.</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Sklon</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Slovnična kategorija, ki sodeluje pri izražanju razmerij v zgradbi.</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Ujemanje</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Oblikovno prilagajanje odvisne sestavine nadrejeni v ustreznih kategorijah.</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315</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Vezava</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Zahteva nadrejene besede ali konstrukcije po določeni obliki dopolnila.</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Primik</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Povezovanje odvisne sestavine z jedrom brez oblikovnega ujemanja ali sklonovne vezave, npr. </a:t>
            </a:r>
            <a:r>
              <a:rPr sz="2050" b="0" i="1">
                <a:solidFill>
                  <a:srgbClr val="182D3D"/>
                </a:solidFill>
                <a:latin typeface="Arial"/>
              </a:rPr>
              <a:t>pozorno brati</a:t>
            </a:r>
            <a:r>
              <a:rPr sz="2050" b="0" i="0">
                <a:solidFill>
                  <a:srgbClr val="182D3D"/>
                </a:solidFill>
                <a:latin typeface="Arial"/>
              </a:rPr>
              <a:t>.</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Vezljivost</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Zmožnost besede, da odpira skladenjska mesta za določila.</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316</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Intenčnost</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modelu Ade Vidovič Muha pomenska zmožnost glagola za odpiranje udeleženskih mest; s skladenjsko uresničitvijo jo povezuje vezljivost.</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Inherentne in odvisne kategorije</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Inherentne so lastnost nosilca, npr. slovnični spol samostalnika; odvisne se v zvezi določajo glede na drugo sestavino, npr. spol ujemalnega pridevnika.</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Lastnostni, vrstni in svojilni pridevnik</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Pomenske vloge, povezane z lastnostjo, vrsto in svojino; obrazil ne presojamo ločeno od pomena.</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317</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Snovni pridevnik</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Pridevnik, ki izraža snov, npr. </a:t>
            </a:r>
            <a:r>
              <a:rPr sz="2050" b="0" i="1">
                <a:solidFill>
                  <a:srgbClr val="182D3D"/>
                </a:solidFill>
                <a:latin typeface="Arial"/>
              </a:rPr>
              <a:t>steklen</a:t>
            </a:r>
            <a:r>
              <a:rPr sz="2050" b="0" i="0">
                <a:solidFill>
                  <a:srgbClr val="182D3D"/>
                </a:solidFill>
                <a:latin typeface="Arial"/>
              </a:rPr>
              <a:t>. Njegovo pomensko razvrstitev, določnost in skladenjsko vlogo obravnavamo kot povezana, vendar različna vprašanja.</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Določnost</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Kategorija, ki jo razločujemo na oblikovni, poimenovalni in besedilni ravni. Prepoznavnost konkretnega nanosnika, določna pridevniška oblika in vrstnost se ne prekrivajo samodejno.</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Nanosnik</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Oseba, predmet ali druga pojavnost, na katero se izraz nanaša.</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318</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Odnosnica</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Besedna sestavina, ki jo druga sestavina določa oziroma se nanjo navezuje.</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Glagolski vid</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Način slovnične predstavitve poteka oziroma celovitosti dejanja; ni isto kot čas.</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Nedoločnik in namenilnik</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Neosebni glagolski obliki z različnima značilnima rabama, npr. </a:t>
            </a:r>
            <a:r>
              <a:rPr sz="2050" b="0" i="1">
                <a:solidFill>
                  <a:srgbClr val="182D3D"/>
                </a:solidFill>
                <a:latin typeface="Arial"/>
              </a:rPr>
              <a:t>želi brati</a:t>
            </a:r>
            <a:r>
              <a:rPr sz="2050" b="0" i="0">
                <a:solidFill>
                  <a:srgbClr val="182D3D"/>
                </a:solidFill>
                <a:latin typeface="Arial"/>
              </a:rPr>
              <a:t> in </a:t>
            </a:r>
            <a:r>
              <a:rPr sz="2050" b="0" i="1">
                <a:solidFill>
                  <a:srgbClr val="182D3D"/>
                </a:solidFill>
                <a:latin typeface="Arial"/>
              </a:rPr>
              <a:t>gre brat</a:t>
            </a:r>
            <a:r>
              <a:rPr sz="2050" b="0" i="0">
                <a:solidFill>
                  <a:srgbClr val="182D3D"/>
                </a:solidFill>
                <a:latin typeface="Arial"/>
              </a:rPr>
              <a:t>. Obliko presojamo v povezavi z nadrejenim glagolom in pomenom zveze.</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319</a:t>
            </a:r>
          </a:p>
        </p:txBody>
      </p:sp>
      <p:sp>
        <p:nvSpPr>
          <p:cNvPr id="4" name="TextBox 3"/>
          <p:cNvSpPr txBox="1"/>
          <p:nvPr/>
        </p:nvSpPr>
        <p:spPr>
          <a:xfrm>
            <a:off x="804672" y="1938528"/>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Lastno ime</a:t>
            </a:r>
          </a:p>
        </p:txBody>
      </p:sp>
      <p:sp>
        <p:nvSpPr>
          <p:cNvPr id="5" name="TextBox 4"/>
          <p:cNvSpPr txBox="1"/>
          <p:nvPr/>
        </p:nvSpPr>
        <p:spPr>
          <a:xfrm>
            <a:off x="4206240" y="1938528"/>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Poimenovanje, ki identificira posameznega. V modelu Ade Vidovič Muha nima enako strukturiranega slovarskega denotativnega pomena kot občni leksemi; identifikacija, kategorialne lastnosti in asociacije ostajajo različna vprašanja.</a:t>
            </a:r>
          </a:p>
        </p:txBody>
      </p:sp>
      <p:sp>
        <p:nvSpPr>
          <p:cNvPr id="6" name="TextBox 5"/>
          <p:cNvSpPr txBox="1"/>
          <p:nvPr/>
        </p:nvSpPr>
        <p:spPr>
          <a:xfrm>
            <a:off x="804672" y="3918203"/>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Apelativizacija</a:t>
            </a:r>
          </a:p>
        </p:txBody>
      </p:sp>
      <p:sp>
        <p:nvSpPr>
          <p:cNvPr id="7" name="TextBox 6"/>
          <p:cNvSpPr txBox="1"/>
          <p:nvPr/>
        </p:nvSpPr>
        <p:spPr>
          <a:xfrm>
            <a:off x="4206240" y="3918203"/>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Prehod od lastnega imena k občnemu poimenovanju na podlagi pomenske značilnosti; posamezni besedilni prenos še ne dokazuje leksikalizacije.</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320</a:t>
            </a:r>
          </a:p>
        </p:txBody>
      </p:sp>
      <p:sp>
        <p:nvSpPr>
          <p:cNvPr id="4" name="TextBox 3"/>
          <p:cNvSpPr txBox="1"/>
          <p:nvPr/>
        </p:nvSpPr>
        <p:spPr>
          <a:xfrm>
            <a:off x="804672" y="1938528"/>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Govorjena in pisna osnova</a:t>
            </a:r>
          </a:p>
        </p:txBody>
      </p:sp>
      <p:sp>
        <p:nvSpPr>
          <p:cNvPr id="5" name="TextBox 4"/>
          <p:cNvSpPr txBox="1"/>
          <p:nvPr/>
        </p:nvSpPr>
        <p:spPr>
          <a:xfrm>
            <a:off x="4206240" y="1938528"/>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Glasovna in zapisna podoba osnove, ki se pri prevzetih imenih lahko razlikujeta.</a:t>
            </a:r>
          </a:p>
        </p:txBody>
      </p:sp>
      <p:sp>
        <p:nvSpPr>
          <p:cNvPr id="6" name="TextBox 5"/>
          <p:cNvSpPr txBox="1"/>
          <p:nvPr/>
        </p:nvSpPr>
        <p:spPr>
          <a:xfrm>
            <a:off x="804672" y="2928366"/>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Končaj</a:t>
            </a:r>
          </a:p>
        </p:txBody>
      </p:sp>
      <p:sp>
        <p:nvSpPr>
          <p:cNvPr id="7" name="TextBox 6"/>
          <p:cNvSpPr txBox="1"/>
          <p:nvPr/>
        </p:nvSpPr>
        <p:spPr>
          <a:xfrm>
            <a:off x="4206240" y="2928366"/>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Končni niz glasov ali črk, poimenovan brez vnaprejšnje določitve njegove slovnične vloge; ne enačimo ga s končnico.</a:t>
            </a:r>
          </a:p>
        </p:txBody>
      </p:sp>
      <p:sp>
        <p:nvSpPr>
          <p:cNvPr id="8" name="TextBox 7"/>
          <p:cNvSpPr txBox="1"/>
          <p:nvPr/>
        </p:nvSpPr>
        <p:spPr>
          <a:xfrm>
            <a:off x="804672" y="3918203"/>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Izglasje</a:t>
            </a:r>
          </a:p>
        </p:txBody>
      </p:sp>
      <p:sp>
        <p:nvSpPr>
          <p:cNvPr id="9" name="TextBox 8"/>
          <p:cNvSpPr txBox="1"/>
          <p:nvPr/>
        </p:nvSpPr>
        <p:spPr>
          <a:xfrm>
            <a:off x="4206240" y="3918203"/>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Končni glasovni del besede oziroma osnove; ne določamo ga samo po zadnji zapisani črki.</a:t>
            </a:r>
          </a:p>
        </p:txBody>
      </p:sp>
      <p:sp>
        <p:nvSpPr>
          <p:cNvPr id="10" name="TextBox 9"/>
          <p:cNvSpPr txBox="1"/>
          <p:nvPr/>
        </p:nvSpPr>
        <p:spPr>
          <a:xfrm>
            <a:off x="804672" y="4908041"/>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Preglas</a:t>
            </a:r>
          </a:p>
        </p:txBody>
      </p:sp>
      <p:sp>
        <p:nvSpPr>
          <p:cNvPr id="11" name="TextBox 10"/>
          <p:cNvSpPr txBox="1"/>
          <p:nvPr/>
        </p:nvSpPr>
        <p:spPr>
          <a:xfrm>
            <a:off x="4206240" y="4908041"/>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Ustrezna zamenjava </a:t>
            </a:r>
            <a:r>
              <a:rPr sz="2000" b="0" i="1">
                <a:solidFill>
                  <a:srgbClr val="182D3D"/>
                </a:solidFill>
                <a:latin typeface="Arial"/>
              </a:rPr>
              <a:t>o</a:t>
            </a:r>
            <a:r>
              <a:rPr sz="2000" b="0" i="0">
                <a:solidFill>
                  <a:srgbClr val="182D3D"/>
                </a:solidFill>
                <a:latin typeface="Arial"/>
              </a:rPr>
              <a:t> z </a:t>
            </a:r>
            <a:r>
              <a:rPr sz="2000" b="0" i="1">
                <a:solidFill>
                  <a:srgbClr val="182D3D"/>
                </a:solidFill>
                <a:latin typeface="Arial"/>
              </a:rPr>
              <a:t>e</a:t>
            </a:r>
            <a:r>
              <a:rPr sz="2000" b="0" i="0">
                <a:solidFill>
                  <a:srgbClr val="182D3D"/>
                </a:solidFill>
                <a:latin typeface="Arial"/>
              </a:rPr>
              <a:t> v določenih glasovnih in oblikovnih okoljih.</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321</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Stavek</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Slovnična zgradba s predikacijskim razmerjem; pri običajni analizi je ključna povedkova zgradba.</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Poved</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Samostojna sporočilna enota. Toporišič poleg običajnih osebnih stavčnih vzorcev obravnava tudi ustreznike stavkov in pastavčne tvorbe.</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Stavčni člen</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Funkcija sestavine v stavku; opravlja jo lahko beseda, zveza ali odvisnik.</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322</a:t>
            </a:r>
          </a:p>
        </p:txBody>
      </p:sp>
      <p:sp>
        <p:nvSpPr>
          <p:cNvPr id="4" name="TextBox 3"/>
          <p:cNvSpPr txBox="1"/>
          <p:nvPr/>
        </p:nvSpPr>
        <p:spPr>
          <a:xfrm>
            <a:off x="804672" y="1938528"/>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Propozicija</a:t>
            </a:r>
          </a:p>
        </p:txBody>
      </p:sp>
      <p:sp>
        <p:nvSpPr>
          <p:cNvPr id="5" name="TextBox 4"/>
          <p:cNvSpPr txBox="1"/>
          <p:nvPr/>
        </p:nvSpPr>
        <p:spPr>
          <a:xfrm>
            <a:off x="4206240" y="1938528"/>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Pomenska podstava, razčlenjena na povedje in udeležence; njena konkretna skladenjska uresničitev je predmet upovedovanja.</a:t>
            </a:r>
          </a:p>
        </p:txBody>
      </p:sp>
      <p:sp>
        <p:nvSpPr>
          <p:cNvPr id="6" name="TextBox 5"/>
          <p:cNvSpPr txBox="1"/>
          <p:nvPr/>
        </p:nvSpPr>
        <p:spPr>
          <a:xfrm>
            <a:off x="804672" y="3918203"/>
            <a:ext cx="3200400" cy="1623059"/>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Povedje oziroma predikat</a:t>
            </a:r>
          </a:p>
        </p:txBody>
      </p:sp>
      <p:sp>
        <p:nvSpPr>
          <p:cNvPr id="7" name="TextBox 6"/>
          <p:cNvSpPr txBox="1"/>
          <p:nvPr/>
        </p:nvSpPr>
        <p:spPr>
          <a:xfrm>
            <a:off x="4206240" y="3918203"/>
            <a:ext cx="7150608" cy="1623059"/>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pomenski razčlenitvi sestavina, ki organizira vsebino in udeleženska razmerja; razlikujemo jo od stavčnega člena povedka. Večrabni izraz </a:t>
            </a:r>
            <a:r>
              <a:rPr sz="2050" b="0" i="1">
                <a:solidFill>
                  <a:srgbClr val="182D3D"/>
                </a:solidFill>
                <a:latin typeface="Arial"/>
              </a:rPr>
              <a:t>predikat</a:t>
            </a:r>
            <a:r>
              <a:rPr sz="2050" b="0" i="0">
                <a:solidFill>
                  <a:srgbClr val="182D3D"/>
                </a:solidFill>
                <a:latin typeface="Arial"/>
              </a:rPr>
              <a:t> pri branju vira opredelimo v kontekstu.</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323</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Upovedovanje</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Oblikovanje konkretne skladenjske uresničitve pomenske podstave s časovnimi, naklonskimi in drugimi določitvami.</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Predikacija</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Prisojanje dejanja, stanja ali lastnosti; dodatna predikacija se lahko izrazi tudi brez nove osebne glagolske oblike.</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Delovalnik in okoliščina</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Udeleženski razčlenitvi pomenske podstave; pomenske vloge in konkreten stavčni izraz določimo ločeno. Delovalnik ni nujno osebek.</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324</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Nominalizacija</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Samostalniško oziroma imensko poimenovanje vsebine, ki je lahko izražena stavčno; pri pretvorbi preverimo ohranjanje udeležencev in izgubo časovnih ali drugih določitev.</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Povedkovo določilo</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Sestavina ob pomensko nepopolnem glagolu, ki skupaj z njim tvori povedek, npr. </a:t>
            </a:r>
            <a:r>
              <a:rPr sz="2050" b="0" i="1">
                <a:solidFill>
                  <a:srgbClr val="182D3D"/>
                </a:solidFill>
                <a:latin typeface="Arial"/>
              </a:rPr>
              <a:t>zanimiva</a:t>
            </a:r>
            <a:r>
              <a:rPr sz="2050" b="0" i="0">
                <a:solidFill>
                  <a:srgbClr val="182D3D"/>
                </a:solidFill>
                <a:latin typeface="Arial"/>
              </a:rPr>
              <a:t> v </a:t>
            </a:r>
            <a:r>
              <a:rPr sz="2050" b="0" i="1">
                <a:solidFill>
                  <a:srgbClr val="182D3D"/>
                </a:solidFill>
                <a:latin typeface="Arial"/>
              </a:rPr>
              <a:t>Knjiga je zanimiva</a:t>
            </a:r>
            <a:r>
              <a:rPr sz="2050" b="0" i="0">
                <a:solidFill>
                  <a:srgbClr val="182D3D"/>
                </a:solidFill>
                <a:latin typeface="Arial"/>
              </a:rPr>
              <a:t>.</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Povedkovnik</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V Toporišičevem funkcijskem modelu in modelu Vidovič Muha besednovrstna kategorija za povedkovodoločilno rabo; ločimo izvorno besedno vrsto, konkretno funkcijo in razlago prehoda.</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325</a:t>
            </a:r>
          </a:p>
        </p:txBody>
      </p:sp>
      <p:sp>
        <p:nvSpPr>
          <p:cNvPr id="4" name="TextBox 3"/>
          <p:cNvSpPr txBox="1"/>
          <p:nvPr/>
        </p:nvSpPr>
        <p:spPr>
          <a:xfrm>
            <a:off x="804672" y="1938528"/>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Povedkov prilastek</a:t>
            </a:r>
          </a:p>
        </p:txBody>
      </p:sp>
      <p:sp>
        <p:nvSpPr>
          <p:cNvPr id="5" name="TextBox 4"/>
          <p:cNvSpPr txBox="1"/>
          <p:nvPr/>
        </p:nvSpPr>
        <p:spPr>
          <a:xfrm>
            <a:off x="4206240" y="1938528"/>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Dodatna predikacija o osebku ali predmetu ob polnopomenskem povedku, npr. </a:t>
            </a:r>
            <a:r>
              <a:rPr sz="1950" b="0" i="1">
                <a:solidFill>
                  <a:srgbClr val="182D3D"/>
                </a:solidFill>
                <a:latin typeface="Arial"/>
              </a:rPr>
              <a:t>utrujena</a:t>
            </a:r>
            <a:r>
              <a:rPr sz="1950" b="0" i="0">
                <a:solidFill>
                  <a:srgbClr val="182D3D"/>
                </a:solidFill>
                <a:latin typeface="Arial"/>
              </a:rPr>
              <a:t> v </a:t>
            </a:r>
            <a:r>
              <a:rPr sz="1950" b="0" i="1">
                <a:solidFill>
                  <a:srgbClr val="182D3D"/>
                </a:solidFill>
                <a:latin typeface="Arial"/>
              </a:rPr>
              <a:t>Maja se je vrnila utrujena</a:t>
            </a:r>
            <a:r>
              <a:rPr sz="1950" b="0" i="0">
                <a:solidFill>
                  <a:srgbClr val="182D3D"/>
                </a:solidFill>
                <a:latin typeface="Arial"/>
              </a:rPr>
              <a:t>.</a:t>
            </a:r>
          </a:p>
        </p:txBody>
      </p:sp>
      <p:sp>
        <p:nvSpPr>
          <p:cNvPr id="6" name="TextBox 5"/>
          <p:cNvSpPr txBox="1"/>
          <p:nvPr/>
        </p:nvSpPr>
        <p:spPr>
          <a:xfrm>
            <a:off x="804672" y="2928366"/>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Priredje</a:t>
            </a:r>
          </a:p>
        </p:txBody>
      </p:sp>
      <p:sp>
        <p:nvSpPr>
          <p:cNvPr id="7" name="TextBox 6"/>
          <p:cNvSpPr txBox="1"/>
          <p:nvPr/>
        </p:nvSpPr>
        <p:spPr>
          <a:xfrm>
            <a:off x="4206240" y="2928366"/>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Razmerje med sestavinami na isti skladenjski ravni.</a:t>
            </a:r>
          </a:p>
        </p:txBody>
      </p:sp>
      <p:sp>
        <p:nvSpPr>
          <p:cNvPr id="8" name="TextBox 7"/>
          <p:cNvSpPr txBox="1"/>
          <p:nvPr/>
        </p:nvSpPr>
        <p:spPr>
          <a:xfrm>
            <a:off x="804672" y="3918203"/>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Podredje</a:t>
            </a:r>
          </a:p>
        </p:txBody>
      </p:sp>
      <p:sp>
        <p:nvSpPr>
          <p:cNvPr id="9" name="TextBox 8"/>
          <p:cNvSpPr txBox="1"/>
          <p:nvPr/>
        </p:nvSpPr>
        <p:spPr>
          <a:xfrm>
            <a:off x="4206240" y="3918203"/>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Razmerje, v katerem ena sestavina zavzema odvisno mesto glede na drugo.</a:t>
            </a:r>
          </a:p>
        </p:txBody>
      </p:sp>
      <p:sp>
        <p:nvSpPr>
          <p:cNvPr id="10" name="TextBox 9"/>
          <p:cNvSpPr txBox="1"/>
          <p:nvPr/>
        </p:nvSpPr>
        <p:spPr>
          <a:xfrm>
            <a:off x="804672" y="4908041"/>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Odvisnik</a:t>
            </a:r>
          </a:p>
        </p:txBody>
      </p:sp>
      <p:sp>
        <p:nvSpPr>
          <p:cNvPr id="11" name="TextBox 10"/>
          <p:cNvSpPr txBox="1"/>
          <p:nvPr/>
        </p:nvSpPr>
        <p:spPr>
          <a:xfrm>
            <a:off x="4206240" y="4908041"/>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Stavek, vključen v drugo stavčno zgradbo kot njena odvisna sestavina.</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326</a:t>
            </a:r>
          </a:p>
        </p:txBody>
      </p:sp>
      <p:sp>
        <p:nvSpPr>
          <p:cNvPr id="4" name="TextBox 3"/>
          <p:cNvSpPr txBox="1"/>
          <p:nvPr/>
        </p:nvSpPr>
        <p:spPr>
          <a:xfrm>
            <a:off x="804672" y="1938528"/>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Vmesni stavek</a:t>
            </a:r>
          </a:p>
        </p:txBody>
      </p:sp>
      <p:sp>
        <p:nvSpPr>
          <p:cNvPr id="5" name="TextBox 4"/>
          <p:cNvSpPr txBox="1"/>
          <p:nvPr/>
        </p:nvSpPr>
        <p:spPr>
          <a:xfrm>
            <a:off x="4206240" y="1938528"/>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Odvisnik, umeščen med dele nadrednega stavka.</a:t>
            </a:r>
          </a:p>
        </p:txBody>
      </p:sp>
      <p:sp>
        <p:nvSpPr>
          <p:cNvPr id="6" name="TextBox 5"/>
          <p:cNvSpPr txBox="1"/>
          <p:nvPr/>
        </p:nvSpPr>
        <p:spPr>
          <a:xfrm>
            <a:off x="804672" y="2928366"/>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Vrinjeni stavek</a:t>
            </a:r>
          </a:p>
        </p:txBody>
      </p:sp>
      <p:sp>
        <p:nvSpPr>
          <p:cNvPr id="7" name="TextBox 6"/>
          <p:cNvSpPr txBox="1"/>
          <p:nvPr/>
        </p:nvSpPr>
        <p:spPr>
          <a:xfrm>
            <a:off x="4206240" y="2928366"/>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Skladenjsko razmeroma samostojen komentar ali druga vstavljena vsebina.</a:t>
            </a:r>
          </a:p>
        </p:txBody>
      </p:sp>
      <p:sp>
        <p:nvSpPr>
          <p:cNvPr id="8" name="TextBox 7"/>
          <p:cNvSpPr txBox="1"/>
          <p:nvPr/>
        </p:nvSpPr>
        <p:spPr>
          <a:xfrm>
            <a:off x="804672" y="3918203"/>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Pristavek</a:t>
            </a:r>
          </a:p>
        </p:txBody>
      </p:sp>
      <p:sp>
        <p:nvSpPr>
          <p:cNvPr id="9" name="TextBox 8"/>
          <p:cNvSpPr txBox="1"/>
          <p:nvPr/>
        </p:nvSpPr>
        <p:spPr>
          <a:xfrm>
            <a:off x="4206240" y="3918203"/>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Dodatno poimenovanje istega nanosnika.</a:t>
            </a:r>
          </a:p>
        </p:txBody>
      </p:sp>
      <p:sp>
        <p:nvSpPr>
          <p:cNvPr id="10" name="TextBox 9"/>
          <p:cNvSpPr txBox="1"/>
          <p:nvPr/>
        </p:nvSpPr>
        <p:spPr>
          <a:xfrm>
            <a:off x="804672" y="4908041"/>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Dostavek</a:t>
            </a:r>
          </a:p>
        </p:txBody>
      </p:sp>
      <p:sp>
        <p:nvSpPr>
          <p:cNvPr id="11" name="TextBox 10"/>
          <p:cNvSpPr txBox="1"/>
          <p:nvPr/>
        </p:nvSpPr>
        <p:spPr>
          <a:xfrm>
            <a:off x="4206240" y="4908041"/>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Naknadno dodana sestavina, ki dopolni ali natančneje opredeli sporočilo.</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327</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Polstavek</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Zgoščena, stavku sorodna zgradba, pogosto z neosebno glagolsko obliko; njeno ločevanje je odvisno od tipa in vključenosti.</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Nagovor oziroma zvalniški pastavek</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Nagovorna sestavina, s katero se obrnemo na naslovnika.</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Elipsa</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Izpust sestavine, ki jo lahko razberemo iz zgradbe ali sobesedila.</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328</a:t>
            </a:r>
          </a:p>
        </p:txBody>
      </p:sp>
      <p:sp>
        <p:nvSpPr>
          <p:cNvPr id="4" name="TextBox 3"/>
          <p:cNvSpPr txBox="1"/>
          <p:nvPr/>
        </p:nvSpPr>
        <p:spPr>
          <a:xfrm>
            <a:off x="804672" y="1938528"/>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Členitev po aktualnosti</a:t>
            </a:r>
          </a:p>
        </p:txBody>
      </p:sp>
      <p:sp>
        <p:nvSpPr>
          <p:cNvPr id="5" name="TextBox 4"/>
          <p:cNvSpPr txBox="1"/>
          <p:nvPr/>
        </p:nvSpPr>
        <p:spPr>
          <a:xfrm>
            <a:off x="4206240" y="1938528"/>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Ureditev sporočila glede na to, iz česa izhajamo in kaj o tem povemo; vpliva na besedni red in izbiro zgradbe.</a:t>
            </a:r>
          </a:p>
        </p:txBody>
      </p:sp>
      <p:sp>
        <p:nvSpPr>
          <p:cNvPr id="6" name="TextBox 5"/>
          <p:cNvSpPr txBox="1"/>
          <p:nvPr/>
        </p:nvSpPr>
        <p:spPr>
          <a:xfrm>
            <a:off x="804672" y="3258311"/>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Izhodišče in jedro sporočila</a:t>
            </a:r>
          </a:p>
        </p:txBody>
      </p:sp>
      <p:sp>
        <p:nvSpPr>
          <p:cNvPr id="7" name="TextBox 6"/>
          <p:cNvSpPr txBox="1"/>
          <p:nvPr/>
        </p:nvSpPr>
        <p:spPr>
          <a:xfrm>
            <a:off x="4206240" y="3258311"/>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Tematski in rematski del sporočila; nista stalni sopomenki za osebek in povedek. Razberemo ju iz sobesedila.</a:t>
            </a:r>
          </a:p>
        </p:txBody>
      </p:sp>
      <p:sp>
        <p:nvSpPr>
          <p:cNvPr id="8" name="TextBox 7"/>
          <p:cNvSpPr txBox="1"/>
          <p:nvPr/>
        </p:nvSpPr>
        <p:spPr>
          <a:xfrm>
            <a:off x="804672" y="4578095"/>
            <a:ext cx="3200400" cy="963167"/>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Naslonka</a:t>
            </a:r>
          </a:p>
        </p:txBody>
      </p:sp>
      <p:sp>
        <p:nvSpPr>
          <p:cNvPr id="9" name="TextBox 8"/>
          <p:cNvSpPr txBox="1"/>
          <p:nvPr/>
        </p:nvSpPr>
        <p:spPr>
          <a:xfrm>
            <a:off x="4206240" y="4578095"/>
            <a:ext cx="7150608" cy="963167"/>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Kratka nenaglašena oblika z določenimi možnostmi povezovanja in razvrščanja; vrstni red preverjamo znotraj niza in glede na zgradbo povedi.</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329</a:t>
            </a:r>
          </a:p>
        </p:txBody>
      </p:sp>
      <p:sp>
        <p:nvSpPr>
          <p:cNvPr id="4" name="TextBox 3"/>
          <p:cNvSpPr txBox="1"/>
          <p:nvPr/>
        </p:nvSpPr>
        <p:spPr>
          <a:xfrm>
            <a:off x="804672" y="1938528"/>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Spremni stavek</a:t>
            </a:r>
          </a:p>
        </p:txBody>
      </p:sp>
      <p:sp>
        <p:nvSpPr>
          <p:cNvPr id="5" name="TextBox 4"/>
          <p:cNvSpPr txBox="1"/>
          <p:nvPr/>
        </p:nvSpPr>
        <p:spPr>
          <a:xfrm>
            <a:off x="4206240" y="1938528"/>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Stavek, ki navedek predstavi kot govor oziroma izjavo in opredeli govorca ali okoliščine izjavljanja.</a:t>
            </a:r>
          </a:p>
        </p:txBody>
      </p:sp>
      <p:sp>
        <p:nvSpPr>
          <p:cNvPr id="6" name="TextBox 5"/>
          <p:cNvSpPr txBox="1"/>
          <p:nvPr/>
        </p:nvSpPr>
        <p:spPr>
          <a:xfrm>
            <a:off x="804672" y="2928366"/>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Delni navedek</a:t>
            </a:r>
          </a:p>
        </p:txBody>
      </p:sp>
      <p:sp>
        <p:nvSpPr>
          <p:cNvPr id="7" name="TextBox 6"/>
          <p:cNvSpPr txBox="1"/>
          <p:nvPr/>
        </p:nvSpPr>
        <p:spPr>
          <a:xfrm>
            <a:off x="4206240" y="2928366"/>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Del izvorne povedi, dobesedno vključen kot sestavina avtorjeve okvirne povedi.</a:t>
            </a:r>
          </a:p>
        </p:txBody>
      </p:sp>
      <p:sp>
        <p:nvSpPr>
          <p:cNvPr id="8" name="TextBox 7"/>
          <p:cNvSpPr txBox="1"/>
          <p:nvPr/>
        </p:nvSpPr>
        <p:spPr>
          <a:xfrm>
            <a:off x="804672" y="3918203"/>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Stičnost</a:t>
            </a:r>
          </a:p>
        </p:txBody>
      </p:sp>
      <p:sp>
        <p:nvSpPr>
          <p:cNvPr id="9" name="TextBox 8"/>
          <p:cNvSpPr txBox="1"/>
          <p:nvPr/>
        </p:nvSpPr>
        <p:spPr>
          <a:xfrm>
            <a:off x="4206240" y="3918203"/>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2000" b="0" i="0">
                <a:solidFill>
                  <a:srgbClr val="182D3D"/>
                </a:solidFill>
                <a:latin typeface="Arial"/>
              </a:rPr>
              <a:t>Način, kako se pisno znamenje brez presledka stika z besedilom na levi, desni ali obeh straneh.</a:t>
            </a:r>
          </a:p>
        </p:txBody>
      </p:sp>
      <p:sp>
        <p:nvSpPr>
          <p:cNvPr id="10" name="TextBox 9"/>
          <p:cNvSpPr txBox="1"/>
          <p:nvPr/>
        </p:nvSpPr>
        <p:spPr>
          <a:xfrm>
            <a:off x="804672" y="4908041"/>
            <a:ext cx="3200400" cy="633221"/>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Norma</a:t>
            </a:r>
          </a:p>
        </p:txBody>
      </p:sp>
      <p:sp>
        <p:nvSpPr>
          <p:cNvPr id="11" name="TextBox 10"/>
          <p:cNvSpPr txBox="1"/>
          <p:nvPr/>
        </p:nvSpPr>
        <p:spPr>
          <a:xfrm>
            <a:off x="4206240" y="4908041"/>
            <a:ext cx="7150608" cy="633221"/>
          </a:xfrm>
          <a:prstGeom prst="rect">
            <a:avLst/>
          </a:prstGeom>
          <a:noFill/>
        </p:spPr>
        <p:txBody>
          <a:bodyPr wrap="square" lIns="0" rIns="0" tIns="0" bIns="0" anchor="t">
            <a:noAutofit/>
          </a:bodyPr>
          <a:lstStyle/>
          <a:p>
            <a:pPr rtl="0">
              <a:lnSpc>
                <a:spcPct val="110000"/>
              </a:lnSpc>
              <a:spcBef>
                <a:spcPts val="0"/>
              </a:spcBef>
              <a:spcAft>
                <a:spcPts val="0"/>
              </a:spcAft>
            </a:pPr>
            <a:r>
              <a:rPr sz="1950" b="0" i="0">
                <a:solidFill>
                  <a:srgbClr val="182D3D"/>
                </a:solidFill>
                <a:latin typeface="Arial"/>
              </a:rPr>
              <a:t>Ustaljene in družbeno sprejete jezikovne konvencije; pri knjižnem jeziku jih normativni priročniki izbirajo, opisujejo in urejajo.</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Pojmovni pregled</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330</a:t>
            </a:r>
          </a:p>
        </p:txBody>
      </p:sp>
      <p:sp>
        <p:nvSpPr>
          <p:cNvPr id="4" name="TextBox 3"/>
          <p:cNvSpPr txBox="1"/>
          <p:nvPr/>
        </p:nvSpPr>
        <p:spPr>
          <a:xfrm>
            <a:off x="804672" y="1938528"/>
            <a:ext cx="3200400" cy="3602735"/>
          </a:xfrm>
          <a:prstGeom prst="rect">
            <a:avLst/>
          </a:prstGeom>
          <a:noFill/>
        </p:spPr>
        <p:txBody>
          <a:bodyPr wrap="square" lIns="0" rIns="0" tIns="0" bIns="0" anchor="t">
            <a:noAutofit/>
          </a:bodyPr>
          <a:lstStyle/>
          <a:p>
            <a:pPr rtl="0">
              <a:lnSpc>
                <a:spcPct val="110000"/>
              </a:lnSpc>
              <a:spcBef>
                <a:spcPts val="0"/>
              </a:spcBef>
              <a:spcAft>
                <a:spcPts val="0"/>
              </a:spcAft>
            </a:pPr>
            <a:r>
              <a:rPr sz="1950" b="1" i="0">
                <a:solidFill>
                  <a:srgbClr val="00695F"/>
                </a:solidFill>
                <a:latin typeface="Arial"/>
              </a:rPr>
              <a:t>Kodifikacija</a:t>
            </a:r>
          </a:p>
        </p:txBody>
      </p:sp>
      <p:sp>
        <p:nvSpPr>
          <p:cNvPr id="5" name="TextBox 4"/>
          <p:cNvSpPr txBox="1"/>
          <p:nvPr/>
        </p:nvSpPr>
        <p:spPr>
          <a:xfrm>
            <a:off x="4206240" y="1938528"/>
            <a:ext cx="7150608" cy="3602735"/>
          </a:xfrm>
          <a:prstGeom prst="rect">
            <a:avLst/>
          </a:prstGeom>
          <a:noFill/>
        </p:spPr>
        <p:txBody>
          <a:bodyPr wrap="square" lIns="0" rIns="0" tIns="0" bIns="0" anchor="t">
            <a:noAutofit/>
          </a:bodyPr>
          <a:lstStyle/>
          <a:p>
            <a:pPr rtl="0">
              <a:lnSpc>
                <a:spcPct val="110000"/>
              </a:lnSpc>
              <a:spcBef>
                <a:spcPts val="0"/>
              </a:spcBef>
              <a:spcAft>
                <a:spcPts val="0"/>
              </a:spcAft>
            </a:pPr>
            <a:r>
              <a:rPr sz="2050" b="0" i="0">
                <a:solidFill>
                  <a:srgbClr val="182D3D"/>
                </a:solidFill>
                <a:latin typeface="Arial"/>
              </a:rPr>
              <a:t>Opis in določitev norme v ustreznem normativnem priročniku.</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besedi in besedni zvezi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331</a:t>
            </a:r>
          </a:p>
        </p:txBody>
      </p:sp>
      <p:sp>
        <p:nvSpPr>
          <p:cNvPr id="4" name="TextBox 3"/>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1</a:t>
            </a:r>
          </a:p>
        </p:txBody>
      </p:sp>
      <p:sp>
        <p:nvSpPr>
          <p:cNvPr id="5" name="TextBox 4"/>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Razberem pomen v sobesedilu.</a:t>
            </a:r>
          </a:p>
        </p:txBody>
      </p:sp>
      <p:sp>
        <p:nvSpPr>
          <p:cNvPr id="6" name="TextBox 5"/>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2</a:t>
            </a:r>
          </a:p>
        </p:txBody>
      </p:sp>
      <p:sp>
        <p:nvSpPr>
          <p:cNvPr id="7" name="TextBox 6"/>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Določim, ali gre za prosto zvezo, ustaljeno poimenovanje ali tvorjenko.</a:t>
            </a:r>
          </a:p>
        </p:txBody>
      </p:sp>
      <p:sp>
        <p:nvSpPr>
          <p:cNvPr id="8" name="TextBox 7"/>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3</a:t>
            </a:r>
          </a:p>
        </p:txBody>
      </p:sp>
      <p:sp>
        <p:nvSpPr>
          <p:cNvPr id="9" name="TextBox 8"/>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Pokažem jedro in odvisne oziroma priredne sestavine.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besedi in besedni zvezi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332</a:t>
            </a:r>
          </a:p>
        </p:txBody>
      </p:sp>
      <p:sp>
        <p:nvSpPr>
          <p:cNvPr id="4" name="TextBox 3"/>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4</a:t>
            </a:r>
          </a:p>
        </p:txBody>
      </p:sp>
      <p:sp>
        <p:nvSpPr>
          <p:cNvPr id="5" name="TextBox 4"/>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Pri obliki ločim pregibanje od besedotvorja; pri tvorjenki ločim morfemsko členitev, SPo, BPo in obrazilo zadnje stopnje.</a:t>
            </a:r>
          </a:p>
        </p:txBody>
      </p:sp>
      <p:sp>
        <p:nvSpPr>
          <p:cNvPr id="6" name="TextBox 5"/>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5</a:t>
            </a:r>
          </a:p>
        </p:txBody>
      </p:sp>
      <p:sp>
        <p:nvSpPr>
          <p:cNvPr id="7" name="TextBox 6"/>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Določim vrsto zgradbe: pomenska razveza z </a:t>
            </a:r>
            <a:r>
              <a:rPr sz="2300" b="0" i="1">
                <a:solidFill>
                  <a:srgbClr val="182D3D"/>
                </a:solidFill>
                <a:latin typeface="Arial"/>
              </a:rPr>
              <a:t>in</a:t>
            </a:r>
            <a:r>
              <a:rPr sz="2300" b="0" i="0">
                <a:solidFill>
                  <a:srgbClr val="182D3D"/>
                </a:solidFill>
                <a:latin typeface="Arial"/>
              </a:rPr>
              <a:t> sama še ne določa zapisa.</a:t>
            </a:r>
          </a:p>
        </p:txBody>
      </p:sp>
      <p:sp>
        <p:nvSpPr>
          <p:cNvPr id="8" name="TextBox 7"/>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6</a:t>
            </a:r>
          </a:p>
        </p:txBody>
      </p:sp>
      <p:sp>
        <p:nvSpPr>
          <p:cNvPr id="9" name="TextBox 8"/>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Iz razmerij izpeljem rešitev ter preverim posebnosti in normativni okvir v ustreznem viru.</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lastnem imenu</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333</a:t>
            </a:r>
          </a:p>
        </p:txBody>
      </p:sp>
      <p:sp>
        <p:nvSpPr>
          <p:cNvPr id="4" name="TextBox 3"/>
          <p:cNvSpPr txBox="1"/>
          <p:nvPr/>
        </p:nvSpPr>
        <p:spPr>
          <a:xfrm>
            <a:off x="80467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1</a:t>
            </a:r>
          </a:p>
        </p:txBody>
      </p:sp>
      <p:sp>
        <p:nvSpPr>
          <p:cNvPr id="5" name="TextBox 4"/>
          <p:cNvSpPr txBox="1"/>
          <p:nvPr/>
        </p:nvSpPr>
        <p:spPr>
          <a:xfrm>
            <a:off x="152704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Korak 1</a:t>
            </a:r>
          </a:p>
        </p:txBody>
      </p:sp>
      <p:sp>
        <p:nvSpPr>
          <p:cNvPr id="6" name="TextBox 5"/>
          <p:cNvSpPr txBox="1"/>
          <p:nvPr/>
        </p:nvSpPr>
        <p:spPr>
          <a:xfrm>
            <a:off x="83210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Določim, koga ali kaj ime poimenuje.</a:t>
            </a:r>
          </a:p>
        </p:txBody>
      </p:sp>
      <p:sp>
        <p:nvSpPr>
          <p:cNvPr id="7" name="TextBox 6"/>
          <p:cNvSpPr txBox="1"/>
          <p:nvPr/>
        </p:nvSpPr>
        <p:spPr>
          <a:xfrm>
            <a:off x="6382512" y="2002536"/>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2</a:t>
            </a:r>
          </a:p>
        </p:txBody>
      </p:sp>
      <p:sp>
        <p:nvSpPr>
          <p:cNvPr id="8" name="TextBox 7"/>
          <p:cNvSpPr txBox="1"/>
          <p:nvPr/>
        </p:nvSpPr>
        <p:spPr>
          <a:xfrm>
            <a:off x="7104888" y="2011679"/>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Korak 2</a:t>
            </a:r>
          </a:p>
        </p:txBody>
      </p:sp>
      <p:sp>
        <p:nvSpPr>
          <p:cNvPr id="9" name="TextBox 8"/>
          <p:cNvSpPr txBox="1"/>
          <p:nvPr/>
        </p:nvSpPr>
        <p:spPr>
          <a:xfrm>
            <a:off x="6409944" y="2560320"/>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Preverim izgovor, spol in zgradbo imena.</a:t>
            </a:r>
          </a:p>
        </p:txBody>
      </p:sp>
      <p:sp>
        <p:nvSpPr>
          <p:cNvPr id="10" name="TextBox 9"/>
          <p:cNvSpPr txBox="1"/>
          <p:nvPr/>
        </p:nvSpPr>
        <p:spPr>
          <a:xfrm>
            <a:off x="80467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3</a:t>
            </a:r>
          </a:p>
        </p:txBody>
      </p:sp>
      <p:sp>
        <p:nvSpPr>
          <p:cNvPr id="11" name="TextBox 10"/>
          <p:cNvSpPr txBox="1"/>
          <p:nvPr/>
        </p:nvSpPr>
        <p:spPr>
          <a:xfrm>
            <a:off x="152704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Korak 3</a:t>
            </a:r>
          </a:p>
        </p:txBody>
      </p:sp>
      <p:sp>
        <p:nvSpPr>
          <p:cNvPr id="12" name="TextBox 11"/>
          <p:cNvSpPr txBox="1"/>
          <p:nvPr/>
        </p:nvSpPr>
        <p:spPr>
          <a:xfrm>
            <a:off x="83210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Razločim govorjeno in pisno osnovo.</a:t>
            </a:r>
          </a:p>
        </p:txBody>
      </p:sp>
      <p:sp>
        <p:nvSpPr>
          <p:cNvPr id="13" name="TextBox 12"/>
          <p:cNvSpPr txBox="1"/>
          <p:nvPr/>
        </p:nvSpPr>
        <p:spPr>
          <a:xfrm>
            <a:off x="6382512" y="3886200"/>
            <a:ext cx="521207" cy="420624"/>
          </a:xfrm>
          <a:prstGeom prst="rect">
            <a:avLst/>
          </a:prstGeom>
          <a:noFill/>
        </p:spPr>
        <p:txBody>
          <a:bodyPr wrap="square" lIns="0" rIns="0" tIns="0" bIns="0" anchor="t">
            <a:noAutofit/>
          </a:bodyPr>
          <a:lstStyle/>
          <a:p>
            <a:pPr rtl="0">
              <a:lnSpc>
                <a:spcPct val="110000"/>
              </a:lnSpc>
              <a:spcBef>
                <a:spcPts val="0"/>
              </a:spcBef>
              <a:spcAft>
                <a:spcPts val="0"/>
              </a:spcAft>
            </a:pPr>
            <a:r>
              <a:rPr sz="2400" b="1" i="0">
                <a:solidFill>
                  <a:srgbClr val="00695F"/>
                </a:solidFill>
                <a:latin typeface="Arial"/>
              </a:rPr>
              <a:t>4</a:t>
            </a:r>
          </a:p>
        </p:txBody>
      </p:sp>
      <p:sp>
        <p:nvSpPr>
          <p:cNvPr id="14" name="TextBox 13"/>
          <p:cNvSpPr txBox="1"/>
          <p:nvPr/>
        </p:nvSpPr>
        <p:spPr>
          <a:xfrm>
            <a:off x="7104888" y="3895344"/>
            <a:ext cx="4261104" cy="420624"/>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182D3D"/>
                </a:solidFill>
                <a:latin typeface="Arial"/>
              </a:rPr>
              <a:t>Korak 4</a:t>
            </a:r>
          </a:p>
        </p:txBody>
      </p:sp>
      <p:sp>
        <p:nvSpPr>
          <p:cNvPr id="15" name="TextBox 14"/>
          <p:cNvSpPr txBox="1"/>
          <p:nvPr/>
        </p:nvSpPr>
        <p:spPr>
          <a:xfrm>
            <a:off x="6409944" y="4443984"/>
            <a:ext cx="4956048" cy="832104"/>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Ugotovim, ali ime pregibam ali iz njega tvorim novo besedo.</a:t>
            </a:r>
          </a:p>
        </p:txBody>
      </p:sp>
      <p:sp>
        <p:nvSpPr>
          <p:cNvPr id="16" name="TextBox 15"/>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lastnem imenu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334</a:t>
            </a:r>
          </a:p>
        </p:txBody>
      </p:sp>
      <p:sp>
        <p:nvSpPr>
          <p:cNvPr id="4" name="TextBox 3"/>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5</a:t>
            </a:r>
          </a:p>
        </p:txBody>
      </p:sp>
      <p:sp>
        <p:nvSpPr>
          <p:cNvPr id="5" name="TextBox 4"/>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Uporabim ustrezen postopek, upoštevam premene in preverim različice.</a:t>
            </a:r>
          </a:p>
        </p:txBody>
      </p:sp>
      <p:sp>
        <p:nvSpPr>
          <p:cNvPr id="6" name="TextBox 5"/>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6</a:t>
            </a:r>
          </a:p>
        </p:txBody>
      </p:sp>
      <p:sp>
        <p:nvSpPr>
          <p:cNvPr id="7" name="TextBox 6"/>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Začetnico utemeljim glede na nastalo obliko in njen pomen.</a:t>
            </a:r>
          </a:p>
        </p:txBody>
      </p:sp>
      <p:sp>
        <p:nvSpPr>
          <p:cNvPr id="8" name="TextBox 7"/>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7</a:t>
            </a:r>
          </a:p>
        </p:txBody>
      </p:sp>
      <p:sp>
        <p:nvSpPr>
          <p:cNvPr id="9" name="TextBox 8"/>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250" b="0" i="0">
                <a:solidFill>
                  <a:srgbClr val="182D3D"/>
                </a:solidFill>
                <a:latin typeface="Arial"/>
              </a:rPr>
              <a:t>Pri različicah povem, ali gre za drug izgovor, drug način pregibanja ali drugačen zapis v drugem viru.</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vejici in drugih ločilih</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335</a:t>
            </a:r>
          </a:p>
        </p:txBody>
      </p:sp>
      <p:sp>
        <p:nvSpPr>
          <p:cNvPr id="4" name="TextBox 3"/>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1</a:t>
            </a:r>
          </a:p>
        </p:txBody>
      </p:sp>
      <p:sp>
        <p:nvSpPr>
          <p:cNvPr id="5" name="TextBox 4"/>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Poiščem povedkove zgradbe in osnovno sporočilo; ločeno preverim nominalizirane in dodatne predikacijske vsebine.</a:t>
            </a:r>
          </a:p>
        </p:txBody>
      </p:sp>
      <p:sp>
        <p:nvSpPr>
          <p:cNvPr id="6" name="TextBox 5"/>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2</a:t>
            </a:r>
          </a:p>
        </p:txBody>
      </p:sp>
      <p:sp>
        <p:nvSpPr>
          <p:cNvPr id="7" name="TextBox 6"/>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Določim, katera sestavina je odvisna od katere in kaj povezujejo povezovalci.</a:t>
            </a:r>
          </a:p>
        </p:txBody>
      </p:sp>
      <p:sp>
        <p:nvSpPr>
          <p:cNvPr id="8" name="TextBox 7"/>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3</a:t>
            </a:r>
          </a:p>
        </p:txBody>
      </p:sp>
      <p:sp>
        <p:nvSpPr>
          <p:cNvPr id="9" name="TextBox 8"/>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Označim začetek in konec vključenih odvisnikov.</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vejici in drugih ločilih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336</a:t>
            </a:r>
          </a:p>
        </p:txBody>
      </p:sp>
      <p:sp>
        <p:nvSpPr>
          <p:cNvPr id="4" name="TextBox 3"/>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4</a:t>
            </a:r>
          </a:p>
        </p:txBody>
      </p:sp>
      <p:sp>
        <p:nvSpPr>
          <p:cNvPr id="5" name="TextBox 4"/>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Ločeno prepoznam vrinjene komentarje, pristavke, nagovore in navedke.</a:t>
            </a:r>
          </a:p>
        </p:txBody>
      </p:sp>
      <p:sp>
        <p:nvSpPr>
          <p:cNvPr id="6" name="TextBox 5"/>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5</a:t>
            </a:r>
          </a:p>
        </p:txBody>
      </p:sp>
      <p:sp>
        <p:nvSpPr>
          <p:cNvPr id="7" name="TextBox 6"/>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Ločila dodam, odstranim ali ohranim na podlagi teh odnosov.</a:t>
            </a:r>
          </a:p>
        </p:txBody>
      </p:sp>
      <p:sp>
        <p:nvSpPr>
          <p:cNvPr id="8" name="TextBox 7"/>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6</a:t>
            </a:r>
          </a:p>
        </p:txBody>
      </p:sp>
      <p:sp>
        <p:nvSpPr>
          <p:cNvPr id="9" name="TextBox 8"/>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Preberem celoto in preverim, ali rešitev ohranja nameravani pomen, udeležence ter razmerja med dejanji in stanji.</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pisnem odgovoru</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337</a:t>
            </a:r>
          </a:p>
        </p:txBody>
      </p:sp>
      <p:sp>
        <p:nvSpPr>
          <p:cNvPr id="4" name="TextBox 3"/>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1</a:t>
            </a:r>
          </a:p>
        </p:txBody>
      </p:sp>
      <p:sp>
        <p:nvSpPr>
          <p:cNvPr id="5" name="TextBox 4"/>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Navedem uporabno rešitev.</a:t>
            </a:r>
          </a:p>
        </p:txBody>
      </p:sp>
      <p:sp>
        <p:nvSpPr>
          <p:cNvPr id="6" name="TextBox 5"/>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2</a:t>
            </a:r>
          </a:p>
        </p:txBody>
      </p:sp>
      <p:sp>
        <p:nvSpPr>
          <p:cNvPr id="7" name="TextBox 6"/>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Opišem odločilno razliko v konkretnem primeru.</a:t>
            </a:r>
          </a:p>
        </p:txBody>
      </p:sp>
      <p:sp>
        <p:nvSpPr>
          <p:cNvPr id="8" name="TextBox 7"/>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3</a:t>
            </a:r>
          </a:p>
        </p:txBody>
      </p:sp>
      <p:sp>
        <p:nvSpPr>
          <p:cNvPr id="9" name="TextBox 8"/>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Povežem analizo s pravilom ali ustreznim virom; ob teoriji navedem merilo in stran, ob normi tudi izbrani okvir.</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Pri pisnem odgovoru (nadaljevanje)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338</a:t>
            </a:r>
          </a:p>
        </p:txBody>
      </p:sp>
      <p:sp>
        <p:nvSpPr>
          <p:cNvPr id="4" name="TextBox 3"/>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4</a:t>
            </a:r>
          </a:p>
        </p:txBody>
      </p:sp>
      <p:sp>
        <p:nvSpPr>
          <p:cNvPr id="5" name="TextBox 4"/>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Opredelim pomenske različice, kadar vplivajo na odgovor.</a:t>
            </a:r>
          </a:p>
        </p:txBody>
      </p:sp>
      <p:sp>
        <p:nvSpPr>
          <p:cNvPr id="6" name="TextBox 5"/>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5</a:t>
            </a:r>
          </a:p>
        </p:txBody>
      </p:sp>
      <p:sp>
        <p:nvSpPr>
          <p:cNvPr id="7" name="TextBox 6"/>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200" b="0" i="0">
                <a:solidFill>
                  <a:srgbClr val="182D3D"/>
                </a:solidFill>
                <a:latin typeface="Arial"/>
              </a:rPr>
              <a:t>Pri primerjavi virov navedem, ali opisujem veljavno kodifikacijo, zgodovinsko rešitev ali predlog spremembe.</a:t>
            </a:r>
          </a:p>
        </p:txBody>
      </p:sp>
      <p:sp>
        <p:nvSpPr>
          <p:cNvPr id="8" name="TextBox 7"/>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Korak 6</a:t>
            </a:r>
          </a:p>
        </p:txBody>
      </p:sp>
      <p:sp>
        <p:nvSpPr>
          <p:cNvPr id="9" name="TextBox 8"/>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Odstranim razlage, ki ne pomagajo utemeljiti te odločitve.</a:t>
            </a:r>
          </a:p>
        </p:txBody>
      </p:sp>
      <p:sp>
        <p:nvSpPr>
          <p:cNvPr id="10" name="TextBox 9"/>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Vsak korak uporabimo na konkretnem zgledu.</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Izpitni problemi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339</a:t>
            </a:r>
          </a:p>
        </p:txBody>
      </p:sp>
      <p:graphicFrame>
        <p:nvGraphicFramePr>
          <p:cNvPr id="4" name="Table 3"/>
          <p:cNvGraphicFramePr>
            <a:graphicFrameLocks noGrp="1"/>
          </p:cNvGraphicFramePr>
          <p:nvPr/>
        </p:nvGraphicFramePr>
        <p:xfrm>
          <a:off x="621792" y="1810512"/>
          <a:ext cx="10954512" cy="3465576"/>
        </p:xfrm>
        <a:graphic>
          <a:graphicData uri="http://schemas.openxmlformats.org/drawingml/2006/table">
            <a:tbl>
              <a:tblPr firstRow="1" bandRow="1">
                <a:tableStyleId>{5C22544A-7EE6-4342-B048-85BDC9FD1C3A}</a:tableStyleId>
              </a:tblPr>
              <a:tblGrid>
                <a:gridCol w="3566160"/>
                <a:gridCol w="6035040"/>
                <a:gridCol w="1353312"/>
              </a:tblGrid>
              <a:tr h="466344">
                <a:tc>
                  <a:txBody>
                    <a:bodyPr wrap="square"/>
                    <a:lstStyle/>
                    <a:p>
                      <a:pPr>
                        <a:lnSpc>
                          <a:spcPct val="108000"/>
                        </a:lnSpc>
                        <a:spcAft>
                          <a:spcPts val="0"/>
                        </a:spcAft>
                      </a:pPr>
                      <a:r>
                        <a:rPr sz="1550" b="1" i="0">
                          <a:solidFill>
                            <a:srgbClr val="FFFFFF"/>
                          </a:solidFill>
                          <a:latin typeface="Arial"/>
                        </a:rPr>
                        <a:t>Družina nalog</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Odločilno vprašanje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Enota</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Vir in jezikovni nasvet</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Isti pomen, isto vprašanje, jasen status vira.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1 in 8</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Lastno, občno, opis</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Identifikacija, poimenovalna funkcija in začetnica.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2 in 5</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Tvorjenka in zapis</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SPo, BPo, obrazilo; nato pravopisni okvir.</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3</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Oblika v sobesedilu</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Sklon, ujemanje, navezava, vid in funkcija.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4</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 novem primeru najprej prepoznamo skupni problem, nato razlikovalni podatek.</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Izpitni problemi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340</a:t>
            </a:r>
          </a:p>
        </p:txBody>
      </p:sp>
      <p:graphicFrame>
        <p:nvGraphicFramePr>
          <p:cNvPr id="4" name="Table 3"/>
          <p:cNvGraphicFramePr>
            <a:graphicFrameLocks noGrp="1"/>
          </p:cNvGraphicFramePr>
          <p:nvPr/>
        </p:nvGraphicFramePr>
        <p:xfrm>
          <a:off x="621792" y="1810512"/>
          <a:ext cx="10954512" cy="3552317"/>
        </p:xfrm>
        <a:graphic>
          <a:graphicData uri="http://schemas.openxmlformats.org/drawingml/2006/table">
            <a:tbl>
              <a:tblPr firstRow="1" bandRow="1">
                <a:tableStyleId>{5C22544A-7EE6-4342-B048-85BDC9FD1C3A}</a:tableStyleId>
              </a:tblPr>
              <a:tblGrid>
                <a:gridCol w="3566160"/>
                <a:gridCol w="6035040"/>
                <a:gridCol w="1353312"/>
              </a:tblGrid>
              <a:tr h="466344">
                <a:tc>
                  <a:txBody>
                    <a:bodyPr wrap="square"/>
                    <a:lstStyle/>
                    <a:p>
                      <a:pPr>
                        <a:lnSpc>
                          <a:spcPct val="108000"/>
                        </a:lnSpc>
                        <a:spcAft>
                          <a:spcPts val="0"/>
                        </a:spcAft>
                      </a:pPr>
                      <a:r>
                        <a:rPr sz="1550" b="1" i="0">
                          <a:solidFill>
                            <a:srgbClr val="FFFFFF"/>
                          </a:solidFill>
                          <a:latin typeface="Arial"/>
                        </a:rPr>
                        <a:t>Družina nalog</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Odločilno vprašanje</a:t>
                      </a:r>
                    </a:p>
                  </a:txBody>
                  <a:tcPr marL="137160" marR="137160" marT="73152" marB="73152" anchor="ctr">
                    <a:solidFill>
                      <a:srgbClr val="00695F"/>
                    </a:solidFill>
                  </a:tcPr>
                </a:tc>
                <a:tc>
                  <a:txBody>
                    <a:bodyPr wrap="square"/>
                    <a:lstStyle/>
                    <a:p>
                      <a:pPr>
                        <a:lnSpc>
                          <a:spcPct val="108000"/>
                        </a:lnSpc>
                        <a:spcAft>
                          <a:spcPts val="0"/>
                        </a:spcAft>
                      </a:pPr>
                      <a:r>
                        <a:rPr sz="1550" b="1" i="0">
                          <a:solidFill>
                            <a:srgbClr val="FFFFFF"/>
                          </a:solidFill>
                          <a:latin typeface="Arial"/>
                        </a:rPr>
                        <a:t>Enota</a:t>
                      </a:r>
                    </a:p>
                  </a:txBody>
                  <a:tcPr marL="137160" marR="137160" marT="73152" marB="73152" anchor="ctr">
                    <a:solidFill>
                      <a:srgbClr val="00695F"/>
                    </a:solidFill>
                  </a:tcPr>
                </a:tc>
              </a:tr>
              <a:tr h="749808">
                <a:tc>
                  <a:txBody>
                    <a:bodyPr wrap="square"/>
                    <a:lstStyle/>
                    <a:p>
                      <a:pPr>
                        <a:lnSpc>
                          <a:spcPct val="108000"/>
                        </a:lnSpc>
                        <a:spcAft>
                          <a:spcPts val="0"/>
                        </a:spcAft>
                      </a:pPr>
                      <a:r>
                        <a:rPr sz="2050" b="0" i="0">
                          <a:solidFill>
                            <a:srgbClr val="182D3D"/>
                          </a:solidFill>
                          <a:latin typeface="Arial"/>
                        </a:rPr>
                        <a:t>Tuja imena</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Izgovor, osnova, pregibanje in tvorjenje.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5</a:t>
                      </a:r>
                    </a:p>
                  </a:txBody>
                  <a:tcPr marL="137160" marR="137160" marT="73152" marB="73152" anchor="ctr">
                    <a:solidFill>
                      <a:srgbClr val="FFFFFF"/>
                    </a:solidFill>
                  </a:tcPr>
                </a:tc>
              </a:tr>
              <a:tr h="749808">
                <a:tc>
                  <a:txBody>
                    <a:bodyPr wrap="square"/>
                    <a:lstStyle/>
                    <a:p>
                      <a:pPr>
                        <a:lnSpc>
                          <a:spcPct val="108000"/>
                        </a:lnSpc>
                        <a:spcAft>
                          <a:spcPts val="0"/>
                        </a:spcAft>
                      </a:pPr>
                      <a:r>
                        <a:rPr sz="2050" b="0" i="0">
                          <a:solidFill>
                            <a:srgbClr val="182D3D"/>
                          </a:solidFill>
                          <a:latin typeface="Arial"/>
                        </a:rPr>
                        <a:t>Vejica ob povezovalcu</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Hierarhija sestavin in obe meji odvisnika.</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6</a:t>
                      </a:r>
                    </a:p>
                  </a:txBody>
                  <a:tcPr marL="137160" marR="137160" marT="73152" marB="73152" anchor="ctr">
                    <a:solidFill>
                      <a:srgbClr val="EDF1F2"/>
                    </a:solidFill>
                  </a:tcPr>
                </a:tc>
              </a:tr>
              <a:tr h="749808">
                <a:tc>
                  <a:txBody>
                    <a:bodyPr wrap="square"/>
                    <a:lstStyle/>
                    <a:p>
                      <a:pPr>
                        <a:lnSpc>
                          <a:spcPct val="108000"/>
                        </a:lnSpc>
                        <a:spcAft>
                          <a:spcPts val="0"/>
                        </a:spcAft>
                      </a:pPr>
                      <a:r>
                        <a:rPr sz="2050" b="0" i="0">
                          <a:solidFill>
                            <a:srgbClr val="182D3D"/>
                          </a:solidFill>
                          <a:latin typeface="Arial"/>
                        </a:rPr>
                        <a:t>Posebne vključitve</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Polstavek, pristavek, vrivek, nagovor in navedek.</a:t>
                      </a:r>
                    </a:p>
                  </a:txBody>
                  <a:tcPr marL="137160" marR="137160" marT="73152" marB="73152" anchor="ctr">
                    <a:solidFill>
                      <a:srgbClr val="FFFFFF"/>
                    </a:solidFill>
                  </a:tcPr>
                </a:tc>
                <a:tc>
                  <a:txBody>
                    <a:bodyPr wrap="square"/>
                    <a:lstStyle/>
                    <a:p>
                      <a:pPr>
                        <a:lnSpc>
                          <a:spcPct val="108000"/>
                        </a:lnSpc>
                        <a:spcAft>
                          <a:spcPts val="0"/>
                        </a:spcAft>
                      </a:pPr>
                      <a:r>
                        <a:rPr sz="2050" b="0" i="0">
                          <a:solidFill>
                            <a:srgbClr val="182D3D"/>
                          </a:solidFill>
                          <a:latin typeface="Arial"/>
                        </a:rPr>
                        <a:t>7</a:t>
                      </a:r>
                    </a:p>
                  </a:txBody>
                  <a:tcPr marL="137160" marR="137160" marT="73152" marB="73152" anchor="ctr">
                    <a:solidFill>
                      <a:srgbClr val="FFFFFF"/>
                    </a:solidFill>
                  </a:tcPr>
                </a:tc>
              </a:tr>
              <a:tr h="836549">
                <a:tc>
                  <a:txBody>
                    <a:bodyPr wrap="square"/>
                    <a:lstStyle/>
                    <a:p>
                      <a:pPr>
                        <a:lnSpc>
                          <a:spcPct val="108000"/>
                        </a:lnSpc>
                        <a:spcAft>
                          <a:spcPts val="0"/>
                        </a:spcAft>
                      </a:pPr>
                      <a:r>
                        <a:rPr sz="2050" b="0" i="0">
                          <a:solidFill>
                            <a:srgbClr val="182D3D"/>
                          </a:solidFill>
                          <a:latin typeface="Arial"/>
                        </a:rPr>
                        <a:t>Celovito urejanje</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Pomenska zvestoba in dokaz za posamezni poseg.</a:t>
                      </a:r>
                    </a:p>
                  </a:txBody>
                  <a:tcPr marL="137160" marR="137160" marT="73152" marB="73152" anchor="ctr">
                    <a:solidFill>
                      <a:srgbClr val="EDF1F2"/>
                    </a:solidFill>
                  </a:tcPr>
                </a:tc>
                <a:tc>
                  <a:txBody>
                    <a:bodyPr wrap="square"/>
                    <a:lstStyle/>
                    <a:p>
                      <a:pPr>
                        <a:lnSpc>
                          <a:spcPct val="108000"/>
                        </a:lnSpc>
                        <a:spcAft>
                          <a:spcPts val="0"/>
                        </a:spcAft>
                      </a:pPr>
                      <a:r>
                        <a:rPr sz="2050" b="0" i="0">
                          <a:solidFill>
                            <a:srgbClr val="182D3D"/>
                          </a:solidFill>
                          <a:latin typeface="Arial"/>
                        </a:rPr>
                        <a:t>8</a:t>
                      </a:r>
                    </a:p>
                  </a:txBody>
                  <a:tcPr marL="137160" marR="137160" marT="73152" marB="73152" anchor="ctr">
                    <a:solidFill>
                      <a:srgbClr val="EDF1F2"/>
                    </a:solidFill>
                  </a:tcPr>
                </a:tc>
              </a:tr>
            </a:tbl>
          </a:graphicData>
        </a:graphic>
      </p:graphicFrame>
      <p:sp>
        <p:nvSpPr>
          <p:cNvPr id="5" name="TextBox 4"/>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 novem primeru najprej prepoznamo skupni problem, nato razlikovalni podatek.</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Jezikovna odločitev</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341</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Toporišič 2004: 103–106, 488–492, 833–834; Vidovič Muha 2013: 17–22.</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Kaj v viru pomeni </a:t>
            </a:r>
            <a:r>
              <a:rPr sz="2500" b="0" i="1">
                <a:solidFill>
                  <a:srgbClr val="182D3D"/>
                </a:solidFill>
                <a:latin typeface="Arial"/>
              </a:rPr>
              <a:t>beseda</a:t>
            </a:r>
            <a:r>
              <a:rPr sz="2500" b="0" i="0">
                <a:solidFill>
                  <a:srgbClr val="182D3D"/>
                </a:solidFill>
                <a:latin typeface="Arial"/>
              </a:rPr>
              <a:t>, kaj </a:t>
            </a:r>
            <a:r>
              <a:rPr sz="2500" b="0" i="1">
                <a:solidFill>
                  <a:srgbClr val="182D3D"/>
                </a:solidFill>
                <a:latin typeface="Arial"/>
              </a:rPr>
              <a:t>leksem</a:t>
            </a:r>
            <a:r>
              <a:rPr sz="2500" b="0" i="0">
                <a:solidFill>
                  <a:srgbClr val="182D3D"/>
                </a:solidFill>
                <a:latin typeface="Arial"/>
              </a:rPr>
              <a:t> in kaj </a:t>
            </a:r>
            <a:r>
              <a:rPr sz="2500" b="0" i="1">
                <a:solidFill>
                  <a:srgbClr val="182D3D"/>
                </a:solidFill>
                <a:latin typeface="Arial"/>
              </a:rPr>
              <a:t>stavek</a:t>
            </a:r>
            <a:r>
              <a:rPr sz="2500" b="0" i="0">
                <a:solidFill>
                  <a:srgbClr val="182D3D"/>
                </a:solidFill>
                <a:latin typeface="Arial"/>
              </a:rPr>
              <a:t>? Katere trditve pojasnjujejo zgradbo in katere imajo normativni doseg?</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Pomen in poimenovanje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342</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Vidovič Muha 2013: 35–44, 58–68, 130–157, 172–199.</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Katere pomenske sestavine so za izbrani pomen razločevalne? Kako bi dokazali razmerje med pomenoma, če bi odmislili že pripisano slovarsko oznako?</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Zgradba tvorjenke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343</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Vidovič Muha 2011: 23–36, 82–103; Toporišič 2004: 149–160.</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Katere sestavine SPo se pretvorijo v obrazilo? Kaj isti termin </a:t>
            </a:r>
            <a:r>
              <a:rPr sz="2500" b="0" i="1">
                <a:solidFill>
                  <a:srgbClr val="182D3D"/>
                </a:solidFill>
                <a:latin typeface="Arial"/>
              </a:rPr>
              <a:t>besedotvorna podstava</a:t>
            </a:r>
            <a:r>
              <a:rPr sz="2500" b="0" i="0">
                <a:solidFill>
                  <a:srgbClr val="182D3D"/>
                </a:solidFill>
                <a:latin typeface="Arial"/>
              </a:rPr>
              <a:t> označuje v obeh delih?</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Oblike v sobesedilu</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344</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Toporišič 2004: 255–268, 317–329, 399–405; Vidovič Muha 2013: 78–89, 365–371, 385–389.</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Kako ločimo pregibni podatek, besedno vrsto, skladenjsko funkcijo in pomen? Zakaj oblika na </a:t>
            </a:r>
            <a:r>
              <a:rPr sz="2500" b="0" i="1">
                <a:solidFill>
                  <a:srgbClr val="182D3D"/>
                </a:solidFill>
                <a:latin typeface="Arial"/>
              </a:rPr>
              <a:t>-i</a:t>
            </a:r>
            <a:r>
              <a:rPr sz="2500" b="0" i="0">
                <a:solidFill>
                  <a:srgbClr val="182D3D"/>
                </a:solidFill>
                <a:latin typeface="Arial"/>
              </a:rPr>
              <a:t> sama ne razreši vseh vprašanj določnosti in vrstnosti?</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Lastna imena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345</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Vidovič Muha 2013: 92–94, 386–389; Toporišič 2004: 274–277, 284, 296.</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Kaj pri imenu določa slovnica in kaj prepoznamo šele v besedilu? Kako se razlikujejo lastnina, sorodstvo in vršilec dejanja v svojilni zvezi?</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Poved in vejica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346</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Toporišič 2004: 491–492, 575–576, 606–618, 660–663.</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Kako ločimo udeležensko vlogo od stavčnega člena, vezljivostno mesto od izrečenega dopolnila ter osebno povedkovo zgradbo od širše predikacijske vsebine?</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Posebne vključene zgradbe</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347</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Toporišič 2004: 588–591, 632–634, 657–659; nato primerjava s SP 2001, § 333–337.</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Katero razmerje ohrani razvitje polstavka? Kateri podatki se spremenijo pri poročanju o govoru in zakaj slovnična razvrstitev sama še ne določi vseh ločil?</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Branje: Jezikovni nasvet</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348</a:t>
            </a:r>
          </a:p>
        </p:txBody>
      </p:sp>
      <p:sp>
        <p:nvSpPr>
          <p:cNvPr id="4" name="TextBox 3"/>
          <p:cNvSpPr txBox="1"/>
          <p:nvPr/>
        </p:nvSpPr>
        <p:spPr>
          <a:xfrm>
            <a:off x="621792" y="1709928"/>
            <a:ext cx="10954512" cy="749808"/>
          </a:xfrm>
          <a:prstGeom prst="rect">
            <a:avLst/>
          </a:prstGeom>
          <a:noFill/>
        </p:spPr>
        <p:txBody>
          <a:bodyPr wrap="square" lIns="0" rIns="0" tIns="0" bIns="0" anchor="t">
            <a:noAutofit/>
          </a:bodyPr>
          <a:lstStyle/>
          <a:p>
            <a:pPr rtl="0">
              <a:lnSpc>
                <a:spcPct val="110000"/>
              </a:lnSpc>
              <a:spcBef>
                <a:spcPts val="0"/>
              </a:spcBef>
              <a:spcAft>
                <a:spcPts val="0"/>
              </a:spcAft>
            </a:pPr>
            <a:r>
              <a:rPr sz="2400" b="0" i="0">
                <a:solidFill>
                  <a:srgbClr val="546674"/>
                </a:solidFill>
                <a:latin typeface="Arial"/>
              </a:rPr>
              <a:t>Od avtorjevega merila do lastne razčlenitve.</a:t>
            </a:r>
          </a:p>
        </p:txBody>
      </p:sp>
      <p:sp>
        <p:nvSpPr>
          <p:cNvPr id="5" name="TextBox 4"/>
          <p:cNvSpPr txBox="1"/>
          <p:nvPr/>
        </p:nvSpPr>
        <p:spPr>
          <a:xfrm>
            <a:off x="822960"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Odlomki</a:t>
            </a:r>
          </a:p>
        </p:txBody>
      </p:sp>
      <p:sp>
        <p:nvSpPr>
          <p:cNvPr id="6" name="TextBox 5"/>
          <p:cNvSpPr txBox="1"/>
          <p:nvPr/>
        </p:nvSpPr>
        <p:spPr>
          <a:xfrm>
            <a:off x="822960"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Ponovno Toporišič 2004: 491–492; Vidovič Muha 2011: 100–103; Vidovič Muha 2013: 17–18, 386–389.</a:t>
            </a:r>
          </a:p>
        </p:txBody>
      </p:sp>
      <p:sp>
        <p:nvSpPr>
          <p:cNvPr id="7" name="TextBox 6"/>
          <p:cNvSpPr txBox="1"/>
          <p:nvPr/>
        </p:nvSpPr>
        <p:spPr>
          <a:xfrm>
            <a:off x="6409944" y="2715768"/>
            <a:ext cx="4965192" cy="566928"/>
          </a:xfrm>
          <a:prstGeom prst="rect">
            <a:avLst/>
          </a:prstGeom>
          <a:noFill/>
        </p:spPr>
        <p:txBody>
          <a:bodyPr wrap="square" lIns="0" rIns="0" tIns="0" bIns="0" anchor="t">
            <a:noAutofit/>
          </a:bodyPr>
          <a:lstStyle/>
          <a:p>
            <a:pPr rtl="0">
              <a:lnSpc>
                <a:spcPct val="110000"/>
              </a:lnSpc>
              <a:spcBef>
                <a:spcPts val="0"/>
              </a:spcBef>
              <a:spcAft>
                <a:spcPts val="0"/>
              </a:spcAft>
            </a:pPr>
            <a:r>
              <a:rPr sz="1700" b="1" i="0">
                <a:solidFill>
                  <a:srgbClr val="00695F"/>
                </a:solidFill>
                <a:latin typeface="Arial"/>
              </a:rPr>
              <a:t>Vprašanje po branju</a:t>
            </a:r>
          </a:p>
        </p:txBody>
      </p:sp>
      <p:sp>
        <p:nvSpPr>
          <p:cNvPr id="8" name="TextBox 7"/>
          <p:cNvSpPr txBox="1"/>
          <p:nvPr/>
        </p:nvSpPr>
        <p:spPr>
          <a:xfrm>
            <a:off x="6409944" y="3310128"/>
            <a:ext cx="4965192" cy="2011679"/>
          </a:xfrm>
          <a:prstGeom prst="rect">
            <a:avLst/>
          </a:prstGeom>
          <a:noFill/>
        </p:spPr>
        <p:txBody>
          <a:bodyPr wrap="square" lIns="0" rIns="0" tIns="0" bIns="0" anchor="t">
            <a:noAutofit/>
          </a:bodyPr>
          <a:lstStyle/>
          <a:p>
            <a:pPr rtl="0">
              <a:lnSpc>
                <a:spcPct val="110000"/>
              </a:lnSpc>
              <a:spcBef>
                <a:spcPts val="0"/>
              </a:spcBef>
              <a:spcAft>
                <a:spcPts val="0"/>
              </a:spcAft>
            </a:pPr>
            <a:r>
              <a:rPr sz="2500" b="0" i="0">
                <a:solidFill>
                  <a:srgbClr val="182D3D"/>
                </a:solidFill>
                <a:latin typeface="Arial"/>
              </a:rPr>
              <a:t>Kaj lahko izrazimo s stavkom, tvorjenko ali imensko zvezo in kaj pri pretvorbi izgubimo? Kako isto analizo pojasnimo strokovnjaku in uporabniku?</a:t>
            </a:r>
          </a:p>
        </p:txBody>
      </p:sp>
      <p:sp>
        <p:nvSpPr>
          <p:cNvPr id="9" name="TextBox 8"/>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Sklici navajajo natisnjene strani izdaj, opredeljenih v bibliografiji.</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Bralni zapis: od navedbe do dokaza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349</a:t>
            </a:r>
          </a:p>
        </p:txBody>
      </p:sp>
      <p:sp>
        <p:nvSpPr>
          <p:cNvPr id="4" name="TextBox 3"/>
          <p:cNvSpPr txBox="1"/>
          <p:nvPr/>
        </p:nvSpPr>
        <p:spPr>
          <a:xfrm>
            <a:off x="832104" y="2011679"/>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1</a:t>
            </a:r>
          </a:p>
        </p:txBody>
      </p:sp>
      <p:sp>
        <p:nvSpPr>
          <p:cNvPr id="5" name="TextBox 4"/>
          <p:cNvSpPr txBox="1"/>
          <p:nvPr/>
        </p:nvSpPr>
        <p:spPr>
          <a:xfrm>
            <a:off x="1737360" y="198424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Trditev in stran</a:t>
            </a:r>
          </a:p>
        </p:txBody>
      </p:sp>
      <p:sp>
        <p:nvSpPr>
          <p:cNvPr id="6" name="TextBox 5"/>
          <p:cNvSpPr txBox="1"/>
          <p:nvPr/>
        </p:nvSpPr>
        <p:spPr>
          <a:xfrm>
            <a:off x="4846320" y="194767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S svojimi besedami zapišem avtorjevo merilo in točno stran.</a:t>
            </a:r>
          </a:p>
        </p:txBody>
      </p:sp>
      <p:sp>
        <p:nvSpPr>
          <p:cNvPr id="7" name="TextBox 6"/>
          <p:cNvSpPr txBox="1"/>
          <p:nvPr/>
        </p:nvSpPr>
        <p:spPr>
          <a:xfrm>
            <a:off x="832104" y="326136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2</a:t>
            </a:r>
          </a:p>
        </p:txBody>
      </p:sp>
      <p:sp>
        <p:nvSpPr>
          <p:cNvPr id="8" name="TextBox 7"/>
          <p:cNvSpPr txBox="1"/>
          <p:nvPr/>
        </p:nvSpPr>
        <p:spPr>
          <a:xfrm>
            <a:off x="1737360" y="323392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Zgled in prenos</a:t>
            </a:r>
          </a:p>
        </p:txBody>
      </p:sp>
      <p:sp>
        <p:nvSpPr>
          <p:cNvPr id="9" name="TextBox 8"/>
          <p:cNvSpPr txBox="1"/>
          <p:nvPr/>
        </p:nvSpPr>
        <p:spPr>
          <a:xfrm>
            <a:off x="4846320" y="319735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Razčlenim avtorjev zgled in uporabim merilo na novem.</a:t>
            </a:r>
          </a:p>
        </p:txBody>
      </p:sp>
      <p:sp>
        <p:nvSpPr>
          <p:cNvPr id="10" name="TextBox 9"/>
          <p:cNvSpPr txBox="1"/>
          <p:nvPr/>
        </p:nvSpPr>
        <p:spPr>
          <a:xfrm>
            <a:off x="832104" y="4511040"/>
            <a:ext cx="640080" cy="893064"/>
          </a:xfrm>
          <a:prstGeom prst="rect">
            <a:avLst/>
          </a:prstGeom>
          <a:noFill/>
        </p:spPr>
        <p:txBody>
          <a:bodyPr wrap="square" lIns="0" rIns="0" tIns="0" bIns="0" anchor="t">
            <a:noAutofit/>
          </a:bodyPr>
          <a:lstStyle/>
          <a:p>
            <a:pPr rtl="0">
              <a:lnSpc>
                <a:spcPct val="110000"/>
              </a:lnSpc>
              <a:spcBef>
                <a:spcPts val="0"/>
              </a:spcBef>
              <a:spcAft>
                <a:spcPts val="0"/>
              </a:spcAft>
            </a:pPr>
            <a:r>
              <a:rPr sz="2800" b="1" i="0">
                <a:solidFill>
                  <a:srgbClr val="00695F"/>
                </a:solidFill>
                <a:latin typeface="Arial"/>
              </a:rPr>
              <a:t>3</a:t>
            </a:r>
          </a:p>
        </p:txBody>
      </p:sp>
      <p:sp>
        <p:nvSpPr>
          <p:cNvPr id="11" name="TextBox 10"/>
          <p:cNvSpPr txBox="1"/>
          <p:nvPr/>
        </p:nvSpPr>
        <p:spPr>
          <a:xfrm>
            <a:off x="1737360" y="4483608"/>
            <a:ext cx="2834640" cy="911352"/>
          </a:xfrm>
          <a:prstGeom prst="rect">
            <a:avLst/>
          </a:prstGeom>
          <a:noFill/>
        </p:spPr>
        <p:txBody>
          <a:bodyPr wrap="square" lIns="0" rIns="0" tIns="0" bIns="0" anchor="t">
            <a:noAutofit/>
          </a:bodyPr>
          <a:lstStyle/>
          <a:p>
            <a:pPr rtl="0">
              <a:lnSpc>
                <a:spcPct val="110000"/>
              </a:lnSpc>
              <a:spcBef>
                <a:spcPts val="0"/>
              </a:spcBef>
              <a:spcAft>
                <a:spcPts val="0"/>
              </a:spcAft>
            </a:pPr>
            <a:r>
              <a:rPr sz="2050" b="1" i="0">
                <a:solidFill>
                  <a:srgbClr val="182D3D"/>
                </a:solidFill>
                <a:latin typeface="Arial"/>
              </a:rPr>
              <a:t>Meja in posledica</a:t>
            </a:r>
          </a:p>
        </p:txBody>
      </p:sp>
      <p:sp>
        <p:nvSpPr>
          <p:cNvPr id="12" name="TextBox 11"/>
          <p:cNvSpPr txBox="1"/>
          <p:nvPr/>
        </p:nvSpPr>
        <p:spPr>
          <a:xfrm>
            <a:off x="4846320" y="4447032"/>
            <a:ext cx="6446520" cy="993648"/>
          </a:xfrm>
          <a:prstGeom prst="rect">
            <a:avLst/>
          </a:prstGeom>
          <a:noFill/>
        </p:spPr>
        <p:txBody>
          <a:bodyPr wrap="square" lIns="0" rIns="0" tIns="0" bIns="0" anchor="t">
            <a:noAutofit/>
          </a:bodyPr>
          <a:lstStyle/>
          <a:p>
            <a:pPr rtl="0">
              <a:lnSpc>
                <a:spcPct val="110000"/>
              </a:lnSpc>
              <a:spcBef>
                <a:spcPts val="0"/>
              </a:spcBef>
              <a:spcAft>
                <a:spcPts val="0"/>
              </a:spcAft>
            </a:pPr>
            <a:r>
              <a:rPr sz="2300" b="0" i="0">
                <a:solidFill>
                  <a:srgbClr val="182D3D"/>
                </a:solidFill>
                <a:latin typeface="Arial"/>
              </a:rPr>
              <a:t>Povem, do kod sklep velja in kaj spremeni pri jezikovni odločitvi.</a:t>
            </a:r>
          </a:p>
        </p:txBody>
      </p:sp>
      <p:sp>
        <p:nvSpPr>
          <p:cNvPr id="13" name="TextBox 12"/>
          <p:cNvSpPr txBox="1"/>
          <p:nvPr/>
        </p:nvSpPr>
        <p:spPr>
          <a:xfrm>
            <a:off x="621792" y="5705856"/>
            <a:ext cx="10954512" cy="429768"/>
          </a:xfrm>
          <a:prstGeom prst="rect">
            <a:avLst/>
          </a:prstGeom>
          <a:noFill/>
        </p:spPr>
        <p:txBody>
          <a:bodyPr wrap="square" lIns="0" rIns="0" tIns="0" bIns="0" anchor="t">
            <a:noAutofit/>
          </a:bodyPr>
          <a:lstStyle/>
          <a:p>
            <a:pPr rtl="0">
              <a:lnSpc>
                <a:spcPct val="110000"/>
              </a:lnSpc>
              <a:spcBef>
                <a:spcPts val="0"/>
              </a:spcBef>
              <a:spcAft>
                <a:spcPts val="0"/>
              </a:spcAft>
            </a:pPr>
            <a:r>
              <a:rPr sz="1850" b="1" i="0">
                <a:solidFill>
                  <a:srgbClr val="00695F"/>
                </a:solidFill>
                <a:latin typeface="Arial"/>
              </a:rPr>
              <a:t>Primerjajmo najmočnejši in najšibkejši dokaz za svojo rešitev.</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Tri temeljna dela</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350</a:t>
            </a:r>
          </a:p>
        </p:txBody>
      </p:sp>
      <p:sp>
        <p:nvSpPr>
          <p:cNvPr id="4" name="TextBox 3"/>
          <p:cNvSpPr txBox="1"/>
          <p:nvPr/>
        </p:nvSpPr>
        <p:spPr>
          <a:xfrm>
            <a:off x="713232" y="1837943"/>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Jože Toporišič (2004)</a:t>
            </a:r>
          </a:p>
          <a:p>
            <a:pPr rtl="0">
              <a:lnSpc>
                <a:spcPct val="110000"/>
              </a:lnSpc>
              <a:spcBef>
                <a:spcPts val="0"/>
              </a:spcBef>
              <a:spcAft>
                <a:spcPts val="0"/>
              </a:spcAft>
            </a:pPr>
            <a:r>
              <a:rPr sz="2150" b="0" i="0">
                <a:solidFill>
                  <a:srgbClr val="182D3D"/>
                </a:solidFill>
                <a:latin typeface="Arial"/>
              </a:rPr>
              <a:t>Slovenska slovnica. 4., prenovljena in razširjena izdaja, 2. natis. Maribor: Obzorja.</a:t>
            </a:r>
          </a:p>
        </p:txBody>
      </p:sp>
      <p:sp>
        <p:nvSpPr>
          <p:cNvPr id="5" name="TextBox 4"/>
          <p:cNvSpPr txBox="1"/>
          <p:nvPr/>
        </p:nvSpPr>
        <p:spPr>
          <a:xfrm>
            <a:off x="713232" y="3163824"/>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Ada Vidovič Muha (2011)</a:t>
            </a:r>
          </a:p>
          <a:p>
            <a:pPr rtl="0">
              <a:lnSpc>
                <a:spcPct val="110000"/>
              </a:lnSpc>
              <a:spcBef>
                <a:spcPts val="0"/>
              </a:spcBef>
              <a:spcAft>
                <a:spcPts val="0"/>
              </a:spcAft>
            </a:pPr>
            <a:r>
              <a:rPr sz="2150" b="0" i="0">
                <a:solidFill>
                  <a:srgbClr val="182D3D"/>
                </a:solidFill>
                <a:latin typeface="Arial"/>
              </a:rPr>
              <a:t>Slovensko skladenjsko besedotvorje. 2., razširjena in dopolnjena izdaja. Ljubljana: Znanstvena založba FF UL.</a:t>
            </a:r>
          </a:p>
        </p:txBody>
      </p:sp>
      <p:sp>
        <p:nvSpPr>
          <p:cNvPr id="6" name="TextBox 5"/>
          <p:cNvSpPr txBox="1"/>
          <p:nvPr/>
        </p:nvSpPr>
        <p:spPr>
          <a:xfrm>
            <a:off x="713232" y="4489704"/>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Ada Vidovič Muha (2013)</a:t>
            </a:r>
          </a:p>
          <a:p>
            <a:pPr rtl="0">
              <a:lnSpc>
                <a:spcPct val="110000"/>
              </a:lnSpc>
              <a:spcBef>
                <a:spcPts val="0"/>
              </a:spcBef>
              <a:spcAft>
                <a:spcPts val="0"/>
              </a:spcAft>
            </a:pPr>
            <a:r>
              <a:rPr sz="2150" b="0" i="0">
                <a:solidFill>
                  <a:srgbClr val="182D3D"/>
                </a:solidFill>
                <a:latin typeface="Arial"/>
              </a:rPr>
              <a:t>Slovensko leksikalno pomenoslovje. 2., dopolnjena izdaja. Ljubljana: Znanstvena založba FF UL.</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Pravopisni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351</a:t>
            </a:r>
          </a:p>
        </p:txBody>
      </p:sp>
      <p:sp>
        <p:nvSpPr>
          <p:cNvPr id="4" name="TextBox 3">
            <a:hlinkClick r:id="rId2"/>
          </p:cNvPr>
          <p:cNvSpPr txBox="1"/>
          <p:nvPr/>
        </p:nvSpPr>
        <p:spPr>
          <a:xfrm>
            <a:off x="713232" y="1837943"/>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Slovenski pravopis 2001</a:t>
            </a:r>
          </a:p>
          <a:p>
            <a:pPr rtl="0">
              <a:lnSpc>
                <a:spcPct val="110000"/>
              </a:lnSpc>
              <a:spcBef>
                <a:spcPts val="0"/>
              </a:spcBef>
              <a:spcAft>
                <a:spcPts val="0"/>
              </a:spcAft>
            </a:pPr>
            <a:r>
              <a:rPr sz="2150" b="0" i="0">
                <a:solidFill>
                  <a:srgbClr val="182D3D"/>
                </a:solidFill>
                <a:latin typeface="Arial"/>
              </a:rPr>
              <a:t>Pravila: sklic na člen (§). Slovarske sestavke navajamo posebej.</a:t>
            </a:r>
          </a:p>
        </p:txBody>
      </p:sp>
      <p:sp>
        <p:nvSpPr>
          <p:cNvPr id="5" name="TextBox 4">
            <a:hlinkClick r:id="rId3"/>
          </p:cNvPr>
          <p:cNvSpPr txBox="1"/>
          <p:nvPr/>
        </p:nvSpPr>
        <p:spPr>
          <a:xfrm>
            <a:off x="713232" y="3163824"/>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ePravopis 2025 (objavljen 2026)</a:t>
            </a:r>
          </a:p>
          <a:p>
            <a:pPr rtl="0">
              <a:lnSpc>
                <a:spcPct val="110000"/>
              </a:lnSpc>
              <a:spcBef>
                <a:spcPts val="0"/>
              </a:spcBef>
              <a:spcAft>
                <a:spcPts val="0"/>
              </a:spcAft>
            </a:pPr>
            <a:r>
              <a:rPr sz="2150" b="0" i="0">
                <a:solidFill>
                  <a:srgbClr val="182D3D"/>
                </a:solidFill>
                <a:latin typeface="Arial"/>
              </a:rPr>
              <a:t>Elektronski slovarski zvezek; predlog. Sklic na iztočnico in stran.</a:t>
            </a:r>
          </a:p>
        </p:txBody>
      </p:sp>
      <p:sp>
        <p:nvSpPr>
          <p:cNvPr id="6" name="TextBox 5">
            <a:hlinkClick r:id="rId4"/>
          </p:cNvPr>
          <p:cNvSpPr txBox="1"/>
          <p:nvPr/>
        </p:nvSpPr>
        <p:spPr>
          <a:xfrm>
            <a:off x="713232" y="4489704"/>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Pravopis 8.0 — predlog, 22. junij 2026</a:t>
            </a:r>
          </a:p>
          <a:p>
            <a:pPr rtl="0">
              <a:lnSpc>
                <a:spcPct val="110000"/>
              </a:lnSpc>
              <a:spcBef>
                <a:spcPts val="0"/>
              </a:spcBef>
              <a:spcAft>
                <a:spcPts val="0"/>
              </a:spcAft>
            </a:pPr>
            <a:r>
              <a:rPr sz="2150" b="0" i="0">
                <a:solidFill>
                  <a:srgbClr val="182D3D"/>
                </a:solidFill>
                <a:latin typeface="Arial"/>
              </a:rPr>
              <a:t>Sklic na poglavje, člen in PDF-stran.</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352</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Inštitut za slovenski jezik Frana Ramovša ZRC SAZU. SSKJ²: iztočnice boks.</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»Sodoben« ali »sodobni« ples? (november 2025).</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Ali je prav pisati »avto bomba« ali »avtobomba«? (marec 2013; dopolnjeno junija 2026).</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Kako zapisati »varnostno-obveščevalna služba«? (julij 2016).</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353</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Kako prevesti »Barents Euro-Arctic Council«? (maj 2016).</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Domen Krvina. »Nacionalnovarnostni« ali »nacionalno varnostni« ali »nacionalni varnostni« svet? (december 2025).</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Domen Krvina. Ali je pravilno »vojaško zdravstvena« ali »vojaška zdravstvena enota« (VZE)? (november 2025).</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Obletnica ustanovitve in n-letnica delovanja (december 2015).</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354</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Alenka Jelovšek. Napake pri sklanjanju pridevnika v dajalniku in mestniku: »v virtualnem« in ne »v virtualnemu svetu« (junij 2026).</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Tanja Mirtič. »Na/v Japonsko« in »iz/z Japonske« (december 2016).</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Inštitut za slovenski jezik Frana Ramovša ZRC SAZU. ePravopis: Japonska (dostop 6. oktobra 2026).</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Zvonka Praznik. Ali je kozarec »steklen« ali »stekleni«? (september 2014).</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355</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Dejan Gabrovšek. Jezikovna (ne)pravilnost slogana »Kaj je notri, šteje« (marec 2025).</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in Tina Lengar Verovnik. Sv. Primož nad Kamnikom – velika začetnica (april 2025).</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Ali se »jabolko navdiha« zapisuje z veliko ali malo začetnico? (november 2025).</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Urška Vranjek Ošlak. Zapis kratic: »FIFA« ali »Fifa« (april 2023).</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356</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Urška Vranjek Ošlak in Tina Lengar Verovnik. Sklanjanje priimkov »Locke« in »Moore« (december 2021).</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Beatrice.</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Sklanjanje imen s predimki: »Jean Guyot de Châtelet« (december 2025).</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in Helena Dobrovoljc. Tuja osebna imena in njihovi svojilni pridevniki (oktober 2014).</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357</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Tanja Mirtič. Svojilni pridevniki iz lastnih imen: »Edijev«, »Tinetov« in »Gregorjev« (april 2017).</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Kakšen je svojilni pridevnik iz priimka »Nye«? (februar 2016).</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Urška Vranjek Ošlak. Svojilni pridevnik iz imena »Renault« (april 2020).</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Svojilni pridevnik iz francoskega priimka »Lavoisier« (marec 2018).</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358</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Peter Weiss in Urška Vranjek Ošlak. Sklanjanje imena »Franz Liszt« (februar 2022).</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Beatricin.</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Helena Dobrovoljc in Tina Lengar Verovnik. Unikatna, tuja in večbesedna ženska rojstna imena v slovenščini ter z njimi povezana pravopisna problematika (2015).</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New York (2001).</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359</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Urška Vranjek Ošlak. Tvorba pridevnika na -ski iz zemljepisnega imena, ki se konča na -i: »Frascati« – »frascatijski« ali »frascatski« (november 2020).</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Nataša Gliha Komac, Manca Černivec in Helena Dobrovoljc. Pridevnik iz imen »Trenta« in »Mojstrana« – trentski ali trentarski, mojstranski ali mojstranški (december 2022).</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Aix-en-Provence (2001).</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Peter Weiss. Sklanjanje tujih zemljepisnih imen: »Southend-on-Sea« (maj 2019).</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360</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Vejica pred »in to« (maj 2016).</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Vejica in vezniški »zakaj« v odvisnikih (julij 2014).</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Domen Krvina, Dejan Gabrovšek in Manca Černivec. Vejica na meji med skladenjsko raznorodnimi enotami – težji primeri (januar 2026).</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Vejica pred »kot že dolgo ne« (december 2020).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361</a:t>
            </a:r>
          </a:p>
        </p:txBody>
      </p:sp>
      <p:sp>
        <p:nvSpPr>
          <p:cNvPr id="4" name="TextBox 3">
            <a:hlinkClick r:id="rId2"/>
          </p:cNvPr>
          <p:cNvSpPr txBox="1"/>
          <p:nvPr/>
        </p:nvSpPr>
        <p:spPr>
          <a:xfrm>
            <a:off x="713232" y="1837943"/>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Vrinjeni stavek »kot bi mignil« in vejica.</a:t>
            </a:r>
          </a:p>
        </p:txBody>
      </p:sp>
      <p:sp>
        <p:nvSpPr>
          <p:cNvPr id="5" name="TextBox 4">
            <a:hlinkClick r:id="rId3"/>
          </p:cNvPr>
          <p:cNvSpPr txBox="1"/>
          <p:nvPr/>
        </p:nvSpPr>
        <p:spPr>
          <a:xfrm>
            <a:off x="713232" y="283235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Barbara Benčina, Ivana Vekjet in Franc Marušič. Vejica med pridevniki (januar 2008).</a:t>
            </a:r>
          </a:p>
        </p:txBody>
      </p:sp>
      <p:sp>
        <p:nvSpPr>
          <p:cNvPr id="6" name="TextBox 5">
            <a:hlinkClick r:id="rId4"/>
          </p:cNvPr>
          <p:cNvSpPr txBox="1"/>
          <p:nvPr/>
        </p:nvSpPr>
        <p:spPr>
          <a:xfrm>
            <a:off x="713232" y="382676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Peter Weiss. Besedna zveza »z drugimi besedami« in raba ločil (julij 2016).</a:t>
            </a:r>
          </a:p>
        </p:txBody>
      </p:sp>
      <p:sp>
        <p:nvSpPr>
          <p:cNvPr id="7" name="TextBox 6">
            <a:hlinkClick r:id="rId5"/>
          </p:cNvPr>
          <p:cNvSpPr txBox="1"/>
          <p:nvPr/>
        </p:nvSpPr>
        <p:spPr>
          <a:xfrm>
            <a:off x="713232" y="4821174"/>
            <a:ext cx="10817352" cy="81153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Polona Gantar. Vejica in večbesedni vezniki: »in ker« (januar 2014).</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8F7F2"/>
        </a:solidFill>
        <a:effectLst/>
      </p:bgPr>
    </p:bg>
    <p:spTree>
      <p:nvGrpSpPr>
        <p:cNvPr id="1" name=""/>
        <p:cNvGrpSpPr/>
        <p:nvPr/>
      </p:nvGrpSpPr>
      <p:grpSpPr/>
      <p:sp>
        <p:nvSpPr>
          <p:cNvPr id="2" name="TextBox 1"/>
          <p:cNvSpPr txBox="1"/>
          <p:nvPr/>
        </p:nvSpPr>
        <p:spPr>
          <a:xfrm>
            <a:off x="603504" y="640080"/>
            <a:ext cx="10972800" cy="1005840"/>
          </a:xfrm>
          <a:prstGeom prst="rect">
            <a:avLst/>
          </a:prstGeom>
          <a:noFill/>
        </p:spPr>
        <p:txBody>
          <a:bodyPr wrap="square" lIns="0" rIns="0" tIns="0" bIns="0" anchor="t">
            <a:noAutofit/>
          </a:bodyPr>
          <a:lstStyle/>
          <a:p>
            <a:pPr rtl="0">
              <a:lnSpc>
                <a:spcPct val="110000"/>
              </a:lnSpc>
              <a:spcBef>
                <a:spcPts val="0"/>
              </a:spcBef>
              <a:spcAft>
                <a:spcPts val="0"/>
              </a:spcAft>
            </a:pPr>
            <a:r>
              <a:rPr sz="3300" b="1" i="0">
                <a:solidFill>
                  <a:srgbClr val="182D3D"/>
                </a:solidFill>
                <a:latin typeface="Arial"/>
              </a:rPr>
              <a:t>Spletni viri</a:t>
            </a:r>
          </a:p>
        </p:txBody>
      </p:sp>
      <p:sp>
        <p:nvSpPr>
          <p:cNvPr id="3" name="TextBox 2"/>
          <p:cNvSpPr txBox="1"/>
          <p:nvPr/>
        </p:nvSpPr>
        <p:spPr>
          <a:xfrm>
            <a:off x="11000232" y="6405372"/>
            <a:ext cx="594360" cy="201168"/>
          </a:xfrm>
          <a:prstGeom prst="rect">
            <a:avLst/>
          </a:prstGeom>
          <a:noFill/>
        </p:spPr>
        <p:txBody>
          <a:bodyPr wrap="square" lIns="0" rIns="0" tIns="0" bIns="0" anchor="t">
            <a:noAutofit/>
          </a:bodyPr>
          <a:lstStyle/>
          <a:p>
            <a:pPr algn="r" rtl="0">
              <a:lnSpc>
                <a:spcPct val="110000"/>
              </a:lnSpc>
              <a:spcBef>
                <a:spcPts val="0"/>
              </a:spcBef>
              <a:spcAft>
                <a:spcPts val="0"/>
              </a:spcAft>
            </a:pPr>
            <a:r>
              <a:rPr sz="1000" b="0" i="0">
                <a:solidFill>
                  <a:srgbClr val="546674"/>
                </a:solidFill>
                <a:latin typeface="Arial"/>
              </a:rPr>
              <a:t>362</a:t>
            </a:r>
          </a:p>
        </p:txBody>
      </p:sp>
      <p:sp>
        <p:nvSpPr>
          <p:cNvPr id="4" name="TextBox 3">
            <a:hlinkClick r:id="rId2"/>
          </p:cNvPr>
          <p:cNvSpPr txBox="1"/>
          <p:nvPr/>
        </p:nvSpPr>
        <p:spPr>
          <a:xfrm>
            <a:off x="713232" y="1837943"/>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Manca Černivec. Vejica ali ne pri igri »človek(,) ne jezi se« (december 2025).</a:t>
            </a:r>
          </a:p>
        </p:txBody>
      </p:sp>
      <p:sp>
        <p:nvSpPr>
          <p:cNvPr id="5" name="TextBox 4">
            <a:hlinkClick r:id="rId3"/>
          </p:cNvPr>
          <p:cNvSpPr txBox="1"/>
          <p:nvPr/>
        </p:nvSpPr>
        <p:spPr>
          <a:xfrm>
            <a:off x="713232" y="3163824"/>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Povedkovo določilo znotraj narekovajev in vprašanje vejice, dvopičja, začetnice ... (september 2026).</a:t>
            </a:r>
          </a:p>
        </p:txBody>
      </p:sp>
      <p:sp>
        <p:nvSpPr>
          <p:cNvPr id="6" name="TextBox 5">
            <a:hlinkClick r:id="rId4"/>
          </p:cNvPr>
          <p:cNvSpPr txBox="1"/>
          <p:nvPr/>
        </p:nvSpPr>
        <p:spPr>
          <a:xfrm>
            <a:off x="713232" y="4489704"/>
            <a:ext cx="10817352" cy="1143000"/>
          </a:xfrm>
          <a:prstGeom prst="rect">
            <a:avLst/>
          </a:prstGeom>
          <a:noFill/>
        </p:spPr>
        <p:txBody>
          <a:bodyPr wrap="square" lIns="0" rIns="0" tIns="0" bIns="0" anchor="t">
            <a:noAutofit/>
          </a:bodyPr>
          <a:lstStyle/>
          <a:p>
            <a:pPr rtl="0">
              <a:lnSpc>
                <a:spcPct val="110000"/>
              </a:lnSpc>
              <a:spcBef>
                <a:spcPts val="0"/>
              </a:spcBef>
              <a:spcAft>
                <a:spcPts val="0"/>
              </a:spcAft>
            </a:pPr>
            <a:r>
              <a:rPr sz="2150" b="0" i="0">
                <a:solidFill>
                  <a:srgbClr val="182D3D"/>
                </a:solidFill>
                <a:latin typeface="Arial"/>
              </a:rPr>
              <a:t>Tina Lengar Verovnik. Manj tipični primeri zapisa premega govora: ločila (november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20257</Words>
  <Application>python-pptx</Application>
  <PresentationFormat>Widescreen (16:9)</PresentationFormat>
  <Paragraphs>2991</Paragraphs>
  <Slides>362</Slides>
  <Notes>362</Notes>
  <HiddenSlides>0</HiddenSlides>
  <MMClips>0</MMClips>
  <ScaleCrop>false</ScaleCrop>
  <Manager/>
  <Company/>
  <LinksUpToDate>false</LinksUpToDate>
  <SharedDoc>false</SharedDoc>
  <HyperlinkBase/>
  <HyperlinksChanged>false</HyperlinksChanged>
  <HeadingPairs>
    <vt:vector size="4" baseType="variant">
      <vt:variant>
        <vt:lpstr>Theme</vt:lpstr>
      </vt:variant>
      <vt:variant>
        <vt:i4>1</vt:i4>
      </vt:variant>
      <vt:variant>
        <vt:lpstr>Slide Titles</vt:lpstr>
      </vt:variant>
      <vt:variant>
        <vt:i4>362</vt:i4>
      </vt:variant>
    </vt:vector>
  </HeadingPairs>
  <TitlesOfParts>
    <vt:vector size="363" baseType="lpstr">
      <vt:lpstr>Office Theme</vt:lpstr>
      <vt:lpstr>Leksika in slovnica slovenskega jezika</vt:lpstr>
      <vt:lpstr>Vsebina</vt:lpstr>
      <vt:lpstr>Kako bomo delali?</vt:lpstr>
      <vt:lpstr>Jezikovna odločitev</vt:lpstr>
      <vt:lpstr>Tisto, kar nas zmoti, še ni diagnoza</vt:lpstr>
      <vt:lpstr>Štiri razsežnosti jezikovne presoje</vt:lpstr>
      <vt:lpstr>Teoretična analiza in pravopisna odločitev</vt:lpstr>
      <vt:lpstr>Dve obliki ali dva leksema?</vt:lpstr>
      <vt:lpstr>Oblika, tvorjenka in pomen so različne ravni</vt:lpstr>
      <vt:lpstr>Besedna vrsta še ne določi stavčnega člena</vt:lpstr>
      <vt:lpstr>Tri načine povezovanja preverimo z zgledi</vt:lpstr>
      <vt:lpstr>Ista poved vsebuje prirednost in podrednost</vt:lpstr>
      <vt:lpstr>Poved in stavek ne merita istega</vt:lpstr>
      <vt:lpstr>Isto pomensko izhodišče različno upovedimo</vt:lpstr>
      <vt:lpstr>Povedek ne izčrpa vseh predikacijskih vsebin</vt:lpstr>
      <vt:lpstr>Zakaj stojita dve vejici?</vt:lpstr>
      <vt:lpstr>Izberemo vir, ki odgovarja na naše vprašanje</vt:lpstr>
      <vt:lpstr>Slovarski sestavek beremo po plasteh</vt:lpstr>
      <vt:lpstr>SP 2001, eP 2025 in P8 imajo različne vloge</vt:lpstr>
      <vt:lpstr>Razlika med odgovoroma ni vedno sprememba pravila</vt:lpstr>
      <vt:lpstr>Od korpusnega zadetka do preverljive utemeljitve</vt:lpstr>
      <vt:lpstr>Vaji 1 in 2</vt:lpstr>
      <vt:lpstr>Rešitvi 1 in 2</vt:lpstr>
      <vt:lpstr>Vaji 3 in 4</vt:lpstr>
      <vt:lpstr>Rešitvi 3 in 4</vt:lpstr>
      <vt:lpstr>Vaji 5 in 6</vt:lpstr>
      <vt:lpstr>Rešitvi 5 in 6</vt:lpstr>
      <vt:lpstr>Vaji 7 in 8</vt:lpstr>
      <vt:lpstr>Rešitvi 7 in 8</vt:lpstr>
      <vt:lpstr>Zahtevnejša vaja 9</vt:lpstr>
      <vt:lpstr>Rešitev 9</vt:lpstr>
      <vt:lpstr>Zahtevnejša vaja 10</vt:lpstr>
      <vt:lpstr>Rešitev 10</vt:lpstr>
      <vt:lpstr>Povzetek</vt:lpstr>
      <vt:lpstr>Pomen in poimenovanje</vt:lpstr>
      <vt:lpstr>Izraz, pomen in konkretni termometer</vt:lpstr>
      <vt:lpstr>Sem, semem in pomenje niso sopomenke</vt:lpstr>
      <vt:lpstr>Štiri razsežnosti slovarskega pomena</vt:lpstr>
      <vt:lpstr>Pozdrav in namig zahtevata različni razlagi</vt:lpstr>
      <vt:lpstr>Pomenska razlaga izbere razločevalne podatke</vt:lpstr>
      <vt:lpstr>Zakaj globok ne razlagamo kakor vodnjak?</vt:lpstr>
      <vt:lpstr>Več pomenov: povezanost še potrebuje razlago</vt:lpstr>
      <vt:lpstr>Pri prenosu pokažemo, kaj povezuje pomena</vt:lpstr>
      <vt:lpstr>Ime identificira; opis in vrsta uvrščata drugače</vt:lpstr>
      <vt:lpstr>Isti nanosnik še ne pomeni sopomenskosti</vt:lpstr>
      <vt:lpstr>Različna nasprotja omogočajo različne sklepe</vt:lpstr>
      <vt:lpstr>Razmerje dokažemo s smerjo sklepa</vt:lpstr>
      <vt:lpstr>Pomen odpira mesta za druge sestavine</vt:lpstr>
      <vt:lpstr>Večbesedni leksem je lahko pomensko razviden</vt:lpstr>
      <vt:lpstr>Frazem, termin in register odgovarjajo različno</vt:lpstr>
      <vt:lpstr>Sodobni ples poimenuje zvrst</vt:lpstr>
      <vt:lpstr>Nov predlog preverimo na treh različnih ravneh</vt:lpstr>
      <vt:lpstr>Vaji 1 in 2</vt:lpstr>
      <vt:lpstr>Rešitvi 1 in 2</vt:lpstr>
      <vt:lpstr>Vaji 3 in 4</vt:lpstr>
      <vt:lpstr>Rešitvi 3 in 4</vt:lpstr>
      <vt:lpstr>Vaji 5 in 6</vt:lpstr>
      <vt:lpstr>Rešitvi 5 in 6</vt:lpstr>
      <vt:lpstr>Vaji 7 in 8</vt:lpstr>
      <vt:lpstr>Rešitvi 7 in 8</vt:lpstr>
      <vt:lpstr>Vaja 9</vt:lpstr>
      <vt:lpstr>Rešitev 9</vt:lpstr>
      <vt:lpstr>Zahtevnejša vaja 10</vt:lpstr>
      <vt:lpstr>Rešitev 10</vt:lpstr>
      <vt:lpstr>Rešitev 10 (nadaljevanje)</vt:lpstr>
      <vt:lpstr>Zahtevnejša vaja 11</vt:lpstr>
      <vt:lpstr>Rešitev 11</vt:lpstr>
      <vt:lpstr>Zahtevnejša vaja 12</vt:lpstr>
      <vt:lpstr>Rešitev 12</vt:lpstr>
      <vt:lpstr>Rešitev 12 (nadaljevanje)</vt:lpstr>
      <vt:lpstr>Zahtevnejša vaja 13</vt:lpstr>
      <vt:lpstr>Rešitev 13</vt:lpstr>
      <vt:lpstr>Povzetek</vt:lpstr>
      <vt:lpstr>Beseda in besedna zveza</vt:lpstr>
      <vt:lpstr>Nova oblika ali novo poimenovanje?</vt:lpstr>
      <vt:lpstr>Ista beseda, dve ravni členitve</vt:lpstr>
      <vt:lpstr>Kako iz podstave razložimo besedo lovec?</vt:lpstr>
      <vt:lpstr>Sopomenski besedi nimata nujno iste podstave</vt:lpstr>
      <vt:lpstr>Enak konec -ec, različna tvorbena vloga</vt:lpstr>
      <vt:lpstr>Kateri deli tvorijo obrazilo zadnje stopnje?</vt:lpstr>
      <vt:lpstr>Sestavljanje in zlaganje loči zgradba podstave</vt:lpstr>
      <vt:lpstr>Kaj poimenujemo: dejanje, nosilca ali okoliščino?</vt:lpstr>
      <vt:lpstr>Listavec: tvorbena razlaga in slovarski pomen</vt:lpstr>
      <vt:lpstr>Vsaka tvorbena stopnja ima svojo neposredno podstavo</vt:lpstr>
      <vt:lpstr>Isti termin v dveh modelih</vt:lpstr>
      <vt:lpstr>Nespremenljiva sestavina še ne določi zapisa</vt:lpstr>
      <vt:lpstr>Razvezava mora ohraniti predvideni pomen</vt:lpstr>
      <vt:lpstr>Priredni pomen ne napove vedno istega vezaja</vt:lpstr>
      <vt:lpstr>Kaj svet obravnava in kakšen svet je?</vt:lpstr>
      <vt:lpstr>Tri zgradbe zdravstvenega poimenovanja</vt:lpstr>
      <vt:lpstr>Vezaj opravlja več različnih nalog</vt:lpstr>
      <vt:lpstr>Pregibanje preveri doslednost naše razlage</vt:lpstr>
      <vt:lpstr>Vaji 1 in 2</vt:lpstr>
      <vt:lpstr>Rešitvi 1 in 2</vt:lpstr>
      <vt:lpstr>Vaji 3 in 4</vt:lpstr>
      <vt:lpstr>Rešitvi 3 in 4</vt:lpstr>
      <vt:lpstr>Vaji 5 in 6</vt:lpstr>
      <vt:lpstr>Rešitvi 5 in 6</vt:lpstr>
      <vt:lpstr>Vaji 7 in 8</vt:lpstr>
      <vt:lpstr>Rešitvi 7 in 8</vt:lpstr>
      <vt:lpstr>Vaji 9 in 10</vt:lpstr>
      <vt:lpstr>Rešitvi 9 in 10</vt:lpstr>
      <vt:lpstr>Zahtevnejša vaja 11</vt:lpstr>
      <vt:lpstr>Rešitev 11</vt:lpstr>
      <vt:lpstr>Zahtevnejša vaja 12</vt:lpstr>
      <vt:lpstr>Rešitev 12</vt:lpstr>
      <vt:lpstr>Zahtevnejša vaja 13</vt:lpstr>
      <vt:lpstr>Rešitev 13</vt:lpstr>
      <vt:lpstr>Zahtevnejša vaja 14</vt:lpstr>
      <vt:lpstr>Rešitev 14</vt:lpstr>
      <vt:lpstr>Zahtevnejša vaja 15</vt:lpstr>
      <vt:lpstr>Rešitev 15</vt:lpstr>
      <vt:lpstr>Povzetek</vt:lpstr>
      <vt:lpstr>Oblike v sobesedilu</vt:lpstr>
      <vt:lpstr>Oblika, besedna vrsta in funkcija so tri ravni</vt:lpstr>
      <vt:lpstr>Vezava določi obliko; ujemanje poveže kategorije</vt:lpstr>
      <vt:lpstr>Virtualnem in virtualnemu sta različna sklona</vt:lpstr>
      <vt:lpstr>Osnovo ugotovimo s primerjavo oblik</vt:lpstr>
      <vt:lpstr>Oblikotvorje ni drugo ime za besedotvorje</vt:lpstr>
      <vt:lpstr>Japonska in Japonsko: dva pregibna vzorca</vt:lpstr>
      <vt:lpstr>Pridevniški pomen razberemo v zvezi</vt:lpstr>
      <vt:lpstr>Določenost, določna oblika in vrstnost niso isto</vt:lpstr>
      <vt:lpstr>Steklen: snovni pomen in različne skladenjske vloge</vt:lpstr>
      <vt:lpstr>Svoj in njen lahko spremenita lastnico</vt:lpstr>
      <vt:lpstr>Ki in kateri ne delita ljudi od stvari</vt:lpstr>
      <vt:lpstr>Kaj in kar usmerjata različno branje</vt:lpstr>
      <vt:lpstr>Osebna glagolska oblika je lahko večbesedna</vt:lpstr>
      <vt:lpstr>Nedoločnik in namenilnik nista poljubni dolžini</vt:lpstr>
      <vt:lpstr>Deležnik ali deležje: primerjajmo funkcijo in pregibanje</vt:lpstr>
      <vt:lpstr>Vid in čas opisujeta različni razmerji</vt:lpstr>
      <vt:lpstr>Besedni red še ne naredi trpnika</vt:lpstr>
      <vt:lpstr>Vaji 1 in 2</vt:lpstr>
      <vt:lpstr>Rešitvi 1 in 2</vt:lpstr>
      <vt:lpstr>Vaji 3 in 4</vt:lpstr>
      <vt:lpstr>Rešitvi 3 in 4</vt:lpstr>
      <vt:lpstr>Vaji 5 in 6</vt:lpstr>
      <vt:lpstr>Rešitvi 5 in 6</vt:lpstr>
      <vt:lpstr>Vaji 7 in 8</vt:lpstr>
      <vt:lpstr>Rešitvi 7 in 8</vt:lpstr>
      <vt:lpstr>Vaji 9 in 10</vt:lpstr>
      <vt:lpstr>Rešitvi 9 in 10</vt:lpstr>
      <vt:lpstr>Zahtevnejša vaja 11</vt:lpstr>
      <vt:lpstr>Rešitev 11</vt:lpstr>
      <vt:lpstr>Zahtevnejša vaja 12</vt:lpstr>
      <vt:lpstr>Rešitev 12</vt:lpstr>
      <vt:lpstr>Povzetek</vt:lpstr>
      <vt:lpstr>Lastna imena</vt:lpstr>
      <vt:lpstr>Isti kraj: opis ali lastno ime?</vt:lpstr>
      <vt:lpstr>Identifikacija ni poklicna ali slovarska definicija</vt:lpstr>
      <vt:lpstr>Začetnica lahko razlikuje poimenovalno vlogo</vt:lpstr>
      <vt:lpstr>Zemljepisna začetnica: razvrstitev pred pravilom</vt:lpstr>
      <vt:lpstr>Cerkev sv. Primoža ali Sv. Primož?</vt:lpstr>
      <vt:lpstr>Slovesnost priznanja ne določa začetnice</vt:lpstr>
      <vt:lpstr>FIFA in Fifa: tri preverjene možnosti</vt:lpstr>
      <vt:lpstr>Tri različne spremembe ob pregibanju</vt:lpstr>
      <vt:lpstr>Guy: zapis je isti, postopek ni</vt:lpstr>
      <vt:lpstr>Spol in sestavine večbesednega imena</vt:lpstr>
      <vt:lpstr>Dvojno rojstno ime ni ime s priimkom</vt:lpstr>
      <vt:lpstr>Svojilno obrazilo in sklonska končnica</vt:lpstr>
      <vt:lpstr>Svojilna oblika ne pomeni samo lastnine</vt:lpstr>
      <vt:lpstr>Rodilnik razkrije osnovo za tvorjenje</vt:lpstr>
      <vt:lpstr>Dva zapisa, ista govorjena tvorjenka</vt:lpstr>
      <vt:lpstr>Dvojnice imajo različne razloge</vt:lpstr>
      <vt:lpstr>Beatrice: ne združimo dveh jezikovnih izhodišč</vt:lpstr>
      <vt:lpstr>Zemljepisni pridevnik: osnova in stik z obrazilom</vt:lpstr>
      <vt:lpstr>Podoben končaj ne pomeni iste podstave</vt:lpstr>
      <vt:lpstr>SP 2001 in eP 2025: razlike poimenujemo</vt:lpstr>
      <vt:lpstr>Različice preverjamo za isto izhodišče in isti okvir</vt:lpstr>
      <vt:lpstr>Vaji 1 in 2</vt:lpstr>
      <vt:lpstr>Rešitvi 1 in 2</vt:lpstr>
      <vt:lpstr>Vaji 3 in 4</vt:lpstr>
      <vt:lpstr>Rešitvi 3 in 4</vt:lpstr>
      <vt:lpstr>Vaja 5</vt:lpstr>
      <vt:lpstr>Rešitev 5</vt:lpstr>
      <vt:lpstr>Vaja 6</vt:lpstr>
      <vt:lpstr>Rešitev 6</vt:lpstr>
      <vt:lpstr>Vaji 7 in 8</vt:lpstr>
      <vt:lpstr>Rešitvi 7 in 8</vt:lpstr>
      <vt:lpstr>Vaji 9 in 10</vt:lpstr>
      <vt:lpstr>Rešitvi 9 in 10</vt:lpstr>
      <vt:lpstr>Zahtevnejša vaja 11</vt:lpstr>
      <vt:lpstr>Rešitev 11</vt:lpstr>
      <vt:lpstr>Zahtevnejša vaja 12</vt:lpstr>
      <vt:lpstr>Rešitev 12</vt:lpstr>
      <vt:lpstr>Zahtevnejša vaja 13</vt:lpstr>
      <vt:lpstr>Rešitev 13</vt:lpstr>
      <vt:lpstr>Povzetek</vt:lpstr>
      <vt:lpstr>Zgradba povedi in vejica</vt:lpstr>
      <vt:lpstr>Najprej določimo cele sestavine</vt:lpstr>
      <vt:lpstr>Besedna vrsta in funkcija sta različna podatka</vt:lpstr>
      <vt:lpstr>Izpustljivost sama ne dokazuje nevezljivosti</vt:lpstr>
      <vt:lpstr>Osebek ni nujno vršilec ali prva beseda</vt:lpstr>
      <vt:lpstr>Povedek je lahko hierarhično sestavljen</vt:lpstr>
      <vt:lpstr>Vsebinski odvisnik nima vedno iste funkcije</vt:lpstr>
      <vt:lpstr>Podoben nedoločnik, druga odvisnost</vt:lpstr>
      <vt:lpstr>Odvisnik je lahko nadreden drugemu odvisniku</vt:lpstr>
      <vt:lpstr>Veznik prepoznamo po razmerju, ne samo po zapisu</vt:lpstr>
      <vt:lpstr>Prirednost ne zahteva dveh stavkov</vt:lpstr>
      <vt:lpstr>Vejica pred in lahko zapira odvisnik</vt:lpstr>
      <vt:lpstr>Stik veznikov: dva različna razloga za vejico</vt:lpstr>
      <vt:lpstr>Elipsa ohrani razmerja tudi brez ponovitve glagola</vt:lpstr>
      <vt:lpstr>Razvezljivost primerjave ni univerzalni preizkus</vt:lpstr>
      <vt:lpstr>Ustaljena zveza lahko ohrani ali izgubi stavčnost</vt:lpstr>
      <vt:lpstr>Celovita redakcija preveri tudi že zapisane vejice</vt:lpstr>
      <vt:lpstr>Iste stavčne vloge, drugačen sporočilni poudarek</vt:lpstr>
      <vt:lpstr>Naslonke imajo svoj notranji red</vt:lpstr>
      <vt:lpstr>Vaji 1 in 2</vt:lpstr>
      <vt:lpstr>Rešitvi 1 in 2</vt:lpstr>
      <vt:lpstr>Vaji 3 in 4</vt:lpstr>
      <vt:lpstr>Rešitvi 3 in 4</vt:lpstr>
      <vt:lpstr>Vaji 5 in 6</vt:lpstr>
      <vt:lpstr>Rešitvi 5 in 6</vt:lpstr>
      <vt:lpstr>Vaji 7 in 8</vt:lpstr>
      <vt:lpstr>Rešitvi 7 in 8</vt:lpstr>
      <vt:lpstr>Vaji 9 in 10</vt:lpstr>
      <vt:lpstr>Rešitvi 9 in 10</vt:lpstr>
      <vt:lpstr>Vaja 11</vt:lpstr>
      <vt:lpstr>Rešitev 11</vt:lpstr>
      <vt:lpstr>Zahtevnejša vaja 12</vt:lpstr>
      <vt:lpstr>Rešitev 12</vt:lpstr>
      <vt:lpstr>Zahtevnejša vaja 13</vt:lpstr>
      <vt:lpstr>Rešitev 13</vt:lpstr>
      <vt:lpstr>Povzetek</vt:lpstr>
      <vt:lpstr>Vrinjeno, pristavljeno, citirano</vt:lpstr>
      <vt:lpstr>Pristavek ponovno poimenuje isto osebo</vt:lpstr>
      <vt:lpstr>Vejica med prilastkoma ne odpira vrivka</vt:lpstr>
      <vt:lpstr>Vmesni, vrinjeni in dostavljeni del</vt:lpstr>
      <vt:lpstr>Za pomišljajem je lahko še potrebna vejica</vt:lpstr>
      <vt:lpstr>Bolje rečeno: vključeni popravek ali komentar?</vt:lpstr>
      <vt:lpstr>Trije položaji istega zaporedja in da</vt:lpstr>
      <vt:lpstr>Nagovor lahko imenuje istega človeka kot osebek</vt:lpstr>
      <vt:lpstr>Pridevniški del lahko opravlja štiri vloge</vt:lpstr>
      <vt:lpstr>Neosebno jedro ne pomeni vedno vejice</vt:lpstr>
      <vt:lpstr>Deležijski polstavek in vključeno prislovno določilo</vt:lpstr>
      <vt:lpstr>Vejica ne popravi napačnega nosilca dejanja</vt:lpstr>
      <vt:lpstr>Stisnjeni v kot: dve različni vključitvi</vt:lpstr>
      <vt:lpstr>Položaj spremnega stavka določa zapis premega govora</vt:lpstr>
      <vt:lpstr>Poročanje prestavi osebo, čas in kraj</vt:lpstr>
      <vt:lpstr>Sprememba naklona ne dovoljuje spremembe namena</vt:lpstr>
      <vt:lpstr>Narekovaji lahko omejujejo stavčni člen</vt:lpstr>
      <vt:lpstr>Včasih moramo razmejiti dve zgradbi</vt:lpstr>
      <vt:lpstr>Vaji 1 in 2</vt:lpstr>
      <vt:lpstr>Rešitvi 1 in 2</vt:lpstr>
      <vt:lpstr>Vaji 3 in 4</vt:lpstr>
      <vt:lpstr>Rešitvi 3 in 4</vt:lpstr>
      <vt:lpstr>Vaji 5 in 6</vt:lpstr>
      <vt:lpstr>Rešitvi 5 in 6</vt:lpstr>
      <vt:lpstr>Vaji 7 in 8</vt:lpstr>
      <vt:lpstr>Rešitvi 7 in 8</vt:lpstr>
      <vt:lpstr>Vaji 9 in 10</vt:lpstr>
      <vt:lpstr>Rešitvi 9 in 10</vt:lpstr>
      <vt:lpstr>Zahtevnejša vaja 11</vt:lpstr>
      <vt:lpstr>Rešitev 11</vt:lpstr>
      <vt:lpstr>Zahtevnejša vaja 12</vt:lpstr>
      <vt:lpstr>Rešitev 12</vt:lpstr>
      <vt:lpstr>Povzetek</vt:lpstr>
      <vt:lpstr>Jezikovni nasvet</vt:lpstr>
      <vt:lpstr>Kaj mora ohraniti dober jezikovni nasvet?</vt:lpstr>
      <vt:lpstr>Najprej določimo pravi problem</vt:lpstr>
      <vt:lpstr>Od preverjanja do uporabnega odgovora</vt:lpstr>
      <vt:lpstr>»Kaj je notri, šteje.«</vt:lpstr>
      <vt:lpstr>Čigav članek je poslala Maja?</vt:lpstr>
      <vt:lpstr>Celovita redakcija: najprej podatki</vt:lpstr>
      <vt:lpstr>Tri popravke utemeljimo s tremi analizami</vt:lpstr>
      <vt:lpstr>Vejice sledijo obsegu sestavin</vt:lpstr>
      <vt:lpstr>Kaj skriva imenska zgradba?</vt:lpstr>
      <vt:lpstr>Tri vsebine, različne slovnične uresničitve</vt:lpstr>
      <vt:lpstr>Odmaknjeno pojasnilo omejimo</vt:lpstr>
      <vt:lpstr>Razvitje olajša preverjanje udeležencev</vt:lpstr>
      <vt:lpstr>Dva posega, ki spremenita podatke</vt:lpstr>
      <vt:lpstr>Kako presodimo kakovost odgovora?</vt:lpstr>
      <vt:lpstr>Alternativno analizo je treba utemeljiti</vt:lpstr>
      <vt:lpstr>Vaji 1 in 2</vt:lpstr>
      <vt:lpstr>Rešitvi 1 in 2</vt:lpstr>
      <vt:lpstr>Vaji 3 in 4</vt:lpstr>
      <vt:lpstr>Rešitvi 3 in 4</vt:lpstr>
      <vt:lpstr>Vaji 5 in 6</vt:lpstr>
      <vt:lpstr>Rešitvi 5 in 6</vt:lpstr>
      <vt:lpstr>Vaja 7</vt:lpstr>
      <vt:lpstr>Rešitev 7</vt:lpstr>
      <vt:lpstr>Vaja 8</vt:lpstr>
      <vt:lpstr>Rešitev 8</vt:lpstr>
      <vt:lpstr>Vaji 9 in 10</vt:lpstr>
      <vt:lpstr>Rešitvi 9 in 10</vt:lpstr>
      <vt:lpstr>Vaja 11</vt:lpstr>
      <vt:lpstr>Rešitev 11</vt:lpstr>
      <vt:lpstr>Zahtevnejša vaja 12</vt:lpstr>
      <vt:lpstr>Rešitev 12</vt:lpstr>
      <vt:lpstr>Zahtevnejša vaja 13</vt:lpstr>
      <vt:lpstr>Rešitev 13</vt:lpstr>
      <vt:lpstr>Rešitev 13 (nadaljevanje)</vt:lpstr>
      <vt:lpstr>Zahtevnejša vaja 14</vt:lpstr>
      <vt:lpstr>Rešitev 14</vt:lpstr>
      <vt:lpstr>Zahtevnejša vaja 15</vt:lpstr>
      <vt:lpstr>Rešitev 15</vt:lpstr>
      <vt:lpstr>Rešitev 15 (nadaljevanje)</vt:lpstr>
      <vt:lpstr>Povzetek</vt:lpstr>
      <vt:lpstr>Pripomočki za ponavljanje</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Pojmovni pregled</vt:lpstr>
      <vt:lpstr>Pri besedi in besedni zvezi</vt:lpstr>
      <vt:lpstr>Pri besedi in besedni zvezi (nadaljevanje)</vt:lpstr>
      <vt:lpstr>Pri lastnem imenu</vt:lpstr>
      <vt:lpstr>Pri lastnem imenu (nadaljevanje)</vt:lpstr>
      <vt:lpstr>Pri vejici in drugih ločilih</vt:lpstr>
      <vt:lpstr>Pri vejici in drugih ločilih (nadaljevanje)</vt:lpstr>
      <vt:lpstr>Pri pisnem odgovoru</vt:lpstr>
      <vt:lpstr>Pri pisnem odgovoru (nadaljevanje)</vt:lpstr>
      <vt:lpstr>Izpitni problemi</vt:lpstr>
      <vt:lpstr>Izpitni problemi</vt:lpstr>
      <vt:lpstr>Branje: Jezikovna odločitev</vt:lpstr>
      <vt:lpstr>Branje: Pomen in poimenovanje</vt:lpstr>
      <vt:lpstr>Branje: Zgradba tvorjenke</vt:lpstr>
      <vt:lpstr>Branje: Oblike v sobesedilu</vt:lpstr>
      <vt:lpstr>Branje: Lastna imena</vt:lpstr>
      <vt:lpstr>Branje: Poved in vejica</vt:lpstr>
      <vt:lpstr>Branje: Posebne vključene zgradbe</vt:lpstr>
      <vt:lpstr>Branje: Jezikovni nasvet</vt:lpstr>
      <vt:lpstr>Bralni zapis: od navedbe do dokaza</vt:lpstr>
      <vt:lpstr>Tri temeljna dela</vt:lpstr>
      <vt:lpstr>Pravopisni viri</vt:lpstr>
      <vt:lpstr>Spletni viri</vt:lpstr>
      <vt:lpstr>Spletni viri</vt:lpstr>
      <vt:lpstr>Spletni viri</vt:lpstr>
      <vt:lpstr>Spletni viri</vt:lpstr>
      <vt:lpstr>Spletni viri</vt:lpstr>
      <vt:lpstr>Spletni viri</vt:lpstr>
      <vt:lpstr>Spletni viri</vt:lpstr>
      <vt:lpstr>Spletni viri</vt:lpstr>
      <vt:lpstr>Spletni viri</vt:lpstr>
      <vt:lpstr>Spletni viri</vt:lpstr>
      <vt:lpstr>Spletni viri</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Leksika in slovnica slovenskega jezika</dc:title>
  <dc:subject>Celovit predavateljski komplet po skripti3.0</dc:subject>
  <dc:creator>Damjan Popič</dc:creator>
  <cp:keywords>LSSJ, slovnica, leksika, Toporišič, Vidovič Muha, pravopis</cp:keywords>
  <dc:description>Po teoretično poglobljeni skripti3.0, oktober2026. Razlage, vaje z ločenimi rešitvami in opombe predavatelja.</dc:description>
  <cp:lastModifiedBy>Damjan Popič</cp:lastModifiedBy>
  <cp:revision>1</cp:revision>
  <dcterms:created xsi:type="dcterms:W3CDTF">2026-10-06T16:04:45Z</dcterms:created>
  <dcterms:modified xsi:type="dcterms:W3CDTF">2026-10-06T16:04:45Z</dcterms:modified>
  <cp:category/>
</cp:coreProperties>
</file>